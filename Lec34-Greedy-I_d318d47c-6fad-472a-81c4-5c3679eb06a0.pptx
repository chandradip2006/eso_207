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5"/>
  </p:notesMasterIdLst>
  <p:sldIdLst>
    <p:sldId id="414" r:id="rId2"/>
    <p:sldId id="415" r:id="rId3"/>
    <p:sldId id="392" r:id="rId4"/>
    <p:sldId id="416" r:id="rId5"/>
    <p:sldId id="364" r:id="rId6"/>
    <p:sldId id="389" r:id="rId7"/>
    <p:sldId id="388" r:id="rId8"/>
    <p:sldId id="395" r:id="rId9"/>
    <p:sldId id="390" r:id="rId10"/>
    <p:sldId id="396" r:id="rId11"/>
    <p:sldId id="399" r:id="rId12"/>
    <p:sldId id="397" r:id="rId13"/>
    <p:sldId id="398" r:id="rId14"/>
    <p:sldId id="393" r:id="rId15"/>
    <p:sldId id="426" r:id="rId16"/>
    <p:sldId id="402" r:id="rId17"/>
    <p:sldId id="404" r:id="rId18"/>
    <p:sldId id="405" r:id="rId19"/>
    <p:sldId id="406" r:id="rId20"/>
    <p:sldId id="407" r:id="rId21"/>
    <p:sldId id="425" r:id="rId22"/>
    <p:sldId id="408" r:id="rId23"/>
    <p:sldId id="443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9C8C3C-A8D1-B841-8665-5B4ADA63DD93}" v="2" dt="2025-11-06T16:17:10.6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58" autoAdjust="0"/>
  </p:normalViewPr>
  <p:slideViewPr>
    <p:cSldViewPr>
      <p:cViewPr varScale="1">
        <p:scale>
          <a:sx n="115" d="100"/>
          <a:sy n="115" d="100"/>
        </p:scale>
        <p:origin x="175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B0A526-9D3F-5694-B192-877B52D1FAF9}"/>
    <pc:docChg chg="modSld">
      <pc:chgData name="Raghunath Tewari" userId="2638bdda-d406-4938-a2a6-e4e967acb772" providerId="ADAL" clId="{5BB0A526-9D3F-5694-B192-877B52D1FAF9}" dt="2025-11-06T16:17:10.655" v="1" actId="20577"/>
      <pc:docMkLst>
        <pc:docMk/>
      </pc:docMkLst>
      <pc:sldChg chg="modSp">
        <pc:chgData name="Raghunath Tewari" userId="2638bdda-d406-4938-a2a6-e4e967acb772" providerId="ADAL" clId="{5BB0A526-9D3F-5694-B192-877B52D1FAF9}" dt="2025-11-06T16:17:10.655" v="1" actId="20577"/>
        <pc:sldMkLst>
          <pc:docMk/>
          <pc:sldMk cId="2296938105" sldId="416"/>
        </pc:sldMkLst>
        <pc:spChg chg="mod">
          <ac:chgData name="Raghunath Tewari" userId="2638bdda-d406-4938-a2a6-e4e967acb772" providerId="ADAL" clId="{5BB0A526-9D3F-5694-B192-877B52D1FAF9}" dt="2025-11-06T16:17:10.655" v="1" actId="20577"/>
          <ac:spMkLst>
            <pc:docMk/>
            <pc:sldMk cId="2296938105" sldId="41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11/6/25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11/6/25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11/6/25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11/6/25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11/6/25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11/6/25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11/6/25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0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95800"/>
            <a:ext cx="8153400" cy="14478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34</a:t>
            </a:r>
            <a:endParaRPr lang="en-US" sz="2000" b="1" dirty="0">
              <a:solidFill>
                <a:srgbClr val="7030A0"/>
              </a:solidFill>
            </a:endParaRP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chemeClr val="tx1"/>
                </a:solidFill>
              </a:rPr>
              <a:t>A new algorithm design paradigm: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tx1"/>
                </a:solidFill>
              </a:rPr>
              <a:t>                                                          part </a:t>
            </a:r>
            <a:r>
              <a:rPr lang="en-US" sz="2000" b="1" dirty="0">
                <a:solidFill>
                  <a:srgbClr val="0070C0"/>
                </a:solidFill>
              </a:rPr>
              <a:t>I</a:t>
            </a:r>
            <a:r>
              <a:rPr lang="en-US" sz="2000" b="1" dirty="0">
                <a:solidFill>
                  <a:schemeClr val="tx1"/>
                </a:solidFill>
              </a:rPr>
              <a:t>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17288" y="4964668"/>
            <a:ext cx="1759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Greedy strategy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20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Path</a:t>
            </a:r>
            <a:r>
              <a:rPr lang="en-US" sz="3200" dirty="0"/>
              <a:t> </a:t>
            </a:r>
            <a:r>
              <a:rPr lang="en-US" sz="3200" b="1" dirty="0"/>
              <a:t>to the </a:t>
            </a:r>
            <a:r>
              <a:rPr lang="en-US" sz="3200" b="1" dirty="0">
                <a:solidFill>
                  <a:srgbClr val="7030A0"/>
                </a:solidFill>
              </a:rPr>
              <a:t>solution</a:t>
            </a:r>
            <a:r>
              <a:rPr lang="en-US" sz="3200" b="1" dirty="0"/>
              <a:t> of a problem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0"/>
            <a:ext cx="3999710" cy="3185335"/>
          </a:xfrm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030A0"/>
                </a:solidFill>
              </a:rPr>
              <a:t>Examples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7030A0"/>
                </a:solidFill>
              </a:rPr>
              <a:t>intuition/insight</a:t>
            </a:r>
          </a:p>
          <a:p>
            <a:pPr marL="0" indent="0" algn="ctr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7030A0"/>
                </a:solidFill>
              </a:rPr>
              <a:t>Strategy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6477000" y="2057400"/>
            <a:ext cx="381000" cy="609600"/>
          </a:xfrm>
          <a:prstGeom prst="down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6477000" y="2971800"/>
            <a:ext cx="381000" cy="609600"/>
          </a:xfrm>
          <a:prstGeom prst="down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rved Right Arrow 10"/>
          <p:cNvSpPr/>
          <p:nvPr/>
        </p:nvSpPr>
        <p:spPr>
          <a:xfrm rot="1994739">
            <a:off x="5508577" y="3628230"/>
            <a:ext cx="342628" cy="1506540"/>
          </a:xfrm>
          <a:prstGeom prst="curvedRightArrow">
            <a:avLst>
              <a:gd name="adj1" fmla="val 25000"/>
              <a:gd name="adj2" fmla="val 91153"/>
              <a:gd name="adj3" fmla="val 54058"/>
            </a:avLst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4000" y="4964668"/>
            <a:ext cx="1076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Failure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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43867" y="4964668"/>
            <a:ext cx="1723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Better Insight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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" name="Curved Up Arrow 13"/>
          <p:cNvSpPr/>
          <p:nvPr/>
        </p:nvSpPr>
        <p:spPr>
          <a:xfrm>
            <a:off x="5679891" y="5334000"/>
            <a:ext cx="2321109" cy="685800"/>
          </a:xfrm>
          <a:prstGeom prst="curvedUp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Right Arrow 14"/>
          <p:cNvSpPr/>
          <p:nvPr/>
        </p:nvSpPr>
        <p:spPr>
          <a:xfrm rot="8023794">
            <a:off x="7470709" y="3482400"/>
            <a:ext cx="396619" cy="1569599"/>
          </a:xfrm>
          <a:prstGeom prst="curvedRightArrow">
            <a:avLst>
              <a:gd name="adj1" fmla="val 25000"/>
              <a:gd name="adj2" fmla="val 91153"/>
              <a:gd name="adj3" fmla="val 54058"/>
            </a:avLst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Down Arrow 15"/>
          <p:cNvSpPr/>
          <p:nvPr/>
        </p:nvSpPr>
        <p:spPr>
          <a:xfrm>
            <a:off x="6477000" y="6096000"/>
            <a:ext cx="676367" cy="457200"/>
          </a:xfrm>
          <a:prstGeom prst="down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238495" y="6488668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Success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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05000" y="5486400"/>
            <a:ext cx="12457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 formula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583668"/>
            <a:ext cx="196181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Have perseverance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400" y="6107668"/>
            <a:ext cx="557678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But there is a </a:t>
            </a:r>
            <a:r>
              <a:rPr lang="en-US" b="1" dirty="0"/>
              <a:t>systematic approach</a:t>
            </a:r>
            <a:r>
              <a:rPr lang="en-US" dirty="0"/>
              <a:t> which usually works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612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uiExpand="1" build="p"/>
      <p:bldP spid="9" grpId="0" animBg="1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 animBg="1"/>
      <p:bldP spid="17" grpId="0"/>
      <p:bldP spid="19" grpId="0" animBg="1"/>
      <p:bldP spid="20" grpId="0" animBg="1"/>
      <p:bldP spid="2" grpId="0" animBg="1"/>
      <p:bldP spid="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dirty="0"/>
              <a:t>Today’s lecture will demonstrate this approach </a:t>
            </a:r>
            <a:r>
              <a:rPr lang="en-US" sz="2800" b="1" dirty="0">
                <a:sym typeface="Wingdings" pitchFamily="2" charset="2"/>
              </a:rPr>
              <a:t></a:t>
            </a:r>
            <a:br>
              <a:rPr lang="en-US" sz="2800" b="1" dirty="0">
                <a:sym typeface="Wingdings" pitchFamily="2" charset="2"/>
              </a:rPr>
            </a:b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</a:rPr>
              <a:t>Problem :</a:t>
            </a:r>
            <a:r>
              <a:rPr lang="en-US" sz="2800" b="1" dirty="0">
                <a:solidFill>
                  <a:srgbClr val="7030A0"/>
                </a:solidFill>
              </a:rPr>
              <a:t> JOB Scheduling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Largest subset of non-overlapping job</a:t>
            </a:r>
          </a:p>
        </p:txBody>
      </p:sp>
    </p:spTree>
    <p:extLst>
      <p:ext uri="{BB962C8B-B14F-4D97-AF65-F5344CB8AC3E}">
        <p14:creationId xmlns:p14="http://schemas.microsoft.com/office/powerpoint/2010/main" val="106986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A motivating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endParaRPr lang="en-US" sz="2400" b="1" dirty="0">
                  <a:solidFill>
                    <a:srgbClr val="00206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400" b="1" dirty="0" err="1">
                    <a:solidFill>
                      <a:srgbClr val="002060"/>
                    </a:solidFill>
                  </a:rPr>
                  <a:t>Antaragni</a:t>
                </a:r>
                <a:r>
                  <a:rPr lang="en-US" sz="2400" b="1">
                    <a:solidFill>
                      <a:srgbClr val="002060"/>
                    </a:solidFill>
                  </a:rPr>
                  <a:t> 2025</a:t>
                </a:r>
                <a:endParaRPr lang="en-US" sz="2400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There are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large-scale activities to be performed in Auditorium.</a:t>
                </a:r>
              </a:p>
              <a:p>
                <a:r>
                  <a:rPr lang="en-US" sz="2000" dirty="0"/>
                  <a:t>Each large scale activity has a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start</a:t>
                </a:r>
                <a:r>
                  <a:rPr lang="en-US" sz="2000" b="1" dirty="0"/>
                  <a:t> time </a:t>
                </a:r>
                <a:r>
                  <a:rPr lang="en-US" sz="2000" dirty="0"/>
                  <a:t>and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finish</a:t>
                </a:r>
                <a:r>
                  <a:rPr lang="en-US" sz="2000" b="1" dirty="0"/>
                  <a:t> time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There is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overlap</a:t>
                </a:r>
                <a:r>
                  <a:rPr lang="en-US" sz="2000" dirty="0"/>
                  <a:t> among various activities.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Aim</a:t>
                </a:r>
                <a:r>
                  <a:rPr lang="en-US" sz="2000" dirty="0"/>
                  <a:t>: What is the </a:t>
                </a:r>
                <a:r>
                  <a:rPr lang="en-US" sz="2000" b="1" u="sng" dirty="0"/>
                  <a:t>largest subset </a:t>
                </a:r>
                <a:r>
                  <a:rPr lang="en-US" sz="2000" dirty="0"/>
                  <a:t>of activities that can be performed ?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6" name="Cloud Callout 5"/>
          <p:cNvSpPr/>
          <p:nvPr/>
        </p:nvSpPr>
        <p:spPr>
          <a:xfrm>
            <a:off x="3429000" y="4920734"/>
            <a:ext cx="4800600" cy="1099066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formulate the problem theoretically from this example?</a:t>
            </a:r>
          </a:p>
        </p:txBody>
      </p:sp>
    </p:spTree>
    <p:extLst>
      <p:ext uri="{BB962C8B-B14F-4D97-AF65-F5344CB8AC3E}">
        <p14:creationId xmlns:p14="http://schemas.microsoft.com/office/powerpoint/2010/main" val="22969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>
                <a:solidFill>
                  <a:srgbClr val="7030A0"/>
                </a:solidFill>
              </a:rPr>
            </a:b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3600" b="1" dirty="0">
                <a:solidFill>
                  <a:srgbClr val="7030A0"/>
                </a:solidFill>
              </a:rPr>
              <a:t>A job scheduling problem</a:t>
            </a: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3600" b="1" dirty="0">
                <a:solidFill>
                  <a:srgbClr val="7030A0"/>
                </a:solidFill>
              </a:rPr>
              <a:t> </a:t>
            </a:r>
            <a:endParaRPr lang="en-US" sz="28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/>
                  <a:t>INPUT: </a:t>
                </a:r>
              </a:p>
              <a:p>
                <a:r>
                  <a:rPr lang="en-US" sz="1800" dirty="0"/>
                  <a:t>A</a:t>
                </a:r>
                <a:r>
                  <a:rPr lang="en-US" sz="1800" b="1" dirty="0"/>
                  <a:t> </a:t>
                </a:r>
                <a:r>
                  <a:rPr lang="en-US" sz="1800" dirty="0"/>
                  <a:t>set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 jobs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800" dirty="0"/>
                  <a:t>,…,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800" dirty="0"/>
                  <a:t>} </a:t>
                </a:r>
              </a:p>
              <a:p>
                <a:r>
                  <a:rPr lang="en-US" sz="1800" dirty="0"/>
                  <a:t>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/>
                  <a:t> is specified by two real numbers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	s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): start time of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	f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): finish time of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endParaRPr lang="en-US" sz="1800" dirty="0"/>
              </a:p>
              <a:p>
                <a:r>
                  <a:rPr lang="en-US" sz="1800" dirty="0"/>
                  <a:t>A single server 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Constraints</a:t>
                </a:r>
                <a:r>
                  <a:rPr lang="en-US" sz="1800" b="1" dirty="0"/>
                  <a:t>: </a:t>
                </a:r>
                <a:r>
                  <a:rPr lang="en-US" sz="1800" dirty="0"/>
                  <a:t> </a:t>
                </a:r>
              </a:p>
              <a:p>
                <a:r>
                  <a:rPr lang="en-US" sz="1800" dirty="0"/>
                  <a:t>Server can execute </a:t>
                </a:r>
                <a:r>
                  <a:rPr lang="en-US" sz="1800" u="sng" dirty="0"/>
                  <a:t>at most one job </a:t>
                </a:r>
                <a:r>
                  <a:rPr lang="en-US" sz="1800" dirty="0"/>
                  <a:t>at any moment of time.</a:t>
                </a:r>
              </a:p>
              <a:p>
                <a:r>
                  <a:rPr lang="en-US" sz="1800" b="1" dirty="0"/>
                  <a:t>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/>
                  <a:t>, if scheduled, has to be scheduled during  [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s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),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 f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)] only.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Aim</a:t>
                </a:r>
                <a:r>
                  <a:rPr lang="en-US" sz="1800" b="1" dirty="0"/>
                  <a:t>:</a:t>
                </a:r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To select the </a:t>
                </a:r>
                <a:r>
                  <a:rPr lang="en-US" sz="1800" b="1" dirty="0"/>
                  <a:t>largest </a:t>
                </a:r>
                <a:r>
                  <a:rPr lang="en-US" sz="1800" dirty="0"/>
                  <a:t>subset of </a:t>
                </a:r>
                <a:r>
                  <a:rPr lang="en-US" sz="1800" b="1" u="sng" dirty="0"/>
                  <a:t>non-overlapping</a:t>
                </a:r>
                <a:r>
                  <a:rPr lang="en-US" sz="1800" dirty="0"/>
                  <a:t> jobs which can be executed by the server.</a:t>
                </a: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  <a:blipFill rotWithShape="1">
                <a:blip r:embed="rId2"/>
                <a:stretch>
                  <a:fillRect l="-561" t="-674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08398" y="238780"/>
            <a:ext cx="3011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Formal Description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2743200" y="4572000"/>
            <a:ext cx="4191000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8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/>
                  <a:t>INPUT:  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1600" dirty="0"/>
                  <a:t>),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𝟖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𝟖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𝟔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𝟗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dirty="0"/>
                  <a:t>job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is said to be </a:t>
                </a:r>
                <a:r>
                  <a:rPr lang="en-US" sz="2000" b="1" dirty="0"/>
                  <a:t>non-overlapping</a:t>
                </a:r>
                <a:r>
                  <a:rPr lang="en-US" sz="2000" dirty="0"/>
                  <a:t> with job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if  </a:t>
                </a: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),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b="1" dirty="0"/>
                  <a:t>)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006C31"/>
                    </a:solidFill>
                    <a:latin typeface="Cambria Math"/>
                    <a:ea typeface="Cambria Math"/>
                  </a:rPr>
                  <a:t>∩</a:t>
                </a: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),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b="1" dirty="0"/>
                  <a:t>)</a:t>
                </a:r>
                <a:r>
                  <a:rPr lang="en-US" sz="2000" dirty="0"/>
                  <a:t> </a:t>
                </a:r>
                <a:r>
                  <a:rPr lang="en-US" sz="2000" b="1" dirty="0"/>
                  <a:t>= </a:t>
                </a:r>
                <a:r>
                  <a:rPr lang="en-US" sz="2000" b="1" dirty="0">
                    <a:solidFill>
                      <a:srgbClr val="0070C0"/>
                    </a:solidFill>
                    <a:latin typeface="Cambria Math"/>
                    <a:ea typeface="Cambria Math"/>
                  </a:rPr>
                  <a:t>∅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990600" y="3886200"/>
            <a:ext cx="6629400" cy="152400"/>
            <a:chOff x="990600" y="3810000"/>
            <a:chExt cx="6629400" cy="1524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990600" y="3886200"/>
              <a:ext cx="6629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981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9718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9624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48768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5791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66294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74676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219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1066800" y="3962400"/>
            <a:ext cx="6569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0            1                  2               3               4                5              6             7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1981200" y="3048000"/>
            <a:ext cx="4114800" cy="685800"/>
            <a:chOff x="1981200" y="2971800"/>
            <a:chExt cx="4114800" cy="68580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1981200" y="3429000"/>
              <a:ext cx="9906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09800" y="3276600"/>
              <a:ext cx="15240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124200" y="3429000"/>
              <a:ext cx="8382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3962400" y="2971800"/>
              <a:ext cx="1828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4724400" y="3124200"/>
              <a:ext cx="533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4191000" y="3276600"/>
              <a:ext cx="8001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5181600" y="3276600"/>
              <a:ext cx="914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2743200" y="3657600"/>
              <a:ext cx="26670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3733800" y="838200"/>
            <a:ext cx="1269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Example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55086" y="4495800"/>
            <a:ext cx="573631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It makes sense to work with pictures than these numbers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28" name="Down Ribbon 27"/>
          <p:cNvSpPr/>
          <p:nvPr/>
        </p:nvSpPr>
        <p:spPr>
          <a:xfrm>
            <a:off x="2209800" y="5867400"/>
            <a:ext cx="4419600" cy="6888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Try to find solution for the above example.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62238" y="5181600"/>
            <a:ext cx="2919761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44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4" grpId="0"/>
      <p:bldP spid="7" grpId="0"/>
      <p:bldP spid="5" grpId="0" animBg="1"/>
      <p:bldP spid="5" grpId="1" animBg="1"/>
      <p:bldP spid="28" grpId="0" animBg="1"/>
      <p:bldP spid="28" grpId="1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3600" b="1" dirty="0">
                <a:solidFill>
                  <a:srgbClr val="7030A0"/>
                </a:solidFill>
              </a:rPr>
              <a:t> </a:t>
            </a:r>
            <a:endParaRPr lang="en-US" sz="20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/>
                  <a:t>INPUT:  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1600" dirty="0"/>
                  <a:t>),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𝟖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𝟖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𝟔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𝟗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0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</m:oMath>
                </a14:m>
                <a:r>
                  <a:rPr lang="en-US" sz="1600" dirty="0"/>
                  <a:t>), (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1600" dirty="0"/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job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is said to be </a:t>
                </a:r>
                <a:r>
                  <a:rPr lang="en-US" sz="2000" b="1" dirty="0"/>
                  <a:t>non-overlapping</a:t>
                </a:r>
                <a:r>
                  <a:rPr lang="en-US" sz="2000" dirty="0"/>
                  <a:t> with job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if  </a:t>
                </a: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),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b="1" dirty="0"/>
                  <a:t>)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006C31"/>
                    </a:solidFill>
                    <a:latin typeface="Cambria Math"/>
                    <a:ea typeface="Cambria Math"/>
                  </a:rPr>
                  <a:t>∩</a:t>
                </a: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),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b="1" dirty="0"/>
                  <a:t>)</a:t>
                </a:r>
                <a:r>
                  <a:rPr lang="en-US" sz="2000" dirty="0"/>
                  <a:t> </a:t>
                </a:r>
                <a:r>
                  <a:rPr lang="en-US" sz="2000" b="1" dirty="0"/>
                  <a:t>= </a:t>
                </a:r>
                <a:r>
                  <a:rPr lang="en-US" sz="2000" b="1" dirty="0">
                    <a:solidFill>
                      <a:srgbClr val="0070C0"/>
                    </a:solidFill>
                    <a:latin typeface="Cambria Math"/>
                    <a:ea typeface="Cambria Math"/>
                  </a:rPr>
                  <a:t>∅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6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990600" y="3886200"/>
            <a:ext cx="6629400" cy="152400"/>
            <a:chOff x="990600" y="3810000"/>
            <a:chExt cx="6629400" cy="1524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990600" y="3886200"/>
              <a:ext cx="6629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981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9718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9624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48768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5791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66294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74676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219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1066800" y="3962400"/>
            <a:ext cx="6569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0            1                  2               3               4                5              6             7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981200" y="3505200"/>
            <a:ext cx="990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209800" y="3352800"/>
            <a:ext cx="15240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124200" y="3505200"/>
            <a:ext cx="838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962400" y="3048000"/>
            <a:ext cx="18288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4724400" y="3200400"/>
            <a:ext cx="5334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191000" y="3352800"/>
            <a:ext cx="800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181600" y="3352800"/>
            <a:ext cx="914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2743200" y="3733800"/>
            <a:ext cx="26670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loud Callout 4"/>
          <p:cNvSpPr/>
          <p:nvPr/>
        </p:nvSpPr>
        <p:spPr>
          <a:xfrm>
            <a:off x="4267200" y="4495800"/>
            <a:ext cx="3352800" cy="1371600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strategy come to your mind?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3800" y="838200"/>
            <a:ext cx="1269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Example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115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any problem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Choose a strategy based on some intuition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Transform the strategy into an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2514600" y="2514600"/>
            <a:ext cx="381000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09218" y="2438400"/>
            <a:ext cx="10986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Try to prove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correctness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of the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algorithm</a:t>
            </a:r>
          </a:p>
        </p:txBody>
      </p:sp>
      <p:sp>
        <p:nvSpPr>
          <p:cNvPr id="7" name="Down Arrow 6"/>
          <p:cNvSpPr/>
          <p:nvPr/>
        </p:nvSpPr>
        <p:spPr>
          <a:xfrm>
            <a:off x="5029200" y="2514600"/>
            <a:ext cx="381000" cy="978408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9047" y="2667000"/>
            <a:ext cx="1283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Try to design a </a:t>
            </a:r>
          </a:p>
          <a:p>
            <a:r>
              <a:rPr lang="en-US" sz="1400" dirty="0" err="1">
                <a:solidFill>
                  <a:srgbClr val="C00000"/>
                </a:solidFill>
              </a:rPr>
              <a:t>conterexample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2514600" y="3898392"/>
            <a:ext cx="381000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5029200" y="3822192"/>
            <a:ext cx="381000" cy="978408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4" name="Down Ribbon 13"/>
          <p:cNvSpPr/>
          <p:nvPr/>
        </p:nvSpPr>
        <p:spPr>
          <a:xfrm>
            <a:off x="2209800" y="5330952"/>
            <a:ext cx="3773222" cy="9174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Stop as soon as either of these goals is reached</a:t>
            </a:r>
          </a:p>
        </p:txBody>
      </p:sp>
    </p:spTree>
    <p:extLst>
      <p:ext uri="{BB962C8B-B14F-4D97-AF65-F5344CB8AC3E}">
        <p14:creationId xmlns:p14="http://schemas.microsoft.com/office/powerpoint/2010/main" val="293928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/>
      <p:bldP spid="7" grpId="0" animBg="1"/>
      <p:bldP spid="8" grpId="0"/>
      <p:bldP spid="10" grpId="0" animBg="1"/>
      <p:bldP spid="12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7630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It might be better to assign jobs as early as possible so as </a:t>
            </a:r>
            <a:r>
              <a:rPr lang="en-US" sz="1800" b="1" dirty="0"/>
              <a:t>to make optimum use of server</a:t>
            </a:r>
            <a:r>
              <a:rPr lang="en-US" sz="1800" dirty="0"/>
              <a:t>.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209800" y="3200400"/>
            <a:ext cx="3200400" cy="304800"/>
            <a:chOff x="2209800" y="3200400"/>
            <a:chExt cx="3200400" cy="3048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2209800" y="3352800"/>
              <a:ext cx="1295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590800" y="3505200"/>
              <a:ext cx="2438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876800" y="3200400"/>
              <a:ext cx="533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2286000" y="838200"/>
            <a:ext cx="4793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1: </a:t>
            </a:r>
            <a:r>
              <a:rPr lang="en-US" b="1" dirty="0"/>
              <a:t>Select the </a:t>
            </a:r>
            <a:r>
              <a:rPr lang="en-US" b="1" dirty="0">
                <a:solidFill>
                  <a:srgbClr val="C00000"/>
                </a:solidFill>
              </a:rPr>
              <a:t>earliest start time </a:t>
            </a:r>
            <a:r>
              <a:rPr lang="en-US" b="1" dirty="0"/>
              <a:t>job</a:t>
            </a:r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2209800" y="3200400"/>
            <a:ext cx="3200400" cy="152400"/>
            <a:chOff x="2362200" y="3429000"/>
            <a:chExt cx="3200400" cy="152400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2362200" y="3581400"/>
              <a:ext cx="12954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5029200" y="3429000"/>
              <a:ext cx="5334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Down Ribbon 24"/>
          <p:cNvSpPr/>
          <p:nvPr/>
        </p:nvSpPr>
        <p:spPr>
          <a:xfrm>
            <a:off x="1981200" y="4419600"/>
            <a:ext cx="6400800" cy="11430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When one fails to prove the correctness of this strategy, one should search for a counterexample. Can you transform the above example into a counterexample ?</a:t>
            </a:r>
          </a:p>
        </p:txBody>
      </p:sp>
    </p:spTree>
    <p:extLst>
      <p:ext uri="{BB962C8B-B14F-4D97-AF65-F5344CB8AC3E}">
        <p14:creationId xmlns:p14="http://schemas.microsoft.com/office/powerpoint/2010/main" val="31011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/>
      <p:bldP spid="25" grpId="0" animBg="1"/>
      <p:bldP spid="2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7630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It might be better to assign jobs as early as possible so as </a:t>
            </a:r>
            <a:r>
              <a:rPr lang="en-US" sz="1800" b="1" dirty="0"/>
              <a:t>to make optimum use of server.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cxnSp>
        <p:nvCxnSpPr>
          <p:cNvPr id="16" name="Straight Connector 15"/>
          <p:cNvCxnSpPr/>
          <p:nvPr/>
        </p:nvCxnSpPr>
        <p:spPr>
          <a:xfrm>
            <a:off x="2209800" y="3352800"/>
            <a:ext cx="29337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590800" y="3505200"/>
            <a:ext cx="9144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876800" y="3200400"/>
            <a:ext cx="5334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00" y="838200"/>
            <a:ext cx="4793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1: </a:t>
            </a:r>
            <a:r>
              <a:rPr lang="en-US" b="1" dirty="0"/>
              <a:t>Select the </a:t>
            </a:r>
            <a:r>
              <a:rPr lang="en-US" b="1" dirty="0">
                <a:solidFill>
                  <a:srgbClr val="C00000"/>
                </a:solidFill>
              </a:rPr>
              <a:t>earliest start time </a:t>
            </a:r>
            <a:r>
              <a:rPr lang="en-US" b="1" dirty="0"/>
              <a:t>job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85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7630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It might be better to assign jobs as early as possible so as to make optimum use of server.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cxnSp>
        <p:nvCxnSpPr>
          <p:cNvPr id="16" name="Straight Connector 15"/>
          <p:cNvCxnSpPr/>
          <p:nvPr/>
        </p:nvCxnSpPr>
        <p:spPr>
          <a:xfrm>
            <a:off x="2209800" y="3352800"/>
            <a:ext cx="29337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590800" y="3505200"/>
            <a:ext cx="914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876800" y="3200400"/>
            <a:ext cx="533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own Ribbon 20"/>
          <p:cNvSpPr/>
          <p:nvPr/>
        </p:nvSpPr>
        <p:spPr>
          <a:xfrm>
            <a:off x="2895600" y="4610100"/>
            <a:ext cx="3200400" cy="7239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counterexample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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86000" y="838200"/>
            <a:ext cx="4793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1: </a:t>
            </a:r>
            <a:r>
              <a:rPr lang="en-US" b="1" dirty="0"/>
              <a:t>Select the </a:t>
            </a:r>
            <a:r>
              <a:rPr lang="en-US" b="1" dirty="0">
                <a:solidFill>
                  <a:srgbClr val="C00000"/>
                </a:solidFill>
              </a:rPr>
              <a:t>earliest start time </a:t>
            </a:r>
            <a:r>
              <a:rPr lang="en-US" b="1" dirty="0"/>
              <a:t>job</a:t>
            </a:r>
            <a:endParaRPr lang="en-US" dirty="0"/>
          </a:p>
        </p:txBody>
      </p:sp>
      <p:sp>
        <p:nvSpPr>
          <p:cNvPr id="23" name="Down Ribbon 22"/>
          <p:cNvSpPr/>
          <p:nvPr/>
        </p:nvSpPr>
        <p:spPr>
          <a:xfrm>
            <a:off x="1676399" y="4495800"/>
            <a:ext cx="5959827" cy="12192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Instead of getting disappointed, try to realize that this counterexample points towards some other strategy which might work.</a:t>
            </a:r>
          </a:p>
        </p:txBody>
      </p:sp>
    </p:spTree>
    <p:extLst>
      <p:ext uri="{BB962C8B-B14F-4D97-AF65-F5344CB8AC3E}">
        <p14:creationId xmlns:p14="http://schemas.microsoft.com/office/powerpoint/2010/main" val="255329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 animBg="1"/>
      <p:bldP spid="21" grpId="1" animBg="1"/>
      <p:bldP spid="24" grpId="0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7630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Such a job will make </a:t>
            </a:r>
            <a:r>
              <a:rPr lang="en-US" sz="1800" b="1" dirty="0"/>
              <a:t>least use of the server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 this</a:t>
            </a:r>
            <a:r>
              <a:rPr lang="en-US" sz="1800" dirty="0"/>
              <a:t> might lead to larger number of jobs to be executed 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819400" y="2819400"/>
            <a:ext cx="3429000" cy="381000"/>
            <a:chOff x="2819400" y="2819400"/>
            <a:chExt cx="3429000" cy="3810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2819400" y="2819400"/>
              <a:ext cx="27432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29200" y="2971800"/>
              <a:ext cx="12192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114800" y="3200400"/>
              <a:ext cx="533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1981200" y="990600"/>
            <a:ext cx="5243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2: </a:t>
            </a:r>
            <a:r>
              <a:rPr lang="en-US" b="1" dirty="0"/>
              <a:t>Select the job with </a:t>
            </a:r>
            <a:r>
              <a:rPr lang="en-US" b="1" dirty="0">
                <a:solidFill>
                  <a:srgbClr val="C00000"/>
                </a:solidFill>
              </a:rPr>
              <a:t>smallest duration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4114800" y="2971800"/>
            <a:ext cx="2133600" cy="228600"/>
            <a:chOff x="4267200" y="3124200"/>
            <a:chExt cx="2133600" cy="228600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5181600" y="3124200"/>
              <a:ext cx="12192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267200" y="3352800"/>
              <a:ext cx="5334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Down Ribbon 26"/>
          <p:cNvSpPr/>
          <p:nvPr/>
        </p:nvSpPr>
        <p:spPr>
          <a:xfrm>
            <a:off x="1981200" y="4267200"/>
            <a:ext cx="7086600" cy="10668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When one fails to prove the correctness of this strategy, one should search for a counterexample. Can you transform the above example into a counterexample ?</a:t>
            </a:r>
          </a:p>
        </p:txBody>
      </p:sp>
    </p:spTree>
    <p:extLst>
      <p:ext uri="{BB962C8B-B14F-4D97-AF65-F5344CB8AC3E}">
        <p14:creationId xmlns:p14="http://schemas.microsoft.com/office/powerpoint/2010/main" val="140828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3" grpId="0"/>
      <p:bldP spid="27" grpId="0" animBg="1"/>
      <p:bldP spid="2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7630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Such a job will make </a:t>
            </a:r>
            <a:r>
              <a:rPr lang="en-US" sz="1800" b="1" dirty="0"/>
              <a:t>least use of the server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 this</a:t>
            </a:r>
            <a:r>
              <a:rPr lang="en-US" sz="1800" dirty="0"/>
              <a:t> might lead to larger number of jobs to be executed 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819400" y="2819400"/>
            <a:ext cx="3429000" cy="381000"/>
            <a:chOff x="2819400" y="2819400"/>
            <a:chExt cx="3429000" cy="3810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2819400" y="2819400"/>
              <a:ext cx="13716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4572000" y="2971800"/>
              <a:ext cx="1676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114800" y="3200400"/>
              <a:ext cx="533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1981200" y="990600"/>
            <a:ext cx="5243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2: </a:t>
            </a:r>
            <a:r>
              <a:rPr lang="en-US" b="1" dirty="0"/>
              <a:t>Select the job with </a:t>
            </a:r>
            <a:r>
              <a:rPr lang="en-US" b="1" dirty="0">
                <a:solidFill>
                  <a:srgbClr val="C00000"/>
                </a:solidFill>
              </a:rPr>
              <a:t>smallest duration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3" name="Down Ribbon 22"/>
          <p:cNvSpPr/>
          <p:nvPr/>
        </p:nvSpPr>
        <p:spPr>
          <a:xfrm>
            <a:off x="2895600" y="4419600"/>
            <a:ext cx="3200400" cy="7239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counterexample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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819400" y="2819400"/>
            <a:ext cx="3429000" cy="152400"/>
            <a:chOff x="2971800" y="2971800"/>
            <a:chExt cx="3429000" cy="152400"/>
          </a:xfrm>
        </p:grpSpPr>
        <p:cxnSp>
          <p:nvCxnSpPr>
            <p:cNvPr id="24" name="Straight Connector 23"/>
            <p:cNvCxnSpPr/>
            <p:nvPr/>
          </p:nvCxnSpPr>
          <p:spPr>
            <a:xfrm>
              <a:off x="2971800" y="2971800"/>
              <a:ext cx="13716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4724400" y="3124200"/>
              <a:ext cx="16764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Down Ribbon 25"/>
          <p:cNvSpPr/>
          <p:nvPr/>
        </p:nvSpPr>
        <p:spPr>
          <a:xfrm>
            <a:off x="1600200" y="4267200"/>
            <a:ext cx="5943601" cy="10668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Instead of getting disappointed, try to realize that this counterexample points towards some other strategy which might work.</a:t>
            </a:r>
          </a:p>
        </p:txBody>
      </p:sp>
    </p:spTree>
    <p:extLst>
      <p:ext uri="{BB962C8B-B14F-4D97-AF65-F5344CB8AC3E}">
        <p14:creationId xmlns:p14="http://schemas.microsoft.com/office/powerpoint/2010/main" val="13468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/>
      <p:bldP spid="23" grpId="0" animBg="1"/>
      <p:bldP spid="23" grpId="1" animBg="1"/>
      <p:bldP spid="26" grpId="0" animBg="1"/>
      <p:bldP spid="2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7630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Selecting such a job will result in </a:t>
            </a:r>
            <a:r>
              <a:rPr lang="en-US" sz="1800" b="1" dirty="0"/>
              <a:t>least number of other jobs to be discarded</a:t>
            </a:r>
            <a:r>
              <a:rPr lang="en-US" sz="1800" dirty="0"/>
              <a:t>.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981200" y="2971800"/>
            <a:ext cx="4724400" cy="381000"/>
            <a:chOff x="1981200" y="2971800"/>
            <a:chExt cx="4724400" cy="381000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819400" y="33528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/>
            <p:cNvGrpSpPr/>
            <p:nvPr/>
          </p:nvGrpSpPr>
          <p:grpSpPr>
            <a:xfrm>
              <a:off x="1981200" y="2971800"/>
              <a:ext cx="4724400" cy="381000"/>
              <a:chOff x="1981200" y="2971800"/>
              <a:chExt cx="4724400" cy="381000"/>
            </a:xfrm>
          </p:grpSpPr>
          <p:grpSp>
            <p:nvGrpSpPr>
              <p:cNvPr id="37" name="Group 36"/>
              <p:cNvGrpSpPr/>
              <p:nvPr/>
            </p:nvGrpSpPr>
            <p:grpSpPr>
              <a:xfrm>
                <a:off x="1981200" y="2971800"/>
                <a:ext cx="4724400" cy="228600"/>
                <a:chOff x="1981200" y="2971800"/>
                <a:chExt cx="4724400" cy="228600"/>
              </a:xfrm>
            </p:grpSpPr>
            <p:cxnSp>
              <p:nvCxnSpPr>
                <p:cNvPr id="16" name="Straight Connector 15"/>
                <p:cNvCxnSpPr/>
                <p:nvPr/>
              </p:nvCxnSpPr>
              <p:spPr>
                <a:xfrm>
                  <a:off x="32766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>
                  <a:off x="44958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4114800" y="3200400"/>
                  <a:ext cx="5334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19812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57150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>
                  <a:off x="2819400" y="3200400"/>
                  <a:ext cx="6858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>
                  <a:off x="5334000" y="3200400"/>
                  <a:ext cx="6858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Straight Connector 34"/>
              <p:cNvCxnSpPr/>
              <p:nvPr/>
            </p:nvCxnSpPr>
            <p:spPr>
              <a:xfrm>
                <a:off x="5334000" y="3352800"/>
                <a:ext cx="6858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4114800" y="3352800"/>
                <a:ext cx="5334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TextBox 45"/>
          <p:cNvSpPr txBox="1"/>
          <p:nvPr/>
        </p:nvSpPr>
        <p:spPr>
          <a:xfrm>
            <a:off x="1981200" y="990600"/>
            <a:ext cx="57223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3: </a:t>
            </a:r>
            <a:r>
              <a:rPr lang="en-US" b="1" dirty="0"/>
              <a:t>Select the job with </a:t>
            </a:r>
            <a:r>
              <a:rPr lang="en-US" b="1" dirty="0">
                <a:solidFill>
                  <a:srgbClr val="C00000"/>
                </a:solidFill>
              </a:rPr>
              <a:t>smallest no. of overlaps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1981200" y="2971800"/>
            <a:ext cx="4724400" cy="0"/>
            <a:chOff x="2133600" y="3124200"/>
            <a:chExt cx="4724400" cy="0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3429000" y="3124200"/>
              <a:ext cx="9906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4648200" y="3124200"/>
              <a:ext cx="9906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2133600" y="3124200"/>
              <a:ext cx="9906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5867400" y="3124200"/>
              <a:ext cx="9906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Down Ribbon 55"/>
          <p:cNvSpPr/>
          <p:nvPr/>
        </p:nvSpPr>
        <p:spPr>
          <a:xfrm>
            <a:off x="1981200" y="4419600"/>
            <a:ext cx="6400800" cy="11430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When one fails to prove the correctness of this strategy, one should search for a counterexample. Can you transform the above example into a counterexample ?</a:t>
            </a:r>
          </a:p>
        </p:txBody>
      </p:sp>
    </p:spTree>
    <p:extLst>
      <p:ext uri="{BB962C8B-B14F-4D97-AF65-F5344CB8AC3E}">
        <p14:creationId xmlns:p14="http://schemas.microsoft.com/office/powerpoint/2010/main" val="47178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6" grpId="0"/>
      <p:bldP spid="56" grpId="0" animBg="1"/>
      <p:bldP spid="56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7630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Selecting such a job will result in </a:t>
            </a:r>
            <a:r>
              <a:rPr lang="en-US" sz="1800" b="1" dirty="0"/>
              <a:t>least number of other jobs to be discarded.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2819400" y="3505200"/>
            <a:ext cx="3200400" cy="152400"/>
            <a:chOff x="2819400" y="3505200"/>
            <a:chExt cx="3200400" cy="152400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2819400" y="35052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2819400" y="36576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5334000" y="36576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5334000" y="35052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1981200" y="2971800"/>
            <a:ext cx="4724400" cy="381000"/>
            <a:chOff x="1981200" y="2971800"/>
            <a:chExt cx="4724400" cy="381000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819400" y="33528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/>
            <p:cNvGrpSpPr/>
            <p:nvPr/>
          </p:nvGrpSpPr>
          <p:grpSpPr>
            <a:xfrm>
              <a:off x="1981200" y="2971800"/>
              <a:ext cx="4724400" cy="381000"/>
              <a:chOff x="1981200" y="2971800"/>
              <a:chExt cx="4724400" cy="381000"/>
            </a:xfrm>
          </p:grpSpPr>
          <p:grpSp>
            <p:nvGrpSpPr>
              <p:cNvPr id="37" name="Group 36"/>
              <p:cNvGrpSpPr/>
              <p:nvPr/>
            </p:nvGrpSpPr>
            <p:grpSpPr>
              <a:xfrm>
                <a:off x="1981200" y="2971800"/>
                <a:ext cx="4724400" cy="228600"/>
                <a:chOff x="1981200" y="2971800"/>
                <a:chExt cx="4724400" cy="228600"/>
              </a:xfrm>
            </p:grpSpPr>
            <p:cxnSp>
              <p:nvCxnSpPr>
                <p:cNvPr id="16" name="Straight Connector 15"/>
                <p:cNvCxnSpPr/>
                <p:nvPr/>
              </p:nvCxnSpPr>
              <p:spPr>
                <a:xfrm>
                  <a:off x="32766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>
                  <a:off x="44958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4114800" y="3200400"/>
                  <a:ext cx="5334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19812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5715000" y="2971800"/>
                  <a:ext cx="9906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>
                  <a:off x="2819400" y="3200400"/>
                  <a:ext cx="6858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>
                  <a:off x="5334000" y="3200400"/>
                  <a:ext cx="6858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Straight Connector 34"/>
              <p:cNvCxnSpPr/>
              <p:nvPr/>
            </p:nvCxnSpPr>
            <p:spPr>
              <a:xfrm>
                <a:off x="5334000" y="3352800"/>
                <a:ext cx="6858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4114800" y="3352800"/>
                <a:ext cx="5334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TextBox 45"/>
          <p:cNvSpPr txBox="1"/>
          <p:nvPr/>
        </p:nvSpPr>
        <p:spPr>
          <a:xfrm>
            <a:off x="1981200" y="990600"/>
            <a:ext cx="57223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3: </a:t>
            </a:r>
            <a:r>
              <a:rPr lang="en-US" b="1" dirty="0"/>
              <a:t>Select the job with </a:t>
            </a:r>
            <a:r>
              <a:rPr lang="en-US" b="1" dirty="0">
                <a:solidFill>
                  <a:srgbClr val="C00000"/>
                </a:solidFill>
              </a:rPr>
              <a:t>smallest no. of overlaps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4114800" y="3200400"/>
            <a:ext cx="5334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819400" y="3200400"/>
            <a:ext cx="6858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334000" y="3200400"/>
            <a:ext cx="6858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Down Ribbon 49"/>
          <p:cNvSpPr/>
          <p:nvPr/>
        </p:nvSpPr>
        <p:spPr>
          <a:xfrm>
            <a:off x="2895600" y="4914900"/>
            <a:ext cx="3200400" cy="7239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counterexample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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5" name="Down Ribbon 54"/>
          <p:cNvSpPr/>
          <p:nvPr/>
        </p:nvSpPr>
        <p:spPr>
          <a:xfrm>
            <a:off x="2819400" y="4648200"/>
            <a:ext cx="4000501" cy="62865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Have perseverance.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Think fresh.</a:t>
            </a:r>
          </a:p>
        </p:txBody>
      </p:sp>
    </p:spTree>
    <p:extLst>
      <p:ext uri="{BB962C8B-B14F-4D97-AF65-F5344CB8AC3E}">
        <p14:creationId xmlns:p14="http://schemas.microsoft.com/office/powerpoint/2010/main" val="330424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55" grpId="0" animBg="1"/>
      <p:bldP spid="55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Selecting such a job will </a:t>
            </a:r>
            <a:r>
              <a:rPr lang="en-US" sz="1800" b="1" dirty="0"/>
              <a:t>free </a:t>
            </a:r>
            <a:r>
              <a:rPr lang="en-US" sz="1800" dirty="0"/>
              <a:t>the server </a:t>
            </a:r>
            <a:r>
              <a:rPr lang="en-US" sz="1800" b="1" dirty="0"/>
              <a:t>earliest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</a:t>
            </a:r>
            <a:r>
              <a:rPr lang="en-US" sz="1800" dirty="0"/>
              <a:t> hence more no. of jobs might get scheduled.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981200" y="990600"/>
            <a:ext cx="52357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4: </a:t>
            </a:r>
            <a:r>
              <a:rPr lang="en-US" b="1" dirty="0"/>
              <a:t>Select the job with </a:t>
            </a:r>
            <a:r>
              <a:rPr lang="en-US" b="1" dirty="0">
                <a:solidFill>
                  <a:srgbClr val="C00000"/>
                </a:solidFill>
              </a:rPr>
              <a:t>earliest finish time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219200" y="3048000"/>
            <a:ext cx="4495800" cy="609600"/>
            <a:chOff x="1219200" y="3048000"/>
            <a:chExt cx="4495800" cy="609600"/>
          </a:xfrm>
        </p:grpSpPr>
        <p:grpSp>
          <p:nvGrpSpPr>
            <p:cNvPr id="24" name="Group 23"/>
            <p:cNvGrpSpPr/>
            <p:nvPr/>
          </p:nvGrpSpPr>
          <p:grpSpPr>
            <a:xfrm>
              <a:off x="1219200" y="3048000"/>
              <a:ext cx="4495800" cy="304800"/>
              <a:chOff x="1219200" y="3048000"/>
              <a:chExt cx="4495800" cy="304800"/>
            </a:xfrm>
          </p:grpSpPr>
          <p:grpSp>
            <p:nvGrpSpPr>
              <p:cNvPr id="23" name="Group 22"/>
              <p:cNvGrpSpPr/>
              <p:nvPr/>
            </p:nvGrpSpPr>
            <p:grpSpPr>
              <a:xfrm>
                <a:off x="1219200" y="3048000"/>
                <a:ext cx="3657600" cy="304800"/>
                <a:chOff x="1219200" y="3048000"/>
                <a:chExt cx="3657600" cy="304800"/>
              </a:xfrm>
            </p:grpSpPr>
            <p:cxnSp>
              <p:nvCxnSpPr>
                <p:cNvPr id="38" name="Straight Connector 37"/>
                <p:cNvCxnSpPr/>
                <p:nvPr/>
              </p:nvCxnSpPr>
              <p:spPr>
                <a:xfrm>
                  <a:off x="2971800" y="3352800"/>
                  <a:ext cx="11430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>
                  <a:off x="1219200" y="3200400"/>
                  <a:ext cx="19812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>
                  <a:off x="2057400" y="3048000"/>
                  <a:ext cx="6858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>
                  <a:off x="4343400" y="3352800"/>
                  <a:ext cx="5334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Connector 52"/>
              <p:cNvCxnSpPr/>
              <p:nvPr/>
            </p:nvCxnSpPr>
            <p:spPr>
              <a:xfrm>
                <a:off x="3962400" y="3200400"/>
                <a:ext cx="14859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5181600" y="3352800"/>
                <a:ext cx="5334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Straight Connector 26"/>
            <p:cNvCxnSpPr/>
            <p:nvPr/>
          </p:nvCxnSpPr>
          <p:spPr>
            <a:xfrm>
              <a:off x="3276600" y="36576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293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75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Selecting such a job will </a:t>
            </a:r>
            <a:r>
              <a:rPr lang="en-US" sz="1800" b="1" dirty="0"/>
              <a:t>free </a:t>
            </a:r>
            <a:r>
              <a:rPr lang="en-US" sz="1800" dirty="0"/>
              <a:t>the server </a:t>
            </a:r>
            <a:r>
              <a:rPr lang="en-US" sz="1800" b="1" dirty="0"/>
              <a:t>earliest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</a:t>
            </a:r>
            <a:r>
              <a:rPr lang="en-US" sz="1800" dirty="0"/>
              <a:t> hence more no. of jobs might get scheduled.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219200" y="3048000"/>
            <a:ext cx="3657600" cy="304800"/>
            <a:chOff x="1219200" y="3048000"/>
            <a:chExt cx="3657600" cy="304800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2971800" y="3352800"/>
              <a:ext cx="11430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219200" y="3200400"/>
              <a:ext cx="19812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057400" y="3048000"/>
              <a:ext cx="6858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4343400" y="3352800"/>
              <a:ext cx="533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/>
          <p:cNvCxnSpPr/>
          <p:nvPr/>
        </p:nvCxnSpPr>
        <p:spPr>
          <a:xfrm>
            <a:off x="3962400" y="3200400"/>
            <a:ext cx="14859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181600" y="3352800"/>
            <a:ext cx="5334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81200" y="990600"/>
            <a:ext cx="52357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4: </a:t>
            </a:r>
            <a:r>
              <a:rPr lang="en-US" b="1" dirty="0"/>
              <a:t>Select the job with </a:t>
            </a:r>
            <a:r>
              <a:rPr lang="en-US" b="1" dirty="0">
                <a:solidFill>
                  <a:srgbClr val="C00000"/>
                </a:solidFill>
              </a:rPr>
              <a:t>earliest finish time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3276600" y="3657600"/>
            <a:ext cx="6858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276600" y="3657600"/>
            <a:ext cx="685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7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Selecting such a job will </a:t>
            </a:r>
            <a:r>
              <a:rPr lang="en-US" sz="1800" b="1" dirty="0"/>
              <a:t>free </a:t>
            </a:r>
            <a:r>
              <a:rPr lang="en-US" sz="1800" dirty="0"/>
              <a:t>the server </a:t>
            </a:r>
            <a:r>
              <a:rPr lang="en-US" sz="1800" b="1" dirty="0"/>
              <a:t>earliest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</a:t>
            </a:r>
            <a:r>
              <a:rPr lang="en-US" sz="1800" dirty="0"/>
              <a:t> hence more no. of jobs might get scheduled.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219200" y="3048000"/>
            <a:ext cx="4229100" cy="304800"/>
            <a:chOff x="1219200" y="3048000"/>
            <a:chExt cx="4229100" cy="304800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2971800" y="3352800"/>
              <a:ext cx="11430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219200" y="3200400"/>
              <a:ext cx="19812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962400" y="3200400"/>
              <a:ext cx="14859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057400" y="3048000"/>
              <a:ext cx="6858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4343400" y="3352800"/>
              <a:ext cx="5334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/>
          <p:cNvCxnSpPr/>
          <p:nvPr/>
        </p:nvCxnSpPr>
        <p:spPr>
          <a:xfrm>
            <a:off x="5181600" y="3352800"/>
            <a:ext cx="533400" cy="0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981200" y="990600"/>
            <a:ext cx="52357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4: </a:t>
            </a:r>
            <a:r>
              <a:rPr lang="en-US" b="1" dirty="0"/>
              <a:t>Select the job with </a:t>
            </a:r>
            <a:r>
              <a:rPr lang="en-US" b="1" dirty="0">
                <a:solidFill>
                  <a:srgbClr val="C00000"/>
                </a:solidFill>
              </a:rPr>
              <a:t>earliest finish time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3276600" y="3657600"/>
            <a:ext cx="685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86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Designing </a:t>
            </a:r>
            <a:r>
              <a:rPr lang="en-US" sz="3200" b="1" dirty="0">
                <a:solidFill>
                  <a:srgbClr val="0070C0"/>
                </a:solidFill>
              </a:rPr>
              <a:t>algorithm</a:t>
            </a:r>
            <a:r>
              <a:rPr lang="en-US" sz="3200" b="1" dirty="0"/>
              <a:t> for the problem</a:t>
            </a:r>
            <a:br>
              <a:rPr lang="en-US" sz="3200" b="1" dirty="0"/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Selecting such a job will </a:t>
            </a:r>
            <a:r>
              <a:rPr lang="en-US" sz="1800" b="1" dirty="0"/>
              <a:t>free </a:t>
            </a:r>
            <a:r>
              <a:rPr lang="en-US" sz="1800" dirty="0"/>
              <a:t>the server </a:t>
            </a:r>
            <a:r>
              <a:rPr lang="en-US" sz="1800" b="1" dirty="0"/>
              <a:t>earliest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</a:t>
            </a:r>
            <a:r>
              <a:rPr lang="en-US" sz="1800" dirty="0"/>
              <a:t> hence more no. of jobs might get scheduled.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990600" y="3886200"/>
            <a:ext cx="6645627" cy="445532"/>
            <a:chOff x="990600" y="3886200"/>
            <a:chExt cx="6645627" cy="445532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219200" y="3048000"/>
            <a:ext cx="4229100" cy="304800"/>
            <a:chOff x="1219200" y="3048000"/>
            <a:chExt cx="4229100" cy="304800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2971800" y="3352800"/>
              <a:ext cx="11430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219200" y="3200400"/>
              <a:ext cx="19812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962400" y="3200400"/>
              <a:ext cx="14859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057400" y="3048000"/>
              <a:ext cx="6858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4343400" y="3352800"/>
              <a:ext cx="5334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/>
          <p:cNvCxnSpPr/>
          <p:nvPr/>
        </p:nvCxnSpPr>
        <p:spPr>
          <a:xfrm>
            <a:off x="5181600" y="3352800"/>
            <a:ext cx="5334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Down Ribbon 17"/>
          <p:cNvSpPr/>
          <p:nvPr/>
        </p:nvSpPr>
        <p:spPr>
          <a:xfrm>
            <a:off x="1828800" y="4343400"/>
            <a:ext cx="7162800" cy="9906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It is indeed a correct solution for this example. We should try to prove the correctness of the </a:t>
            </a:r>
            <a:r>
              <a:rPr lang="en-US" sz="1600" dirty="0" err="1">
                <a:solidFill>
                  <a:schemeClr val="tx1"/>
                </a:solidFill>
              </a:rPr>
              <a:t>algorithm.</a:t>
            </a:r>
            <a:r>
              <a:rPr lang="en-US" sz="1600" dirty="0" err="1">
                <a:solidFill>
                  <a:schemeClr val="tx1"/>
                </a:solidFill>
                <a:sym typeface="Wingdings" pitchFamily="2" charset="2"/>
              </a:rPr>
              <a:t>But</a:t>
            </a: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 first we give a full description of the algorithm based on this strategy.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81200" y="990600"/>
            <a:ext cx="52357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Strategy 4: </a:t>
            </a:r>
            <a:r>
              <a:rPr lang="en-US" b="1" dirty="0"/>
              <a:t>Select the job with </a:t>
            </a:r>
            <a:r>
              <a:rPr lang="en-US" b="1" dirty="0">
                <a:solidFill>
                  <a:srgbClr val="C00000"/>
                </a:solidFill>
              </a:rPr>
              <a:t>earliest finish time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3276600" y="3657600"/>
            <a:ext cx="685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258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Algorithm</a:t>
            </a:r>
            <a:r>
              <a:rPr lang="en-US" sz="2400" b="1" dirty="0">
                <a:solidFill>
                  <a:srgbClr val="C00000"/>
                </a:solidFill>
              </a:rPr>
              <a:t> “earliest finish time”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800" b="1" dirty="0">
                <a:solidFill>
                  <a:srgbClr val="7030A0"/>
                </a:solidFill>
              </a:rPr>
              <a:t>Description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Algorithm </a:t>
                </a:r>
                <a:r>
                  <a:rPr lang="en-US" sz="2000" b="1" dirty="0"/>
                  <a:t>(Input : </a:t>
                </a:r>
                <a:r>
                  <a:rPr lang="en-US" sz="2000" dirty="0"/>
                  <a:t>set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jobs.)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Define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>
                    <a:solidFill>
                      <a:srgbClr val="C00000"/>
                    </a:solidFill>
                    <a:latin typeface="Cambria Math"/>
                    <a:ea typeface="Cambria Math"/>
                  </a:rPr>
                  <a:t> ∅</a:t>
                </a:r>
                <a:r>
                  <a:rPr lang="en-US" sz="2000" dirty="0">
                    <a:latin typeface="Cambria Math"/>
                    <a:ea typeface="Cambria Math"/>
                  </a:rPr>
                  <a:t>;</a:t>
                </a: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/>
                  <a:t>While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&lt;&gt;</a:t>
                </a:r>
                <a:r>
                  <a:rPr lang="en-US" sz="2000" dirty="0">
                    <a:solidFill>
                      <a:srgbClr val="C00000"/>
                    </a:solidFill>
                    <a:latin typeface="Cambria Math"/>
                    <a:ea typeface="Cambria Math"/>
                  </a:rPr>
                  <a:t>∅ </a:t>
                </a:r>
                <a:r>
                  <a:rPr lang="en-US" sz="2000" b="1" dirty="0"/>
                  <a:t>do</a:t>
                </a:r>
                <a:r>
                  <a:rPr lang="en-US" sz="2000" dirty="0">
                    <a:solidFill>
                      <a:srgbClr val="C00000"/>
                    </a:solidFill>
                    <a:latin typeface="Cambria Math"/>
                    <a:ea typeface="Cambria Math"/>
                  </a:rPr>
                  <a:t> </a:t>
                </a:r>
                <a:endParaRPr lang="en-US" sz="20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/>
                  <a:t>         {</a:t>
                </a:r>
                <a:r>
                  <a:rPr lang="en-US" sz="1800" dirty="0"/>
                  <a:t>       Let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be the job from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with earliest finish time;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</a:t>
                </a:r>
                <a:r>
                  <a:rPr lang="en-US" sz="1800" dirty="0">
                    <a:solidFill>
                      <a:srgbClr val="C00000"/>
                    </a:solidFill>
                    <a:latin typeface="Cambria Math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800" dirty="0">
                    <a:latin typeface="Cambria Math"/>
                    <a:ea typeface="Cambria Math"/>
                  </a:rPr>
                  <a:t> </a:t>
                </a:r>
                <a:r>
                  <a:rPr lang="en-US" sz="2800" dirty="0">
                    <a:latin typeface="Cambria Math"/>
                    <a:ea typeface="Cambria Math"/>
                  </a:rPr>
                  <a:t>U</a:t>
                </a:r>
                <a:r>
                  <a:rPr lang="en-US" sz="1800" dirty="0">
                    <a:latin typeface="Cambria Math"/>
                    <a:ea typeface="Cambria Math"/>
                  </a:rPr>
                  <a:t> {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>
                    <a:latin typeface="Cambria Math"/>
                    <a:ea typeface="Cambria Math"/>
                  </a:rPr>
                  <a:t>};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ambria Math"/>
                    <a:ea typeface="Cambria Math"/>
                  </a:rPr>
                  <a:t>                   </a:t>
                </a:r>
                <a:r>
                  <a:rPr lang="en-US" sz="1800" dirty="0"/>
                  <a:t>Remove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and all jobs that overlap with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from set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</m:oMath>
                </a14:m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</a:t>
                </a:r>
                <a:r>
                  <a:rPr lang="en-US" sz="1800" b="1" dirty="0"/>
                  <a:t>}</a:t>
                </a:r>
              </a:p>
              <a:p>
                <a:pPr>
                  <a:buAutoNum type="arabicPeriod" startAt="3"/>
                </a:pPr>
                <a:r>
                  <a:rPr lang="en-US" sz="1800" dirty="0"/>
                  <a:t>Return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/>
                  <a:t>Running time for a trivial implementation of the above algorithm: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800" dirty="0"/>
                  <a:t>)</a:t>
                </a:r>
                <a:endParaRPr lang="en-US" sz="1800" b="1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78" b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5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Algorithm</a:t>
            </a:r>
            <a:r>
              <a:rPr lang="en-US" sz="2400" b="1" dirty="0">
                <a:solidFill>
                  <a:srgbClr val="C00000"/>
                </a:solidFill>
              </a:rPr>
              <a:t> “earliest finish time”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800" b="1" dirty="0">
                <a:solidFill>
                  <a:srgbClr val="7030A0"/>
                </a:solidFill>
              </a:rPr>
              <a:t>Correctness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be the job with earliest finish time.</a:t>
                </a: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Lemma1: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is present in the optimal solution for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 algn="ctr">
                  <a:buNone/>
                </a:pPr>
                <a:r>
                  <a:rPr lang="en-US" sz="1800" dirty="0"/>
                  <a:t>Too strong a claim !</a:t>
                </a:r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  <a:blipFill rotWithShape="1">
                <a:blip r:embed="rId2"/>
                <a:stretch>
                  <a:fillRect l="-593" t="-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90600" y="4507468"/>
            <a:ext cx="6629400" cy="152400"/>
            <a:chOff x="990600" y="3810000"/>
            <a:chExt cx="6629400" cy="1524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990600" y="3886200"/>
              <a:ext cx="6629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1981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29718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39624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8768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5791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6294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74676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219200" y="3810000"/>
              <a:ext cx="0" cy="1524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1066800" y="4583668"/>
            <a:ext cx="6569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0            1                  2               3               4                5              6             7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981200" y="3669268"/>
            <a:ext cx="4114800" cy="685800"/>
            <a:chOff x="1981200" y="2971800"/>
            <a:chExt cx="4114800" cy="685800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1981200" y="3429000"/>
              <a:ext cx="9906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209800" y="3276600"/>
              <a:ext cx="6096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124200" y="3429000"/>
              <a:ext cx="8382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962400" y="2971800"/>
              <a:ext cx="1828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24400" y="3124200"/>
              <a:ext cx="533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4191000" y="3276600"/>
              <a:ext cx="8001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181600" y="3276600"/>
              <a:ext cx="9144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2514600" y="3657600"/>
              <a:ext cx="28956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Explosion 2 25"/>
          <p:cNvSpPr/>
          <p:nvPr/>
        </p:nvSpPr>
        <p:spPr>
          <a:xfrm>
            <a:off x="6038850" y="1676400"/>
            <a:ext cx="2190750" cy="1524000"/>
          </a:xfrm>
          <a:prstGeom prst="irregularSeal2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Wrong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981200" y="3962400"/>
            <a:ext cx="4114800" cy="152400"/>
            <a:chOff x="1981200" y="3962400"/>
            <a:chExt cx="4114800" cy="1524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1981200" y="4114800"/>
              <a:ext cx="9906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124200" y="4114800"/>
              <a:ext cx="8382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191000" y="3962400"/>
              <a:ext cx="8001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5181600" y="3962400"/>
              <a:ext cx="9144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4051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Algorithm</a:t>
            </a:r>
            <a:r>
              <a:rPr lang="en-US" sz="2400" b="1" dirty="0">
                <a:solidFill>
                  <a:srgbClr val="C00000"/>
                </a:solidFill>
              </a:rPr>
              <a:t> “earliest finish time”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800" b="1" dirty="0">
                <a:solidFill>
                  <a:srgbClr val="7030A0"/>
                </a:solidFill>
              </a:rPr>
              <a:t>Correctness</a:t>
            </a:r>
            <a:endParaRPr lang="en-US" sz="28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5344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be the job with earliest finish time.</a:t>
                </a: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Lemma1:  </a:t>
                </a:r>
                <a:r>
                  <a:rPr lang="en-US" sz="1800" dirty="0"/>
                  <a:t>There exists an optimal solution for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in which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is present.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Proof: </a:t>
                </a:r>
                <a:r>
                  <a:rPr lang="en-US" sz="1800" dirty="0"/>
                  <a:t>Consider any optimal solution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for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</m:oMath>
                </a14:m>
                <a:r>
                  <a:rPr lang="en-US" sz="1800" dirty="0"/>
                  <a:t>. Let us suppose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∉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marL="0" indent="0">
                  <a:buNone/>
                </a:pP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 be the job from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</m:oMath>
                </a14:m>
                <a:r>
                  <a:rPr lang="en-US" sz="1800" dirty="0"/>
                  <a:t> with earliest finish time.</a:t>
                </a:r>
              </a:p>
              <a:p>
                <a:pPr marL="0" indent="0">
                  <a:buNone/>
                </a:pPr>
                <a:r>
                  <a:rPr lang="en-US" sz="1800" dirty="0"/>
                  <a:t>Let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′ 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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{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1800" dirty="0"/>
                  <a:t> </a:t>
                </a:r>
                <a:endParaRPr lang="en-US" sz="18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𝑶</m:t>
                        </m:r>
                      </m:e>
                      <m:sup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∪{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1800" dirty="0"/>
                  <a:t> is also an optimal solution.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Reason</a:t>
                </a:r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𝑶</m:t>
                        </m:r>
                      </m:e>
                      <m:sup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∪{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1800" dirty="0"/>
                  <a:t> has no overlapping intervals. Give arguments.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534400" cy="4830763"/>
              </a:xfrm>
              <a:blipFill rotWithShape="1">
                <a:blip r:embed="rId2"/>
                <a:stretch>
                  <a:fillRect l="-571" t="-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898173" y="5345668"/>
            <a:ext cx="6645627" cy="445532"/>
            <a:chOff x="990600" y="3886200"/>
            <a:chExt cx="6645627" cy="445532"/>
          </a:xfrm>
        </p:grpSpPr>
        <p:grpSp>
          <p:nvGrpSpPr>
            <p:cNvPr id="6" name="Group 5"/>
            <p:cNvGrpSpPr/>
            <p:nvPr/>
          </p:nvGrpSpPr>
          <p:grpSpPr>
            <a:xfrm>
              <a:off x="990600" y="3886200"/>
              <a:ext cx="6629400" cy="152400"/>
              <a:chOff x="990600" y="3810000"/>
              <a:chExt cx="6629400" cy="152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990600" y="3886200"/>
                <a:ext cx="6629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198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2971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962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48768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791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66294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74676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1219200" y="3810000"/>
                <a:ext cx="0" cy="15240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/>
            <p:cNvSpPr txBox="1"/>
            <p:nvPr/>
          </p:nvSpPr>
          <p:spPr>
            <a:xfrm>
              <a:off x="1066800" y="3962400"/>
              <a:ext cx="6569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0            1                  2               3               4                5              6             7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600200" y="4419600"/>
            <a:ext cx="4114800" cy="457200"/>
            <a:chOff x="1600200" y="4419600"/>
            <a:chExt cx="4114800" cy="457200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1600200" y="4648200"/>
              <a:ext cx="6858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181600" y="4724400"/>
              <a:ext cx="5334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667000" y="4876800"/>
              <a:ext cx="6858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505200" y="4419600"/>
              <a:ext cx="1279173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1295400" y="3657600"/>
            <a:ext cx="685800" cy="369332"/>
            <a:chOff x="1295400" y="3657600"/>
            <a:chExt cx="685800" cy="369332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1295400" y="39624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447800" y="3657600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7800" y="3657600"/>
                  <a:ext cx="37061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333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762986" y="43434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986" y="4343400"/>
                <a:ext cx="375423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2096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2286000" y="3657600"/>
            <a:ext cx="0" cy="228600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981200" y="3657600"/>
            <a:ext cx="0" cy="228600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293361" y="2602468"/>
                <a:ext cx="2266967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>
                    <a:solidFill>
                      <a:srgbClr val="C00000"/>
                    </a:solidFill>
                  </a:rPr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dirty="0"/>
                  <a:t>) &lt; </a:t>
                </a:r>
                <a:r>
                  <a:rPr lang="en-US" b="1" dirty="0">
                    <a:solidFill>
                      <a:srgbClr val="C00000"/>
                    </a:solidFill>
                  </a:rPr>
                  <a:t>s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𝒛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∀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𝒛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361" y="2602468"/>
                <a:ext cx="226696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151" t="-9836" r="-349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830546" y="1916668"/>
                <a:ext cx="1463862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>
                    <a:solidFill>
                      <a:srgbClr val="C00000"/>
                    </a:solidFill>
                  </a:rPr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rgbClr val="C00000"/>
                    </a:solidFill>
                  </a:rPr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546" y="1916668"/>
                <a:ext cx="1463862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3320" t="-9836" r="-62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800833" y="2667000"/>
                <a:ext cx="2262158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>
                    <a:solidFill>
                      <a:srgbClr val="C00000"/>
                    </a:solidFill>
                  </a:rPr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) &lt; </a:t>
                </a:r>
                <a:r>
                  <a:rPr lang="en-US" b="1" dirty="0">
                    <a:solidFill>
                      <a:srgbClr val="C00000"/>
                    </a:solidFill>
                  </a:rPr>
                  <a:t>s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𝒛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∀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𝒛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833" y="2667000"/>
                <a:ext cx="2262158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2426" t="-10000" r="-3504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/>
          <p:cNvGrpSpPr/>
          <p:nvPr/>
        </p:nvGrpSpPr>
        <p:grpSpPr>
          <a:xfrm>
            <a:off x="4571999" y="2286000"/>
            <a:ext cx="3352801" cy="692634"/>
            <a:chOff x="4571999" y="2286000"/>
            <a:chExt cx="3352801" cy="692634"/>
          </a:xfrm>
        </p:grpSpPr>
        <p:sp>
          <p:nvSpPr>
            <p:cNvPr id="23" name="Right Arrow 22"/>
            <p:cNvSpPr/>
            <p:nvPr/>
          </p:nvSpPr>
          <p:spPr>
            <a:xfrm>
              <a:off x="4571999" y="2787134"/>
              <a:ext cx="2228833" cy="1915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Down Arrow 25"/>
            <p:cNvSpPr/>
            <p:nvPr/>
          </p:nvSpPr>
          <p:spPr>
            <a:xfrm>
              <a:off x="7682484" y="2286000"/>
              <a:ext cx="242316" cy="381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Down Arrow 31"/>
          <p:cNvSpPr/>
          <p:nvPr/>
        </p:nvSpPr>
        <p:spPr>
          <a:xfrm>
            <a:off x="7239000" y="3124200"/>
            <a:ext cx="1371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477000" y="3733800"/>
                <a:ext cx="265002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Hence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 does not overlap </a:t>
                </a:r>
              </a:p>
              <a:p>
                <a:r>
                  <a:rPr lang="en-US" dirty="0"/>
                  <a:t>With any interval of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𝑶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are done </a:t>
                </a:r>
                <a:r>
                  <a:rPr lang="en-US" dirty="0">
                    <a:sym typeface="Wingdings" pitchFamily="2" charset="2"/>
                  </a:rPr>
                  <a:t>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3733800"/>
                <a:ext cx="2650021" cy="923330"/>
              </a:xfrm>
              <a:prstGeom prst="rect">
                <a:avLst/>
              </a:prstGeom>
              <a:blipFill rotWithShape="1">
                <a:blip r:embed="rId8"/>
                <a:stretch>
                  <a:fillRect l="-2074" t="-3311" r="-3226" b="-9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4724399" y="1981200"/>
            <a:ext cx="2076433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8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5" grpId="0"/>
      <p:bldP spid="21" grpId="0" animBg="1"/>
      <p:bldP spid="30" grpId="0" animBg="1"/>
      <p:bldP spid="31" grpId="0" animBg="1"/>
      <p:bldP spid="32" grpId="0" animBg="1"/>
      <p:bldP spid="35" grpId="0"/>
      <p:bldP spid="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6C31"/>
                </a:solidFill>
              </a:rPr>
              <a:t>Homework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Spend time today on the following problems.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sz="2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000" dirty="0"/>
                  <a:t>Use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Lemma1</a:t>
                </a:r>
                <a:r>
                  <a:rPr lang="en-US" sz="2000" dirty="0"/>
                  <a:t> to complete the proof of correctness of the algorithm.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sz="2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000" dirty="0"/>
                  <a:t>Design an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log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implementation of the algorithm.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21007</TotalTime>
  <Words>1549</Words>
  <Application>Microsoft Macintosh PowerPoint</Application>
  <PresentationFormat>On-screen Show (4:3)</PresentationFormat>
  <Paragraphs>347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 Math</vt:lpstr>
      <vt:lpstr>Wingdings</vt:lpstr>
      <vt:lpstr>Office Theme</vt:lpstr>
      <vt:lpstr>Data Structures and Algorithms (ESO207) </vt:lpstr>
      <vt:lpstr>Path to the solution of a problem</vt:lpstr>
      <vt:lpstr>Today’s lecture will demonstrate this approach  </vt:lpstr>
      <vt:lpstr>A motivating example</vt:lpstr>
      <vt:lpstr>  A job scheduling problem  </vt:lpstr>
      <vt:lpstr>PowerPoint Presentation</vt:lpstr>
      <vt:lpstr>  </vt:lpstr>
      <vt:lpstr>Designing algorithm for any problem </vt:lpstr>
      <vt:lpstr>Designing algorithm for the problem </vt:lpstr>
      <vt:lpstr>Designing algorithm for the problem </vt:lpstr>
      <vt:lpstr>Designing algorithm for the problem </vt:lpstr>
      <vt:lpstr>Designing algorithm for the problem </vt:lpstr>
      <vt:lpstr>Designing algorithm for the problem </vt:lpstr>
      <vt:lpstr>Designing algorithm for the problem </vt:lpstr>
      <vt:lpstr>Designing algorithm for the problem </vt:lpstr>
      <vt:lpstr>Designing algorithm for the problem </vt:lpstr>
      <vt:lpstr>Designing algorithm for the problem </vt:lpstr>
      <vt:lpstr>Designing algorithm for the problem </vt:lpstr>
      <vt:lpstr>Designing algorithm for the problem </vt:lpstr>
      <vt:lpstr>Algorithm “earliest finish time” Description</vt:lpstr>
      <vt:lpstr>Algorithm “earliest finish time” Correctness</vt:lpstr>
      <vt:lpstr>Algorithm “earliest finish time” Correctness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1160</cp:revision>
  <dcterms:created xsi:type="dcterms:W3CDTF">2011-12-03T04:13:03Z</dcterms:created>
  <dcterms:modified xsi:type="dcterms:W3CDTF">2025-11-06T16:17:11Z</dcterms:modified>
</cp:coreProperties>
</file>