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489" r:id="rId2"/>
    <p:sldId id="468" r:id="rId3"/>
    <p:sldId id="491" r:id="rId4"/>
    <p:sldId id="470" r:id="rId5"/>
    <p:sldId id="464" r:id="rId6"/>
    <p:sldId id="465" r:id="rId7"/>
    <p:sldId id="467" r:id="rId8"/>
    <p:sldId id="469" r:id="rId9"/>
    <p:sldId id="472" r:id="rId10"/>
    <p:sldId id="480" r:id="rId11"/>
    <p:sldId id="471" r:id="rId12"/>
    <p:sldId id="473" r:id="rId13"/>
    <p:sldId id="476" r:id="rId14"/>
    <p:sldId id="481" r:id="rId15"/>
    <p:sldId id="490" r:id="rId16"/>
    <p:sldId id="493" r:id="rId17"/>
    <p:sldId id="482" r:id="rId18"/>
    <p:sldId id="492" r:id="rId19"/>
    <p:sldId id="483" r:id="rId20"/>
    <p:sldId id="478" r:id="rId21"/>
    <p:sldId id="477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31A95-1B21-5241-89D3-9FF68BB20F3A}" v="4" dt="2023-08-17T05:06:52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>
        <p:scale>
          <a:sx n="112" d="100"/>
          <a:sy n="112" d="100"/>
        </p:scale>
        <p:origin x="1832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BE631A95-1B21-5241-89D3-9FF68BB20F3A}"/>
    <pc:docChg chg="modSld">
      <pc:chgData name="Raghunath Tewari" userId="2638bdda-d406-4938-a2a6-e4e967acb772" providerId="ADAL" clId="{BE631A95-1B21-5241-89D3-9FF68BB20F3A}" dt="2023-08-18T02:51:19.193" v="9" actId="14100"/>
      <pc:docMkLst>
        <pc:docMk/>
      </pc:docMkLst>
      <pc:sldChg chg="modSp">
        <pc:chgData name="Raghunath Tewari" userId="2638bdda-d406-4938-a2a6-e4e967acb772" providerId="ADAL" clId="{BE631A95-1B21-5241-89D3-9FF68BB20F3A}" dt="2023-08-17T05:06:52.329" v="3" actId="20577"/>
        <pc:sldMkLst>
          <pc:docMk/>
          <pc:sldMk cId="735429107" sldId="464"/>
        </pc:sldMkLst>
        <pc:spChg chg="mod">
          <ac:chgData name="Raghunath Tewari" userId="2638bdda-d406-4938-a2a6-e4e967acb772" providerId="ADAL" clId="{BE631A95-1B21-5241-89D3-9FF68BB20F3A}" dt="2023-08-17T05:06:52.329" v="3" actId="20577"/>
          <ac:spMkLst>
            <pc:docMk/>
            <pc:sldMk cId="735429107" sldId="464"/>
            <ac:spMk id="3" creationId="{00000000-0000-0000-0000-000000000000}"/>
          </ac:spMkLst>
        </pc:spChg>
      </pc:sldChg>
      <pc:sldChg chg="modSp mod">
        <pc:chgData name="Raghunath Tewari" userId="2638bdda-d406-4938-a2a6-e4e967acb772" providerId="ADAL" clId="{BE631A95-1B21-5241-89D3-9FF68BB20F3A}" dt="2023-08-17T05:08:24.971" v="5" actId="1076"/>
        <pc:sldMkLst>
          <pc:docMk/>
          <pc:sldMk cId="3570269650" sldId="472"/>
        </pc:sldMkLst>
        <pc:spChg chg="mod">
          <ac:chgData name="Raghunath Tewari" userId="2638bdda-d406-4938-a2a6-e4e967acb772" providerId="ADAL" clId="{BE631A95-1B21-5241-89D3-9FF68BB20F3A}" dt="2023-08-17T05:08:13.050" v="4" actId="1076"/>
          <ac:spMkLst>
            <pc:docMk/>
            <pc:sldMk cId="3570269650" sldId="472"/>
            <ac:spMk id="66" creationId="{00000000-0000-0000-0000-000000000000}"/>
          </ac:spMkLst>
        </pc:spChg>
        <pc:grpChg chg="mod">
          <ac:chgData name="Raghunath Tewari" userId="2638bdda-d406-4938-a2a6-e4e967acb772" providerId="ADAL" clId="{BE631A95-1B21-5241-89D3-9FF68BB20F3A}" dt="2023-08-17T05:08:24.971" v="5" actId="1076"/>
          <ac:grpSpMkLst>
            <pc:docMk/>
            <pc:sldMk cId="3570269650" sldId="472"/>
            <ac:grpSpMk id="114" creationId="{00000000-0000-0000-0000-000000000000}"/>
          </ac:grpSpMkLst>
        </pc:grpChg>
      </pc:sldChg>
      <pc:sldChg chg="modSp mod">
        <pc:chgData name="Raghunath Tewari" userId="2638bdda-d406-4938-a2a6-e4e967acb772" providerId="ADAL" clId="{BE631A95-1B21-5241-89D3-9FF68BB20F3A}" dt="2023-08-18T02:51:19.193" v="9" actId="14100"/>
        <pc:sldMkLst>
          <pc:docMk/>
          <pc:sldMk cId="1510721061" sldId="491"/>
        </pc:sldMkLst>
        <pc:spChg chg="mod">
          <ac:chgData name="Raghunath Tewari" userId="2638bdda-d406-4938-a2a6-e4e967acb772" providerId="ADAL" clId="{BE631A95-1B21-5241-89D3-9FF68BB20F3A}" dt="2023-08-18T02:51:19.193" v="9" actId="14100"/>
          <ac:spMkLst>
            <pc:docMk/>
            <pc:sldMk cId="1510721061" sldId="491"/>
            <ac:spMk id="6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4FB7F8EF-A8CF-5443-AD9B-1576DF7723B3}"/>
    <pc:docChg chg="delSld modSld">
      <pc:chgData name="Raghunath Tewari" userId="2638bdda-d406-4938-a2a6-e4e967acb772" providerId="ADAL" clId="{4FB7F8EF-A8CF-5443-AD9B-1576DF7723B3}" dt="2021-01-22T16:55:02.696" v="84" actId="20577"/>
      <pc:docMkLst>
        <pc:docMk/>
      </pc:docMkLst>
      <pc:sldChg chg="modSp">
        <pc:chgData name="Raghunath Tewari" userId="2638bdda-d406-4938-a2a6-e4e967acb772" providerId="ADAL" clId="{4FB7F8EF-A8CF-5443-AD9B-1576DF7723B3}" dt="2021-01-22T16:49:42.647" v="44" actId="20577"/>
        <pc:sldMkLst>
          <pc:docMk/>
          <pc:sldMk cId="3570269650" sldId="472"/>
        </pc:sldMkLst>
        <pc:spChg chg="mod">
          <ac:chgData name="Raghunath Tewari" userId="2638bdda-d406-4938-a2a6-e4e967acb772" providerId="ADAL" clId="{4FB7F8EF-A8CF-5443-AD9B-1576DF7723B3}" dt="2021-01-22T16:49:42.647" v="44" actId="20577"/>
          <ac:spMkLst>
            <pc:docMk/>
            <pc:sldMk cId="3570269650" sldId="472"/>
            <ac:spMk id="5" creationId="{00000000-0000-0000-0000-000000000000}"/>
          </ac:spMkLst>
        </pc:spChg>
      </pc:sldChg>
      <pc:sldChg chg="del">
        <pc:chgData name="Raghunath Tewari" userId="2638bdda-d406-4938-a2a6-e4e967acb772" providerId="ADAL" clId="{4FB7F8EF-A8CF-5443-AD9B-1576DF7723B3}" dt="2021-01-22T16:43:08.542" v="6" actId="2696"/>
        <pc:sldMkLst>
          <pc:docMk/>
          <pc:sldMk cId="2699575036" sldId="484"/>
        </pc:sldMkLst>
      </pc:sldChg>
      <pc:sldChg chg="del">
        <pc:chgData name="Raghunath Tewari" userId="2638bdda-d406-4938-a2a6-e4e967acb772" providerId="ADAL" clId="{4FB7F8EF-A8CF-5443-AD9B-1576DF7723B3}" dt="2021-01-22T16:43:16.615" v="7" actId="2696"/>
        <pc:sldMkLst>
          <pc:docMk/>
          <pc:sldMk cId="3833124059" sldId="486"/>
        </pc:sldMkLst>
      </pc:sldChg>
      <pc:sldChg chg="modSp mod">
        <pc:chgData name="Raghunath Tewari" userId="2638bdda-d406-4938-a2a6-e4e967acb772" providerId="ADAL" clId="{4FB7F8EF-A8CF-5443-AD9B-1576DF7723B3}" dt="2021-01-22T16:42:36.867" v="5" actId="20577"/>
        <pc:sldMkLst>
          <pc:docMk/>
          <pc:sldMk cId="170308697" sldId="489"/>
        </pc:sldMkLst>
        <pc:spChg chg="mod">
          <ac:chgData name="Raghunath Tewari" userId="2638bdda-d406-4938-a2a6-e4e967acb772" providerId="ADAL" clId="{4FB7F8EF-A8CF-5443-AD9B-1576DF7723B3}" dt="2021-01-22T16:42:36.867" v="5" actId="20577"/>
          <ac:spMkLst>
            <pc:docMk/>
            <pc:sldMk cId="170308697" sldId="489"/>
            <ac:spMk id="2" creationId="{00000000-0000-0000-0000-000000000000}"/>
          </ac:spMkLst>
        </pc:spChg>
      </pc:sldChg>
      <pc:sldChg chg="modSp mod">
        <pc:chgData name="Raghunath Tewari" userId="2638bdda-d406-4938-a2a6-e4e967acb772" providerId="ADAL" clId="{4FB7F8EF-A8CF-5443-AD9B-1576DF7723B3}" dt="2021-01-22T16:55:02.696" v="84" actId="20577"/>
        <pc:sldMkLst>
          <pc:docMk/>
          <pc:sldMk cId="714708276" sldId="493"/>
        </pc:sldMkLst>
        <pc:spChg chg="mod">
          <ac:chgData name="Raghunath Tewari" userId="2638bdda-d406-4938-a2a6-e4e967acb772" providerId="ADAL" clId="{4FB7F8EF-A8CF-5443-AD9B-1576DF7723B3}" dt="2021-01-22T16:54:35.392" v="62" actId="20577"/>
          <ac:spMkLst>
            <pc:docMk/>
            <pc:sldMk cId="714708276" sldId="493"/>
            <ac:spMk id="2" creationId="{00000000-0000-0000-0000-000000000000}"/>
          </ac:spMkLst>
        </pc:spChg>
        <pc:spChg chg="mod">
          <ac:chgData name="Raghunath Tewari" userId="2638bdda-d406-4938-a2a6-e4e967acb772" providerId="ADAL" clId="{4FB7F8EF-A8CF-5443-AD9B-1576DF7723B3}" dt="2021-01-22T16:55:02.696" v="84" actId="20577"/>
          <ac:spMkLst>
            <pc:docMk/>
            <pc:sldMk cId="714708276" sldId="49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5800"/>
            <a:ext cx="74676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8:</a:t>
            </a:r>
          </a:p>
          <a:p>
            <a:pPr lvl="1"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Data structures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Modeling</a:t>
            </a:r>
            <a:r>
              <a:rPr lang="en-US" sz="2000" dirty="0">
                <a:solidFill>
                  <a:schemeClr val="tx1"/>
                </a:solidFill>
              </a:rPr>
              <a:t> versus </a:t>
            </a:r>
            <a:r>
              <a:rPr lang="en-US" sz="2000" b="1" dirty="0">
                <a:solidFill>
                  <a:schemeClr val="tx1"/>
                </a:solidFill>
              </a:rPr>
              <a:t>Implementation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Abstract data type “</a:t>
            </a:r>
            <a:r>
              <a:rPr lang="en-US" sz="2000" b="1" dirty="0">
                <a:solidFill>
                  <a:srgbClr val="7030A0"/>
                </a:solidFill>
              </a:rPr>
              <a:t>List</a:t>
            </a:r>
            <a:r>
              <a:rPr lang="en-US" sz="2000" dirty="0">
                <a:solidFill>
                  <a:schemeClr val="tx1"/>
                </a:solidFill>
              </a:rPr>
              <a:t>” and </a:t>
            </a:r>
            <a:r>
              <a:rPr lang="en-US" sz="2000">
                <a:solidFill>
                  <a:schemeClr val="tx1"/>
                </a:solidFill>
              </a:rPr>
              <a:t>its implementation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Definition</a:t>
            </a:r>
            <a:r>
              <a:rPr lang="en-US" sz="2400" b="1" dirty="0"/>
              <a:t>: </a:t>
            </a:r>
          </a:p>
          <a:p>
            <a:pPr marL="0" indent="0">
              <a:buNone/>
            </a:pPr>
            <a:r>
              <a:rPr lang="en-US" sz="2400" dirty="0"/>
              <a:t>A collection of data elements </a:t>
            </a:r>
            <a:r>
              <a:rPr lang="en-US" sz="2400" i="1" dirty="0">
                <a:solidFill>
                  <a:srgbClr val="7030A0"/>
                </a:solidFill>
              </a:rPr>
              <a:t>arranged</a:t>
            </a:r>
            <a:r>
              <a:rPr lang="en-US" sz="2400" dirty="0">
                <a:solidFill>
                  <a:srgbClr val="7030A0"/>
                </a:solidFill>
              </a:rPr>
              <a:t> and </a:t>
            </a:r>
            <a:r>
              <a:rPr lang="en-US" sz="2400" i="1" dirty="0">
                <a:solidFill>
                  <a:srgbClr val="7030A0"/>
                </a:solidFill>
              </a:rPr>
              <a:t>connected </a:t>
            </a:r>
            <a:r>
              <a:rPr lang="en-US" sz="2400" dirty="0"/>
              <a:t>in a way </a:t>
            </a:r>
          </a:p>
          <a:p>
            <a:pPr marL="0" indent="0">
              <a:buNone/>
            </a:pPr>
            <a:r>
              <a:rPr lang="en-US" sz="2400" dirty="0"/>
              <a:t>that can facilitate </a:t>
            </a:r>
            <a:r>
              <a:rPr lang="en-US" sz="2400" u="sng" dirty="0"/>
              <a:t>efficient executions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of a  (</a:t>
            </a:r>
            <a:r>
              <a:rPr lang="en-US" sz="2400" dirty="0">
                <a:solidFill>
                  <a:srgbClr val="7030A0"/>
                </a:solidFill>
              </a:rPr>
              <a:t>potentially long</a:t>
            </a:r>
            <a:r>
              <a:rPr lang="en-US" sz="2400" dirty="0"/>
              <a:t>) sequence of operations.</a:t>
            </a:r>
          </a:p>
          <a:p>
            <a:pPr marL="0" indent="0">
              <a:buNone/>
            </a:pPr>
            <a:endParaRPr lang="en-US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1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Two steps </a:t>
            </a:r>
            <a:r>
              <a:rPr lang="en-US" sz="3600" b="1" dirty="0"/>
              <a:t>process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 designing </a:t>
            </a:r>
            <a:br>
              <a:rPr lang="en-US" sz="3600" b="1" dirty="0"/>
            </a:br>
            <a:r>
              <a:rPr lang="en-US" sz="3600" b="1" dirty="0"/>
              <a:t>a  Data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Step 1:</a:t>
            </a:r>
            <a:r>
              <a:rPr lang="en-US" sz="2400" b="1" dirty="0"/>
              <a:t> Mathematical Modeling</a:t>
            </a:r>
            <a:endParaRPr lang="en-US" sz="2800" b="1" dirty="0"/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Formal </a:t>
            </a:r>
            <a:r>
              <a:rPr lang="en-US" sz="1800" dirty="0"/>
              <a:t>description of  the possible operations of a data structure. </a:t>
            </a:r>
          </a:p>
          <a:p>
            <a:pPr marL="0" indent="0">
              <a:buNone/>
            </a:pPr>
            <a:r>
              <a:rPr lang="en-US" sz="1800" dirty="0"/>
              <a:t>Operations can be classified into two categories: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Query Operations:</a:t>
            </a:r>
            <a:r>
              <a:rPr lang="en-US" sz="2000" dirty="0"/>
              <a:t>  </a:t>
            </a:r>
            <a:r>
              <a:rPr lang="en-US" sz="1800" dirty="0"/>
              <a:t>Retrieving some information from the data structure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Update operations: </a:t>
            </a:r>
            <a:r>
              <a:rPr lang="en-US" sz="1800" dirty="0"/>
              <a:t>Making a change in the data structure</a:t>
            </a:r>
            <a:endParaRPr lang="en-US" sz="2000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Step 2:</a:t>
            </a:r>
            <a:r>
              <a:rPr lang="en-US" sz="2400" b="1" dirty="0"/>
              <a:t> Implementation</a:t>
            </a:r>
          </a:p>
          <a:p>
            <a:pPr marL="0" indent="0">
              <a:buNone/>
            </a:pPr>
            <a:r>
              <a:rPr lang="en-US" sz="1800" dirty="0"/>
              <a:t>Explore the ways of organizing the data that facilitates </a:t>
            </a:r>
          </a:p>
          <a:p>
            <a:pPr marL="0" indent="0">
              <a:buNone/>
            </a:pPr>
            <a:r>
              <a:rPr lang="en-US" sz="1800" dirty="0"/>
              <a:t>performing each operation efficiently using the existing tools available. 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143000" y="3505200"/>
            <a:ext cx="7162800" cy="685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Outcome of Mathematical Modeling</a:t>
            </a:r>
            <a:r>
              <a:rPr lang="en-US" dirty="0">
                <a:solidFill>
                  <a:schemeClr val="tx1"/>
                </a:solidFill>
              </a:rPr>
              <a:t>:  an </a:t>
            </a:r>
            <a:r>
              <a:rPr lang="en-US" b="1" dirty="0">
                <a:solidFill>
                  <a:srgbClr val="C00000"/>
                </a:solidFill>
              </a:rPr>
              <a:t>Abstract Data Type</a:t>
            </a:r>
            <a:endParaRPr lang="en-US" dirty="0"/>
          </a:p>
        </p:txBody>
      </p:sp>
      <p:sp>
        <p:nvSpPr>
          <p:cNvPr id="6" name="Line Callout 2 5"/>
          <p:cNvSpPr/>
          <p:nvPr/>
        </p:nvSpPr>
        <p:spPr>
          <a:xfrm>
            <a:off x="5334000" y="5943599"/>
            <a:ext cx="3581399" cy="750849"/>
          </a:xfrm>
          <a:prstGeom prst="borderCallout2">
            <a:avLst>
              <a:gd name="adj1" fmla="val 1864"/>
              <a:gd name="adj2" fmla="val 95542"/>
              <a:gd name="adj3" fmla="val -213242"/>
              <a:gd name="adj4" fmla="val 34809"/>
              <a:gd name="adj5" fmla="val -214465"/>
              <a:gd name="adj6" fmla="val 3525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Since we don’t specify here the way how each operation of the data structure will be implemented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2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Outcome will be:</a:t>
            </a:r>
          </a:p>
          <a:p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Abstract Data Type </a:t>
            </a:r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“List”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Modeling </a:t>
            </a:r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of</a:t>
            </a:r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0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274638"/>
            <a:ext cx="8229600" cy="1143000"/>
          </a:xfrm>
        </p:spPr>
        <p:txBody>
          <a:bodyPr/>
          <a:lstStyle/>
          <a:p>
            <a:r>
              <a:rPr lang="en-US" sz="4000" b="1" dirty="0"/>
              <a:t>Mathematical Modeling  of a</a:t>
            </a:r>
            <a:r>
              <a:rPr lang="en-US" sz="4000" b="1" dirty="0">
                <a:solidFill>
                  <a:srgbClr val="7030A0"/>
                </a:solidFill>
              </a:rPr>
              <a:t> List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r>
                  <a:rPr lang="en-US" sz="2000" dirty="0"/>
                  <a:t>List of Roll numbers passing a course.</a:t>
                </a:r>
              </a:p>
              <a:p>
                <a:r>
                  <a:rPr lang="en-US" sz="2000" dirty="0"/>
                  <a:t>List of Criminal cases pending in High Court.</a:t>
                </a:r>
              </a:p>
              <a:p>
                <a:r>
                  <a:rPr lang="en-US" sz="2000" dirty="0"/>
                  <a:t>List of Rooms reserved in a hotel.</a:t>
                </a:r>
              </a:p>
              <a:p>
                <a:r>
                  <a:rPr lang="en-US" sz="2000" dirty="0"/>
                  <a:t>List of Students getting award in IITK convocation 2025.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Inference:</a:t>
                </a:r>
                <a:r>
                  <a:rPr lang="en-US" sz="2000" dirty="0"/>
                  <a:t> List is a </a:t>
                </a:r>
                <a:r>
                  <a:rPr lang="en-US" sz="2000" b="1" u="sng" dirty="0"/>
                  <a:t>sequence</a:t>
                </a:r>
                <a:r>
                  <a:rPr lang="en-US" sz="2000" dirty="0"/>
                  <a:t> of elements.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</a:t>
                </a:r>
                <a:r>
                  <a:rPr lang="en-US" sz="2400" b="1" dirty="0"/>
                  <a:t>L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6C31"/>
                    </a:solidFill>
                  </a:rPr>
                  <a:t>…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3773429" y="4876800"/>
            <a:ext cx="2122119" cy="871546"/>
            <a:chOff x="2438400" y="5378196"/>
            <a:chExt cx="2122119" cy="871546"/>
          </a:xfrm>
        </p:grpSpPr>
        <p:sp>
          <p:nvSpPr>
            <p:cNvPr id="6" name="Up Arrow 5"/>
            <p:cNvSpPr/>
            <p:nvPr/>
          </p:nvSpPr>
          <p:spPr>
            <a:xfrm>
              <a:off x="3200400" y="5378196"/>
              <a:ext cx="304800" cy="489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438400" y="5880410"/>
                  <a:ext cx="2122119" cy="36933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a14:m>
                  <a:r>
                    <a:rPr lang="en-US" dirty="0" err="1"/>
                    <a:t>th</a:t>
                  </a:r>
                  <a:r>
                    <a:rPr lang="en-US" dirty="0"/>
                    <a:t> element of list </a:t>
                  </a:r>
                  <a:r>
                    <a:rPr lang="en-US" b="1" dirty="0"/>
                    <a:t>L</a:t>
                  </a:r>
                  <a:r>
                    <a:rPr lang="en-US" dirty="0"/>
                    <a:t>  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8400" y="5880410"/>
                  <a:ext cx="212211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6349" r="-3714" b="-22222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loud Callout 4"/>
          <p:cNvSpPr/>
          <p:nvPr/>
        </p:nvSpPr>
        <p:spPr>
          <a:xfrm>
            <a:off x="5715000" y="1676400"/>
            <a:ext cx="3200400" cy="1298448"/>
          </a:xfrm>
          <a:prstGeom prst="cloudCallout">
            <a:avLst>
              <a:gd name="adj1" fmla="val -8986"/>
              <a:gd name="adj2" fmla="val 710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common in all these examples ?</a:t>
            </a:r>
          </a:p>
        </p:txBody>
      </p:sp>
    </p:spTree>
    <p:extLst>
      <p:ext uri="{BB962C8B-B14F-4D97-AF65-F5344CB8AC3E}">
        <p14:creationId xmlns:p14="http://schemas.microsoft.com/office/powerpoint/2010/main" val="73542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Query Operations</a:t>
            </a:r>
            <a:r>
              <a:rPr lang="en-US" sz="3600" b="1" dirty="0"/>
              <a:t> on a List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1" y="1219200"/>
                <a:ext cx="8915400" cy="5029200"/>
              </a:xfrm>
            </p:spPr>
            <p:txBody>
              <a:bodyPr/>
              <a:lstStyle/>
              <a:p>
                <a:r>
                  <a:rPr lang="en-US" sz="2000" b="1" dirty="0" err="1">
                    <a:solidFill>
                      <a:srgbClr val="7030A0"/>
                    </a:solidFill>
                  </a:rPr>
                  <a:t>IsEmpty</a:t>
                </a:r>
                <a:r>
                  <a:rPr lang="en-US" sz="2000" b="1" dirty="0"/>
                  <a:t>(L)</a:t>
                </a:r>
                <a:r>
                  <a:rPr lang="en-US" sz="2000" dirty="0"/>
                  <a:t>: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Search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</a:t>
                </a:r>
                <a:r>
                  <a:rPr lang="en-US" sz="2000" dirty="0" err="1"/>
                  <a:t>,</a:t>
                </a:r>
                <a:r>
                  <a:rPr lang="en-US" sz="2000" b="1" dirty="0" err="1"/>
                  <a:t>L</a:t>
                </a:r>
                <a:r>
                  <a:rPr lang="en-US" sz="2000" dirty="0"/>
                  <a:t>):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Successor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p,L</a:t>
                </a:r>
                <a:r>
                  <a:rPr lang="en-US" sz="2000" dirty="0"/>
                  <a:t>):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return the element of list </a:t>
                </a:r>
                <a:r>
                  <a:rPr lang="en-US" sz="2000" b="1" dirty="0"/>
                  <a:t>L</a:t>
                </a:r>
                <a:r>
                  <a:rPr lang="en-US" sz="2000" dirty="0"/>
                  <a:t> which succeeds/follows the element at </a:t>
                </a:r>
                <a:r>
                  <a:rPr lang="en-US" sz="2000" i="1" u="sng" dirty="0"/>
                  <a:t>location</a:t>
                </a:r>
                <a:r>
                  <a:rPr lang="en-US" sz="2000" u="sng" dirty="0"/>
                  <a:t> </a:t>
                </a:r>
                <a:r>
                  <a:rPr lang="en-US" sz="2000" b="1" u="sng" dirty="0"/>
                  <a:t>p</a:t>
                </a:r>
                <a:r>
                  <a:rPr lang="en-US" sz="2000" u="sng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If </a:t>
                </a:r>
                <a:r>
                  <a:rPr lang="en-US" sz="2000" b="1" dirty="0"/>
                  <a:t>L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6C31"/>
                    </a:solidFill>
                  </a:rPr>
                  <a:t>…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/>
                  <a:t>p</a:t>
                </a:r>
                <a:r>
                  <a:rPr lang="en-US" sz="2000" dirty="0"/>
                  <a:t> is location of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then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Successor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p,L</a:t>
                </a:r>
                <a:r>
                  <a:rPr lang="en-US" sz="2000" dirty="0"/>
                  <a:t>) returns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??         </a:t>
                </a:r>
                <a:r>
                  <a:rPr lang="en-US" sz="2000" dirty="0"/>
                  <a:t>.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p,L</a:t>
                </a:r>
                <a:r>
                  <a:rPr lang="en-US" sz="2000" dirty="0"/>
                  <a:t>):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Return the element of list </a:t>
                </a:r>
                <a:r>
                  <a:rPr lang="en-US" sz="2000" b="1" dirty="0"/>
                  <a:t>L</a:t>
                </a:r>
                <a:r>
                  <a:rPr lang="en-US" sz="2000" dirty="0"/>
                  <a:t> which precedes (appears before) the element at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location </a:t>
                </a:r>
                <a:r>
                  <a:rPr lang="en-US" sz="2000" b="1" dirty="0"/>
                  <a:t>p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Other possible operations: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First</a:t>
                </a:r>
                <a:r>
                  <a:rPr lang="en-US" sz="2000" dirty="0"/>
                  <a:t>(</a:t>
                </a:r>
                <a:r>
                  <a:rPr lang="en-US" sz="2000" b="1" dirty="0"/>
                  <a:t>L</a:t>
                </a:r>
                <a:r>
                  <a:rPr lang="en-US" sz="2000" dirty="0"/>
                  <a:t>):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Enumerate</a:t>
                </a:r>
                <a:r>
                  <a:rPr lang="en-US" sz="2000" dirty="0"/>
                  <a:t>(</a:t>
                </a:r>
                <a:r>
                  <a:rPr lang="en-US" sz="2000" b="1" dirty="0"/>
                  <a:t>L</a:t>
                </a:r>
                <a:r>
                  <a:rPr lang="en-US" sz="2000" dirty="0"/>
                  <a:t>):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1" y="1219200"/>
                <a:ext cx="8915400" cy="5029200"/>
              </a:xfrm>
              <a:blipFill rotWithShape="1">
                <a:blip r:embed="rId2"/>
                <a:stretch>
                  <a:fillRect l="-684" t="-606" b="-4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581400" y="3429000"/>
                <a:ext cx="7620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429000"/>
                <a:ext cx="762000" cy="381000"/>
              </a:xfrm>
              <a:prstGeom prst="roundRect">
                <a:avLst/>
              </a:prstGeom>
              <a:blipFill rotWithShape="1">
                <a:blip r:embed="rId3"/>
                <a:stretch>
                  <a:fillRect t="-19697" r="-13178" b="-409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Callout 2 6"/>
          <p:cNvSpPr/>
          <p:nvPr/>
        </p:nvSpPr>
        <p:spPr>
          <a:xfrm>
            <a:off x="6172200" y="1419256"/>
            <a:ext cx="2895600" cy="485744"/>
          </a:xfrm>
          <a:prstGeom prst="borderCallout2">
            <a:avLst>
              <a:gd name="adj1" fmla="val 95523"/>
              <a:gd name="adj2" fmla="val 50790"/>
              <a:gd name="adj3" fmla="val 167626"/>
              <a:gd name="adj4" fmla="val 60569"/>
              <a:gd name="adj5" fmla="val 194894"/>
              <a:gd name="adj6" fmla="val 604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type of this parameter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will depend on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383" y="1219200"/>
            <a:ext cx="3323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determine if </a:t>
            </a:r>
            <a:r>
              <a:rPr lang="en-US" sz="2000" b="1" dirty="0"/>
              <a:t>L</a:t>
            </a:r>
            <a:r>
              <a:rPr lang="en-US" sz="2000" dirty="0"/>
              <a:t> is an empty list.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878477" y="1581090"/>
            <a:ext cx="3379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determine if </a:t>
            </a:r>
            <a:r>
              <a:rPr lang="en-US" sz="2000" b="1" dirty="0"/>
              <a:t>x</a:t>
            </a:r>
            <a:r>
              <a:rPr lang="en-US" sz="2000" dirty="0"/>
              <a:t> appears in list </a:t>
            </a:r>
            <a:r>
              <a:rPr lang="en-US" sz="2000" b="1" dirty="0"/>
              <a:t>L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330" y="5619690"/>
            <a:ext cx="3504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return the first element of list </a:t>
            </a:r>
            <a:r>
              <a:rPr lang="en-US" sz="2000" b="1" dirty="0"/>
              <a:t>L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064563" y="6000690"/>
            <a:ext cx="6698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Enumerate/print all elements of list </a:t>
            </a:r>
            <a:r>
              <a:rPr lang="en-US" sz="2000" b="1" dirty="0"/>
              <a:t>L</a:t>
            </a:r>
            <a:r>
              <a:rPr lang="en-US" sz="2000" dirty="0"/>
              <a:t> in the order they appear.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567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 animBg="1"/>
      <p:bldP spid="5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Update Operations </a:t>
            </a:r>
            <a:r>
              <a:rPr lang="en-US" sz="3600" b="1" dirty="0"/>
              <a:t>on a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r>
                  <a:rPr lang="en-US" sz="2000" b="1" dirty="0" err="1">
                    <a:solidFill>
                      <a:srgbClr val="C00000"/>
                    </a:solidFill>
                  </a:rPr>
                  <a:t>CreateEmptyList</a:t>
                </a:r>
                <a:r>
                  <a:rPr lang="en-US" sz="2000" dirty="0"/>
                  <a:t>(</a:t>
                </a:r>
                <a:r>
                  <a:rPr lang="en-US" sz="2000" b="1" dirty="0"/>
                  <a:t>L</a:t>
                </a:r>
                <a:r>
                  <a:rPr lang="en-US" sz="2000" dirty="0"/>
                  <a:t>): 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x,p,L</a:t>
                </a:r>
                <a:r>
                  <a:rPr lang="en-US" sz="2000" dirty="0"/>
                  <a:t>):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Example:  </a:t>
                </a:r>
                <a:r>
                  <a:rPr lang="en-US" sz="2000" dirty="0"/>
                  <a:t>If </a:t>
                </a:r>
                <a:r>
                  <a:rPr lang="en-US" sz="2000" b="1" dirty="0"/>
                  <a:t>L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6C31"/>
                    </a:solidFill>
                  </a:rPr>
                  <a:t>…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/>
                  <a:t>p</a:t>
                </a:r>
                <a:r>
                  <a:rPr lang="en-US" sz="2000" dirty="0"/>
                  <a:t> is location of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then after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x,p,L</a:t>
                </a:r>
                <a:r>
                  <a:rPr lang="en-US" sz="2000" dirty="0"/>
                  <a:t>), </a:t>
                </a:r>
                <a:r>
                  <a:rPr lang="en-US" sz="2000" b="1" dirty="0"/>
                  <a:t>L</a:t>
                </a:r>
                <a:r>
                  <a:rPr lang="en-US" sz="2000" dirty="0"/>
                  <a:t> becomes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                                              ??       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Delete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p,L</a:t>
                </a:r>
                <a:r>
                  <a:rPr lang="en-US" sz="2000" dirty="0"/>
                  <a:t>): Delete element at location </a:t>
                </a:r>
                <a:r>
                  <a:rPr lang="en-US" sz="2000" b="1" dirty="0"/>
                  <a:t>p</a:t>
                </a:r>
                <a:r>
                  <a:rPr lang="en-US" sz="2000" dirty="0"/>
                  <a:t> in </a:t>
                </a:r>
                <a:r>
                  <a:rPr lang="en-US" sz="2000" b="1" dirty="0"/>
                  <a:t>L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Example:  </a:t>
                </a:r>
                <a:r>
                  <a:rPr lang="en-US" sz="2000" dirty="0"/>
                  <a:t>If </a:t>
                </a:r>
                <a:r>
                  <a:rPr lang="en-US" sz="2000" b="1" dirty="0"/>
                  <a:t>L </a:t>
                </a:r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6C31"/>
                    </a:solidFill>
                  </a:rPr>
                  <a:t>…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/>
                  <a:t>p</a:t>
                </a:r>
                <a:r>
                  <a:rPr lang="en-US" sz="2000" dirty="0"/>
                  <a:t> is location of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then after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Delete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p,L</a:t>
                </a:r>
                <a:r>
                  <a:rPr lang="en-US" sz="2000" dirty="0"/>
                  <a:t>), </a:t>
                </a:r>
                <a:r>
                  <a:rPr lang="en-US" sz="2000" b="1" dirty="0"/>
                  <a:t>L</a:t>
                </a:r>
                <a:r>
                  <a:rPr lang="en-US" sz="2000" dirty="0"/>
                  <a:t> becomes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 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r>
                  <a:rPr lang="en-US" sz="2000" b="1" dirty="0" err="1">
                    <a:solidFill>
                      <a:srgbClr val="C00000"/>
                    </a:solidFill>
                  </a:rPr>
                  <a:t>MakeListEmpty</a:t>
                </a:r>
                <a:r>
                  <a:rPr lang="en-US" sz="2000" b="1" dirty="0"/>
                  <a:t>(L): </a:t>
                </a:r>
                <a:r>
                  <a:rPr lang="en-US" sz="2000" dirty="0"/>
                  <a:t>Make the List </a:t>
                </a:r>
                <a:r>
                  <a:rPr lang="en-US" sz="2000" b="1" dirty="0"/>
                  <a:t>L</a:t>
                </a:r>
                <a:r>
                  <a:rPr lang="en-US" sz="2000" dirty="0"/>
                  <a:t> empty.</a:t>
                </a:r>
                <a:r>
                  <a:rPr lang="en-US" sz="2000" b="1" dirty="0"/>
                  <a:t>      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2"/>
                <a:stretch>
                  <a:fillRect l="-714" t="-674" r="-71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743200" y="3124200"/>
                <a:ext cx="37338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6C31"/>
                    </a:solidFill>
                  </a:rPr>
                  <a:t>…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𝐱</m:t>
                        </m:r>
                        <m:r>
                          <a:rPr lang="en-US" b="0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124200"/>
                <a:ext cx="3733800" cy="381000"/>
              </a:xfrm>
              <a:prstGeom prst="roundRect">
                <a:avLst/>
              </a:prstGeom>
              <a:blipFill rotWithShape="1">
                <a:blip r:embed="rId3"/>
                <a:stretch>
                  <a:fillRect t="-3030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895600" y="4953000"/>
                <a:ext cx="37338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6C31"/>
                    </a:solidFill>
                  </a:rPr>
                  <a:t>…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953000"/>
                <a:ext cx="3733800" cy="381000"/>
              </a:xfrm>
              <a:prstGeom prst="roundRect">
                <a:avLst/>
              </a:prstGeom>
              <a:blipFill rotWithShape="1">
                <a:blip r:embed="rId4"/>
                <a:stretch>
                  <a:fillRect t="-3030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86000" y="1992351"/>
            <a:ext cx="3958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Insert </a:t>
            </a:r>
            <a:r>
              <a:rPr lang="en-US" sz="2000" b="1" dirty="0"/>
              <a:t>x</a:t>
            </a:r>
            <a:r>
              <a:rPr lang="en-US" sz="2000" dirty="0"/>
              <a:t> at a given location </a:t>
            </a:r>
            <a:r>
              <a:rPr lang="en-US" sz="2000" b="1" dirty="0"/>
              <a:t>p</a:t>
            </a:r>
            <a:r>
              <a:rPr lang="en-US" sz="2000" dirty="0"/>
              <a:t> in list </a:t>
            </a:r>
            <a:r>
              <a:rPr lang="en-US" sz="2000" b="1" dirty="0"/>
              <a:t>L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048000" y="1611868"/>
            <a:ext cx="2336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Create an empty list.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16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Implementation </a:t>
            </a:r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of</a:t>
            </a:r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</a:p>
          <a:p>
            <a:pPr algn="ctr"/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Abstract Data Type “List”</a:t>
            </a:r>
            <a:endParaRPr lang="en-U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2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Array</a:t>
            </a:r>
            <a:r>
              <a:rPr lang="en-US" sz="4000" b="1" dirty="0"/>
              <a:t> based Implementation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endParaRPr lang="en-US" sz="1800" dirty="0"/>
              </a:p>
              <a:p>
                <a:r>
                  <a:rPr lang="en-US" sz="1800" b="1" dirty="0"/>
                  <a:t>RAM</a:t>
                </a:r>
                <a:r>
                  <a:rPr lang="en-US" sz="1800" dirty="0"/>
                  <a:t> allows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/>
                  <a:t>) time to access any memory location.</a:t>
                </a:r>
              </a:p>
              <a:p>
                <a:r>
                  <a:rPr lang="en-US" sz="1800" dirty="0"/>
                  <a:t>Array is a </a:t>
                </a:r>
                <a:r>
                  <a:rPr lang="en-US" sz="1800" u="sng" dirty="0"/>
                  <a:t>contiguous</a:t>
                </a:r>
                <a:r>
                  <a:rPr lang="en-US" sz="1800" dirty="0"/>
                  <a:t> chunk of memory kept  in RAM. </a:t>
                </a:r>
              </a:p>
              <a:p>
                <a:r>
                  <a:rPr lang="en-US" sz="1800" dirty="0"/>
                  <a:t>For an array </a:t>
                </a:r>
                <a:r>
                  <a:rPr lang="en-US" sz="1800" b="1" dirty="0"/>
                  <a:t>A</a:t>
                </a:r>
                <a:r>
                  <a:rPr lang="en-US" sz="1800" dirty="0"/>
                  <a:t>[] storing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 words,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</a:t>
                </a:r>
                <a:r>
                  <a:rPr lang="en-US" sz="1800" dirty="0">
                    <a:solidFill>
                      <a:srgbClr val="7030A0"/>
                    </a:solidFill>
                  </a:rPr>
                  <a:t>the address of element </a:t>
                </a:r>
                <a:r>
                  <a:rPr lang="en-US" sz="1800" b="1" dirty="0"/>
                  <a:t>A</a:t>
                </a:r>
                <a:r>
                  <a:rPr lang="en-US" sz="1800" dirty="0">
                    <a:solidFill>
                      <a:srgbClr val="7030A0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rgbClr val="7030A0"/>
                    </a:solidFill>
                  </a:rPr>
                  <a:t>]</a:t>
                </a:r>
                <a:r>
                  <a:rPr lang="en-US" sz="1800" dirty="0"/>
                  <a:t> =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“</a:t>
                </a:r>
                <a:r>
                  <a:rPr lang="en-US" sz="1800" dirty="0">
                    <a:solidFill>
                      <a:srgbClr val="7030A0"/>
                    </a:solidFill>
                  </a:rPr>
                  <a:t>start address of array </a:t>
                </a:r>
                <a:r>
                  <a:rPr lang="en-US" sz="1800" b="1" dirty="0"/>
                  <a:t>A</a:t>
                </a:r>
                <a:r>
                  <a:rPr lang="en-US" sz="1800" dirty="0"/>
                  <a:t>” +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207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ontent Placeholder 6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115" name="Group 114"/>
          <p:cNvGrpSpPr/>
          <p:nvPr/>
        </p:nvGrpSpPr>
        <p:grpSpPr>
          <a:xfrm>
            <a:off x="5181600" y="2479976"/>
            <a:ext cx="3007895" cy="3082624"/>
            <a:chOff x="5181600" y="2479976"/>
            <a:chExt cx="3007895" cy="3082624"/>
          </a:xfrm>
        </p:grpSpPr>
        <p:grpSp>
          <p:nvGrpSpPr>
            <p:cNvPr id="27" name="Group 26"/>
            <p:cNvGrpSpPr/>
            <p:nvPr/>
          </p:nvGrpSpPr>
          <p:grpSpPr>
            <a:xfrm>
              <a:off x="5181600" y="2479976"/>
              <a:ext cx="3007895" cy="2685590"/>
              <a:chOff x="3733800" y="1728216"/>
              <a:chExt cx="4343400" cy="3910584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/>
            <p:cNvSpPr txBox="1"/>
            <p:nvPr/>
          </p:nvSpPr>
          <p:spPr>
            <a:xfrm>
              <a:off x="6506851" y="5193268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RAM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6049351" y="2057400"/>
            <a:ext cx="1981834" cy="1368257"/>
            <a:chOff x="5973151" y="838200"/>
            <a:chExt cx="1981834" cy="1368257"/>
          </a:xfrm>
        </p:grpSpPr>
        <p:sp>
          <p:nvSpPr>
            <p:cNvPr id="64" name="Rectangle 63"/>
            <p:cNvSpPr/>
            <p:nvPr/>
          </p:nvSpPr>
          <p:spPr>
            <a:xfrm>
              <a:off x="6371882" y="2049466"/>
              <a:ext cx="1583103" cy="15699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973151" y="838200"/>
              <a:ext cx="869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Array </a:t>
              </a:r>
              <a:r>
                <a:rPr lang="en-US" b="1" dirty="0"/>
                <a:t>A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>
              <a:off x="6459269" y="1255700"/>
              <a:ext cx="474931" cy="8017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647700" y="4765548"/>
            <a:ext cx="3733800" cy="1447800"/>
            <a:chOff x="685800" y="4114800"/>
            <a:chExt cx="3733800" cy="1447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Down Ribbon 66"/>
                <p:cNvSpPr/>
                <p:nvPr/>
              </p:nvSpPr>
              <p:spPr>
                <a:xfrm>
                  <a:off x="685800" y="4839108"/>
                  <a:ext cx="3733800" cy="723492"/>
                </a:xfrm>
                <a:prstGeom prst="ribbon">
                  <a:avLst>
                    <a:gd name="adj1" fmla="val 16667"/>
                    <a:gd name="adj2" fmla="val 7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2060"/>
                      </a:solidFill>
                    </a:rPr>
                    <a:t>This feature supports </a:t>
                  </a:r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dirty="0">
                      <a:solidFill>
                        <a:srgbClr val="00206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) time to access </a:t>
                  </a:r>
                  <a:r>
                    <a:rPr lang="en-US" b="1" dirty="0">
                      <a:solidFill>
                        <a:srgbClr val="002060"/>
                      </a:solidFill>
                    </a:rPr>
                    <a:t>A</a:t>
                  </a:r>
                  <a:r>
                    <a:rPr lang="en-US" dirty="0">
                      <a:solidFill>
                        <a:srgbClr val="002060"/>
                      </a:solidFill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] for any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Down Ribbon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839108"/>
                  <a:ext cx="3733800" cy="723492"/>
                </a:xfrm>
                <a:prstGeom prst="ribbon">
                  <a:avLst>
                    <a:gd name="adj1" fmla="val 16667"/>
                    <a:gd name="adj2" fmla="val 75000"/>
                  </a:avLst>
                </a:prstGeom>
                <a:blipFill rotWithShape="1">
                  <a:blip r:embed="rId3"/>
                  <a:stretch>
                    <a:fillRect b="-13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Down Arrow 112"/>
            <p:cNvSpPr/>
            <p:nvPr/>
          </p:nvSpPr>
          <p:spPr>
            <a:xfrm>
              <a:off x="2438400" y="4114800"/>
              <a:ext cx="304800" cy="784954"/>
            </a:xfrm>
            <a:prstGeom prst="downArrow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Cloud Callout 65"/>
          <p:cNvSpPr/>
          <p:nvPr/>
        </p:nvSpPr>
        <p:spPr>
          <a:xfrm>
            <a:off x="1005692" y="4138160"/>
            <a:ext cx="3575490" cy="1291294"/>
          </a:xfrm>
          <a:prstGeom prst="cloudCallout">
            <a:avLst>
              <a:gd name="adj1" fmla="val -8986"/>
              <a:gd name="adj2" fmla="val 710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we use array for implementing  a list?</a:t>
            </a:r>
          </a:p>
        </p:txBody>
      </p:sp>
      <p:sp>
        <p:nvSpPr>
          <p:cNvPr id="5" name="Line Callout 1 4"/>
          <p:cNvSpPr/>
          <p:nvPr/>
        </p:nvSpPr>
        <p:spPr>
          <a:xfrm>
            <a:off x="4191635" y="1368552"/>
            <a:ext cx="3839550" cy="536448"/>
          </a:xfrm>
          <a:prstGeom prst="borderCallout1">
            <a:avLst>
              <a:gd name="adj1" fmla="val 49931"/>
              <a:gd name="adj2" fmla="val 89"/>
              <a:gd name="adj3" fmla="val 112500"/>
              <a:gd name="adj4" fmla="val -3833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Taught in a Computer Hardware course.</a:t>
            </a:r>
          </a:p>
        </p:txBody>
      </p:sp>
    </p:spTree>
    <p:extLst>
      <p:ext uri="{BB962C8B-B14F-4D97-AF65-F5344CB8AC3E}">
        <p14:creationId xmlns:p14="http://schemas.microsoft.com/office/powerpoint/2010/main" val="35702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6" grpId="0" animBg="1"/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Array</a:t>
            </a:r>
            <a:r>
              <a:rPr lang="en-US" sz="4000" b="1" dirty="0"/>
              <a:t> based Implementation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/>
              <a:lstStyle/>
              <a:p>
                <a:r>
                  <a:rPr lang="en-US" sz="2000" dirty="0"/>
                  <a:t>Store the elements of List  in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 such that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] denotes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 </a:t>
                </a:r>
                <a:r>
                  <a:rPr lang="en-US" sz="2000" dirty="0"/>
                  <a:t>         element of the list at each stage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(since index starts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(</a:t>
                </a:r>
                <a:r>
                  <a:rPr lang="en-US" sz="2000" dirty="0">
                    <a:solidFill>
                      <a:srgbClr val="C00000"/>
                    </a:solidFill>
                  </a:rPr>
                  <a:t>Assumption</a:t>
                </a:r>
                <a:r>
                  <a:rPr lang="en-US" sz="2000" dirty="0"/>
                  <a:t>: The maximum size of list is known in advance.)</a:t>
                </a:r>
              </a:p>
              <a:p>
                <a:r>
                  <a:rPr lang="en-US" sz="2000" dirty="0"/>
                  <a:t>Keep a integer variable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Length</a:t>
                </a:r>
                <a:r>
                  <a:rPr lang="en-US" sz="2000" dirty="0"/>
                  <a:t> to denote the number of elements in the list at each stage. 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1800" dirty="0"/>
                  <a:t>If at any moment of time List is   </a:t>
                </a:r>
                <a:r>
                  <a:rPr lang="en-US" sz="1800" dirty="0">
                    <a:solidFill>
                      <a:srgbClr val="006C31"/>
                    </a:solidFill>
                  </a:rPr>
                  <a:t>3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5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1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8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0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2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40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27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44</a:t>
                </a:r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6C31"/>
                    </a:solidFill>
                  </a:rPr>
                  <a:t>67</a:t>
                </a:r>
                <a:r>
                  <a:rPr lang="en-US" sz="1800" dirty="0"/>
                  <a:t>,  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the array </a:t>
                </a:r>
                <a:r>
                  <a:rPr lang="en-US" sz="1800" b="1" dirty="0"/>
                  <a:t>A</a:t>
                </a:r>
                <a:r>
                  <a:rPr lang="en-US" sz="1800" dirty="0"/>
                  <a:t> looks like: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dirty="0"/>
                  <a:t> How to describe </a:t>
                </a:r>
                <a:r>
                  <a:rPr lang="en-US" sz="2000" u="sng" dirty="0"/>
                  <a:t>location</a:t>
                </a:r>
                <a:r>
                  <a:rPr lang="en-US" sz="2000" dirty="0"/>
                  <a:t> of an element of the list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</a:t>
                </a:r>
                <a:r>
                  <a:rPr lang="en-US" sz="2000" dirty="0"/>
                  <a:t> by the corresponding array index. Location of 5</a:t>
                </a:r>
                <a:r>
                  <a:rPr lang="en-US" sz="2000" baseline="30000" dirty="0"/>
                  <a:t>th</a:t>
                </a:r>
                <a:r>
                  <a:rPr lang="en-US" sz="2000" dirty="0"/>
                  <a:t> element of List is 4.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  <a:blipFill rotWithShape="1">
                <a:blip r:embed="rId2"/>
                <a:stretch>
                  <a:fillRect l="-741" t="-635" r="-593" b="-16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1066800" y="4901625"/>
            <a:ext cx="7391400" cy="584775"/>
            <a:chOff x="1066800" y="4368225"/>
            <a:chExt cx="7391400" cy="584775"/>
          </a:xfrm>
        </p:grpSpPr>
        <p:grpSp>
          <p:nvGrpSpPr>
            <p:cNvPr id="5" name="Group 4"/>
            <p:cNvGrpSpPr/>
            <p:nvPr/>
          </p:nvGrpSpPr>
          <p:grpSpPr>
            <a:xfrm>
              <a:off x="1066800" y="4368225"/>
              <a:ext cx="5477765" cy="584775"/>
              <a:chOff x="1548068" y="4038600"/>
              <a:chExt cx="5477765" cy="584775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2133600" y="4114800"/>
                <a:ext cx="4892233" cy="381000"/>
                <a:chOff x="2651567" y="3886200"/>
                <a:chExt cx="4892233" cy="381000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2667000" y="3886200"/>
                  <a:ext cx="4876800" cy="381000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" name="Straight Connector 8"/>
                <p:cNvCxnSpPr/>
                <p:nvPr/>
              </p:nvCxnSpPr>
              <p:spPr>
                <a:xfrm>
                  <a:off x="48006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8862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44958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41910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29718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2766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35814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72390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69342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51054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54102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57150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60198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63246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629400" y="3886200"/>
                  <a:ext cx="0" cy="3810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/>
                <p:cNvSpPr txBox="1"/>
                <p:nvPr/>
              </p:nvSpPr>
              <p:spPr>
                <a:xfrm>
                  <a:off x="2651567" y="3897868"/>
                  <a:ext cx="31983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3   5    1    8    0   2   40 27  44 67</a:t>
                  </a:r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1548068" y="4038600"/>
                <a:ext cx="43313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A</a:t>
                </a: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7178939" y="4419600"/>
              <a:ext cx="1279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Length</a:t>
              </a:r>
              <a:r>
                <a:rPr lang="en-US" dirty="0"/>
                <a:t> = 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86000" y="1992868"/>
                <a:ext cx="100950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 err="1"/>
                  <a:t>th</a:t>
                </a:r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992868"/>
                <a:ext cx="100950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819" t="-8197" r="-102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27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C31"/>
                </a:solidFill>
              </a:rPr>
              <a:t>Time Complexity </a:t>
            </a:r>
            <a:r>
              <a:rPr lang="en-US" sz="3200" b="1" dirty="0"/>
              <a:t>of each List operation using </a:t>
            </a:r>
            <a:br>
              <a:rPr lang="en-US" sz="3200" b="1" dirty="0"/>
            </a:br>
            <a:r>
              <a:rPr lang="en-US" sz="3200" b="1" dirty="0">
                <a:solidFill>
                  <a:srgbClr val="7030A0"/>
                </a:solidFill>
              </a:rPr>
              <a:t>Array</a:t>
            </a:r>
            <a:r>
              <a:rPr lang="en-US" sz="3200" b="1" dirty="0"/>
              <a:t> based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3945314"/>
                  </p:ext>
                </p:extLst>
              </p:nvPr>
            </p:nvGraphicFramePr>
            <p:xfrm>
              <a:off x="1828800" y="1524000"/>
              <a:ext cx="5867400" cy="3349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29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44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148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 Complexity per</a:t>
                          </a:r>
                          <a:r>
                            <a:rPr lang="en-US" baseline="0" dirty="0"/>
                            <a:t> operation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IsEmpty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Search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x,L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Successor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b="1" dirty="0" err="1"/>
                            <a:t>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Predecessor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b="1" dirty="0" err="1"/>
                            <a:t>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7616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C00000"/>
                              </a:solidFill>
                            </a:rPr>
                            <a:t>CreateEmptyList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Insert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x,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b="1" dirty="0" err="1"/>
                            <a:t>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5898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Delete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b="1" dirty="0" err="1"/>
                            <a:t>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C00000"/>
                              </a:solidFill>
                            </a:rPr>
                            <a:t>MakeListEmpty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3945314"/>
                  </p:ext>
                </p:extLst>
              </p:nvPr>
            </p:nvGraphicFramePr>
            <p:xfrm>
              <a:off x="1828800" y="1524000"/>
              <a:ext cx="5867400" cy="33494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2935"/>
                    <a:gridCol w="3374465"/>
                  </a:tblGrid>
                  <a:tr h="41148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Operation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Time Complexity per</a:t>
                          </a:r>
                          <a:r>
                            <a:rPr lang="en-US" baseline="0" dirty="0" smtClean="0"/>
                            <a:t> operation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7030A0"/>
                              </a:solidFill>
                            </a:rPr>
                            <a:t>IsEmpty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 smtClean="0">
                              <a:solidFill>
                                <a:srgbClr val="7030A0"/>
                              </a:solidFill>
                            </a:rPr>
                            <a:t>Search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x,L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20000" r="-13545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20000" r="-135452" b="-4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7616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C00000"/>
                              </a:solidFill>
                            </a:rPr>
                            <a:t>CreateEmptyList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623333" r="-13545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723333" r="-13545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C00000"/>
                              </a:solidFill>
                            </a:rPr>
                            <a:t>MakeListEmpty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0" y="1981200"/>
            <a:ext cx="9144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400" y="2362200"/>
                <a:ext cx="914400" cy="304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362200"/>
                <a:ext cx="914400" cy="304800"/>
              </a:xfrm>
              <a:prstGeom prst="roundRect">
                <a:avLst/>
              </a:prstGeom>
              <a:blipFill rotWithShape="1">
                <a:blip r:embed="rId3"/>
                <a:stretch>
                  <a:fillRect t="-1481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0" y="2743200"/>
            <a:ext cx="9144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124200"/>
            <a:ext cx="9144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505200"/>
            <a:ext cx="9144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572000"/>
            <a:ext cx="9144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5486400" y="3856463"/>
                <a:ext cx="914400" cy="304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856463"/>
                <a:ext cx="914400" cy="304800"/>
              </a:xfrm>
              <a:prstGeom prst="roundRect">
                <a:avLst/>
              </a:prstGeom>
              <a:blipFill rotWithShape="1">
                <a:blip r:embed="rId4"/>
                <a:stretch>
                  <a:fillRect t="-1481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5501268" y="4217020"/>
                <a:ext cx="914400" cy="304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268" y="4217020"/>
                <a:ext cx="914400" cy="304800"/>
              </a:xfrm>
              <a:prstGeom prst="roundRect">
                <a:avLst/>
              </a:prstGeom>
              <a:blipFill rotWithShape="1">
                <a:blip r:embed="rId5"/>
                <a:stretch>
                  <a:fillRect t="-1481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Up Ribbon 14"/>
          <p:cNvSpPr/>
          <p:nvPr/>
        </p:nvSpPr>
        <p:spPr>
          <a:xfrm>
            <a:off x="1981200" y="5638800"/>
            <a:ext cx="5181600" cy="8382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Homework:</a:t>
            </a:r>
            <a:r>
              <a:rPr lang="en-US" dirty="0">
                <a:solidFill>
                  <a:schemeClr val="tx1"/>
                </a:solidFill>
              </a:rPr>
              <a:t> Write </a:t>
            </a:r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Function for each operation with matching complexity.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Line Callout 2 15"/>
              <p:cNvSpPr/>
              <p:nvPr/>
            </p:nvSpPr>
            <p:spPr>
              <a:xfrm>
                <a:off x="2895600" y="5334000"/>
                <a:ext cx="6017941" cy="380999"/>
              </a:xfrm>
              <a:prstGeom prst="borderCallout2">
                <a:avLst>
                  <a:gd name="adj1" fmla="val -1063"/>
                  <a:gd name="adj2" fmla="val 89965"/>
                  <a:gd name="adj3" fmla="val -351457"/>
                  <a:gd name="adj4" fmla="val 90520"/>
                  <a:gd name="adj5" fmla="val -353972"/>
                  <a:gd name="adj6" fmla="val 5659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All elements from A[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] to A[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] have to be shifted to the 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right</a:t>
                </a:r>
                <a:r>
                  <a:rPr lang="en-US" sz="1400" dirty="0">
                    <a:solidFill>
                      <a:schemeClr val="tx1"/>
                    </a:solidFill>
                  </a:rPr>
                  <a:t> by one place.</a:t>
                </a:r>
              </a:p>
            </p:txBody>
          </p:sp>
        </mc:Choice>
        <mc:Fallback xmlns="">
          <p:sp>
            <p:nvSpPr>
              <p:cNvPr id="16" name="Line Callout 2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334000"/>
                <a:ext cx="6017941" cy="380999"/>
              </a:xfrm>
              <a:prstGeom prst="borderCallout2">
                <a:avLst>
                  <a:gd name="adj1" fmla="val -1063"/>
                  <a:gd name="adj2" fmla="val 89965"/>
                  <a:gd name="adj3" fmla="val -351457"/>
                  <a:gd name="adj4" fmla="val 90520"/>
                  <a:gd name="adj5" fmla="val -353972"/>
                  <a:gd name="adj6" fmla="val 56594"/>
                </a:avLst>
              </a:prstGeom>
              <a:blipFill rotWithShape="1">
                <a:blip r:embed="rId6"/>
                <a:stretch>
                  <a:fillRect b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Line Callout 2 16"/>
              <p:cNvSpPr/>
              <p:nvPr/>
            </p:nvSpPr>
            <p:spPr>
              <a:xfrm>
                <a:off x="2667000" y="5715001"/>
                <a:ext cx="6246541" cy="380999"/>
              </a:xfrm>
              <a:prstGeom prst="borderCallout2">
                <a:avLst>
                  <a:gd name="adj1" fmla="val -1063"/>
                  <a:gd name="adj2" fmla="val 89965"/>
                  <a:gd name="adj3" fmla="val -351457"/>
                  <a:gd name="adj4" fmla="val 90520"/>
                  <a:gd name="adj5" fmla="val -353972"/>
                  <a:gd name="adj6" fmla="val 5659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All elements from A[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] to A[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] have to be shifted to the 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left</a:t>
                </a:r>
                <a:r>
                  <a:rPr lang="en-US" sz="1400" dirty="0">
                    <a:solidFill>
                      <a:schemeClr val="tx1"/>
                    </a:solidFill>
                  </a:rPr>
                  <a:t> by one place.</a:t>
                </a:r>
              </a:p>
            </p:txBody>
          </p:sp>
        </mc:Choice>
        <mc:Fallback xmlns="">
          <p:sp>
            <p:nvSpPr>
              <p:cNvPr id="17" name="Line Callout 2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715001"/>
                <a:ext cx="6246541" cy="380999"/>
              </a:xfrm>
              <a:prstGeom prst="borderCallout2">
                <a:avLst>
                  <a:gd name="adj1" fmla="val -1063"/>
                  <a:gd name="adj2" fmla="val 89965"/>
                  <a:gd name="adj3" fmla="val -351457"/>
                  <a:gd name="adj4" fmla="val 90520"/>
                  <a:gd name="adj5" fmla="val -353972"/>
                  <a:gd name="adj6" fmla="val 56594"/>
                </a:avLst>
              </a:prstGeom>
              <a:blipFill rotWithShape="1">
                <a:blip r:embed="rId7"/>
                <a:stretch>
                  <a:fillRect b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8585" y="3048001"/>
            <a:ext cx="1641155" cy="1069776"/>
            <a:chOff x="18585" y="3048001"/>
            <a:chExt cx="1641155" cy="1069776"/>
          </a:xfrm>
        </p:grpSpPr>
        <p:sp>
          <p:nvSpPr>
            <p:cNvPr id="3" name="Smiley Face 2"/>
            <p:cNvSpPr/>
            <p:nvPr/>
          </p:nvSpPr>
          <p:spPr>
            <a:xfrm>
              <a:off x="609600" y="3048001"/>
              <a:ext cx="609600" cy="609599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585" y="3810000"/>
              <a:ext cx="1641155" cy="30777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Arrays are very </a:t>
              </a:r>
              <a:r>
                <a:rPr lang="en-US" sz="1400" b="1" dirty="0">
                  <a:solidFill>
                    <a:srgbClr val="C00000"/>
                  </a:solidFill>
                </a:rPr>
                <a:t>rigid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eft Arrow 19"/>
              <p:cNvSpPr/>
              <p:nvPr/>
            </p:nvSpPr>
            <p:spPr>
              <a:xfrm>
                <a:off x="6781801" y="2057400"/>
                <a:ext cx="2362200" cy="914400"/>
              </a:xfrm>
              <a:prstGeom prst="left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 number of elements in list at present</a:t>
                </a:r>
              </a:p>
            </p:txBody>
          </p:sp>
        </mc:Choice>
        <mc:Fallback xmlns="">
          <p:sp>
            <p:nvSpPr>
              <p:cNvPr id="20" name="Lef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1" y="2057400"/>
                <a:ext cx="2362200" cy="914400"/>
              </a:xfrm>
              <a:prstGeom prst="leftArrow">
                <a:avLst/>
              </a:prstGeom>
              <a:blipFill rotWithShape="1">
                <a:blip r:embed="rId8"/>
                <a:stretch>
                  <a:fillRect r="-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9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Link</a:t>
            </a:r>
            <a:r>
              <a:rPr lang="en-US" b="1" dirty="0"/>
              <a:t> based Implementation: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2057400" y="2895600"/>
            <a:ext cx="6172200" cy="457200"/>
            <a:chOff x="2057400" y="2895600"/>
            <a:chExt cx="6172200" cy="4572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2895600"/>
              <a:ext cx="914400" cy="457200"/>
              <a:chOff x="2362200" y="2895600"/>
              <a:chExt cx="9144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5867400" y="2895600"/>
              <a:ext cx="914400" cy="457200"/>
              <a:chOff x="2362200" y="2895600"/>
              <a:chExt cx="914400" cy="45720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/>
            <p:cNvCxnSpPr/>
            <p:nvPr/>
          </p:nvCxnSpPr>
          <p:spPr>
            <a:xfrm>
              <a:off x="2819400" y="3048000"/>
              <a:ext cx="1143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7772400" y="2895600"/>
              <a:ext cx="457200" cy="457200"/>
              <a:chOff x="7772400" y="2895600"/>
              <a:chExt cx="457200" cy="45720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7772400" y="2895600"/>
                <a:ext cx="457200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7724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H="1">
                <a:off x="77724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Arrow Connector 28"/>
            <p:cNvCxnSpPr/>
            <p:nvPr/>
          </p:nvCxnSpPr>
          <p:spPr>
            <a:xfrm>
              <a:off x="6629400" y="3048000"/>
              <a:ext cx="1143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4020361" y="3352800"/>
            <a:ext cx="704039" cy="914400"/>
            <a:chOff x="3810000" y="3264932"/>
            <a:chExt cx="704039" cy="914400"/>
          </a:xfrm>
        </p:grpSpPr>
        <p:sp>
          <p:nvSpPr>
            <p:cNvPr id="38" name="Up Arrow 37"/>
            <p:cNvSpPr/>
            <p:nvPr/>
          </p:nvSpPr>
          <p:spPr>
            <a:xfrm>
              <a:off x="4114800" y="3264932"/>
              <a:ext cx="762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10000" y="3810000"/>
              <a:ext cx="704039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Value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4191000" y="26024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962400" y="2895600"/>
            <a:ext cx="914400" cy="457200"/>
            <a:chOff x="2362200" y="2895600"/>
            <a:chExt cx="914400" cy="457200"/>
          </a:xfrm>
        </p:grpSpPr>
        <p:sp>
          <p:nvSpPr>
            <p:cNvPr id="49" name="Rectangle 48"/>
            <p:cNvSpPr/>
            <p:nvPr/>
          </p:nvSpPr>
          <p:spPr>
            <a:xfrm>
              <a:off x="2362200" y="2895600"/>
              <a:ext cx="9144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3048000" y="28956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457200" y="1916668"/>
            <a:ext cx="1600200" cy="1131332"/>
            <a:chOff x="457200" y="1916668"/>
            <a:chExt cx="1600200" cy="1131332"/>
          </a:xfrm>
        </p:grpSpPr>
        <p:cxnSp>
          <p:nvCxnSpPr>
            <p:cNvPr id="37" name="Elbow Connector 36"/>
            <p:cNvCxnSpPr/>
            <p:nvPr/>
          </p:nvCxnSpPr>
          <p:spPr>
            <a:xfrm>
              <a:off x="1143000" y="2133600"/>
              <a:ext cx="914400" cy="914400"/>
            </a:xfrm>
            <a:prstGeom prst="bentConnector3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57200" y="1916668"/>
              <a:ext cx="676788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Head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810000" y="3352800"/>
            <a:ext cx="3063787" cy="1423940"/>
            <a:chOff x="3810000" y="3212592"/>
            <a:chExt cx="3063787" cy="1423940"/>
          </a:xfrm>
        </p:grpSpPr>
        <p:sp>
          <p:nvSpPr>
            <p:cNvPr id="41" name="TextBox 40"/>
            <p:cNvSpPr txBox="1"/>
            <p:nvPr/>
          </p:nvSpPr>
          <p:spPr>
            <a:xfrm>
              <a:off x="3810000" y="4267200"/>
              <a:ext cx="3063787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 of next (or right) node</a:t>
              </a:r>
            </a:p>
          </p:txBody>
        </p:sp>
        <p:sp>
          <p:nvSpPr>
            <p:cNvPr id="39" name="Up Arrow 38"/>
            <p:cNvSpPr/>
            <p:nvPr/>
          </p:nvSpPr>
          <p:spPr>
            <a:xfrm>
              <a:off x="4724400" y="3212592"/>
              <a:ext cx="76200" cy="10546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Up Ribbon 55"/>
          <p:cNvSpPr/>
          <p:nvPr/>
        </p:nvSpPr>
        <p:spPr>
          <a:xfrm>
            <a:off x="2286000" y="5105400"/>
            <a:ext cx="5181600" cy="8382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Singly </a:t>
            </a:r>
            <a:r>
              <a:rPr lang="en-US" b="1" dirty="0">
                <a:solidFill>
                  <a:srgbClr val="7030A0"/>
                </a:solidFill>
              </a:rPr>
              <a:t>Linked List</a:t>
            </a:r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457200" y="2895600"/>
            <a:ext cx="5638800" cy="457200"/>
            <a:chOff x="457200" y="2895600"/>
            <a:chExt cx="5638800" cy="457200"/>
          </a:xfrm>
        </p:grpSpPr>
        <p:cxnSp>
          <p:nvCxnSpPr>
            <p:cNvPr id="57" name="Straight Arrow Connector 56"/>
            <p:cNvCxnSpPr/>
            <p:nvPr/>
          </p:nvCxnSpPr>
          <p:spPr>
            <a:xfrm flipH="1">
              <a:off x="2819401" y="3200400"/>
              <a:ext cx="12009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724400" y="3200400"/>
              <a:ext cx="12009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>
              <a:off x="932640" y="3200400"/>
              <a:ext cx="12009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457200" y="2895600"/>
              <a:ext cx="457200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/>
            <p:cNvCxnSpPr/>
            <p:nvPr/>
          </p:nvCxnSpPr>
          <p:spPr>
            <a:xfrm flipH="1">
              <a:off x="457200" y="2895600"/>
              <a:ext cx="45720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457200" y="2895600"/>
              <a:ext cx="45720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191000" y="28956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2286000" y="28956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096000" y="28956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3691163" y="1764268"/>
            <a:ext cx="3076868" cy="1131332"/>
            <a:chOff x="3691163" y="1764268"/>
            <a:chExt cx="3076868" cy="1131332"/>
          </a:xfrm>
        </p:grpSpPr>
        <p:sp>
          <p:nvSpPr>
            <p:cNvPr id="71" name="TextBox 70"/>
            <p:cNvSpPr txBox="1"/>
            <p:nvPr/>
          </p:nvSpPr>
          <p:spPr>
            <a:xfrm>
              <a:off x="3691163" y="1764268"/>
              <a:ext cx="3076868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 of previous (left) node</a:t>
              </a:r>
            </a:p>
          </p:txBody>
        </p:sp>
        <p:sp>
          <p:nvSpPr>
            <p:cNvPr id="73" name="Down Arrow 72"/>
            <p:cNvSpPr/>
            <p:nvPr/>
          </p:nvSpPr>
          <p:spPr>
            <a:xfrm>
              <a:off x="4038600" y="2133600"/>
              <a:ext cx="76200" cy="762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Up Ribbon 74"/>
          <p:cNvSpPr/>
          <p:nvPr/>
        </p:nvSpPr>
        <p:spPr>
          <a:xfrm>
            <a:off x="2286000" y="4876800"/>
            <a:ext cx="5181600" cy="8382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Doubly </a:t>
            </a:r>
            <a:r>
              <a:rPr lang="en-US" b="1" dirty="0">
                <a:solidFill>
                  <a:srgbClr val="7030A0"/>
                </a:solidFill>
              </a:rPr>
              <a:t>Linked List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4800600" y="3048000"/>
            <a:ext cx="1066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2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6" grpId="0"/>
      <p:bldP spid="56" grpId="0" animBg="1"/>
      <p:bldP spid="56" grpId="1" animBg="1"/>
      <p:bldP spid="7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Doubly Linked List</a:t>
            </a:r>
            <a:r>
              <a:rPr lang="en-US" sz="3600" b="1" dirty="0"/>
              <a:t> based Implementation</a:t>
            </a:r>
            <a:endParaRPr lang="en-US" sz="36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Keep a doubly linked list </a:t>
            </a:r>
          </a:p>
          <a:p>
            <a:pPr marL="0" indent="0">
              <a:buNone/>
            </a:pPr>
            <a:r>
              <a:rPr lang="en-US" sz="2000" dirty="0"/>
              <a:t>      where elements appear in the order we follow while traversing the list. </a:t>
            </a:r>
          </a:p>
          <a:p>
            <a:r>
              <a:rPr lang="en-US" sz="2000" dirty="0"/>
              <a:t>The location of an element :                   </a:t>
            </a:r>
            <a:r>
              <a:rPr lang="en-US" sz="2000" dirty="0">
                <a:solidFill>
                  <a:srgbClr val="C00000"/>
                </a:solidFill>
              </a:rPr>
              <a:t>?</a:t>
            </a:r>
            <a:r>
              <a:rPr lang="en-US" sz="2000" dirty="0"/>
              <a:t> </a:t>
            </a:r>
          </a:p>
          <a:p>
            <a:endParaRPr lang="en-US" sz="2000" u="sng" dirty="0"/>
          </a:p>
          <a:p>
            <a:pPr marL="0" indent="0">
              <a:buNone/>
            </a:pPr>
            <a:r>
              <a:rPr lang="en-US" sz="2000" u="sng" dirty="0"/>
              <a:t>Example:</a:t>
            </a:r>
            <a:r>
              <a:rPr lang="en-US" sz="2000" dirty="0"/>
              <a:t> List </a:t>
            </a:r>
            <a:r>
              <a:rPr lang="en-US" sz="2000" dirty="0">
                <a:solidFill>
                  <a:srgbClr val="006C31"/>
                </a:solidFill>
              </a:rPr>
              <a:t>3,9,1 </a:t>
            </a:r>
            <a:r>
              <a:rPr lang="en-US" sz="2000" dirty="0"/>
              <a:t>appears as</a:t>
            </a:r>
            <a:endParaRPr lang="en-US" sz="2000" u="sng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09600" y="4278868"/>
            <a:ext cx="7772400" cy="1436132"/>
            <a:chOff x="609600" y="4278868"/>
            <a:chExt cx="7772400" cy="1436132"/>
          </a:xfrm>
        </p:grpSpPr>
        <p:grpSp>
          <p:nvGrpSpPr>
            <p:cNvPr id="54" name="Group 53"/>
            <p:cNvGrpSpPr/>
            <p:nvPr/>
          </p:nvGrpSpPr>
          <p:grpSpPr>
            <a:xfrm>
              <a:off x="2209800" y="5257800"/>
              <a:ext cx="6172200" cy="457200"/>
              <a:chOff x="2057400" y="2895600"/>
              <a:chExt cx="6172200" cy="45720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05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cxnSp>
              <p:nvCxnSpPr>
                <p:cNvPr id="7" name="Straight Connector 6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586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Straight Arrow Connector 19"/>
              <p:cNvCxnSpPr/>
              <p:nvPr/>
            </p:nvCxnSpPr>
            <p:spPr>
              <a:xfrm>
                <a:off x="281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>
              <a:xfrm>
                <a:off x="7772400" y="2895600"/>
                <a:ext cx="457200" cy="457200"/>
                <a:chOff x="7772400" y="2895600"/>
                <a:chExt cx="457200" cy="457200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7772400" y="2895600"/>
                  <a:ext cx="457200" cy="4572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" name="Straight Arrow Connector 28"/>
              <p:cNvCxnSpPr/>
              <p:nvPr/>
            </p:nvCxnSpPr>
            <p:spPr>
              <a:xfrm>
                <a:off x="662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/>
            <p:cNvGrpSpPr/>
            <p:nvPr/>
          </p:nvGrpSpPr>
          <p:grpSpPr>
            <a:xfrm>
              <a:off x="4114800" y="5257800"/>
              <a:ext cx="914400" cy="457200"/>
              <a:chOff x="2362200" y="2895600"/>
              <a:chExt cx="914400" cy="45720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cxnSp>
            <p:nvCxnSpPr>
              <p:cNvPr id="50" name="Straight Connector 49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609600" y="4278868"/>
              <a:ext cx="1600200" cy="1131332"/>
              <a:chOff x="457200" y="1916668"/>
              <a:chExt cx="1600200" cy="1131332"/>
            </a:xfrm>
          </p:grpSpPr>
          <p:cxnSp>
            <p:nvCxnSpPr>
              <p:cNvPr id="37" name="Elbow Connector 36"/>
              <p:cNvCxnSpPr/>
              <p:nvPr/>
            </p:nvCxnSpPr>
            <p:spPr>
              <a:xfrm>
                <a:off x="1143000" y="2133600"/>
                <a:ext cx="914400" cy="914400"/>
              </a:xfrm>
              <a:prstGeom prst="bentConnector3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457200" y="1916668"/>
                <a:ext cx="676788" cy="369332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Head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609600" y="5257800"/>
              <a:ext cx="5638800" cy="457200"/>
              <a:chOff x="457200" y="2895600"/>
              <a:chExt cx="5638800" cy="457200"/>
            </a:xfrm>
          </p:grpSpPr>
          <p:cxnSp>
            <p:nvCxnSpPr>
              <p:cNvPr id="57" name="Straight Arrow Connector 56"/>
              <p:cNvCxnSpPr/>
              <p:nvPr/>
            </p:nvCxnSpPr>
            <p:spPr>
              <a:xfrm flipH="1">
                <a:off x="2819401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 flipH="1">
                <a:off x="4724400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 flipH="1">
                <a:off x="932640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/>
              <p:cNvSpPr/>
              <p:nvPr/>
            </p:nvSpPr>
            <p:spPr>
              <a:xfrm>
                <a:off x="457200" y="2895600"/>
                <a:ext cx="457200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 flipH="1"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4191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228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09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Arrow Connector 50"/>
            <p:cNvCxnSpPr/>
            <p:nvPr/>
          </p:nvCxnSpPr>
          <p:spPr>
            <a:xfrm>
              <a:off x="4953000" y="5410200"/>
              <a:ext cx="1066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3962400" y="2362200"/>
            <a:ext cx="369819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address</a:t>
            </a:r>
            <a:r>
              <a:rPr lang="en-US" dirty="0"/>
              <a:t> of the node containing it.</a:t>
            </a:r>
          </a:p>
        </p:txBody>
      </p:sp>
    </p:spTree>
    <p:extLst>
      <p:ext uri="{BB962C8B-B14F-4D97-AF65-F5344CB8AC3E}">
        <p14:creationId xmlns:p14="http://schemas.microsoft.com/office/powerpoint/2010/main" val="16318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uiExpand="1" build="p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to perform </a:t>
            </a:r>
            <a:r>
              <a:rPr lang="en-US" sz="3600" b="1" dirty="0">
                <a:solidFill>
                  <a:srgbClr val="C00000"/>
                </a:solidFill>
              </a:rPr>
              <a:t>Insert</a:t>
            </a:r>
            <a:r>
              <a:rPr lang="en-US" sz="3600" dirty="0"/>
              <a:t>(</a:t>
            </a:r>
            <a:r>
              <a:rPr lang="en-US" sz="3600" b="1" dirty="0" err="1"/>
              <a:t>x,p,L</a:t>
            </a:r>
            <a:r>
              <a:rPr lang="en-US" sz="3600" dirty="0"/>
              <a:t>)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1828800"/>
            <a:ext cx="7772400" cy="1447800"/>
            <a:chOff x="609600" y="4278868"/>
            <a:chExt cx="7772400" cy="1447800"/>
          </a:xfrm>
        </p:grpSpPr>
        <p:grpSp>
          <p:nvGrpSpPr>
            <p:cNvPr id="6" name="Group 5"/>
            <p:cNvGrpSpPr/>
            <p:nvPr/>
          </p:nvGrpSpPr>
          <p:grpSpPr>
            <a:xfrm>
              <a:off x="2209800" y="5257800"/>
              <a:ext cx="6172200" cy="457200"/>
              <a:chOff x="2057400" y="2895600"/>
              <a:chExt cx="6172200" cy="457200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205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/>
            </p:nvGrpSpPr>
            <p:grpSpPr>
              <a:xfrm>
                <a:off x="586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Straight Arrow Connector 25"/>
              <p:cNvCxnSpPr/>
              <p:nvPr/>
            </p:nvCxnSpPr>
            <p:spPr>
              <a:xfrm>
                <a:off x="281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Group 26"/>
              <p:cNvGrpSpPr/>
              <p:nvPr/>
            </p:nvGrpSpPr>
            <p:grpSpPr>
              <a:xfrm>
                <a:off x="7772400" y="2895600"/>
                <a:ext cx="457200" cy="457200"/>
                <a:chOff x="7772400" y="2895600"/>
                <a:chExt cx="457200" cy="457200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7772400" y="2895600"/>
                  <a:ext cx="457200" cy="4572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H="1"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Arrow Connector 27"/>
              <p:cNvCxnSpPr/>
              <p:nvPr/>
            </p:nvCxnSpPr>
            <p:spPr>
              <a:xfrm>
                <a:off x="662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4114800" y="5257800"/>
              <a:ext cx="914400" cy="457200"/>
              <a:chOff x="2362200" y="2895600"/>
              <a:chExt cx="914400" cy="4572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09600" y="4278868"/>
              <a:ext cx="1600200" cy="1131332"/>
              <a:chOff x="457200" y="1916668"/>
              <a:chExt cx="1600200" cy="1131332"/>
            </a:xfrm>
          </p:grpSpPr>
          <p:cxnSp>
            <p:nvCxnSpPr>
              <p:cNvPr id="20" name="Elbow Connector 19"/>
              <p:cNvCxnSpPr/>
              <p:nvPr/>
            </p:nvCxnSpPr>
            <p:spPr>
              <a:xfrm>
                <a:off x="1143000" y="2133600"/>
                <a:ext cx="914400" cy="914400"/>
              </a:xfrm>
              <a:prstGeom prst="bentConnector3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457200" y="1916668"/>
                <a:ext cx="676788" cy="369332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Head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09600" y="5257800"/>
              <a:ext cx="5638800" cy="468868"/>
              <a:chOff x="457200" y="2895600"/>
              <a:chExt cx="5638800" cy="468868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 flipH="1">
                <a:off x="2971802" y="3250168"/>
                <a:ext cx="11429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4876800" y="3200400"/>
                <a:ext cx="10485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>
                <a:off x="932640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457200" y="2895600"/>
                <a:ext cx="457200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H="1"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191000" y="290726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28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09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/>
            <p:cNvCxnSpPr/>
            <p:nvPr/>
          </p:nvCxnSpPr>
          <p:spPr>
            <a:xfrm>
              <a:off x="4953000" y="5410200"/>
              <a:ext cx="1066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>
            <a:off x="3352800" y="1764268"/>
            <a:ext cx="1048560" cy="1043464"/>
            <a:chOff x="3352800" y="1764268"/>
            <a:chExt cx="1048560" cy="1043464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657600" y="2013466"/>
              <a:ext cx="743760" cy="7942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352800" y="1764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200400" y="3733800"/>
            <a:ext cx="914400" cy="457200"/>
            <a:chOff x="3200400" y="3733800"/>
            <a:chExt cx="914400" cy="457200"/>
          </a:xfrm>
        </p:grpSpPr>
        <p:sp>
          <p:nvSpPr>
            <p:cNvPr id="40" name="Rectangle 39"/>
            <p:cNvSpPr/>
            <p:nvPr/>
          </p:nvSpPr>
          <p:spPr>
            <a:xfrm>
              <a:off x="3200400" y="3733800"/>
              <a:ext cx="9144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429000" y="37338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886200" y="37338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3505200" y="2831068"/>
            <a:ext cx="228600" cy="369332"/>
            <a:chOff x="7162800" y="3733800"/>
            <a:chExt cx="457200" cy="457200"/>
          </a:xfrm>
        </p:grpSpPr>
        <p:cxnSp>
          <p:nvCxnSpPr>
            <p:cNvPr id="44" name="Straight Connector 43"/>
            <p:cNvCxnSpPr/>
            <p:nvPr/>
          </p:nvCxnSpPr>
          <p:spPr>
            <a:xfrm flipH="1">
              <a:off x="7162800" y="3733800"/>
              <a:ext cx="457200" cy="4572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7162800" y="3733800"/>
              <a:ext cx="457200" cy="4572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895600" y="3112532"/>
            <a:ext cx="1524000" cy="849868"/>
            <a:chOff x="2895600" y="3112532"/>
            <a:chExt cx="1524000" cy="849868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2971801" y="3112532"/>
              <a:ext cx="380999" cy="6212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3886200" y="3200400"/>
              <a:ext cx="381000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>
              <a:off x="2895600" y="3264932"/>
              <a:ext cx="1524000" cy="697468"/>
              <a:chOff x="2895600" y="3264932"/>
              <a:chExt cx="1524000" cy="697468"/>
            </a:xfrm>
          </p:grpSpPr>
          <p:cxnSp>
            <p:nvCxnSpPr>
              <p:cNvPr id="61" name="Straight Arrow Connector 60"/>
              <p:cNvCxnSpPr/>
              <p:nvPr/>
            </p:nvCxnSpPr>
            <p:spPr>
              <a:xfrm flipH="1" flipV="1">
                <a:off x="2895600" y="3276600"/>
                <a:ext cx="457200" cy="685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V="1">
                <a:off x="4029480" y="3264932"/>
                <a:ext cx="390120" cy="5450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TextBox 37"/>
          <p:cNvSpPr txBox="1"/>
          <p:nvPr/>
        </p:nvSpPr>
        <p:spPr>
          <a:xfrm>
            <a:off x="3429000" y="4876800"/>
            <a:ext cx="246804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How is it done actually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64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to perform </a:t>
            </a:r>
            <a:r>
              <a:rPr lang="en-US" sz="3600" b="1" dirty="0">
                <a:solidFill>
                  <a:srgbClr val="C00000"/>
                </a:solidFill>
              </a:rPr>
              <a:t>Insert</a:t>
            </a:r>
            <a:r>
              <a:rPr lang="en-US" sz="3600" dirty="0"/>
              <a:t>(</a:t>
            </a:r>
            <a:r>
              <a:rPr lang="en-US" sz="3600" b="1" dirty="0" err="1"/>
              <a:t>x,p,L</a:t>
            </a:r>
            <a:r>
              <a:rPr lang="en-US" sz="3600" dirty="0"/>
              <a:t>)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Insert</a:t>
            </a:r>
            <a:r>
              <a:rPr lang="en-US" sz="1800" dirty="0"/>
              <a:t>(</a:t>
            </a:r>
            <a:r>
              <a:rPr lang="en-US" sz="1800" b="1" dirty="0" err="1"/>
              <a:t>x,p,L</a:t>
            </a:r>
            <a:r>
              <a:rPr lang="en-US" sz="1800" dirty="0"/>
              <a:t>){</a:t>
            </a:r>
          </a:p>
          <a:p>
            <a:pPr marL="0" indent="0">
              <a:buNone/>
            </a:pPr>
            <a:r>
              <a:rPr lang="en-US" sz="1400" dirty="0">
                <a:sym typeface="Wingdings" pitchFamily="2" charset="2"/>
              </a:rPr>
              <a:t>q new(node); </a:t>
            </a:r>
          </a:p>
          <a:p>
            <a:pPr marL="0" indent="0">
              <a:buNone/>
            </a:pPr>
            <a:r>
              <a:rPr lang="en-US" sz="1400" dirty="0" err="1">
                <a:sym typeface="Wingdings" pitchFamily="2" charset="2"/>
              </a:rPr>
              <a:t>q.value</a:t>
            </a:r>
            <a:r>
              <a:rPr lang="en-US" sz="1400" dirty="0">
                <a:sym typeface="Wingdings" pitchFamily="2" charset="2"/>
              </a:rPr>
              <a:t> x;</a:t>
            </a:r>
          </a:p>
          <a:p>
            <a:pPr marL="0" indent="0">
              <a:buNone/>
            </a:pPr>
            <a:r>
              <a:rPr lang="en-US" sz="1400" dirty="0">
                <a:sym typeface="Wingdings" pitchFamily="2" charset="2"/>
              </a:rPr>
              <a:t>temp </a:t>
            </a:r>
            <a:r>
              <a:rPr lang="en-US" sz="1400" dirty="0" err="1">
                <a:sym typeface="Wingdings" pitchFamily="2" charset="2"/>
              </a:rPr>
              <a:t>p.left</a:t>
            </a:r>
            <a:r>
              <a:rPr lang="en-US" sz="1400" dirty="0">
                <a:sym typeface="Wingdings" pitchFamily="2" charset="2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ym typeface="Wingdings" pitchFamily="2" charset="2"/>
              </a:rPr>
              <a:t>q.right</a:t>
            </a:r>
            <a:r>
              <a:rPr lang="en-US" sz="1400" dirty="0">
                <a:sym typeface="Wingdings" pitchFamily="2" charset="2"/>
              </a:rPr>
              <a:t>  p; </a:t>
            </a:r>
          </a:p>
          <a:p>
            <a:pPr marL="0" indent="0">
              <a:buNone/>
            </a:pPr>
            <a:r>
              <a:rPr lang="en-US" sz="1400" dirty="0" err="1">
                <a:sym typeface="Wingdings" pitchFamily="2" charset="2"/>
              </a:rPr>
              <a:t>p.left</a:t>
            </a:r>
            <a:r>
              <a:rPr lang="en-US" sz="1400" dirty="0">
                <a:sym typeface="Wingdings" pitchFamily="2" charset="2"/>
              </a:rPr>
              <a:t> q;</a:t>
            </a:r>
          </a:p>
          <a:p>
            <a:pPr marL="0" indent="0">
              <a:buNone/>
            </a:pPr>
            <a:r>
              <a:rPr lang="en-US" sz="1400" dirty="0" err="1"/>
              <a:t>q.left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 temp;</a:t>
            </a:r>
            <a:endParaRPr lang="en-US" sz="1200" dirty="0"/>
          </a:p>
          <a:p>
            <a:pPr marL="0" indent="0">
              <a:buNone/>
            </a:pPr>
            <a:r>
              <a:rPr lang="en-US" sz="1400" dirty="0" err="1"/>
              <a:t>temp.right</a:t>
            </a:r>
            <a:r>
              <a:rPr lang="en-US" sz="1400" dirty="0">
                <a:sym typeface="Wingdings" pitchFamily="2" charset="2"/>
              </a:rPr>
              <a:t> q;</a:t>
            </a:r>
            <a:endParaRPr lang="en-US" sz="1800" dirty="0"/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1828800"/>
            <a:ext cx="7772400" cy="1447800"/>
            <a:chOff x="609600" y="4278868"/>
            <a:chExt cx="7772400" cy="1447800"/>
          </a:xfrm>
        </p:grpSpPr>
        <p:grpSp>
          <p:nvGrpSpPr>
            <p:cNvPr id="6" name="Group 5"/>
            <p:cNvGrpSpPr/>
            <p:nvPr/>
          </p:nvGrpSpPr>
          <p:grpSpPr>
            <a:xfrm>
              <a:off x="2209800" y="5257800"/>
              <a:ext cx="6172200" cy="457200"/>
              <a:chOff x="2057400" y="2895600"/>
              <a:chExt cx="6172200" cy="457200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205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/>
            </p:nvGrpSpPr>
            <p:grpSpPr>
              <a:xfrm>
                <a:off x="586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Straight Arrow Connector 25"/>
              <p:cNvCxnSpPr/>
              <p:nvPr/>
            </p:nvCxnSpPr>
            <p:spPr>
              <a:xfrm>
                <a:off x="281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Group 26"/>
              <p:cNvGrpSpPr/>
              <p:nvPr/>
            </p:nvGrpSpPr>
            <p:grpSpPr>
              <a:xfrm>
                <a:off x="7772400" y="2895600"/>
                <a:ext cx="457200" cy="457200"/>
                <a:chOff x="7772400" y="2895600"/>
                <a:chExt cx="457200" cy="457200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7772400" y="2895600"/>
                  <a:ext cx="457200" cy="4572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H="1"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Arrow Connector 27"/>
              <p:cNvCxnSpPr/>
              <p:nvPr/>
            </p:nvCxnSpPr>
            <p:spPr>
              <a:xfrm>
                <a:off x="662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4114800" y="5257800"/>
              <a:ext cx="914400" cy="457200"/>
              <a:chOff x="2362200" y="2895600"/>
              <a:chExt cx="914400" cy="4572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09600" y="4278868"/>
              <a:ext cx="1600200" cy="1131332"/>
              <a:chOff x="457200" y="1916668"/>
              <a:chExt cx="1600200" cy="1131332"/>
            </a:xfrm>
          </p:grpSpPr>
          <p:cxnSp>
            <p:nvCxnSpPr>
              <p:cNvPr id="20" name="Elbow Connector 19"/>
              <p:cNvCxnSpPr/>
              <p:nvPr/>
            </p:nvCxnSpPr>
            <p:spPr>
              <a:xfrm>
                <a:off x="1143000" y="2133600"/>
                <a:ext cx="914400" cy="914400"/>
              </a:xfrm>
              <a:prstGeom prst="bentConnector3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457200" y="1916668"/>
                <a:ext cx="676788" cy="369332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Head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09600" y="5257800"/>
              <a:ext cx="5638800" cy="468868"/>
              <a:chOff x="457200" y="2895600"/>
              <a:chExt cx="5638800" cy="468868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876800" y="3200400"/>
                <a:ext cx="10485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>
                <a:off x="932640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457200" y="2895600"/>
                <a:ext cx="457200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H="1"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191000" y="290726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28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09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/>
            <p:cNvCxnSpPr/>
            <p:nvPr/>
          </p:nvCxnSpPr>
          <p:spPr>
            <a:xfrm>
              <a:off x="4953000" y="5410200"/>
              <a:ext cx="1066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>
            <a:off x="3352800" y="1764268"/>
            <a:ext cx="1048560" cy="1043464"/>
            <a:chOff x="3352800" y="1764268"/>
            <a:chExt cx="1048560" cy="1043464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657600" y="2013466"/>
              <a:ext cx="743760" cy="7942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352800" y="1764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200400" y="3733800"/>
            <a:ext cx="914400" cy="457200"/>
            <a:chOff x="3200400" y="3733800"/>
            <a:chExt cx="914400" cy="457200"/>
          </a:xfrm>
        </p:grpSpPr>
        <p:sp>
          <p:nvSpPr>
            <p:cNvPr id="40" name="Rectangle 39"/>
            <p:cNvSpPr/>
            <p:nvPr/>
          </p:nvSpPr>
          <p:spPr>
            <a:xfrm>
              <a:off x="3200400" y="3733800"/>
              <a:ext cx="9144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429000" y="37338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886200" y="37338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/>
          <p:cNvCxnSpPr/>
          <p:nvPr/>
        </p:nvCxnSpPr>
        <p:spPr>
          <a:xfrm>
            <a:off x="2971801" y="3112532"/>
            <a:ext cx="380999" cy="6212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886200" y="3200400"/>
            <a:ext cx="38100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2895600" y="3276600"/>
            <a:ext cx="4572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4029480" y="3264932"/>
            <a:ext cx="390120" cy="5450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>
            <a:off x="6359845" y="4659868"/>
            <a:ext cx="1718740" cy="750332"/>
            <a:chOff x="18585" y="3367445"/>
            <a:chExt cx="1718740" cy="750332"/>
          </a:xfrm>
        </p:grpSpPr>
        <p:sp>
          <p:nvSpPr>
            <p:cNvPr id="79" name="Smiley Face 78"/>
            <p:cNvSpPr/>
            <p:nvPr/>
          </p:nvSpPr>
          <p:spPr>
            <a:xfrm>
              <a:off x="592940" y="3367445"/>
              <a:ext cx="533400" cy="445532"/>
            </a:xfrm>
            <a:prstGeom prst="smileyFace">
              <a:avLst>
                <a:gd name="adj" fmla="val 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8585" y="3810000"/>
              <a:ext cx="1718740" cy="30777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Lists are very </a:t>
              </a:r>
              <a:r>
                <a:rPr lang="en-US" sz="1400" b="1" dirty="0">
                  <a:solidFill>
                    <a:srgbClr val="C00000"/>
                  </a:solidFill>
                </a:rPr>
                <a:t>flexible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667000" y="4114800"/>
            <a:ext cx="1396766" cy="1676400"/>
            <a:chOff x="2667000" y="4191000"/>
            <a:chExt cx="1396766" cy="1676400"/>
          </a:xfrm>
        </p:grpSpPr>
        <p:sp>
          <p:nvSpPr>
            <p:cNvPr id="85" name="Right Brace 84"/>
            <p:cNvSpPr/>
            <p:nvPr/>
          </p:nvSpPr>
          <p:spPr>
            <a:xfrm>
              <a:off x="2667000" y="4191000"/>
              <a:ext cx="344424" cy="16764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2971800" y="4812268"/>
                  <a:ext cx="10919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</a:rPr>
                    <a:t>O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a14:m>
                  <a:r>
                    <a:rPr lang="en-US" dirty="0"/>
                    <a:t>) time</a:t>
                  </a: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4812268"/>
                  <a:ext cx="1091966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5028" t="-8197" r="-94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/>
          <p:cNvGrpSpPr/>
          <p:nvPr/>
        </p:nvGrpSpPr>
        <p:grpSpPr>
          <a:xfrm>
            <a:off x="3505200" y="4191000"/>
            <a:ext cx="306494" cy="685800"/>
            <a:chOff x="3503506" y="1588532"/>
            <a:chExt cx="306494" cy="685800"/>
          </a:xfrm>
        </p:grpSpPr>
        <p:cxnSp>
          <p:nvCxnSpPr>
            <p:cNvPr id="58" name="Straight Arrow Connector 57"/>
            <p:cNvCxnSpPr/>
            <p:nvPr/>
          </p:nvCxnSpPr>
          <p:spPr>
            <a:xfrm flipV="1">
              <a:off x="3657600" y="1588532"/>
              <a:ext cx="1694" cy="42493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503506" y="1905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525948" y="38100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3124202" y="3162300"/>
            <a:ext cx="114299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/>
          <p:cNvGrpSpPr/>
          <p:nvPr/>
        </p:nvGrpSpPr>
        <p:grpSpPr>
          <a:xfrm>
            <a:off x="2286000" y="1764268"/>
            <a:ext cx="680699" cy="1043464"/>
            <a:chOff x="3503506" y="1905000"/>
            <a:chExt cx="680699" cy="1043464"/>
          </a:xfrm>
        </p:grpSpPr>
        <p:cxnSp>
          <p:nvCxnSpPr>
            <p:cNvPr id="64" name="Straight Arrow Connector 63"/>
            <p:cNvCxnSpPr/>
            <p:nvPr/>
          </p:nvCxnSpPr>
          <p:spPr>
            <a:xfrm flipH="1">
              <a:off x="3808306" y="2198132"/>
              <a:ext cx="1694" cy="750332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3503506" y="1905000"/>
              <a:ext cx="6806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temp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527807" y="5345668"/>
            <a:ext cx="433535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 How to perform </a:t>
            </a:r>
            <a:r>
              <a:rPr lang="en-US" b="1" dirty="0">
                <a:solidFill>
                  <a:srgbClr val="C00000"/>
                </a:solidFill>
              </a:rPr>
              <a:t>Delete</a:t>
            </a:r>
            <a:r>
              <a:rPr lang="en-US" dirty="0"/>
              <a:t>(</a:t>
            </a:r>
            <a:r>
              <a:rPr lang="en-US" b="1" dirty="0" err="1"/>
              <a:t>x,p,L</a:t>
            </a:r>
            <a:r>
              <a:rPr lang="en-US" dirty="0"/>
              <a:t>)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17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8" grpId="0"/>
      <p:bldP spid="68" grpId="0" animBg="1"/>
      <p:bldP spid="6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Common Mistake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067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Often students interpret the parameter </a:t>
                </a:r>
                <a:r>
                  <a:rPr lang="en-US" sz="2000" b="1" dirty="0"/>
                  <a:t>p in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x,p,L</a:t>
                </a:r>
                <a:r>
                  <a:rPr lang="en-US" sz="2000" dirty="0"/>
                  <a:t>) with the </a:t>
                </a:r>
                <a:r>
                  <a:rPr lang="en-US" sz="2000" u="sng" dirty="0">
                    <a:solidFill>
                      <a:srgbClr val="0070C0"/>
                    </a:solidFill>
                  </a:rPr>
                  <a:t>integer</a:t>
                </a:r>
                <a:r>
                  <a:rPr lang="en-US" sz="2000" dirty="0"/>
                  <a:t> signifying the order 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aseline="30000" dirty="0"/>
                  <a:t>st</a:t>
                </a:r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,…) at which element </a:t>
                </a:r>
                <a:r>
                  <a:rPr lang="en-US" sz="2000" b="1" dirty="0"/>
                  <a:t>x </a:t>
                </a:r>
                <a:r>
                  <a:rPr lang="en-US" sz="2000" dirty="0"/>
                  <a:t> is to be inserted in</a:t>
                </a:r>
                <a:r>
                  <a:rPr lang="en-US" sz="2000" dirty="0">
                    <a:solidFill>
                      <a:srgbClr val="7030A0"/>
                    </a:solidFill>
                  </a:rPr>
                  <a:t> list</a:t>
                </a:r>
                <a:r>
                  <a:rPr lang="en-US" sz="2000" dirty="0"/>
                  <a:t> </a:t>
                </a:r>
                <a:r>
                  <a:rPr lang="en-US" sz="2000" b="1" dirty="0"/>
                  <a:t>L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Based on this interpretation,  they think that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x,p,L</a:t>
                </a:r>
                <a:r>
                  <a:rPr lang="en-US" sz="2000" dirty="0"/>
                  <a:t>) will require scanning the list and hence will take time of the order of </a:t>
                </a:r>
                <a:r>
                  <a:rPr lang="en-US" sz="2000" b="1" dirty="0"/>
                  <a:t>p </a:t>
                </a:r>
                <a:r>
                  <a:rPr lang="en-US" sz="2000" dirty="0"/>
                  <a:t>and not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Here is my advice:</a:t>
                </a:r>
              </a:p>
              <a:p>
                <a:pPr marL="0" indent="0">
                  <a:buNone/>
                </a:pPr>
                <a:r>
                  <a:rPr lang="en-US" sz="2000" dirty="0"/>
                  <a:t>Please refer to the </a:t>
                </a:r>
                <a:r>
                  <a:rPr lang="en-US" sz="2000" b="1" dirty="0"/>
                  <a:t>modeling</a:t>
                </a:r>
                <a:r>
                  <a:rPr lang="en-US" sz="2000" dirty="0"/>
                  <a:t> of the </a:t>
                </a:r>
                <a:r>
                  <a:rPr lang="en-US" sz="2000" dirty="0">
                    <a:solidFill>
                      <a:srgbClr val="7030A0"/>
                    </a:solidFill>
                  </a:rPr>
                  <a:t>list</a:t>
                </a:r>
                <a:r>
                  <a:rPr lang="en-US" sz="2000" dirty="0"/>
                  <a:t> for exact interpretation of </a:t>
                </a:r>
                <a:r>
                  <a:rPr lang="en-US" sz="2000" b="1" dirty="0"/>
                  <a:t>p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The implementation in the lecture is for that modeling and indeed takes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) time.</a:t>
                </a:r>
              </a:p>
              <a:p>
                <a:pPr marL="0" indent="0">
                  <a:buNone/>
                </a:pPr>
                <a:r>
                  <a:rPr lang="en-US" sz="2000" dirty="0"/>
                  <a:t>However, if you wish to model </a:t>
                </a:r>
                <a:r>
                  <a:rPr lang="en-US" sz="2000" dirty="0">
                    <a:solidFill>
                      <a:srgbClr val="7030A0"/>
                    </a:solidFill>
                  </a:rPr>
                  <a:t>list</a:t>
                </a:r>
                <a:r>
                  <a:rPr lang="en-US" sz="2000" dirty="0"/>
                  <a:t> </a:t>
                </a:r>
                <a:r>
                  <a:rPr lang="en-US" sz="2000" i="1" dirty="0"/>
                  <a:t>differently</a:t>
                </a:r>
                <a:r>
                  <a:rPr lang="en-US" sz="2000" dirty="0"/>
                  <a:t> such that the parameter </a:t>
                </a:r>
                <a:r>
                  <a:rPr lang="en-US" sz="2000" b="1" dirty="0"/>
                  <a:t>p</a:t>
                </a:r>
                <a:r>
                  <a:rPr lang="en-US" sz="2000" dirty="0"/>
                  <a:t> is an integer parameter as defined above, then you are right.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Lesson learnt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Implementation of a data structure </a:t>
                </a:r>
              </a:p>
              <a:p>
                <a:pPr marL="0" indent="0">
                  <a:buNone/>
                </a:pPr>
                <a:r>
                  <a:rPr lang="en-US" sz="2000" u="sng" dirty="0"/>
                  <a:t>depends</a:t>
                </a:r>
                <a:r>
                  <a:rPr lang="en-US" sz="2000" dirty="0"/>
                  <a:t> upon its mathematical modeling (</a:t>
                </a:r>
                <a:r>
                  <a:rPr lang="en-US" sz="2000" dirty="0">
                    <a:solidFill>
                      <a:srgbClr val="006C31"/>
                    </a:solidFill>
                  </a:rPr>
                  <a:t>interpretation</a:t>
                </a:r>
                <a:r>
                  <a:rPr lang="en-US" sz="2000" dirty="0"/>
                  <a:t> of various operations).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067800" cy="4525963"/>
              </a:xfrm>
              <a:blipFill>
                <a:blip r:embed="rId2"/>
                <a:stretch>
                  <a:fillRect l="-699" t="-840" r="-839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0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to perform </a:t>
            </a:r>
            <a:r>
              <a:rPr lang="en-US" sz="3600" b="1" dirty="0">
                <a:solidFill>
                  <a:srgbClr val="C00000"/>
                </a:solidFill>
              </a:rPr>
              <a:t>successor</a:t>
            </a:r>
            <a:r>
              <a:rPr lang="en-US" sz="3600" dirty="0"/>
              <a:t>(</a:t>
            </a:r>
            <a:r>
              <a:rPr lang="en-US" sz="3600" b="1" dirty="0" err="1"/>
              <a:t>p,L</a:t>
            </a:r>
            <a:r>
              <a:rPr lang="en-US" sz="3600" dirty="0"/>
              <a:t>)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Successor</a:t>
            </a:r>
            <a:r>
              <a:rPr lang="en-US" sz="1800" dirty="0"/>
              <a:t>(</a:t>
            </a:r>
            <a:r>
              <a:rPr lang="en-US" sz="1800" b="1" dirty="0" err="1"/>
              <a:t>p,L</a:t>
            </a:r>
            <a:r>
              <a:rPr lang="en-US" sz="1800" dirty="0"/>
              <a:t>){</a:t>
            </a:r>
          </a:p>
          <a:p>
            <a:pPr marL="0" indent="0">
              <a:buNone/>
            </a:pPr>
            <a:r>
              <a:rPr lang="en-US" sz="1400" dirty="0">
                <a:sym typeface="Wingdings" pitchFamily="2" charset="2"/>
              </a:rPr>
              <a:t>q </a:t>
            </a:r>
            <a:r>
              <a:rPr lang="en-US" sz="1400" dirty="0" err="1">
                <a:sym typeface="Wingdings" pitchFamily="2" charset="2"/>
              </a:rPr>
              <a:t>p.right</a:t>
            </a:r>
            <a:r>
              <a:rPr lang="en-US" sz="1400" dirty="0">
                <a:sym typeface="Wingdings" pitchFamily="2" charset="2"/>
              </a:rPr>
              <a:t>; </a:t>
            </a:r>
          </a:p>
          <a:p>
            <a:pPr marL="0" indent="0">
              <a:buNone/>
            </a:pPr>
            <a:r>
              <a:rPr lang="en-US" sz="1400" b="1" dirty="0">
                <a:sym typeface="Wingdings" pitchFamily="2" charset="2"/>
              </a:rPr>
              <a:t>return</a:t>
            </a:r>
            <a:r>
              <a:rPr lang="en-US" sz="1400" dirty="0">
                <a:sym typeface="Wingdings" pitchFamily="2" charset="2"/>
              </a:rPr>
              <a:t> </a:t>
            </a:r>
            <a:r>
              <a:rPr lang="en-US" sz="1400" dirty="0" err="1">
                <a:sym typeface="Wingdings" pitchFamily="2" charset="2"/>
              </a:rPr>
              <a:t>q.value</a:t>
            </a:r>
            <a:r>
              <a:rPr lang="en-US" sz="14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2286000"/>
            <a:ext cx="7772400" cy="1447800"/>
            <a:chOff x="609600" y="4278868"/>
            <a:chExt cx="7772400" cy="1447800"/>
          </a:xfrm>
        </p:grpSpPr>
        <p:grpSp>
          <p:nvGrpSpPr>
            <p:cNvPr id="6" name="Group 5"/>
            <p:cNvGrpSpPr/>
            <p:nvPr/>
          </p:nvGrpSpPr>
          <p:grpSpPr>
            <a:xfrm>
              <a:off x="2209800" y="5257800"/>
              <a:ext cx="6172200" cy="457200"/>
              <a:chOff x="2057400" y="2895600"/>
              <a:chExt cx="6172200" cy="457200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205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/>
            </p:nvGrpSpPr>
            <p:grpSpPr>
              <a:xfrm>
                <a:off x="5867400" y="2895600"/>
                <a:ext cx="914400" cy="457200"/>
                <a:chOff x="2362200" y="2895600"/>
                <a:chExt cx="914400" cy="457200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2362200" y="2895600"/>
                  <a:ext cx="914400" cy="4572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3048000" y="2895600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Straight Arrow Connector 25"/>
              <p:cNvCxnSpPr/>
              <p:nvPr/>
            </p:nvCxnSpPr>
            <p:spPr>
              <a:xfrm>
                <a:off x="281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Group 26"/>
              <p:cNvGrpSpPr/>
              <p:nvPr/>
            </p:nvGrpSpPr>
            <p:grpSpPr>
              <a:xfrm>
                <a:off x="7772400" y="2895600"/>
                <a:ext cx="457200" cy="457200"/>
                <a:chOff x="7772400" y="2895600"/>
                <a:chExt cx="457200" cy="457200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7772400" y="2895600"/>
                  <a:ext cx="457200" cy="4572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H="1">
                  <a:off x="7772400" y="2895600"/>
                  <a:ext cx="457200" cy="457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Arrow Connector 27"/>
              <p:cNvCxnSpPr/>
              <p:nvPr/>
            </p:nvCxnSpPr>
            <p:spPr>
              <a:xfrm>
                <a:off x="6629400" y="3048000"/>
                <a:ext cx="1143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4114800" y="5257800"/>
              <a:ext cx="914400" cy="457200"/>
              <a:chOff x="2362200" y="2895600"/>
              <a:chExt cx="914400" cy="4572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2362200" y="2895600"/>
                <a:ext cx="9144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3048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09600" y="4278868"/>
              <a:ext cx="1600200" cy="1131332"/>
              <a:chOff x="457200" y="1916668"/>
              <a:chExt cx="1600200" cy="1131332"/>
            </a:xfrm>
          </p:grpSpPr>
          <p:cxnSp>
            <p:nvCxnSpPr>
              <p:cNvPr id="20" name="Elbow Connector 19"/>
              <p:cNvCxnSpPr/>
              <p:nvPr/>
            </p:nvCxnSpPr>
            <p:spPr>
              <a:xfrm>
                <a:off x="1143000" y="2133600"/>
                <a:ext cx="914400" cy="914400"/>
              </a:xfrm>
              <a:prstGeom prst="bentConnector3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457200" y="1916668"/>
                <a:ext cx="676788" cy="369332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Head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09600" y="5257800"/>
              <a:ext cx="5638800" cy="468868"/>
              <a:chOff x="457200" y="2895600"/>
              <a:chExt cx="5638800" cy="468868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 flipH="1">
                <a:off x="2971802" y="3250168"/>
                <a:ext cx="11429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4876800" y="3200400"/>
                <a:ext cx="10485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>
                <a:off x="932640" y="3200400"/>
                <a:ext cx="120096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457200" y="2895600"/>
                <a:ext cx="457200" cy="4572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H="1"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57200" y="2895600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191000" y="290726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28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096000" y="2895600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/>
            <p:cNvCxnSpPr/>
            <p:nvPr/>
          </p:nvCxnSpPr>
          <p:spPr>
            <a:xfrm>
              <a:off x="4953000" y="5410200"/>
              <a:ext cx="1066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3523440" y="2233136"/>
            <a:ext cx="1048560" cy="1043464"/>
            <a:chOff x="3352800" y="1764268"/>
            <a:chExt cx="1048560" cy="1043464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657600" y="2013466"/>
              <a:ext cx="743760" cy="7942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352800" y="1764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953000" y="2831068"/>
            <a:ext cx="1932892" cy="597932"/>
            <a:chOff x="4953000" y="2831068"/>
            <a:chExt cx="1932892" cy="597932"/>
          </a:xfrm>
        </p:grpSpPr>
        <p:sp>
          <p:nvSpPr>
            <p:cNvPr id="42" name="TextBox 41"/>
            <p:cNvSpPr txBox="1"/>
            <p:nvPr/>
          </p:nvSpPr>
          <p:spPr>
            <a:xfrm>
              <a:off x="6082980" y="2831068"/>
              <a:ext cx="802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p.right</a:t>
              </a:r>
              <a:endParaRPr lang="en-US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4953000" y="3417332"/>
              <a:ext cx="1075920" cy="1166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016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C31"/>
                </a:solidFill>
              </a:rPr>
              <a:t>Time Complexity </a:t>
            </a:r>
            <a:r>
              <a:rPr lang="en-US" sz="3200" b="1" dirty="0"/>
              <a:t>of each List operation using </a:t>
            </a:r>
            <a:br>
              <a:rPr lang="en-US" sz="3200" b="1" dirty="0"/>
            </a:br>
            <a:r>
              <a:rPr lang="en-US" sz="3200" b="1" dirty="0">
                <a:solidFill>
                  <a:srgbClr val="7030A0"/>
                </a:solidFill>
              </a:rPr>
              <a:t>Doubly Linked List </a:t>
            </a:r>
            <a:r>
              <a:rPr lang="en-US" sz="3200" b="1" dirty="0"/>
              <a:t>based implementation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54082"/>
              </p:ext>
            </p:extLst>
          </p:nvPr>
        </p:nvGraphicFramePr>
        <p:xfrm>
          <a:off x="2590800" y="1600200"/>
          <a:ext cx="4495800" cy="375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Complexity per</a:t>
                      </a:r>
                      <a:r>
                        <a:rPr lang="en-US" baseline="0" dirty="0"/>
                        <a:t> operation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IsEmpty</a:t>
                      </a:r>
                      <a:r>
                        <a:rPr lang="en-US" dirty="0"/>
                        <a:t>(</a:t>
                      </a:r>
                      <a:r>
                        <a:rPr lang="en-US" b="1" dirty="0"/>
                        <a:t>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Search</a:t>
                      </a:r>
                      <a:r>
                        <a:rPr lang="en-US" dirty="0"/>
                        <a:t>(</a:t>
                      </a:r>
                      <a:r>
                        <a:rPr lang="en-US" b="1" dirty="0" err="1"/>
                        <a:t>x,L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Successor</a:t>
                      </a:r>
                      <a:r>
                        <a:rPr lang="en-US" dirty="0"/>
                        <a:t>(</a:t>
                      </a:r>
                      <a:r>
                        <a:rPr lang="en-US" b="1" dirty="0" err="1"/>
                        <a:t>p,L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Predecessor</a:t>
                      </a:r>
                      <a:r>
                        <a:rPr lang="en-US" dirty="0"/>
                        <a:t>(</a:t>
                      </a:r>
                      <a:r>
                        <a:rPr lang="en-US" b="1" dirty="0" err="1"/>
                        <a:t>p,L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CreateEmptyList</a:t>
                      </a:r>
                      <a:r>
                        <a:rPr lang="en-US" dirty="0"/>
                        <a:t>(</a:t>
                      </a:r>
                      <a:r>
                        <a:rPr lang="en-US" b="1" dirty="0"/>
                        <a:t>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Insert</a:t>
                      </a:r>
                      <a:r>
                        <a:rPr lang="en-US" dirty="0"/>
                        <a:t>(</a:t>
                      </a:r>
                      <a:r>
                        <a:rPr lang="en-US" b="1" dirty="0" err="1"/>
                        <a:t>x,p,L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Delete</a:t>
                      </a:r>
                      <a:r>
                        <a:rPr lang="en-US" dirty="0"/>
                        <a:t>(</a:t>
                      </a:r>
                      <a:r>
                        <a:rPr lang="en-US" b="1" dirty="0" err="1"/>
                        <a:t>p,L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MakeListEmpty</a:t>
                      </a:r>
                      <a:r>
                        <a:rPr lang="en-US" dirty="0"/>
                        <a:t>(</a:t>
                      </a:r>
                      <a:r>
                        <a:rPr lang="en-US" b="1" dirty="0"/>
                        <a:t>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0" y="22098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400" y="2590800"/>
                <a:ext cx="914400" cy="3810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590800"/>
                <a:ext cx="914400" cy="381000"/>
              </a:xfrm>
              <a:prstGeom prst="roundRect">
                <a:avLst/>
              </a:prstGeom>
              <a:blipFill rotWithShape="1">
                <a:blip r:embed="rId2"/>
                <a:stretch>
                  <a:fillRect t="-2985" b="-1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0" y="29718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3528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8100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9530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1910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572000"/>
            <a:ext cx="9144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5" name="Up Ribbon 14"/>
          <p:cNvSpPr/>
          <p:nvPr/>
        </p:nvSpPr>
        <p:spPr>
          <a:xfrm>
            <a:off x="2286000" y="5749795"/>
            <a:ext cx="5181600" cy="8382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6C31"/>
                </a:solidFill>
              </a:rPr>
              <a:t>Homework:</a:t>
            </a:r>
            <a:r>
              <a:rPr lang="en-US" dirty="0">
                <a:solidFill>
                  <a:schemeClr val="tx1"/>
                </a:solidFill>
              </a:rPr>
              <a:t> Write </a:t>
            </a:r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Function for each operation with matching complexity.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7239000" y="3543300"/>
            <a:ext cx="1905000" cy="2206495"/>
          </a:xfrm>
          <a:prstGeom prst="borderCallout1">
            <a:avLst>
              <a:gd name="adj1" fmla="val 51571"/>
              <a:gd name="adj2" fmla="val -962"/>
              <a:gd name="adj3" fmla="val 75712"/>
              <a:gd name="adj4" fmla="val -4495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 takes </a:t>
            </a:r>
            <a:r>
              <a:rPr lang="en-US" sz="1200" b="1" dirty="0">
                <a:solidFill>
                  <a:srgbClr val="C00000"/>
                </a:solidFill>
              </a:rPr>
              <a:t>O</a:t>
            </a:r>
            <a:r>
              <a:rPr lang="en-US" sz="1200" b="1" dirty="0">
                <a:solidFill>
                  <a:srgbClr val="0070C0"/>
                </a:solidFill>
              </a:rPr>
              <a:t>(1) </a:t>
            </a:r>
            <a:r>
              <a:rPr lang="en-US" sz="1200" dirty="0">
                <a:solidFill>
                  <a:schemeClr val="tx1"/>
                </a:solidFill>
              </a:rPr>
              <a:t>time if we implement it by setting the </a:t>
            </a:r>
            <a:r>
              <a:rPr lang="en-US" sz="1200" b="1" dirty="0">
                <a:solidFill>
                  <a:schemeClr val="tx1"/>
                </a:solidFill>
              </a:rPr>
              <a:t>head</a:t>
            </a:r>
            <a:r>
              <a:rPr lang="en-US" sz="1200" dirty="0">
                <a:solidFill>
                  <a:schemeClr val="tx1"/>
                </a:solidFill>
              </a:rPr>
              <a:t> pointer of list to NULL. However, if one has to </a:t>
            </a:r>
            <a:r>
              <a:rPr lang="en-US" sz="1200" b="1" dirty="0">
                <a:solidFill>
                  <a:srgbClr val="C00000"/>
                </a:solidFill>
              </a:rPr>
              <a:t>free</a:t>
            </a:r>
            <a:r>
              <a:rPr lang="en-US" sz="1200" dirty="0">
                <a:solidFill>
                  <a:schemeClr val="tx1"/>
                </a:solidFill>
              </a:rPr>
              <a:t> the memory used by the list, then it will require traversal of the entire list and hence </a:t>
            </a:r>
            <a:r>
              <a:rPr lang="en-US" sz="1200" b="1" dirty="0">
                <a:solidFill>
                  <a:srgbClr val="C00000"/>
                </a:solidFill>
              </a:rPr>
              <a:t>O</a:t>
            </a:r>
            <a:r>
              <a:rPr lang="en-US" sz="1200" b="1" dirty="0">
                <a:solidFill>
                  <a:srgbClr val="0070C0"/>
                </a:solidFill>
              </a:rPr>
              <a:t>(n) </a:t>
            </a:r>
            <a:r>
              <a:rPr lang="en-US" sz="1200" dirty="0">
                <a:solidFill>
                  <a:schemeClr val="tx1"/>
                </a:solidFill>
              </a:rPr>
              <a:t>time.  You might learn more about it in Operating System course.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4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Doubly Linked List </a:t>
            </a:r>
            <a:r>
              <a:rPr lang="en-US" sz="2800" b="1" dirty="0"/>
              <a:t>based implementation versus </a:t>
            </a:r>
            <a:r>
              <a:rPr lang="en-US" sz="2800" b="1" dirty="0">
                <a:solidFill>
                  <a:srgbClr val="7030A0"/>
                </a:solidFill>
              </a:rPr>
              <a:t>array</a:t>
            </a:r>
            <a:r>
              <a:rPr lang="en-US" sz="2800" b="1" dirty="0"/>
              <a:t> based implementation of “List”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18786835"/>
                  </p:ext>
                </p:extLst>
              </p:nvPr>
            </p:nvGraphicFramePr>
            <p:xfrm>
              <a:off x="761999" y="1447801"/>
              <a:ext cx="7772401" cy="40792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583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42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713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4209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 Complexity per</a:t>
                          </a:r>
                          <a:r>
                            <a:rPr lang="en-US" baseline="0" dirty="0"/>
                            <a:t> operation for </a:t>
                          </a:r>
                          <a:r>
                            <a:rPr lang="en-US" baseline="0" dirty="0">
                              <a:solidFill>
                                <a:srgbClr val="FFC000"/>
                              </a:solidFill>
                            </a:rPr>
                            <a:t>array</a:t>
                          </a:r>
                          <a:r>
                            <a:rPr lang="en-US" baseline="0" dirty="0"/>
                            <a:t> based implementation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Time Complexity per</a:t>
                          </a:r>
                          <a:r>
                            <a:rPr lang="en-US" baseline="0" dirty="0"/>
                            <a:t> operation for </a:t>
                          </a:r>
                          <a:r>
                            <a:rPr lang="en-US" baseline="0" dirty="0">
                              <a:solidFill>
                                <a:srgbClr val="FFC000"/>
                              </a:solidFill>
                            </a:rPr>
                            <a:t>doubly linked list</a:t>
                          </a:r>
                          <a:r>
                            <a:rPr lang="en-US" baseline="0" dirty="0"/>
                            <a:t> based implementation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308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IsEmpty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1261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Search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x,L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8986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Successor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p,L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Predecessor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p,L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C00000"/>
                              </a:solidFill>
                            </a:rPr>
                            <a:t>CreateEmptyList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0126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Insert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x,p,L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0126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Delete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 err="1"/>
                            <a:t>p,L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6678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C00000"/>
                              </a:solidFill>
                            </a:rPr>
                            <a:t>MakeListEmpty</a:t>
                          </a:r>
                          <a:r>
                            <a:rPr lang="en-US" dirty="0"/>
                            <a:t>(</a:t>
                          </a:r>
                          <a:r>
                            <a:rPr lang="en-US" b="1" dirty="0"/>
                            <a:t>L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18786835"/>
                  </p:ext>
                </p:extLst>
              </p:nvPr>
            </p:nvGraphicFramePr>
            <p:xfrm>
              <a:off x="761999" y="1447801"/>
              <a:ext cx="7772401" cy="40792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58334"/>
                    <a:gridCol w="2642733"/>
                    <a:gridCol w="2871334"/>
                  </a:tblGrid>
                  <a:tr h="942091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Operation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Time Complexity per</a:t>
                          </a:r>
                          <a:r>
                            <a:rPr lang="en-US" baseline="0" dirty="0" smtClean="0"/>
                            <a:t> operation for </a:t>
                          </a:r>
                          <a:r>
                            <a:rPr lang="en-US" baseline="0" dirty="0" smtClean="0">
                              <a:solidFill>
                                <a:srgbClr val="FFC000"/>
                              </a:solidFill>
                            </a:rPr>
                            <a:t>array</a:t>
                          </a:r>
                          <a:r>
                            <a:rPr lang="en-US" baseline="0" dirty="0" smtClean="0"/>
                            <a:t> based implementation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Time Complexity per</a:t>
                          </a:r>
                          <a:r>
                            <a:rPr lang="en-US" baseline="0" dirty="0" smtClean="0"/>
                            <a:t> operation for </a:t>
                          </a:r>
                          <a:r>
                            <a:rPr lang="en-US" baseline="0" dirty="0" smtClean="0">
                              <a:solidFill>
                                <a:srgbClr val="FFC000"/>
                              </a:solidFill>
                            </a:rPr>
                            <a:t>doubly linked list</a:t>
                          </a:r>
                          <a:r>
                            <a:rPr lang="en-US" baseline="0" dirty="0" smtClean="0"/>
                            <a:t> based implementation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7030A0"/>
                              </a:solidFill>
                            </a:rPr>
                            <a:t>IsEmpty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01261">
                    <a:tc>
                      <a:txBody>
                        <a:bodyPr/>
                        <a:lstStyle/>
                        <a:p>
                          <a:r>
                            <a:rPr lang="en-US" b="1" dirty="0" smtClean="0">
                              <a:solidFill>
                                <a:srgbClr val="7030A0"/>
                              </a:solidFill>
                            </a:rPr>
                            <a:t>Search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x,L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5253" t="-331818" r="-10852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70701" t="-331818" b="-600000"/>
                          </a:stretch>
                        </a:blipFill>
                      </a:tcPr>
                    </a:tc>
                  </a:tr>
                  <a:tr h="388986">
                    <a:tc>
                      <a:txBody>
                        <a:bodyPr/>
                        <a:lstStyle/>
                        <a:p>
                          <a:r>
                            <a:rPr lang="en-US" b="1" dirty="0" smtClean="0">
                              <a:solidFill>
                                <a:srgbClr val="7030A0"/>
                              </a:solidFill>
                            </a:rPr>
                            <a:t>Successor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p,L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b="1" dirty="0" smtClean="0">
                              <a:solidFill>
                                <a:srgbClr val="7030A0"/>
                              </a:solidFill>
                            </a:rPr>
                            <a:t>Predecessor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p,L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C00000"/>
                              </a:solidFill>
                            </a:rPr>
                            <a:t>CreateEmptyList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0126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Insert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x,p,L</a:t>
                          </a:r>
                          <a:r>
                            <a:rPr lang="en-US" dirty="0" smtClean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5253" t="-718182" r="-108525" b="-2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0126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Delete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err="1" smtClean="0"/>
                            <a:t>p,L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5253" t="-818182" r="-108525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16678">
                    <a:tc>
                      <a:txBody>
                        <a:bodyPr/>
                        <a:lstStyle/>
                        <a:p>
                          <a:r>
                            <a:rPr lang="en-US" b="1" dirty="0" err="1" smtClean="0">
                              <a:solidFill>
                                <a:srgbClr val="C00000"/>
                              </a:solidFill>
                            </a:rPr>
                            <a:t>MakeListEmpty</a:t>
                          </a:r>
                          <a:r>
                            <a:rPr lang="en-US" dirty="0" smtClean="0"/>
                            <a:t>(</a:t>
                          </a:r>
                          <a:r>
                            <a:rPr lang="en-US" b="1" dirty="0" smtClean="0"/>
                            <a:t>L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rgbClr val="C00000"/>
                              </a:solidFill>
                            </a:rPr>
                            <a:t>O</a:t>
                          </a:r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Rounded Rectangle 2"/>
          <p:cNvSpPr/>
          <p:nvPr/>
        </p:nvSpPr>
        <p:spPr>
          <a:xfrm flipV="1">
            <a:off x="2971800" y="4343400"/>
            <a:ext cx="5562600" cy="762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5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 concrete Problem</a:t>
            </a:r>
            <a:endParaRPr lang="en-U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7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Maintain a telephone directory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Operations:</a:t>
            </a:r>
          </a:p>
          <a:p>
            <a:r>
              <a:rPr lang="en-US" sz="2000" dirty="0"/>
              <a:t>Search the phone # of a person with name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</a:p>
          <a:p>
            <a:endParaRPr lang="en-US" sz="2000" dirty="0"/>
          </a:p>
          <a:p>
            <a:r>
              <a:rPr lang="en-US" sz="2000" dirty="0"/>
              <a:t>Insert a new record (name, phone #,…)</a:t>
            </a:r>
          </a:p>
          <a:p>
            <a:endParaRPr lang="en-US" sz="16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031275"/>
              </p:ext>
            </p:extLst>
          </p:nvPr>
        </p:nvGraphicFramePr>
        <p:xfrm>
          <a:off x="5334000" y="1874520"/>
          <a:ext cx="37338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9">
                <a:tc>
                  <a:txBody>
                    <a:bodyPr/>
                    <a:lstStyle/>
                    <a:p>
                      <a:r>
                        <a:rPr lang="en-US" dirty="0"/>
                        <a:t>Array based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 list based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Up Ribbon 5"/>
          <p:cNvSpPr/>
          <p:nvPr/>
        </p:nvSpPr>
        <p:spPr>
          <a:xfrm>
            <a:off x="2057400" y="5334000"/>
            <a:ext cx="5181600" cy="8382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Can we achieve</a:t>
            </a:r>
            <a:r>
              <a:rPr lang="en-US" b="1" dirty="0">
                <a:solidFill>
                  <a:srgbClr val="FF0000"/>
                </a:solidFill>
              </a:rPr>
              <a:t> the best of </a:t>
            </a:r>
            <a:r>
              <a:rPr lang="en-US" b="1" dirty="0">
                <a:solidFill>
                  <a:schemeClr val="tx1"/>
                </a:solidFill>
              </a:rPr>
              <a:t>the two data structure simultaneously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Line Callout 2 6"/>
          <p:cNvSpPr/>
          <p:nvPr/>
        </p:nvSpPr>
        <p:spPr>
          <a:xfrm>
            <a:off x="5105400" y="4572000"/>
            <a:ext cx="2743200" cy="457200"/>
          </a:xfrm>
          <a:prstGeom prst="borderCallout2">
            <a:avLst>
              <a:gd name="adj1" fmla="val -3990"/>
              <a:gd name="adj2" fmla="val 65957"/>
              <a:gd name="adj3" fmla="val -391945"/>
              <a:gd name="adj4" fmla="val 64705"/>
              <a:gd name="adj5" fmla="val -393485"/>
              <a:gd name="adj6" fmla="val 4990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 we improve it ? Think over it …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2286000" y="4191000"/>
            <a:ext cx="4953000" cy="1143000"/>
          </a:xfrm>
          <a:prstGeom prst="cloudCallout">
            <a:avLst>
              <a:gd name="adj1" fmla="val -66569"/>
              <a:gd name="adj2" fmla="val 5469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Yes. Keep the array sorted according to the </a:t>
            </a:r>
            <a:r>
              <a:rPr lang="en-US" b="1" dirty="0">
                <a:solidFill>
                  <a:srgbClr val="7030A0"/>
                </a:solidFill>
              </a:rPr>
              <a:t>names</a:t>
            </a:r>
            <a:r>
              <a:rPr lang="en-US" dirty="0">
                <a:solidFill>
                  <a:schemeClr val="tx1"/>
                </a:solidFill>
              </a:rPr>
              <a:t> and do Binary search for </a:t>
            </a:r>
            <a:r>
              <a:rPr lang="en-US" b="1" dirty="0">
                <a:solidFill>
                  <a:srgbClr val="0070C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4377" y="6107668"/>
            <a:ext cx="666214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shall together invent such </a:t>
            </a:r>
            <a:r>
              <a:rPr lang="en-US" b="1" dirty="0"/>
              <a:t>a novel data structure </a:t>
            </a:r>
            <a:r>
              <a:rPr lang="en-US" dirty="0"/>
              <a:t>in the next class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93673" y="2590800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673" y="2590800"/>
                <a:ext cx="63350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654" t="-8197" r="-1634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96093" y="2590800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093" y="2590800"/>
                <a:ext cx="63350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692" t="-8197" r="-1730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5379" y="3212068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379" y="3212068"/>
                <a:ext cx="62228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824"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43600" y="3288268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288268"/>
                <a:ext cx="63350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7692" t="-8197" r="-1634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5562600" y="2590800"/>
                <a:ext cx="914400" cy="381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590800"/>
                <a:ext cx="914400" cy="381000"/>
              </a:xfrm>
              <a:prstGeom prst="roundRect">
                <a:avLst/>
              </a:prstGeom>
              <a:blipFill rotWithShape="1">
                <a:blip r:embed="rId6"/>
                <a:stretch>
                  <a:fillRect t="-2985" b="-1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endCxn id="11" idx="1"/>
          </p:cNvCxnSpPr>
          <p:nvPr/>
        </p:nvCxnSpPr>
        <p:spPr>
          <a:xfrm>
            <a:off x="6477000" y="2960132"/>
            <a:ext cx="1148379" cy="436602"/>
          </a:xfrm>
          <a:prstGeom prst="straightConnector1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72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7" grpId="1" animBg="1"/>
      <p:bldP spid="9" grpId="0" animBg="1"/>
      <p:bldP spid="9" grpId="1" animBg="1"/>
      <p:bldP spid="12" grpId="0" animBg="1"/>
      <p:bldP spid="8" grpId="0"/>
      <p:bldP spid="13" grpId="0"/>
      <p:bldP spid="11" grpId="0"/>
      <p:bldP spid="14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6066</TotalTime>
  <Words>1803</Words>
  <Application>Microsoft Macintosh PowerPoint</Application>
  <PresentationFormat>On-screen Show (4:3)</PresentationFormat>
  <Paragraphs>310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Data Structure</vt:lpstr>
      <vt:lpstr>Two steps process for designing  a  Data Structure </vt:lpstr>
      <vt:lpstr>PowerPoint Presentation</vt:lpstr>
      <vt:lpstr>Mathematical Modeling  of a List</vt:lpstr>
      <vt:lpstr>Query Operations on a List </vt:lpstr>
      <vt:lpstr>Update Operations on a List</vt:lpstr>
      <vt:lpstr>PowerPoint Presentation</vt:lpstr>
      <vt:lpstr>Array based Implementation </vt:lpstr>
      <vt:lpstr>Array based Implementation </vt:lpstr>
      <vt:lpstr>Time Complexity of each List operation using  Array based implementation</vt:lpstr>
      <vt:lpstr>Link based Implementation:</vt:lpstr>
      <vt:lpstr>Doubly Linked List based Implementation</vt:lpstr>
      <vt:lpstr>How to perform Insert(x,p,L) ?</vt:lpstr>
      <vt:lpstr>How to perform Insert(x,p,L) ?</vt:lpstr>
      <vt:lpstr>A Common Mistake</vt:lpstr>
      <vt:lpstr>How to perform successor(p,L) ?</vt:lpstr>
      <vt:lpstr>Time Complexity of each List operation using  Doubly Linked List based implementation</vt:lpstr>
      <vt:lpstr>Doubly Linked List based implementation versus array based implementation of “List”</vt:lpstr>
      <vt:lpstr>PowerPoint Presentation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596</cp:revision>
  <dcterms:created xsi:type="dcterms:W3CDTF">2011-12-03T04:13:03Z</dcterms:created>
  <dcterms:modified xsi:type="dcterms:W3CDTF">2025-08-22T03:24:26Z</dcterms:modified>
</cp:coreProperties>
</file>