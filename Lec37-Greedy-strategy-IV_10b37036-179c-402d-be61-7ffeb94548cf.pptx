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84" r:id="rId2"/>
    <p:sldId id="485" r:id="rId3"/>
    <p:sldId id="486" r:id="rId4"/>
    <p:sldId id="487" r:id="rId5"/>
    <p:sldId id="488" r:id="rId6"/>
    <p:sldId id="489" r:id="rId7"/>
    <p:sldId id="337" r:id="rId8"/>
    <p:sldId id="335" r:id="rId9"/>
    <p:sldId id="332" r:id="rId10"/>
    <p:sldId id="334" r:id="rId11"/>
    <p:sldId id="350" r:id="rId12"/>
    <p:sldId id="345" r:id="rId13"/>
    <p:sldId id="346" r:id="rId14"/>
    <p:sldId id="339" r:id="rId15"/>
    <p:sldId id="308" r:id="rId16"/>
    <p:sldId id="327" r:id="rId17"/>
    <p:sldId id="328" r:id="rId18"/>
    <p:sldId id="329" r:id="rId19"/>
    <p:sldId id="330" r:id="rId20"/>
    <p:sldId id="340" r:id="rId21"/>
    <p:sldId id="348" r:id="rId22"/>
    <p:sldId id="309" r:id="rId23"/>
    <p:sldId id="310" r:id="rId24"/>
    <p:sldId id="313" r:id="rId25"/>
    <p:sldId id="314" r:id="rId26"/>
    <p:sldId id="315" r:id="rId27"/>
    <p:sldId id="312" r:id="rId28"/>
    <p:sldId id="351" r:id="rId29"/>
    <p:sldId id="317" r:id="rId30"/>
    <p:sldId id="289" r:id="rId31"/>
    <p:sldId id="318" r:id="rId32"/>
    <p:sldId id="279" r:id="rId33"/>
    <p:sldId id="352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CF3F1-97AA-0E4D-93F0-23B37AF91F2F}" v="15" dt="2025-11-10T03:54:27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29"/>
  </p:normalViewPr>
  <p:slideViewPr>
    <p:cSldViewPr>
      <p:cViewPr varScale="1">
        <p:scale>
          <a:sx n="115" d="100"/>
          <a:sy n="115" d="100"/>
        </p:scale>
        <p:origin x="1752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addSld modSld">
      <pc:chgData name="Raghunath Tewari" userId="2638bdda-d406-4938-a2a6-e4e967acb772" providerId="ADAL" clId="{5BB0A526-9D3F-5694-B192-877B52D1FAF9}" dt="2025-11-10T03:54:27.055" v="14" actId="20577"/>
      <pc:docMkLst>
        <pc:docMk/>
      </pc:docMkLst>
      <pc:sldChg chg="modSp modAnim">
        <pc:chgData name="Raghunath Tewari" userId="2638bdda-d406-4938-a2a6-e4e967acb772" providerId="ADAL" clId="{5BB0A526-9D3F-5694-B192-877B52D1FAF9}" dt="2025-11-10T03:54:27.055" v="14" actId="20577"/>
        <pc:sldMkLst>
          <pc:docMk/>
          <pc:sldMk cId="1755345752" sldId="339"/>
        </pc:sldMkLst>
        <pc:spChg chg="mod">
          <ac:chgData name="Raghunath Tewari" userId="2638bdda-d406-4938-a2a6-e4e967acb772" providerId="ADAL" clId="{5BB0A526-9D3F-5694-B192-877B52D1FAF9}" dt="2025-11-10T03:54:27.055" v="14" actId="20577"/>
          <ac:spMkLst>
            <pc:docMk/>
            <pc:sldMk cId="1755345752" sldId="339"/>
            <ac:spMk id="4" creationId="{00000000-0000-0000-0000-000000000000}"/>
          </ac:spMkLst>
        </pc:spChg>
        <pc:spChg chg="mod">
          <ac:chgData name="Raghunath Tewari" userId="2638bdda-d406-4938-a2a6-e4e967acb772" providerId="ADAL" clId="{5BB0A526-9D3F-5694-B192-877B52D1FAF9}" dt="2025-11-10T03:54:19.935" v="6" actId="20577"/>
          <ac:spMkLst>
            <pc:docMk/>
            <pc:sldMk cId="1755345752" sldId="339"/>
            <ac:spMk id="5" creationId="{00000000-0000-0000-0000-000000000000}"/>
          </ac:spMkLst>
        </pc:spChg>
      </pc:sldChg>
      <pc:sldChg chg="add">
        <pc:chgData name="Raghunath Tewari" userId="2638bdda-d406-4938-a2a6-e4e967acb772" providerId="ADAL" clId="{5BB0A526-9D3F-5694-B192-877B52D1FAF9}" dt="2025-11-10T03:33:35.003" v="0"/>
        <pc:sldMkLst>
          <pc:docMk/>
          <pc:sldMk cId="2155403401" sldId="485"/>
        </pc:sldMkLst>
      </pc:sldChg>
      <pc:sldChg chg="add">
        <pc:chgData name="Raghunath Tewari" userId="2638bdda-d406-4938-a2a6-e4e967acb772" providerId="ADAL" clId="{5BB0A526-9D3F-5694-B192-877B52D1FAF9}" dt="2025-11-10T03:33:35.003" v="0"/>
        <pc:sldMkLst>
          <pc:docMk/>
          <pc:sldMk cId="749387097" sldId="486"/>
        </pc:sldMkLst>
      </pc:sldChg>
      <pc:sldChg chg="add">
        <pc:chgData name="Raghunath Tewari" userId="2638bdda-d406-4938-a2a6-e4e967acb772" providerId="ADAL" clId="{5BB0A526-9D3F-5694-B192-877B52D1FAF9}" dt="2025-11-10T03:33:35.003" v="0"/>
        <pc:sldMkLst>
          <pc:docMk/>
          <pc:sldMk cId="744736618" sldId="487"/>
        </pc:sldMkLst>
      </pc:sldChg>
      <pc:sldChg chg="add">
        <pc:chgData name="Raghunath Tewari" userId="2638bdda-d406-4938-a2a6-e4e967acb772" providerId="ADAL" clId="{5BB0A526-9D3F-5694-B192-877B52D1FAF9}" dt="2025-11-10T03:33:35.003" v="0"/>
        <pc:sldMkLst>
          <pc:docMk/>
          <pc:sldMk cId="2086100408" sldId="488"/>
        </pc:sldMkLst>
      </pc:sldChg>
      <pc:sldChg chg="add">
        <pc:chgData name="Raghunath Tewari" userId="2638bdda-d406-4938-a2a6-e4e967acb772" providerId="ADAL" clId="{5BB0A526-9D3F-5694-B192-877B52D1FAF9}" dt="2025-11-10T03:33:35.003" v="0"/>
        <pc:sldMkLst>
          <pc:docMk/>
          <pc:sldMk cId="2703467711" sldId="4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4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1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9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69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8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1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0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15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3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55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1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.jpe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95800"/>
            <a:ext cx="8153400" cy="14478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37</a:t>
            </a:r>
            <a:endParaRPr lang="en-US" sz="2000" b="1" dirty="0">
              <a:solidFill>
                <a:srgbClr val="7030A0"/>
              </a:solidFill>
            </a:endParaRP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A new algorithm design paradigm: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tx1"/>
                </a:solidFill>
              </a:rPr>
              <a:t>                                                          part </a:t>
            </a:r>
            <a:r>
              <a:rPr lang="en-US" sz="2000" b="1" dirty="0">
                <a:solidFill>
                  <a:srgbClr val="0070C0"/>
                </a:solidFill>
              </a:rPr>
              <a:t>IV</a:t>
            </a:r>
            <a:r>
              <a:rPr lang="en-US" sz="2000" b="1" dirty="0">
                <a:solidFill>
                  <a:schemeClr val="tx1"/>
                </a:solidFill>
              </a:rPr>
              <a:t>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F1ACDA-D648-4719-8CCF-388E5A063B5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17288" y="4964668"/>
            <a:ext cx="175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Greedy strategy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50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Problem </a:t>
            </a:r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Mobile towers </a:t>
            </a:r>
            <a:r>
              <a:rPr lang="en-US" b="1" dirty="0">
                <a:solidFill>
                  <a:schemeClr val="tx1"/>
                </a:solidFill>
              </a:rPr>
              <a:t>on a road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0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Mobile towers </a:t>
            </a:r>
            <a:r>
              <a:rPr lang="en-US" sz="3200" b="1" dirty="0"/>
              <a:t>on a road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A mobile tower can cover any cell phone within radius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05100" y="2133600"/>
            <a:ext cx="2705100" cy="2667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3962400" y="3276600"/>
            <a:ext cx="228600" cy="609600"/>
            <a:chOff x="1866900" y="3352800"/>
            <a:chExt cx="228600" cy="609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1981200" y="3505200"/>
              <a:ext cx="0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1866900" y="3352800"/>
              <a:ext cx="228600" cy="2286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924050" y="3397870"/>
              <a:ext cx="114300" cy="1143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388444" y="3974068"/>
            <a:ext cx="1488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Mobile tower</a:t>
            </a:r>
          </a:p>
        </p:txBody>
      </p:sp>
      <p:cxnSp>
        <p:nvCxnSpPr>
          <p:cNvPr id="13" name="Straight Arrow Connector 12"/>
          <p:cNvCxnSpPr>
            <a:stCxn id="9" idx="5"/>
            <a:endCxn id="5" idx="7"/>
          </p:cNvCxnSpPr>
          <p:nvPr/>
        </p:nvCxnSpPr>
        <p:spPr>
          <a:xfrm flipV="1">
            <a:off x="4117111" y="2524173"/>
            <a:ext cx="896936" cy="895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95800" y="2819400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2819400"/>
                <a:ext cx="38664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206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38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11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Mobile towers </a:t>
            </a:r>
            <a:r>
              <a:rPr lang="en-US" sz="3200" b="1" dirty="0"/>
              <a:t>on a road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 statement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houses located along a road.</a:t>
                </a:r>
              </a:p>
              <a:p>
                <a:pPr marL="0" indent="0">
                  <a:buNone/>
                </a:pPr>
                <a:r>
                  <a:rPr lang="en-US" sz="2000" dirty="0"/>
                  <a:t>We want to place mobile towers such that</a:t>
                </a:r>
              </a:p>
              <a:p>
                <a:r>
                  <a:rPr lang="en-US" sz="2000" dirty="0"/>
                  <a:t>Each house is </a:t>
                </a:r>
                <a:r>
                  <a:rPr lang="en-US" sz="2000" b="1" u="sng" dirty="0"/>
                  <a:t>covered</a:t>
                </a:r>
                <a:r>
                  <a:rPr lang="en-US" sz="2000" dirty="0"/>
                  <a:t> by at least one mobile tower.</a:t>
                </a:r>
              </a:p>
              <a:p>
                <a:r>
                  <a:rPr lang="en-US" sz="2000" dirty="0"/>
                  <a:t>The number of mobile towers used is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least</a:t>
                </a:r>
                <a:r>
                  <a:rPr lang="en-US" sz="2000" dirty="0"/>
                  <a:t> possible.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27432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1219200" y="2286000"/>
            <a:ext cx="7086600" cy="419100"/>
            <a:chOff x="1219200" y="2286000"/>
            <a:chExt cx="7086600" cy="419100"/>
          </a:xfrm>
        </p:grpSpPr>
        <p:grpSp>
          <p:nvGrpSpPr>
            <p:cNvPr id="13" name="Group 12"/>
            <p:cNvGrpSpPr/>
            <p:nvPr/>
          </p:nvGrpSpPr>
          <p:grpSpPr>
            <a:xfrm>
              <a:off x="1219200" y="2286000"/>
              <a:ext cx="228600" cy="419100"/>
              <a:chOff x="2362200" y="3162300"/>
              <a:chExt cx="228600" cy="419100"/>
            </a:xfrm>
          </p:grpSpPr>
          <p:sp>
            <p:nvSpPr>
              <p:cNvPr id="10" name="Flowchart: Process 9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1981200" y="2286000"/>
              <a:ext cx="228600" cy="419100"/>
              <a:chOff x="1524000" y="3162300"/>
              <a:chExt cx="228600" cy="419100"/>
            </a:xfrm>
          </p:grpSpPr>
          <p:sp>
            <p:nvSpPr>
              <p:cNvPr id="15" name="Flowchart: Process 14"/>
              <p:cNvSpPr/>
              <p:nvPr/>
            </p:nvSpPr>
            <p:spPr>
              <a:xfrm>
                <a:off x="15240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15"/>
              <p:cNvSpPr/>
              <p:nvPr/>
            </p:nvSpPr>
            <p:spPr>
              <a:xfrm>
                <a:off x="15240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16002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3657600" y="2286000"/>
              <a:ext cx="228600" cy="419100"/>
              <a:chOff x="2362200" y="3162300"/>
              <a:chExt cx="228600" cy="419100"/>
            </a:xfrm>
          </p:grpSpPr>
          <p:sp>
            <p:nvSpPr>
              <p:cNvPr id="19" name="Flowchart: Process 18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943600" y="2286000"/>
              <a:ext cx="228600" cy="419100"/>
              <a:chOff x="2362200" y="3162300"/>
              <a:chExt cx="228600" cy="419100"/>
            </a:xfrm>
          </p:grpSpPr>
          <p:sp>
            <p:nvSpPr>
              <p:cNvPr id="23" name="Flowchart: Process 22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7620000" y="2286000"/>
              <a:ext cx="228600" cy="419100"/>
              <a:chOff x="2362200" y="3162300"/>
              <a:chExt cx="228600" cy="419100"/>
            </a:xfrm>
          </p:grpSpPr>
          <p:sp>
            <p:nvSpPr>
              <p:cNvPr id="27" name="Flowchart: Process 26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Isosceles Triangle 27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8077200" y="2286000"/>
              <a:ext cx="228600" cy="419100"/>
              <a:chOff x="2362200" y="3162300"/>
              <a:chExt cx="228600" cy="419100"/>
            </a:xfrm>
          </p:grpSpPr>
          <p:sp>
            <p:nvSpPr>
              <p:cNvPr id="31" name="Flowchart: Process 30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2" name="Group 41"/>
          <p:cNvGrpSpPr/>
          <p:nvPr/>
        </p:nvGrpSpPr>
        <p:grpSpPr>
          <a:xfrm>
            <a:off x="3962400" y="1066800"/>
            <a:ext cx="228600" cy="609600"/>
            <a:chOff x="1866900" y="3352800"/>
            <a:chExt cx="228600" cy="60960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1981200" y="3505200"/>
              <a:ext cx="0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1866900" y="3352800"/>
              <a:ext cx="228600" cy="2286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1924050" y="3397870"/>
              <a:ext cx="114300" cy="1143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117111" y="926068"/>
            <a:ext cx="1216889" cy="369332"/>
            <a:chOff x="4117111" y="926068"/>
            <a:chExt cx="1216889" cy="369332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4117111" y="1219200"/>
              <a:ext cx="12168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4419600" y="926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600" y="926068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/>
          <p:cNvGrpSpPr/>
          <p:nvPr/>
        </p:nvGrpSpPr>
        <p:grpSpPr>
          <a:xfrm>
            <a:off x="2819400" y="926068"/>
            <a:ext cx="1221511" cy="369332"/>
            <a:chOff x="2819400" y="926068"/>
            <a:chExt cx="1221511" cy="369332"/>
          </a:xfrm>
        </p:grpSpPr>
        <p:cxnSp>
          <p:nvCxnSpPr>
            <p:cNvPr id="50" name="Straight Arrow Connector 49"/>
            <p:cNvCxnSpPr/>
            <p:nvPr/>
          </p:nvCxnSpPr>
          <p:spPr>
            <a:xfrm flipH="1">
              <a:off x="2819400" y="1219200"/>
              <a:ext cx="12215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3124200" y="926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9260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4473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Mobile towers </a:t>
            </a:r>
            <a:r>
              <a:rPr lang="en-US" sz="3200" b="1" dirty="0"/>
              <a:t>on a road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</a:rPr>
              <a:t>Strategy 1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Place tower at first house, </a:t>
            </a:r>
          </a:p>
          <a:p>
            <a:pPr marL="0" indent="0">
              <a:buNone/>
            </a:pPr>
            <a:r>
              <a:rPr lang="en-US" sz="2000" dirty="0"/>
              <a:t>Remove all houses covered by this tower.</a:t>
            </a:r>
          </a:p>
          <a:p>
            <a:pPr marL="0" indent="0">
              <a:buNone/>
            </a:pPr>
            <a:r>
              <a:rPr lang="en-US" sz="2000" dirty="0"/>
              <a:t>Proceed to the next uncovered house …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27432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1219200" y="2286000"/>
            <a:ext cx="7086600" cy="419100"/>
            <a:chOff x="1219200" y="2286000"/>
            <a:chExt cx="7086600" cy="419100"/>
          </a:xfrm>
        </p:grpSpPr>
        <p:grpSp>
          <p:nvGrpSpPr>
            <p:cNvPr id="13" name="Group 12"/>
            <p:cNvGrpSpPr/>
            <p:nvPr/>
          </p:nvGrpSpPr>
          <p:grpSpPr>
            <a:xfrm>
              <a:off x="1219200" y="2286000"/>
              <a:ext cx="228600" cy="419100"/>
              <a:chOff x="2362200" y="3162300"/>
              <a:chExt cx="228600" cy="419100"/>
            </a:xfrm>
          </p:grpSpPr>
          <p:sp>
            <p:nvSpPr>
              <p:cNvPr id="10" name="Flowchart: Process 9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3657600" y="2286000"/>
              <a:ext cx="228600" cy="419100"/>
              <a:chOff x="2362200" y="3162300"/>
              <a:chExt cx="228600" cy="419100"/>
            </a:xfrm>
          </p:grpSpPr>
          <p:sp>
            <p:nvSpPr>
              <p:cNvPr id="19" name="Flowchart: Process 18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943600" y="2286000"/>
              <a:ext cx="228600" cy="419100"/>
              <a:chOff x="2362200" y="3162300"/>
              <a:chExt cx="228600" cy="419100"/>
            </a:xfrm>
          </p:grpSpPr>
          <p:sp>
            <p:nvSpPr>
              <p:cNvPr id="23" name="Flowchart: Process 22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7620000" y="2286000"/>
              <a:ext cx="228600" cy="419100"/>
              <a:chOff x="2362200" y="3162300"/>
              <a:chExt cx="228600" cy="419100"/>
            </a:xfrm>
          </p:grpSpPr>
          <p:sp>
            <p:nvSpPr>
              <p:cNvPr id="27" name="Flowchart: Process 26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Isosceles Triangle 27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8077200" y="2286000"/>
              <a:ext cx="228600" cy="419100"/>
              <a:chOff x="2362200" y="3162300"/>
              <a:chExt cx="228600" cy="419100"/>
            </a:xfrm>
          </p:grpSpPr>
          <p:sp>
            <p:nvSpPr>
              <p:cNvPr id="31" name="Flowchart: Process 30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1371600" y="2590800"/>
            <a:ext cx="1219200" cy="369332"/>
            <a:chOff x="4040911" y="3135868"/>
            <a:chExt cx="1219200" cy="369332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4040911" y="3429000"/>
              <a:ext cx="1219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4419600" y="31358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600" y="3135868"/>
                  <a:ext cx="38664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1219200" y="2743200"/>
            <a:ext cx="228600" cy="609600"/>
            <a:chOff x="1866900" y="3352800"/>
            <a:chExt cx="228600" cy="609600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981200" y="3505200"/>
              <a:ext cx="0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1866900" y="3352800"/>
              <a:ext cx="228600" cy="2286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1924050" y="3397870"/>
              <a:ext cx="114300" cy="1143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819400" y="926068"/>
            <a:ext cx="2514600" cy="750332"/>
            <a:chOff x="2819400" y="926068"/>
            <a:chExt cx="2514600" cy="750332"/>
          </a:xfrm>
        </p:grpSpPr>
        <p:grpSp>
          <p:nvGrpSpPr>
            <p:cNvPr id="59" name="Group 58"/>
            <p:cNvGrpSpPr/>
            <p:nvPr/>
          </p:nvGrpSpPr>
          <p:grpSpPr>
            <a:xfrm>
              <a:off x="3962400" y="1066800"/>
              <a:ext cx="228600" cy="609600"/>
              <a:chOff x="1866900" y="3352800"/>
              <a:chExt cx="228600" cy="60960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1981200" y="3505200"/>
                <a:ext cx="0" cy="457200"/>
              </a:xfrm>
              <a:prstGeom prst="line">
                <a:avLst/>
              </a:prstGeom>
              <a:ln w="28575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1866900" y="3352800"/>
                <a:ext cx="228600" cy="228600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1924050" y="3397870"/>
                <a:ext cx="114300" cy="114300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0" name="Straight Arrow Connector 59"/>
            <p:cNvCxnSpPr/>
            <p:nvPr/>
          </p:nvCxnSpPr>
          <p:spPr>
            <a:xfrm>
              <a:off x="4117111" y="1219200"/>
              <a:ext cx="12168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2819400" y="1219200"/>
              <a:ext cx="12215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419600" y="926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600" y="926068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3124200" y="926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9260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7" name="Flowchart: Process 66"/>
          <p:cNvSpPr/>
          <p:nvPr/>
        </p:nvSpPr>
        <p:spPr>
          <a:xfrm>
            <a:off x="1981200" y="2476500"/>
            <a:ext cx="228600" cy="2286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Isosceles Triangle 67"/>
          <p:cNvSpPr/>
          <p:nvPr/>
        </p:nvSpPr>
        <p:spPr>
          <a:xfrm>
            <a:off x="1981200" y="2286000"/>
            <a:ext cx="228600" cy="190500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2057400" y="2552700"/>
            <a:ext cx="7620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/>
          <p:cNvGrpSpPr/>
          <p:nvPr/>
        </p:nvGrpSpPr>
        <p:grpSpPr>
          <a:xfrm>
            <a:off x="3657600" y="2743200"/>
            <a:ext cx="228600" cy="609600"/>
            <a:chOff x="1866900" y="3352800"/>
            <a:chExt cx="228600" cy="609600"/>
          </a:xfrm>
        </p:grpSpPr>
        <p:cxnSp>
          <p:nvCxnSpPr>
            <p:cNvPr id="71" name="Straight Connector 70"/>
            <p:cNvCxnSpPr/>
            <p:nvPr/>
          </p:nvCxnSpPr>
          <p:spPr>
            <a:xfrm>
              <a:off x="1981200" y="3505200"/>
              <a:ext cx="0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/>
            <p:cNvSpPr/>
            <p:nvPr/>
          </p:nvSpPr>
          <p:spPr>
            <a:xfrm>
              <a:off x="1866900" y="3352800"/>
              <a:ext cx="228600" cy="2286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924050" y="3397870"/>
              <a:ext cx="114300" cy="1143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810000" y="2602468"/>
            <a:ext cx="1219200" cy="369332"/>
            <a:chOff x="4040911" y="3135868"/>
            <a:chExt cx="1219200" cy="369332"/>
          </a:xfrm>
        </p:grpSpPr>
        <p:cxnSp>
          <p:nvCxnSpPr>
            <p:cNvPr id="75" name="Straight Arrow Connector 74"/>
            <p:cNvCxnSpPr/>
            <p:nvPr/>
          </p:nvCxnSpPr>
          <p:spPr>
            <a:xfrm>
              <a:off x="4040911" y="3429000"/>
              <a:ext cx="1219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4419600" y="31358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600" y="3135868"/>
                  <a:ext cx="38664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8610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Mobile towers </a:t>
            </a:r>
            <a:r>
              <a:rPr lang="en-US" sz="3200" b="1" dirty="0"/>
              <a:t>on a road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Strategy 2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Place tower at distance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2000" dirty="0"/>
                  <a:t> to the right of the first house; </a:t>
                </a:r>
              </a:p>
              <a:p>
                <a:pPr marL="0" indent="0">
                  <a:buNone/>
                </a:pPr>
                <a:r>
                  <a:rPr lang="en-US" sz="2000" dirty="0"/>
                  <a:t>Remove all houses covered by this tower;</a:t>
                </a:r>
              </a:p>
              <a:p>
                <a:pPr marL="0" indent="0">
                  <a:buNone/>
                </a:pPr>
                <a:r>
                  <a:rPr lang="en-US" sz="2000" dirty="0"/>
                  <a:t>Proceed to the next uncovered house along the road…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2000" dirty="0"/>
                  <a:t>: There is an optimal solution for the problem in which </a:t>
                </a:r>
              </a:p>
              <a:p>
                <a:pPr marL="0" indent="0">
                  <a:buNone/>
                </a:pPr>
                <a:r>
                  <a:rPr lang="en-US" sz="2000" dirty="0"/>
                  <a:t>the </a:t>
                </a:r>
                <a:r>
                  <a:rPr lang="en-US" sz="2000" u="sng" dirty="0"/>
                  <a:t>leftmost</a:t>
                </a:r>
                <a:r>
                  <a:rPr lang="en-US" sz="2000" dirty="0"/>
                  <a:t> tower is placed at distance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to the right</a:t>
                </a:r>
                <a:r>
                  <a:rPr lang="en-US" sz="2000" dirty="0"/>
                  <a:t> of the first house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1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27432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1219200" y="2286000"/>
            <a:ext cx="7086600" cy="419100"/>
            <a:chOff x="1219200" y="2286000"/>
            <a:chExt cx="7086600" cy="419100"/>
          </a:xfrm>
        </p:grpSpPr>
        <p:grpSp>
          <p:nvGrpSpPr>
            <p:cNvPr id="13" name="Group 12"/>
            <p:cNvGrpSpPr/>
            <p:nvPr/>
          </p:nvGrpSpPr>
          <p:grpSpPr>
            <a:xfrm>
              <a:off x="1219200" y="2286000"/>
              <a:ext cx="228600" cy="419100"/>
              <a:chOff x="2362200" y="3162300"/>
              <a:chExt cx="228600" cy="419100"/>
            </a:xfrm>
          </p:grpSpPr>
          <p:sp>
            <p:nvSpPr>
              <p:cNvPr id="10" name="Flowchart: Process 9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3657600" y="2286000"/>
              <a:ext cx="228600" cy="419100"/>
              <a:chOff x="2362200" y="3162300"/>
              <a:chExt cx="228600" cy="419100"/>
            </a:xfrm>
          </p:grpSpPr>
          <p:sp>
            <p:nvSpPr>
              <p:cNvPr id="19" name="Flowchart: Process 18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943600" y="2286000"/>
              <a:ext cx="228600" cy="419100"/>
              <a:chOff x="2362200" y="3162300"/>
              <a:chExt cx="228600" cy="419100"/>
            </a:xfrm>
          </p:grpSpPr>
          <p:sp>
            <p:nvSpPr>
              <p:cNvPr id="23" name="Flowchart: Process 22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7620000" y="2286000"/>
              <a:ext cx="228600" cy="419100"/>
              <a:chOff x="2362200" y="3162300"/>
              <a:chExt cx="228600" cy="419100"/>
            </a:xfrm>
          </p:grpSpPr>
          <p:sp>
            <p:nvSpPr>
              <p:cNvPr id="27" name="Flowchart: Process 26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Isosceles Triangle 27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8077200" y="2286000"/>
              <a:ext cx="228600" cy="419100"/>
              <a:chOff x="2362200" y="3162300"/>
              <a:chExt cx="228600" cy="419100"/>
            </a:xfrm>
          </p:grpSpPr>
          <p:sp>
            <p:nvSpPr>
              <p:cNvPr id="31" name="Flowchart: Process 30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2667000" y="2590800"/>
            <a:ext cx="1219200" cy="369332"/>
            <a:chOff x="4040911" y="3135868"/>
            <a:chExt cx="1219200" cy="369332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4040911" y="3429000"/>
              <a:ext cx="1219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4419600" y="31358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600" y="3135868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1295400" y="2590800"/>
            <a:ext cx="1221511" cy="369332"/>
            <a:chOff x="2819400" y="3135868"/>
            <a:chExt cx="1221511" cy="369332"/>
          </a:xfrm>
        </p:grpSpPr>
        <p:cxnSp>
          <p:nvCxnSpPr>
            <p:cNvPr id="50" name="Straight Arrow Connector 49"/>
            <p:cNvCxnSpPr/>
            <p:nvPr/>
          </p:nvCxnSpPr>
          <p:spPr>
            <a:xfrm flipH="1">
              <a:off x="2819400" y="3429000"/>
              <a:ext cx="12215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3124200" y="31358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31358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1219200" y="2743200"/>
            <a:ext cx="228600" cy="609600"/>
            <a:chOff x="1866900" y="3352800"/>
            <a:chExt cx="228600" cy="609600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981200" y="3505200"/>
              <a:ext cx="0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1866900" y="3352800"/>
              <a:ext cx="228600" cy="2286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1924050" y="3397870"/>
              <a:ext cx="114300" cy="1143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819400" y="926068"/>
            <a:ext cx="2514600" cy="750332"/>
            <a:chOff x="2819400" y="926068"/>
            <a:chExt cx="2514600" cy="750332"/>
          </a:xfrm>
        </p:grpSpPr>
        <p:grpSp>
          <p:nvGrpSpPr>
            <p:cNvPr id="59" name="Group 58"/>
            <p:cNvGrpSpPr/>
            <p:nvPr/>
          </p:nvGrpSpPr>
          <p:grpSpPr>
            <a:xfrm>
              <a:off x="3962400" y="1066800"/>
              <a:ext cx="228600" cy="609600"/>
              <a:chOff x="1866900" y="3352800"/>
              <a:chExt cx="228600" cy="609600"/>
            </a:xfrm>
          </p:grpSpPr>
          <p:cxnSp>
            <p:nvCxnSpPr>
              <p:cNvPr id="64" name="Straight Connector 63"/>
              <p:cNvCxnSpPr/>
              <p:nvPr/>
            </p:nvCxnSpPr>
            <p:spPr>
              <a:xfrm>
                <a:off x="1981200" y="3505200"/>
                <a:ext cx="0" cy="457200"/>
              </a:xfrm>
              <a:prstGeom prst="line">
                <a:avLst/>
              </a:prstGeom>
              <a:ln w="28575">
                <a:solidFill>
                  <a:srgbClr val="006C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1866900" y="3352800"/>
                <a:ext cx="228600" cy="228600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1924050" y="3397870"/>
                <a:ext cx="114300" cy="114300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0" name="Straight Arrow Connector 59"/>
            <p:cNvCxnSpPr/>
            <p:nvPr/>
          </p:nvCxnSpPr>
          <p:spPr>
            <a:xfrm>
              <a:off x="4117111" y="1219200"/>
              <a:ext cx="12168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2819400" y="1219200"/>
              <a:ext cx="12215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4419600" y="926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600" y="926068"/>
                  <a:ext cx="38664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3124200" y="926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926068"/>
                  <a:ext cx="38664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Flowchart: Process 50"/>
          <p:cNvSpPr/>
          <p:nvPr/>
        </p:nvSpPr>
        <p:spPr>
          <a:xfrm>
            <a:off x="1981200" y="2476500"/>
            <a:ext cx="228600" cy="2286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/>
          <p:cNvSpPr/>
          <p:nvPr/>
        </p:nvSpPr>
        <p:spPr>
          <a:xfrm>
            <a:off x="1981200" y="2286000"/>
            <a:ext cx="228600" cy="190500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2057400" y="2552700"/>
            <a:ext cx="7620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Callout 7"/>
          <p:cNvSpPr/>
          <p:nvPr/>
        </p:nvSpPr>
        <p:spPr>
          <a:xfrm>
            <a:off x="5791200" y="2960132"/>
            <a:ext cx="3276600" cy="1078468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say anything about the optimal solution ? </a:t>
            </a:r>
          </a:p>
        </p:txBody>
      </p:sp>
    </p:spTree>
    <p:extLst>
      <p:ext uri="{BB962C8B-B14F-4D97-AF65-F5344CB8AC3E}">
        <p14:creationId xmlns:p14="http://schemas.microsoft.com/office/powerpoint/2010/main" val="270346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0.1375 -4.44444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Problems </a:t>
            </a:r>
            <a:r>
              <a:rPr lang="en-US" sz="3600" b="1" dirty="0"/>
              <a:t>solved till now</a:t>
            </a:r>
            <a:br>
              <a:rPr lang="en-US" sz="3600" b="1" dirty="0"/>
            </a:b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Job Scheduling Problem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Mobile Tower Problem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</a:rPr>
              <a:t>MST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IN" sz="2000" dirty="0"/>
          </a:p>
        </p:txBody>
      </p:sp>
      <p:sp>
        <p:nvSpPr>
          <p:cNvPr id="4" name="Cloud Callout 3"/>
          <p:cNvSpPr/>
          <p:nvPr/>
        </p:nvSpPr>
        <p:spPr>
          <a:xfrm>
            <a:off x="3505200" y="3886200"/>
            <a:ext cx="3429000" cy="1603248"/>
          </a:xfrm>
          <a:prstGeom prst="cloudCallout">
            <a:avLst>
              <a:gd name="adj1" fmla="val -28106"/>
              <a:gd name="adj2" fmla="val 7200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Did you notice anything commons in their solutions ?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5943600"/>
            <a:ext cx="464524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Ponder over this question before moving ahead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522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Problem 1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2800" b="1" dirty="0">
                <a:solidFill>
                  <a:srgbClr val="002060"/>
                </a:solidFill>
              </a:rPr>
              <a:t>Job scheduling Problem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839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INPUT: </a:t>
                </a:r>
              </a:p>
              <a:p>
                <a:r>
                  <a:rPr lang="en-US" sz="1800" dirty="0"/>
                  <a:t>A</a:t>
                </a:r>
                <a:r>
                  <a:rPr lang="en-US" sz="1800" b="1" dirty="0"/>
                  <a:t> </a:t>
                </a:r>
                <a:r>
                  <a:rPr lang="en-US" sz="1800" dirty="0"/>
                  <a:t>set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of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jobs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800" dirty="0"/>
                  <a:t>,…,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1800" dirty="0"/>
                  <a:t>} </a:t>
                </a:r>
              </a:p>
              <a:p>
                <a:r>
                  <a:rPr lang="en-US" sz="1800" dirty="0"/>
                  <a:t>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 is specified by two real numbers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	s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): start time of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	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): finish time of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dirty="0"/>
              </a:p>
              <a:p>
                <a:r>
                  <a:rPr lang="en-US" sz="1800" dirty="0"/>
                  <a:t>A single server 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Constraints</a:t>
                </a:r>
                <a:r>
                  <a:rPr lang="en-US" sz="1800" b="1" dirty="0"/>
                  <a:t>: </a:t>
                </a:r>
                <a:r>
                  <a:rPr lang="en-US" sz="1800" dirty="0"/>
                  <a:t> </a:t>
                </a:r>
              </a:p>
              <a:p>
                <a:r>
                  <a:rPr lang="en-US" sz="1800" dirty="0"/>
                  <a:t>Server can execute </a:t>
                </a:r>
                <a:r>
                  <a:rPr lang="en-US" sz="1800" u="sng" dirty="0"/>
                  <a:t>at most one job </a:t>
                </a:r>
                <a:r>
                  <a:rPr lang="en-US" sz="1800" dirty="0"/>
                  <a:t>at any moment of time and a job.</a:t>
                </a:r>
              </a:p>
              <a:p>
                <a:r>
                  <a:rPr lang="en-US" sz="1800" b="1" dirty="0"/>
                  <a:t>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/>
                  <a:t>, if scheduled, has to be scheduled </a:t>
                </a:r>
                <a:r>
                  <a:rPr lang="en-US" sz="1800" u="sng" dirty="0"/>
                  <a:t>during[</a:t>
                </a:r>
                <a:r>
                  <a:rPr lang="en-US" sz="1800" b="1" u="sng" dirty="0">
                    <a:solidFill>
                      <a:srgbClr val="C00000"/>
                    </a:solidFill>
                  </a:rPr>
                  <a:t>s</a:t>
                </a:r>
                <a:r>
                  <a:rPr lang="en-US" sz="1800" u="sng" dirty="0"/>
                  <a:t>(</a:t>
                </a:r>
                <a14:m>
                  <m:oMath xmlns:m="http://schemas.openxmlformats.org/officeDocument/2006/math">
                    <m:r>
                      <a:rPr lang="en-US" sz="1800" b="1" i="1" u="sng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u="sng" dirty="0"/>
                  <a:t>),</a:t>
                </a:r>
                <a:r>
                  <a:rPr lang="en-US" sz="1800" b="1" u="sng" dirty="0">
                    <a:solidFill>
                      <a:srgbClr val="C00000"/>
                    </a:solidFill>
                  </a:rPr>
                  <a:t> f</a:t>
                </a:r>
                <a:r>
                  <a:rPr lang="en-US" sz="1800" u="sng" dirty="0"/>
                  <a:t>(</a:t>
                </a:r>
                <a14:m>
                  <m:oMath xmlns:m="http://schemas.openxmlformats.org/officeDocument/2006/math">
                    <m:r>
                      <a:rPr lang="en-US" sz="1800" b="1" i="1" u="sng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u="sng" dirty="0"/>
                  <a:t>)] only</a:t>
                </a:r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1800" b="1" dirty="0"/>
                  <a:t>:</a:t>
                </a: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To select the </a:t>
                </a:r>
                <a:r>
                  <a:rPr lang="en-US" sz="1800" b="1" dirty="0"/>
                  <a:t>largest </a:t>
                </a:r>
                <a:r>
                  <a:rPr lang="en-US" sz="1800" dirty="0"/>
                  <a:t>subset of </a:t>
                </a:r>
                <a:r>
                  <a:rPr lang="en-US" sz="1800" b="1" u="sng" dirty="0"/>
                  <a:t>non-overlapping</a:t>
                </a:r>
                <a:r>
                  <a:rPr lang="en-US" sz="1800" dirty="0"/>
                  <a:t> jobs which can be executed by the server.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839200" cy="4525963"/>
              </a:xfrm>
              <a:blipFill rotWithShape="1">
                <a:blip r:embed="rId2"/>
                <a:stretch>
                  <a:fillRect l="-62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4876800" y="1600200"/>
            <a:ext cx="4114800" cy="1219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could not say anything  about the  </a:t>
            </a:r>
            <a:r>
              <a:rPr lang="en-US" b="1" dirty="0">
                <a:solidFill>
                  <a:schemeClr val="tx1"/>
                </a:solidFill>
              </a:rPr>
              <a:t>complete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solution</a:t>
            </a:r>
            <a:r>
              <a:rPr lang="en-US" dirty="0">
                <a:solidFill>
                  <a:schemeClr val="tx1"/>
                </a:solidFill>
              </a:rPr>
              <a:t> of this problem.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87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All that we could do was to make </a:t>
            </a:r>
            <a:br>
              <a:rPr lang="en-US" sz="2800" b="1" dirty="0"/>
            </a:br>
            <a:r>
              <a:rPr lang="en-US" sz="3200" b="1" dirty="0"/>
              <a:t>a</a:t>
            </a:r>
            <a:r>
              <a:rPr lang="en-US" sz="3200" b="1" dirty="0">
                <a:solidFill>
                  <a:srgbClr val="7030A0"/>
                </a:solidFill>
              </a:rPr>
              <a:t> local </a:t>
            </a:r>
            <a:r>
              <a:rPr lang="en-US" sz="3200" b="1" dirty="0"/>
              <a:t>observation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 be the job with earliest finish time.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Lemma1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:  </a:t>
                </a:r>
                <a:r>
                  <a:rPr lang="en-US" sz="1800" dirty="0"/>
                  <a:t>There exists </a:t>
                </a:r>
                <a:r>
                  <a:rPr lang="en-US" sz="1800" u="sng" dirty="0"/>
                  <a:t>an</a:t>
                </a:r>
                <a:r>
                  <a:rPr lang="en-US" sz="1800" dirty="0"/>
                  <a:t> optimal solution for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in which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is present.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 =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latin typeface="Cambria Math"/>
                      </a:rPr>
                      <m:t>\</m:t>
                    </m:r>
                  </m:oMath>
                </a14:m>
                <a:r>
                  <a:rPr lang="en-US" sz="1800" b="1" dirty="0">
                    <a:solidFill>
                      <a:srgbClr val="C00000"/>
                    </a:solidFill>
                  </a:rPr>
                  <a:t>Overlap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Equation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(i) </a:t>
                </a:r>
                <a:r>
                  <a:rPr lang="en-US" sz="1800" dirty="0"/>
                  <a:t>hints at recursive solution of the problem </a:t>
                </a:r>
                <a:r>
                  <a:rPr lang="en-US" sz="1800" dirty="0">
                    <a:sym typeface="Wingdings" pitchFamily="2" charset="2"/>
                  </a:rPr>
                  <a:t>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593" t="-616" b="-415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200400" y="35814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(original instance)</a:t>
                </a: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581400"/>
                <a:ext cx="2514600" cy="609600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3352800" y="52578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</a:t>
                </a:r>
                <a:r>
                  <a:rPr lang="en-US" b="1" u="sng" dirty="0">
                    <a:solidFill>
                      <a:schemeClr val="tx1"/>
                    </a:solidFill>
                  </a:rPr>
                  <a:t>smaller</a:t>
                </a:r>
                <a:r>
                  <a:rPr lang="en-US" dirty="0">
                    <a:solidFill>
                      <a:schemeClr val="tx1"/>
                    </a:solidFill>
                  </a:rPr>
                  <a:t> instance)</a:t>
                </a: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5257800"/>
                <a:ext cx="21336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 r="-28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3505200" y="42672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35040" y="3870960"/>
            <a:ext cx="21336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/>
              <p:cNvSpPr/>
              <p:nvPr/>
            </p:nvSpPr>
            <p:spPr>
              <a:xfrm>
                <a:off x="6172200" y="36576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657600"/>
                <a:ext cx="1828800" cy="533400"/>
              </a:xfrm>
              <a:prstGeom prst="round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6248400" y="52578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5257800"/>
                <a:ext cx="1828800" cy="533400"/>
              </a:xfrm>
              <a:prstGeom prst="round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082799" y="4495800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Lemma1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04800" y="4507468"/>
                <a:ext cx="2743200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Opt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dirty="0"/>
                  <a:t>)= </a:t>
                </a:r>
                <a:r>
                  <a:rPr lang="en-US" b="1" dirty="0"/>
                  <a:t>Opt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/>
                  <a:t>) + </a:t>
                </a:r>
                <a:r>
                  <a:rPr lang="en-US" b="1" dirty="0">
                    <a:solidFill>
                      <a:srgbClr val="0070C0"/>
                    </a:solidFill>
                  </a:rPr>
                  <a:t>1       </a:t>
                </a:r>
                <a:r>
                  <a:rPr lang="en-US" b="1" dirty="0">
                    <a:solidFill>
                      <a:srgbClr val="00B050"/>
                    </a:solidFill>
                  </a:rPr>
                  <a:t>-- (i)</a:t>
                </a:r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507468"/>
                <a:ext cx="2743200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549" t="-6349" r="-15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own Ribbon 8"/>
          <p:cNvSpPr/>
          <p:nvPr/>
        </p:nvSpPr>
        <p:spPr>
          <a:xfrm>
            <a:off x="2362200" y="2359152"/>
            <a:ext cx="5715000" cy="11460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Lemma 1</a:t>
            </a:r>
            <a:r>
              <a:rPr lang="en-US" dirty="0">
                <a:solidFill>
                  <a:schemeClr val="tx1"/>
                </a:solidFill>
              </a:rPr>
              <a:t> gives very small information about the optimal solution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</a:t>
            </a:r>
          </a:p>
          <a:p>
            <a:pPr algn="ctr"/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How to use it to compute this solution ?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54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  <p:bldP spid="7" grpId="0" animBg="1"/>
      <p:bldP spid="8" grpId="0" animBg="1"/>
      <p:bldP spid="17" grpId="0" animBg="1"/>
      <p:bldP spid="18" grpId="0" animBg="1"/>
      <p:bldP spid="19" grpId="0"/>
      <p:bldP spid="20" grpId="0" animBg="1"/>
      <p:bldP spid="9" grpId="0" animBg="1"/>
      <p:bldP spid="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Theorem:  </a:t>
                </a:r>
                <a:r>
                  <a:rPr lang="en-US" sz="3200" b="1" dirty="0"/>
                  <a:t>Opt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3200" dirty="0"/>
                  <a:t>) = </a:t>
                </a:r>
                <a:r>
                  <a:rPr lang="en-US" sz="3200" b="1" dirty="0"/>
                  <a:t>Opt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32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3200" dirty="0"/>
                  <a:t>) + 1.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Proof has two parts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	</a:t>
                </a:r>
                <a:r>
                  <a:rPr lang="en-US" sz="1800" b="1" dirty="0"/>
                  <a:t>Opt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) ≥ </a:t>
                </a:r>
                <a:r>
                  <a:rPr lang="en-US" sz="1800" b="1" dirty="0"/>
                  <a:t>Opt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) + </a:t>
                </a:r>
                <a:r>
                  <a:rPr lang="en-US" sz="1800" dirty="0">
                    <a:solidFill>
                      <a:srgbClr val="0070C0"/>
                    </a:solidFill>
                  </a:rPr>
                  <a:t>1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70C0"/>
                    </a:solidFill>
                  </a:rPr>
                  <a:t>	</a:t>
                </a:r>
                <a:r>
                  <a:rPr lang="en-US" sz="1800" b="1" dirty="0"/>
                  <a:t>Opt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) ≥ </a:t>
                </a:r>
                <a:r>
                  <a:rPr lang="en-US" sz="1800" b="1" dirty="0"/>
                  <a:t>Opt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𝑱</m:t>
                    </m:r>
                  </m:oMath>
                </a14:m>
                <a:r>
                  <a:rPr lang="en-US" sz="1800" dirty="0"/>
                  <a:t>) – </a:t>
                </a:r>
                <a:r>
                  <a:rPr lang="en-US" sz="1800" dirty="0">
                    <a:solidFill>
                      <a:srgbClr val="0070C0"/>
                    </a:solidFill>
                  </a:rPr>
                  <a:t>1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0070C0"/>
                  </a:solidFill>
                </a:endParaRPr>
              </a:p>
              <a:p>
                <a:r>
                  <a:rPr lang="en-US" sz="2000" dirty="0"/>
                  <a:t> Proof for each part is a proof </a:t>
                </a:r>
                <a:r>
                  <a:rPr lang="en-US" sz="2000" dirty="0">
                    <a:solidFill>
                      <a:srgbClr val="7030A0"/>
                    </a:solidFill>
                  </a:rPr>
                  <a:t>by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construction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32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Problem 2</a:t>
            </a:r>
            <a:br>
              <a:rPr lang="en-US" sz="4000" b="1" dirty="0">
                <a:solidFill>
                  <a:srgbClr val="7030A0"/>
                </a:solidFill>
              </a:rPr>
            </a:br>
            <a:r>
              <a:rPr lang="en-US" sz="3200" b="1" dirty="0">
                <a:solidFill>
                  <a:srgbClr val="002060"/>
                </a:solidFill>
              </a:rPr>
              <a:t>Mobile Tower Problem 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 statement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a set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houses located along a road.</a:t>
                </a:r>
              </a:p>
              <a:p>
                <a:pPr marL="0" indent="0">
                  <a:buNone/>
                </a:pPr>
                <a:r>
                  <a:rPr lang="en-US" sz="2000" dirty="0"/>
                  <a:t>We want to place mobile towers such that</a:t>
                </a:r>
              </a:p>
              <a:p>
                <a:r>
                  <a:rPr lang="en-US" sz="2000" dirty="0"/>
                  <a:t>Each house is </a:t>
                </a:r>
                <a:r>
                  <a:rPr lang="en-US" sz="2000" b="1" u="sng" dirty="0"/>
                  <a:t>covered</a:t>
                </a:r>
                <a:r>
                  <a:rPr lang="en-US" sz="2000" dirty="0"/>
                  <a:t> by at least one mobile tower.</a:t>
                </a:r>
              </a:p>
              <a:p>
                <a:r>
                  <a:rPr lang="en-US" sz="2000" dirty="0"/>
                  <a:t>The number of mobile towers used is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least</a:t>
                </a:r>
                <a:r>
                  <a:rPr lang="en-US" sz="2000" dirty="0"/>
                  <a:t> possible.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2743200"/>
            <a:ext cx="8305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1219200" y="2286000"/>
            <a:ext cx="7086600" cy="419100"/>
            <a:chOff x="1219200" y="2286000"/>
            <a:chExt cx="7086600" cy="419100"/>
          </a:xfrm>
        </p:grpSpPr>
        <p:grpSp>
          <p:nvGrpSpPr>
            <p:cNvPr id="13" name="Group 12"/>
            <p:cNvGrpSpPr/>
            <p:nvPr/>
          </p:nvGrpSpPr>
          <p:grpSpPr>
            <a:xfrm>
              <a:off x="1219200" y="2286000"/>
              <a:ext cx="228600" cy="419100"/>
              <a:chOff x="2362200" y="3162300"/>
              <a:chExt cx="228600" cy="419100"/>
            </a:xfrm>
          </p:grpSpPr>
          <p:sp>
            <p:nvSpPr>
              <p:cNvPr id="10" name="Flowchart: Process 9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1981200" y="2286000"/>
              <a:ext cx="228600" cy="419100"/>
              <a:chOff x="1524000" y="3162300"/>
              <a:chExt cx="228600" cy="419100"/>
            </a:xfrm>
          </p:grpSpPr>
          <p:sp>
            <p:nvSpPr>
              <p:cNvPr id="15" name="Flowchart: Process 14"/>
              <p:cNvSpPr/>
              <p:nvPr/>
            </p:nvSpPr>
            <p:spPr>
              <a:xfrm>
                <a:off x="15240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15"/>
              <p:cNvSpPr/>
              <p:nvPr/>
            </p:nvSpPr>
            <p:spPr>
              <a:xfrm>
                <a:off x="15240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16002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3657600" y="2286000"/>
              <a:ext cx="228600" cy="419100"/>
              <a:chOff x="2362200" y="3162300"/>
              <a:chExt cx="228600" cy="419100"/>
            </a:xfrm>
          </p:grpSpPr>
          <p:sp>
            <p:nvSpPr>
              <p:cNvPr id="19" name="Flowchart: Process 18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943600" y="2286000"/>
              <a:ext cx="228600" cy="419100"/>
              <a:chOff x="2362200" y="3162300"/>
              <a:chExt cx="228600" cy="419100"/>
            </a:xfrm>
          </p:grpSpPr>
          <p:sp>
            <p:nvSpPr>
              <p:cNvPr id="23" name="Flowchart: Process 22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7620000" y="2286000"/>
              <a:ext cx="228600" cy="419100"/>
              <a:chOff x="2362200" y="3162300"/>
              <a:chExt cx="228600" cy="419100"/>
            </a:xfrm>
          </p:grpSpPr>
          <p:sp>
            <p:nvSpPr>
              <p:cNvPr id="27" name="Flowchart: Process 26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Isosceles Triangle 27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8077200" y="2286000"/>
              <a:ext cx="228600" cy="419100"/>
              <a:chOff x="2362200" y="3162300"/>
              <a:chExt cx="228600" cy="419100"/>
            </a:xfrm>
          </p:grpSpPr>
          <p:sp>
            <p:nvSpPr>
              <p:cNvPr id="31" name="Flowchart: Process 30"/>
              <p:cNvSpPr/>
              <p:nvPr/>
            </p:nvSpPr>
            <p:spPr>
              <a:xfrm>
                <a:off x="2362200" y="3352800"/>
                <a:ext cx="228600" cy="22860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>
                <a:off x="2362200" y="3162300"/>
                <a:ext cx="228600" cy="190500"/>
              </a:xfrm>
              <a:prstGeom prst="triangl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438400" y="3429000"/>
                <a:ext cx="76200" cy="1524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2" name="Group 41"/>
          <p:cNvGrpSpPr/>
          <p:nvPr/>
        </p:nvGrpSpPr>
        <p:grpSpPr>
          <a:xfrm>
            <a:off x="4419600" y="1524000"/>
            <a:ext cx="228600" cy="609600"/>
            <a:chOff x="1866900" y="3352800"/>
            <a:chExt cx="228600" cy="60960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1981200" y="3505200"/>
              <a:ext cx="0" cy="457200"/>
            </a:xfrm>
            <a:prstGeom prst="lin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1866900" y="3352800"/>
              <a:ext cx="228600" cy="2286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1924050" y="3397870"/>
              <a:ext cx="114300" cy="11430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574311" y="1383268"/>
            <a:ext cx="1216889" cy="369332"/>
            <a:chOff x="4117111" y="926068"/>
            <a:chExt cx="1216889" cy="369332"/>
          </a:xfrm>
        </p:grpSpPr>
        <p:cxnSp>
          <p:nvCxnSpPr>
            <p:cNvPr id="48" name="Straight Arrow Connector 47"/>
            <p:cNvCxnSpPr/>
            <p:nvPr/>
          </p:nvCxnSpPr>
          <p:spPr>
            <a:xfrm>
              <a:off x="4117111" y="1219200"/>
              <a:ext cx="12168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4419600" y="926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600" y="926068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/>
          <p:cNvGrpSpPr/>
          <p:nvPr/>
        </p:nvGrpSpPr>
        <p:grpSpPr>
          <a:xfrm>
            <a:off x="3276600" y="1383268"/>
            <a:ext cx="1221511" cy="369332"/>
            <a:chOff x="2819400" y="926068"/>
            <a:chExt cx="1221511" cy="369332"/>
          </a:xfrm>
        </p:grpSpPr>
        <p:cxnSp>
          <p:nvCxnSpPr>
            <p:cNvPr id="50" name="Straight Arrow Connector 49"/>
            <p:cNvCxnSpPr/>
            <p:nvPr/>
          </p:nvCxnSpPr>
          <p:spPr>
            <a:xfrm flipH="1">
              <a:off x="2819400" y="1219200"/>
              <a:ext cx="12215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3124200" y="9260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9260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Down Ribbon 42"/>
          <p:cNvSpPr/>
          <p:nvPr/>
        </p:nvSpPr>
        <p:spPr>
          <a:xfrm>
            <a:off x="4876800" y="3581400"/>
            <a:ext cx="4114800" cy="1219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could not say anything  about the  </a:t>
            </a:r>
            <a:r>
              <a:rPr lang="en-US" b="1" dirty="0">
                <a:solidFill>
                  <a:schemeClr val="tx1"/>
                </a:solidFill>
              </a:rPr>
              <a:t>complete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solution</a:t>
            </a:r>
            <a:r>
              <a:rPr lang="en-US" dirty="0">
                <a:solidFill>
                  <a:schemeClr val="tx1"/>
                </a:solidFill>
              </a:rPr>
              <a:t> of this problem.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1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3" grpId="0" animBg="1"/>
      <p:bldP spid="4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All that we could do was to make </a:t>
            </a:r>
            <a:br>
              <a:rPr lang="en-US" sz="2800" b="1" dirty="0"/>
            </a:br>
            <a:r>
              <a:rPr lang="en-US" sz="3200" b="1" dirty="0"/>
              <a:t>a</a:t>
            </a:r>
            <a:r>
              <a:rPr lang="en-US" sz="3200" b="1" dirty="0">
                <a:solidFill>
                  <a:srgbClr val="7030A0"/>
                </a:solidFill>
              </a:rPr>
              <a:t> local </a:t>
            </a:r>
            <a:r>
              <a:rPr lang="en-US" sz="3200" b="1" dirty="0"/>
              <a:t>observation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2</a:t>
                </a:r>
                <a:r>
                  <a:rPr lang="en-US" sz="2000" dirty="0"/>
                  <a:t>: There is an optimal solution for the problem in which </a:t>
                </a:r>
              </a:p>
              <a:p>
                <a:pPr marL="0" indent="0">
                  <a:buNone/>
                </a:pPr>
                <a:r>
                  <a:rPr lang="en-US" sz="2000" dirty="0"/>
                  <a:t>the </a:t>
                </a:r>
                <a:r>
                  <a:rPr lang="en-US" sz="2000" u="sng" dirty="0"/>
                  <a:t>leftmost</a:t>
                </a:r>
                <a:r>
                  <a:rPr lang="en-US" sz="2000" dirty="0"/>
                  <a:t> tower is placed at distance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to the right</a:t>
                </a:r>
                <a:r>
                  <a:rPr lang="en-US" sz="2000" dirty="0"/>
                  <a:t> of the first house.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be the tower located at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to the right</a:t>
                </a:r>
                <a:r>
                  <a:rPr lang="en-US" sz="2000" dirty="0"/>
                  <a:t> of the first house.</a:t>
                </a:r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</m:oMath>
                </a14:m>
                <a:r>
                  <a:rPr lang="en-US" sz="2000" dirty="0"/>
                  <a:t> {all houses within distance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𝒅</m:t>
                    </m:r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Equation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(i) </a:t>
                </a:r>
                <a:r>
                  <a:rPr lang="en-US" sz="2000" dirty="0"/>
                  <a:t>hints at recursive solution of the problem </a:t>
                </a:r>
                <a:r>
                  <a:rPr lang="en-US" sz="2000" dirty="0">
                    <a:sym typeface="Wingdings" pitchFamily="2" charset="2"/>
                  </a:rPr>
                  <a:t>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1">
                <a:blip r:embed="rId2"/>
                <a:stretch>
                  <a:fillRect l="-741" t="-625" b="-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2514600" y="36576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(original instance)</a:t>
                </a: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3657600"/>
                <a:ext cx="2514600" cy="609600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2667000" y="5334000"/>
                <a:ext cx="22860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:r>
                  <a:rPr lang="en-US" b="1" u="sng" dirty="0">
                    <a:solidFill>
                      <a:schemeClr val="tx1"/>
                    </a:solidFill>
                  </a:rPr>
                  <a:t>smaller</a:t>
                </a:r>
                <a:r>
                  <a:rPr lang="en-US" dirty="0">
                    <a:solidFill>
                      <a:schemeClr val="tx1"/>
                    </a:solidFill>
                  </a:rPr>
                  <a:t> instance)</a:t>
                </a: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334000"/>
                <a:ext cx="22860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/>
          <p:cNvSpPr/>
          <p:nvPr/>
        </p:nvSpPr>
        <p:spPr>
          <a:xfrm>
            <a:off x="2819400" y="43434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49240" y="3947160"/>
            <a:ext cx="21336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5486400" y="37338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733800"/>
                <a:ext cx="1828800" cy="533400"/>
              </a:xfrm>
              <a:prstGeom prst="round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5562600" y="53340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334000"/>
                <a:ext cx="1828800" cy="533400"/>
              </a:xfrm>
              <a:prstGeom prst="round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396999" y="45720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Lemma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200" y="4267200"/>
                <a:ext cx="2111284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Opt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</m:oMath>
                </a14:m>
                <a:r>
                  <a:rPr lang="en-US" dirty="0"/>
                  <a:t>)= </a:t>
                </a:r>
                <a:r>
                  <a:rPr lang="en-US" b="1" dirty="0"/>
                  <a:t>Opt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𝑯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/>
                  <a:t>) + </a:t>
                </a:r>
                <a:r>
                  <a:rPr lang="en-US" b="1" dirty="0">
                    <a:solidFill>
                      <a:srgbClr val="0070C0"/>
                    </a:solidFill>
                  </a:rPr>
                  <a:t>1</a:t>
                </a:r>
                <a:endParaRPr lang="en-IN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267200"/>
                <a:ext cx="2111284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011" t="-6349" r="-3448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own Ribbon 11"/>
          <p:cNvSpPr/>
          <p:nvPr/>
        </p:nvSpPr>
        <p:spPr>
          <a:xfrm>
            <a:off x="2362200" y="2587752"/>
            <a:ext cx="5715000" cy="11460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Lemma 1</a:t>
            </a:r>
            <a:r>
              <a:rPr lang="en-US" dirty="0">
                <a:solidFill>
                  <a:schemeClr val="tx1"/>
                </a:solidFill>
              </a:rPr>
              <a:t> gives very small information about the optimal solution 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</a:t>
            </a:r>
          </a:p>
          <a:p>
            <a:pPr algn="ctr"/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How to use it to compute this solution ?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2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5" grpId="0" animBg="1"/>
      <p:bldP spid="6" grpId="0" animBg="1"/>
      <p:bldP spid="8" grpId="0" animBg="1"/>
      <p:bldP spid="9" grpId="0" animBg="1"/>
      <p:bldP spid="10" grpId="0"/>
      <p:bldP spid="11" grpId="0" animBg="1"/>
      <p:bldP spid="12" grpId="0" animBg="1"/>
      <p:bldP spid="1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What is a </a:t>
            </a:r>
            <a:r>
              <a:rPr lang="en-US" sz="3600" b="1" dirty="0">
                <a:solidFill>
                  <a:srgbClr val="7030A0"/>
                </a:solidFill>
              </a:rPr>
              <a:t>greedy strategy </a:t>
            </a:r>
            <a:r>
              <a:rPr lang="en-US" sz="3600" b="1" dirty="0"/>
              <a:t>?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A strategy that is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Based on some </a:t>
            </a:r>
            <a:r>
              <a:rPr lang="en-US" sz="2400" b="1" dirty="0">
                <a:solidFill>
                  <a:srgbClr val="7030A0"/>
                </a:solidFill>
              </a:rPr>
              <a:t>local</a:t>
            </a:r>
            <a:r>
              <a:rPr lang="en-US" sz="2400" dirty="0"/>
              <a:t> approach</a:t>
            </a:r>
          </a:p>
          <a:p>
            <a:endParaRPr lang="en-US" sz="2400" dirty="0"/>
          </a:p>
          <a:p>
            <a:r>
              <a:rPr lang="en-US" sz="2400" dirty="0"/>
              <a:t>With the </a:t>
            </a:r>
            <a:r>
              <a:rPr lang="en-US" sz="2400" b="1" dirty="0">
                <a:solidFill>
                  <a:srgbClr val="7030A0"/>
                </a:solidFill>
              </a:rPr>
              <a:t>objective to optimize</a:t>
            </a:r>
            <a:r>
              <a:rPr lang="en-US" sz="2400" dirty="0"/>
              <a:t> some function. </a:t>
            </a: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Note:</a:t>
            </a:r>
          </a:p>
          <a:p>
            <a:pPr marL="0" indent="0">
              <a:buNone/>
            </a:pPr>
            <a:r>
              <a:rPr lang="en-US" sz="2400" dirty="0"/>
              <a:t>Recall that the divide and conquer strategy takes a </a:t>
            </a:r>
            <a:r>
              <a:rPr lang="en-US" sz="2400" b="1" dirty="0"/>
              <a:t>global approach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60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Design</a:t>
            </a:r>
            <a:r>
              <a:rPr lang="en-US" sz="3600" b="1" dirty="0"/>
              <a:t> of a greedy algorithm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Let </a:t>
            </a:r>
            <a:r>
              <a:rPr lang="en-US" sz="2000" b="1" dirty="0"/>
              <a:t>A</a:t>
            </a:r>
            <a:r>
              <a:rPr lang="en-US" sz="2000" dirty="0"/>
              <a:t> be an instance of an optimization problem.</a:t>
            </a:r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Make </a:t>
            </a:r>
            <a:r>
              <a:rPr lang="en-US" sz="2000" b="1" dirty="0">
                <a:solidFill>
                  <a:srgbClr val="7030A0"/>
                </a:solidFill>
              </a:rPr>
              <a:t>a local observation</a:t>
            </a:r>
            <a:r>
              <a:rPr lang="en-US" sz="2000" dirty="0"/>
              <a:t> about the solution.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Use this observation to express optimal solution of </a:t>
            </a:r>
            <a:r>
              <a:rPr lang="en-US" sz="2000" b="1" dirty="0"/>
              <a:t>A </a:t>
            </a:r>
          </a:p>
          <a:p>
            <a:pPr marL="0" indent="0">
              <a:buNone/>
            </a:pPr>
            <a:r>
              <a:rPr lang="en-US" sz="2000" b="1" dirty="0"/>
              <a:t>        </a:t>
            </a:r>
            <a:r>
              <a:rPr lang="en-US" sz="2000" dirty="0"/>
              <a:t>in terms of</a:t>
            </a:r>
          </a:p>
          <a:p>
            <a:pPr lvl="1"/>
            <a:r>
              <a:rPr lang="en-US" sz="1600" dirty="0"/>
              <a:t>Optimal solution of </a:t>
            </a:r>
            <a:r>
              <a:rPr lang="en-US" sz="1600" u="sng" dirty="0"/>
              <a:t>a smaller instance</a:t>
            </a:r>
            <a:r>
              <a:rPr lang="en-US" sz="1600" dirty="0"/>
              <a:t> </a:t>
            </a:r>
            <a:r>
              <a:rPr lang="en-US" sz="1600" b="1" dirty="0"/>
              <a:t>A’</a:t>
            </a:r>
          </a:p>
          <a:p>
            <a:pPr lvl="1"/>
            <a:r>
              <a:rPr lang="en-US" sz="1600" u="sng" dirty="0"/>
              <a:t>Local step</a:t>
            </a:r>
          </a:p>
          <a:p>
            <a:pPr lvl="1"/>
            <a:endParaRPr lang="en-IN" sz="16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AutoNum type="arabicPeriod" startAt="3"/>
            </a:pPr>
            <a:r>
              <a:rPr lang="en-US" sz="2000" dirty="0"/>
              <a:t>This gives a recursive solution. </a:t>
            </a:r>
          </a:p>
          <a:p>
            <a:pPr marL="457200" indent="-457200">
              <a:buAutoNum type="arabicPeriod" startAt="3"/>
            </a:pPr>
            <a:r>
              <a:rPr lang="en-US" sz="2000" dirty="0"/>
              <a:t>Transform it into iterative one.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/>
              <p:cNvSpPr/>
              <p:nvPr/>
            </p:nvSpPr>
            <p:spPr>
              <a:xfrm>
                <a:off x="6629400" y="3124200"/>
                <a:ext cx="22098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(original instance)</a:t>
                </a:r>
              </a:p>
            </p:txBody>
          </p:sp>
        </mc:Choice>
        <mc:Fallback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3124200"/>
                <a:ext cx="2209800" cy="6096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6816436" y="4800600"/>
                <a:ext cx="1874984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:r>
                  <a:rPr lang="en-US" b="1" u="sng" dirty="0">
                    <a:solidFill>
                      <a:schemeClr val="tx1"/>
                    </a:solidFill>
                  </a:rPr>
                  <a:t>smaller</a:t>
                </a:r>
                <a:r>
                  <a:rPr lang="en-US" dirty="0">
                    <a:solidFill>
                      <a:schemeClr val="tx1"/>
                    </a:solidFill>
                  </a:rPr>
                  <a:t> instance)</a:t>
                </a: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436" y="4800600"/>
                <a:ext cx="1874984" cy="609600"/>
              </a:xfrm>
              <a:prstGeom prst="roundRect">
                <a:avLst/>
              </a:prstGeom>
              <a:blipFill>
                <a:blip r:embed="rId3"/>
                <a:stretch>
                  <a:fillRect t="-5882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/>
          <p:cNvSpPr/>
          <p:nvPr/>
        </p:nvSpPr>
        <p:spPr>
          <a:xfrm>
            <a:off x="6996545" y="3810000"/>
            <a:ext cx="1607128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Greedy</a:t>
            </a:r>
          </a:p>
          <a:p>
            <a:pPr algn="ctr"/>
            <a:r>
              <a:rPr lang="en-US" sz="1600" dirty="0"/>
              <a:t>step</a:t>
            </a:r>
          </a:p>
        </p:txBody>
      </p:sp>
    </p:spTree>
    <p:extLst>
      <p:ext uri="{BB962C8B-B14F-4D97-AF65-F5344CB8AC3E}">
        <p14:creationId xmlns:p14="http://schemas.microsoft.com/office/powerpoint/2010/main" val="175534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MST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Input:</a:t>
                </a:r>
                <a:r>
                  <a:rPr lang="en-US" sz="2000" dirty="0"/>
                  <a:t> an undirected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=(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) with </a:t>
                </a:r>
                <a:r>
                  <a:rPr lang="en-US" sz="2000" b="1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w</a:t>
                </a:r>
                <a:r>
                  <a:rPr lang="en-US" sz="2000" dirty="0">
                    <a:latin typeface="Cambria Math"/>
                    <a:ea typeface="Cambria Math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>
                    <a:latin typeface="Cambria Math"/>
                    <a:ea typeface="Cambria Math"/>
                  </a:rPr>
                  <a:t> </a:t>
                </a:r>
                <a:r>
                  <a:rPr lang="en-US" sz="2000" dirty="0">
                    <a:latin typeface="Cambria Math"/>
                    <a:ea typeface="Cambria Math"/>
                    <a:sym typeface="Wingdings" pitchFamily="2" charset="2"/>
                  </a:rPr>
                  <a:t> </a:t>
                </a:r>
                <a:r>
                  <a:rPr lang="en-US" sz="2000" dirty="0">
                    <a:solidFill>
                      <a:srgbClr val="0070C0"/>
                    </a:solidFill>
                    <a:latin typeface="Cambria Math"/>
                    <a:ea typeface="Cambria Math"/>
                    <a:sym typeface="Wingdings" pitchFamily="2" charset="2"/>
                  </a:rPr>
                  <a:t>ℝ</a:t>
                </a:r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Aim: </a:t>
                </a:r>
                <a:r>
                  <a:rPr lang="en-US" sz="2000" dirty="0"/>
                  <a:t>compute a </a:t>
                </a:r>
                <a:r>
                  <a:rPr lang="en-US" sz="2000" b="1" dirty="0"/>
                  <a:t>spanning tree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),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b="1" dirty="0">
                    <a:latin typeface="Cambria Math"/>
                    <a:ea typeface="Cambria Math"/>
                  </a:rPr>
                  <a:t>⊆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such that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𝒆</m:t>
                        </m:r>
                        <m:r>
                          <a:rPr lang="en-US" sz="2000" b="1" i="1" dirty="0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𝑬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′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000" b="1" dirty="0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w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nary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is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minimum</a:t>
                </a:r>
                <a:r>
                  <a:rPr lang="en-US" sz="2000" b="1" dirty="0"/>
                  <a:t>.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 3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(proved in the class): </a:t>
                </a:r>
              </a:p>
              <a:p>
                <a:pPr marL="0" indent="0">
                  <a:buNone/>
                </a:pPr>
                <a:r>
                  <a:rPr lang="en-US" sz="2000" dirty="0"/>
                  <a:t>If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𝒆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𝟎</m:t>
                        </m:r>
                      </m:sub>
                    </m:sSub>
                    <m:r>
                      <a:rPr lang="en-US" sz="1600" b="1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is the edge of </a:t>
                </a:r>
                <a:r>
                  <a:rPr lang="en-US" sz="2000" b="1" dirty="0"/>
                  <a:t>least weight</a:t>
                </a:r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, then there is a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𝑻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𝒆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86800" cy="4525963"/>
              </a:xfrm>
              <a:blipFill rotWithShape="1">
                <a:blip r:embed="rId2"/>
                <a:stretch>
                  <a:fillRect l="-702" t="-674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2209800" y="4876800"/>
            <a:ext cx="4419600" cy="9174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use this </a:t>
            </a:r>
            <a:r>
              <a:rPr lang="en-US" b="1" dirty="0">
                <a:solidFill>
                  <a:schemeClr val="tx1"/>
                </a:solidFill>
              </a:rPr>
              <a:t>Lemma  </a:t>
            </a:r>
            <a:r>
              <a:rPr lang="en-US" dirty="0">
                <a:solidFill>
                  <a:schemeClr val="tx1"/>
                </a:solidFill>
              </a:rPr>
              <a:t>to design an algorithm for </a:t>
            </a:r>
            <a:r>
              <a:rPr lang="en-US" b="1" dirty="0">
                <a:solidFill>
                  <a:schemeClr val="tx1"/>
                </a:solidFill>
              </a:rPr>
              <a:t>MST</a:t>
            </a:r>
            <a:r>
              <a:rPr lang="en-US" dirty="0">
                <a:solidFill>
                  <a:schemeClr val="tx1"/>
                </a:solidFill>
              </a:rPr>
              <a:t> ?</a:t>
            </a:r>
          </a:p>
        </p:txBody>
      </p:sp>
      <p:sp>
        <p:nvSpPr>
          <p:cNvPr id="6" name="Down Ribbon 5"/>
          <p:cNvSpPr/>
          <p:nvPr/>
        </p:nvSpPr>
        <p:spPr>
          <a:xfrm>
            <a:off x="990600" y="2740152"/>
            <a:ext cx="7239000" cy="12222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you have understood a generic way to design a greedy algorithm,  then try to solve the MST problem.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1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5" grpId="1" animBg="1"/>
      <p:bldP spid="6" grpId="0" animBg="1"/>
      <p:bldP spid="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How to compute a MST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267200" y="28310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35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3153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How to compute a MST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267200" y="28310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35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1200" y="4953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93906" y="518160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</a:t>
            </a:r>
          </a:p>
        </p:txBody>
      </p:sp>
      <p:sp>
        <p:nvSpPr>
          <p:cNvPr id="24" name="Oval 23"/>
          <p:cNvSpPr/>
          <p:nvPr/>
        </p:nvSpPr>
        <p:spPr>
          <a:xfrm rot="1324037">
            <a:off x="1931347" y="4763699"/>
            <a:ext cx="1336190" cy="71443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1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How to compute a MST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590800" y="5029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590800" y="5029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2743200" y="5006882"/>
            <a:ext cx="3375118" cy="98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13400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2720882" y="4800600"/>
            <a:ext cx="16225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667000" y="3048000"/>
            <a:ext cx="152400" cy="1981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267200" y="28310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35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572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3622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2667000" y="4092482"/>
            <a:ext cx="647304" cy="936718"/>
            <a:chOff x="2667000" y="4092482"/>
            <a:chExt cx="647304" cy="936718"/>
          </a:xfrm>
        </p:grpSpPr>
        <p:cxnSp>
          <p:nvCxnSpPr>
            <p:cNvPr id="44" name="Straight Connector 43"/>
            <p:cNvCxnSpPr>
              <a:stCxn id="8" idx="3"/>
              <a:endCxn id="16" idx="0"/>
            </p:cNvCxnSpPr>
            <p:nvPr/>
          </p:nvCxnSpPr>
          <p:spPr>
            <a:xfrm flipH="1">
              <a:off x="2667000" y="4092482"/>
              <a:ext cx="555718" cy="9367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2895600" y="4343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438400" y="51054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</a:t>
            </a:r>
          </a:p>
        </p:txBody>
      </p:sp>
      <p:sp>
        <p:nvSpPr>
          <p:cNvPr id="33" name="Freeform 32"/>
          <p:cNvSpPr/>
          <p:nvPr/>
        </p:nvSpPr>
        <p:spPr>
          <a:xfrm>
            <a:off x="2687444" y="4103649"/>
            <a:ext cx="614555" cy="947853"/>
          </a:xfrm>
          <a:custGeom>
            <a:avLst/>
            <a:gdLst>
              <a:gd name="connsiteX0" fmla="*/ 613317 w 614555"/>
              <a:gd name="connsiteY0" fmla="*/ 0 h 947853"/>
              <a:gd name="connsiteX1" fmla="*/ 602166 w 614555"/>
              <a:gd name="connsiteY1" fmla="*/ 356839 h 947853"/>
              <a:gd name="connsiteX2" fmla="*/ 524107 w 614555"/>
              <a:gd name="connsiteY2" fmla="*/ 624468 h 947853"/>
              <a:gd name="connsiteX3" fmla="*/ 0 w 614555"/>
              <a:gd name="connsiteY3" fmla="*/ 947853 h 947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555" h="947853">
                <a:moveTo>
                  <a:pt x="613317" y="0"/>
                </a:moveTo>
                <a:cubicBezTo>
                  <a:pt x="615175" y="126380"/>
                  <a:pt x="617034" y="252761"/>
                  <a:pt x="602166" y="356839"/>
                </a:cubicBezTo>
                <a:cubicBezTo>
                  <a:pt x="587298" y="460917"/>
                  <a:pt x="624468" y="525966"/>
                  <a:pt x="524107" y="624468"/>
                </a:cubicBezTo>
                <a:cubicBezTo>
                  <a:pt x="423746" y="722970"/>
                  <a:pt x="211873" y="835411"/>
                  <a:pt x="0" y="947853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3162696" y="44958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Down Ribbon 23"/>
              <p:cNvSpPr/>
              <p:nvPr/>
            </p:nvSpPr>
            <p:spPr>
              <a:xfrm>
                <a:off x="3161904" y="5867400"/>
                <a:ext cx="3105744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This is graph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Down Ribbon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904" y="5867400"/>
                <a:ext cx="3105744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67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How to compute a MST ?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Let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) be the least weight edge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=(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1800" dirty="0"/>
                  <a:t>,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).  Transform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 into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 as follows.</a:t>
                </a:r>
              </a:p>
              <a:p>
                <a:r>
                  <a:rPr lang="en-US" sz="1800" b="1" dirty="0"/>
                  <a:t>Remove</a:t>
                </a:r>
                <a:r>
                  <a:rPr lang="en-US" sz="1800" dirty="0"/>
                  <a:t> vertices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/>
                  <a:t> and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 and </a:t>
                </a:r>
                <a:r>
                  <a:rPr lang="en-US" sz="1800" b="1" dirty="0"/>
                  <a:t>add </a:t>
                </a:r>
                <a:r>
                  <a:rPr lang="en-US" sz="1800" dirty="0"/>
                  <a:t>a new vertex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w</a:t>
                </a:r>
              </a:p>
              <a:p>
                <a:r>
                  <a:rPr lang="en-US" sz="1800" dirty="0"/>
                  <a:t>For each edge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)</a:t>
                </a:r>
                <a:r>
                  <a:rPr lang="el-GR" sz="1800" dirty="0"/>
                  <a:t>ϵ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,  add edge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w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)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For each edge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)</a:t>
                </a:r>
                <a:r>
                  <a:rPr lang="el-GR" sz="1800" dirty="0"/>
                  <a:t>ϵ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,  add edge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w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) in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In case of multiple edges between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w </a:t>
                </a:r>
                <a:r>
                  <a:rPr lang="en-US" sz="1800" dirty="0"/>
                  <a:t>and 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, keep only the </a:t>
                </a:r>
                <a:r>
                  <a:rPr lang="en-US" sz="1800" b="1" dirty="0"/>
                  <a:t>lighter</a:t>
                </a:r>
                <a:r>
                  <a:rPr lang="en-US" sz="1800" dirty="0"/>
                  <a:t> weight edge.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Theorem1:   </a:t>
                </a:r>
                <a:r>
                  <a:rPr lang="en-US" sz="1800" b="1" dirty="0"/>
                  <a:t>W_MST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)  = </a:t>
                </a:r>
                <a:r>
                  <a:rPr lang="en-US" sz="1800" b="1" dirty="0"/>
                  <a:t>W_MST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) +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w</a:t>
                </a:r>
                <a:r>
                  <a:rPr lang="en-US" sz="1800" dirty="0"/>
                  <a:t>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>
                    <a:solidFill>
                      <a:srgbClr val="0070C0"/>
                    </a:solidFill>
                  </a:rPr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Proof: </a:t>
                </a:r>
                <a:r>
                  <a:rPr lang="en-US" sz="2000" dirty="0">
                    <a:solidFill>
                      <a:srgbClr val="7030A0"/>
                    </a:solidFill>
                  </a:rPr>
                  <a:t>(by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construction)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1600" b="1" dirty="0"/>
                  <a:t>1. </a:t>
                </a:r>
                <a:r>
                  <a:rPr lang="en-US" sz="1800" b="1" dirty="0"/>
                  <a:t>W_MST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)  ≤ </a:t>
                </a:r>
                <a:r>
                  <a:rPr lang="en-US" sz="1800" b="1" dirty="0"/>
                  <a:t>W_MST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) +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w</a:t>
                </a:r>
                <a:r>
                  <a:rPr lang="en-US" sz="1800" dirty="0"/>
                  <a:t>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>
                    <a:solidFill>
                      <a:srgbClr val="0070C0"/>
                    </a:solidFill>
                  </a:rPr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2. W_MST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1800" dirty="0"/>
                  <a:t>) ≤ </a:t>
                </a:r>
                <a:r>
                  <a:rPr lang="en-US" sz="1800" b="1" dirty="0"/>
                  <a:t>W_MST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1800" dirty="0"/>
                  <a:t>)  </a:t>
                </a:r>
                <a:r>
                  <a:rPr lang="en-US" sz="1800" b="1" dirty="0"/>
                  <a:t>-</a:t>
                </a:r>
                <a:r>
                  <a:rPr lang="en-US" sz="1800" dirty="0"/>
                  <a:t>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w</a:t>
                </a:r>
                <a:r>
                  <a:rPr lang="en-US" sz="1800" dirty="0"/>
                  <a:t>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>
                    <a:solidFill>
                      <a:srgbClr val="0070C0"/>
                    </a:solidFill>
                  </a:rPr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)</a:t>
                </a:r>
              </a:p>
              <a:p>
                <a:pPr marL="0" indent="0" algn="ctr">
                  <a:buNone/>
                </a:pPr>
                <a:r>
                  <a:rPr lang="en-US" sz="1800" dirty="0"/>
                  <a:t>(Give all details of the proof as a homework)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 rotWithShape="1">
                <a:blip r:embed="rId2"/>
                <a:stretch>
                  <a:fillRect l="-1111" t="-5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Left Arrow 4"/>
          <p:cNvSpPr/>
          <p:nvPr/>
        </p:nvSpPr>
        <p:spPr>
          <a:xfrm>
            <a:off x="4114800" y="5410200"/>
            <a:ext cx="2286000" cy="4846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 </a:t>
            </a:r>
            <a:r>
              <a:rPr lang="en-US" b="1" dirty="0">
                <a:solidFill>
                  <a:srgbClr val="C00000"/>
                </a:solidFill>
              </a:rPr>
              <a:t>Lemma 3</a:t>
            </a:r>
          </a:p>
        </p:txBody>
      </p:sp>
      <p:sp>
        <p:nvSpPr>
          <p:cNvPr id="6" name="Left Arrow 5"/>
          <p:cNvSpPr/>
          <p:nvPr/>
        </p:nvSpPr>
        <p:spPr>
          <a:xfrm>
            <a:off x="4114800" y="4800600"/>
            <a:ext cx="2286000" cy="484632"/>
          </a:xfrm>
          <a:prstGeom prst="lef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straightforward</a:t>
            </a:r>
          </a:p>
        </p:txBody>
      </p:sp>
    </p:spTree>
    <p:extLst>
      <p:ext uri="{BB962C8B-B14F-4D97-AF65-F5344CB8AC3E}">
        <p14:creationId xmlns:p14="http://schemas.microsoft.com/office/powerpoint/2010/main" val="339710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Problem 4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>
                <a:solidFill>
                  <a:srgbClr val="002060"/>
                </a:solidFill>
              </a:rPr>
              <a:t>Overlapping Intervals</a:t>
            </a:r>
            <a:endParaRPr lang="en-IN" sz="3600" dirty="0">
              <a:solidFill>
                <a:srgbClr val="00206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The aim of this problem is to make you realize that</a:t>
            </a:r>
          </a:p>
          <a:p>
            <a:r>
              <a:rPr lang="en-US" sz="2000" dirty="0">
                <a:solidFill>
                  <a:srgbClr val="002060"/>
                </a:solidFill>
              </a:rPr>
              <a:t> it is sometime very nontrivial to design a greedy algorithm. In particular, it is quite challenging to design the smaller instance.</a:t>
            </a:r>
          </a:p>
        </p:txBody>
      </p:sp>
    </p:spTree>
    <p:extLst>
      <p:ext uri="{BB962C8B-B14F-4D97-AF65-F5344CB8AC3E}">
        <p14:creationId xmlns:p14="http://schemas.microsoft.com/office/powerpoint/2010/main" val="422492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Problem 4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600" b="1" dirty="0">
                <a:solidFill>
                  <a:srgbClr val="002060"/>
                </a:solidFill>
              </a:rPr>
              <a:t>Overlapping Intervals</a:t>
            </a:r>
            <a:endParaRPr lang="en-IN" sz="3600" dirty="0">
              <a:solidFill>
                <a:srgbClr val="00206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54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 statement: </a:t>
                </a:r>
              </a:p>
              <a:p>
                <a:pPr marL="0" indent="0">
                  <a:buNone/>
                </a:pPr>
                <a:r>
                  <a:rPr lang="en-US" sz="1800" dirty="0"/>
                  <a:t>Given a set </a:t>
                </a:r>
                <a:r>
                  <a:rPr lang="en-US" sz="1800" b="1" dirty="0"/>
                  <a:t>A</a:t>
                </a:r>
                <a:r>
                  <a:rPr lang="en-US" sz="1800" dirty="0"/>
                  <a:t> of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intervals, compute smallest set </a:t>
                </a:r>
                <a:r>
                  <a:rPr lang="en-US" sz="1800" b="1" dirty="0"/>
                  <a:t>B</a:t>
                </a:r>
                <a:r>
                  <a:rPr lang="en-US" sz="1800" dirty="0"/>
                  <a:t> of intervals so that </a:t>
                </a:r>
              </a:p>
              <a:p>
                <a:pPr marL="0" indent="0">
                  <a:buNone/>
                </a:pPr>
                <a:r>
                  <a:rPr lang="en-US" sz="1800" dirty="0"/>
                  <a:t>for every interval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I </a:t>
                </a:r>
                <a:r>
                  <a:rPr lang="en-US" sz="1800" dirty="0"/>
                  <a:t>in </a:t>
                </a:r>
                <a:r>
                  <a:rPr lang="en-US" sz="1800" b="1" dirty="0"/>
                  <a:t>A</a:t>
                </a:r>
                <a:r>
                  <a:rPr lang="en-US" sz="1800" dirty="0"/>
                  <a:t>\</a:t>
                </a:r>
                <a:r>
                  <a:rPr lang="en-US" sz="1800" b="1" dirty="0"/>
                  <a:t>B</a:t>
                </a:r>
                <a:r>
                  <a:rPr lang="en-US" sz="1800" dirty="0"/>
                  <a:t>, there is some interval in </a:t>
                </a:r>
                <a:r>
                  <a:rPr lang="en-US" sz="1800" b="1" dirty="0"/>
                  <a:t>B</a:t>
                </a:r>
                <a:r>
                  <a:rPr lang="en-US" sz="1800" dirty="0"/>
                  <a:t> which overlaps/intersects with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I</a:t>
                </a:r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609600" y="4648200"/>
            <a:ext cx="8001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304800" y="3429000"/>
            <a:ext cx="8458200" cy="685800"/>
            <a:chOff x="304800" y="3429000"/>
            <a:chExt cx="8458200" cy="6858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066800" y="3962400"/>
              <a:ext cx="1219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1600200" y="4114800"/>
              <a:ext cx="1219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981200" y="3733800"/>
              <a:ext cx="2362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62000" y="3429000"/>
              <a:ext cx="3352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048000" y="3962400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886200" y="3962400"/>
              <a:ext cx="9525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372100" y="3429000"/>
              <a:ext cx="9525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33900" y="3733800"/>
              <a:ext cx="59055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448300" y="4114800"/>
              <a:ext cx="29337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981700" y="3962400"/>
              <a:ext cx="800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315200" y="39624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477000" y="38100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04800" y="3733800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74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 statement: </a:t>
                </a:r>
              </a:p>
              <a:p>
                <a:pPr marL="0" indent="0">
                  <a:buNone/>
                </a:pPr>
                <a:r>
                  <a:rPr lang="en-US" sz="1800" dirty="0"/>
                  <a:t>Given a set </a:t>
                </a:r>
                <a:r>
                  <a:rPr lang="en-US" sz="1800" b="1" dirty="0"/>
                  <a:t>A</a:t>
                </a:r>
                <a:r>
                  <a:rPr lang="en-US" sz="1800" dirty="0"/>
                  <a:t> of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intervals, compute smallest set </a:t>
                </a:r>
                <a:r>
                  <a:rPr lang="en-US" sz="1800" b="1" dirty="0"/>
                  <a:t>B</a:t>
                </a:r>
                <a:r>
                  <a:rPr lang="en-US" sz="1800" dirty="0"/>
                  <a:t> of intervals so that </a:t>
                </a:r>
              </a:p>
              <a:p>
                <a:pPr marL="0" indent="0">
                  <a:buNone/>
                </a:pPr>
                <a:r>
                  <a:rPr lang="en-US" sz="1800" dirty="0"/>
                  <a:t>for every interval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I </a:t>
                </a:r>
                <a:r>
                  <a:rPr lang="en-US" sz="1800" dirty="0"/>
                  <a:t>in </a:t>
                </a:r>
                <a:r>
                  <a:rPr lang="en-US" sz="1800" b="1" dirty="0"/>
                  <a:t>A</a:t>
                </a:r>
                <a:r>
                  <a:rPr lang="en-US" sz="1800" dirty="0"/>
                  <a:t>\</a:t>
                </a:r>
                <a:r>
                  <a:rPr lang="en-US" sz="1800" b="1" dirty="0"/>
                  <a:t>B</a:t>
                </a:r>
                <a:r>
                  <a:rPr lang="en-US" sz="1800" dirty="0"/>
                  <a:t>, there is some interval in </a:t>
                </a:r>
                <a:r>
                  <a:rPr lang="en-US" sz="1800" b="1" dirty="0"/>
                  <a:t>B</a:t>
                </a:r>
                <a:r>
                  <a:rPr lang="en-US" sz="1800" dirty="0"/>
                  <a:t> which overlaps/intersects with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I</a:t>
                </a:r>
                <a:r>
                  <a:rPr lang="en-US" sz="1800" dirty="0"/>
                  <a:t>.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609600" y="4648200"/>
            <a:ext cx="8001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66800" y="3962400"/>
            <a:ext cx="1219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00200" y="4114800"/>
            <a:ext cx="1219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81200" y="3733800"/>
            <a:ext cx="2362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62000" y="3429000"/>
            <a:ext cx="3352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048000" y="3962400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886200" y="3962400"/>
            <a:ext cx="9525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372100" y="3429000"/>
            <a:ext cx="9525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533900" y="3733800"/>
            <a:ext cx="5905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448300" y="4114800"/>
            <a:ext cx="2933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981700" y="3962400"/>
            <a:ext cx="800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315200" y="3962400"/>
            <a:ext cx="144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477000" y="3810000"/>
            <a:ext cx="144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4800" y="373380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1066800" y="3733800"/>
            <a:ext cx="7315200" cy="381000"/>
            <a:chOff x="1066800" y="3733800"/>
            <a:chExt cx="7315200" cy="381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066800" y="3962400"/>
              <a:ext cx="12192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981200" y="3733800"/>
              <a:ext cx="23622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4514850" y="3733800"/>
              <a:ext cx="6096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410200" y="4114800"/>
              <a:ext cx="29718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1066800" y="3962400"/>
            <a:ext cx="7315200" cy="152400"/>
            <a:chOff x="1066800" y="4114800"/>
            <a:chExt cx="7315200" cy="1524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352800" y="4267200"/>
              <a:ext cx="19050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/>
            <p:cNvGrpSpPr/>
            <p:nvPr/>
          </p:nvGrpSpPr>
          <p:grpSpPr>
            <a:xfrm>
              <a:off x="1066800" y="4114800"/>
              <a:ext cx="7315200" cy="152400"/>
              <a:chOff x="1066800" y="3962400"/>
              <a:chExt cx="7315200" cy="1524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1066800" y="3962400"/>
                <a:ext cx="1219200" cy="0"/>
              </a:xfrm>
              <a:prstGeom prst="line">
                <a:avLst/>
              </a:prstGeom>
              <a:ln w="571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>
                <a:off x="5410200" y="4114800"/>
                <a:ext cx="2971800" cy="0"/>
              </a:xfrm>
              <a:prstGeom prst="line">
                <a:avLst/>
              </a:prstGeom>
              <a:ln w="571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Group 38"/>
          <p:cNvGrpSpPr/>
          <p:nvPr/>
        </p:nvGrpSpPr>
        <p:grpSpPr>
          <a:xfrm>
            <a:off x="1981200" y="3733800"/>
            <a:ext cx="6400800" cy="381000"/>
            <a:chOff x="1981200" y="3886200"/>
            <a:chExt cx="6400800" cy="381000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1981200" y="3886200"/>
              <a:ext cx="23622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495800" y="3886200"/>
              <a:ext cx="62865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5410200" y="4267200"/>
              <a:ext cx="29718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2628900" y="4888468"/>
            <a:ext cx="30861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Not an optimal solution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67000" y="5029200"/>
            <a:ext cx="30861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optimal solution </a:t>
            </a:r>
            <a:r>
              <a:rPr lang="en-US" dirty="0">
                <a:sym typeface="Wingdings" pitchFamily="2" charset="2"/>
              </a:rPr>
              <a:t></a:t>
            </a:r>
            <a:endParaRPr lang="en-IN" dirty="0"/>
          </a:p>
        </p:txBody>
      </p:sp>
      <p:sp>
        <p:nvSpPr>
          <p:cNvPr id="40" name="TextBox 39"/>
          <p:cNvSpPr txBox="1"/>
          <p:nvPr/>
        </p:nvSpPr>
        <p:spPr>
          <a:xfrm>
            <a:off x="2628900" y="5029200"/>
            <a:ext cx="30861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another optimal solution </a:t>
            </a:r>
            <a:r>
              <a:rPr lang="en-US" dirty="0">
                <a:sym typeface="Wingdings" pitchFamily="2" charset="2"/>
              </a:rPr>
              <a:t>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737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34" grpId="0" animBg="1"/>
      <p:bldP spid="34" grpId="1" animBg="1"/>
      <p:bldP spid="40" grpId="0" animBg="1"/>
      <p:bldP spid="4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</a:rPr>
              <a:t>Strategy 1 </a:t>
            </a:r>
          </a:p>
          <a:p>
            <a:pPr marL="0" indent="0">
              <a:buNone/>
            </a:pPr>
            <a:r>
              <a:rPr lang="en-US" sz="1800" dirty="0"/>
              <a:t>Interval with </a:t>
            </a:r>
            <a:r>
              <a:rPr lang="en-US" sz="1800" b="1" u="sng" dirty="0"/>
              <a:t>maximum length</a:t>
            </a:r>
            <a:r>
              <a:rPr lang="en-US" sz="1800" dirty="0"/>
              <a:t> should be there in optimal solution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an interval will </a:t>
            </a:r>
            <a:r>
              <a:rPr lang="en-US" sz="1800" b="1" dirty="0"/>
              <a:t>cover maximum </a:t>
            </a:r>
            <a:r>
              <a:rPr lang="en-US" sz="1800" dirty="0"/>
              <a:t>no.  of other intervals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grpSp>
        <p:nvGrpSpPr>
          <p:cNvPr id="10" name="Group 9"/>
          <p:cNvGrpSpPr/>
          <p:nvPr/>
        </p:nvGrpSpPr>
        <p:grpSpPr>
          <a:xfrm>
            <a:off x="1295400" y="3429000"/>
            <a:ext cx="6858000" cy="304800"/>
            <a:chOff x="1295400" y="3429000"/>
            <a:chExt cx="6858000" cy="3048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3429000"/>
              <a:ext cx="990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981200" y="3733800"/>
              <a:ext cx="1181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743200" y="3429000"/>
              <a:ext cx="3352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705600" y="34290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791200" y="37338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4876800" y="3733800"/>
              <a:ext cx="685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505200" y="3733800"/>
              <a:ext cx="1181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295400" y="3429000"/>
            <a:ext cx="6858000" cy="0"/>
            <a:chOff x="1447800" y="3581400"/>
            <a:chExt cx="6858000" cy="0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1447800" y="3581400"/>
              <a:ext cx="9906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895600" y="3581400"/>
              <a:ext cx="33528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6858000" y="3581400"/>
              <a:ext cx="1447800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2628900" y="5738336"/>
            <a:ext cx="30861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There is a counter example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23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</a:rPr>
              <a:t>Strategy 1 </a:t>
            </a:r>
          </a:p>
          <a:p>
            <a:pPr marL="0" indent="0">
              <a:buNone/>
            </a:pPr>
            <a:r>
              <a:rPr lang="en-US" sz="1800" dirty="0"/>
              <a:t>Interval with </a:t>
            </a:r>
            <a:r>
              <a:rPr lang="en-US" sz="1800" b="1" u="sng" dirty="0"/>
              <a:t>maximum length</a:t>
            </a:r>
            <a:r>
              <a:rPr lang="en-US" sz="1800" dirty="0"/>
              <a:t> should be there in optimal solution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an interval will </a:t>
            </a:r>
            <a:r>
              <a:rPr lang="en-US" sz="1800" b="1" dirty="0"/>
              <a:t>cover maximum </a:t>
            </a:r>
            <a:r>
              <a:rPr lang="en-US" sz="1800" dirty="0"/>
              <a:t>no.  of other intervals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628900" y="5738336"/>
            <a:ext cx="30861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There is a counter example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IN" dirty="0">
              <a:solidFill>
                <a:srgbClr val="C000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124200" y="3733800"/>
            <a:ext cx="3200400" cy="609600"/>
            <a:chOff x="3124200" y="3733800"/>
            <a:chExt cx="3200400" cy="609600"/>
          </a:xfrm>
        </p:grpSpPr>
        <p:grpSp>
          <p:nvGrpSpPr>
            <p:cNvPr id="10" name="Group 9"/>
            <p:cNvGrpSpPr/>
            <p:nvPr/>
          </p:nvGrpSpPr>
          <p:grpSpPr>
            <a:xfrm>
              <a:off x="3124200" y="3733800"/>
              <a:ext cx="3200400" cy="0"/>
              <a:chOff x="3124200" y="3733800"/>
              <a:chExt cx="3200400" cy="0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4876800" y="3733800"/>
                <a:ext cx="14478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>
                <a:off x="3124200" y="3733800"/>
                <a:ext cx="15621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/>
            <p:cNvCxnSpPr/>
            <p:nvPr/>
          </p:nvCxnSpPr>
          <p:spPr>
            <a:xfrm>
              <a:off x="4876800" y="40386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124200" y="4038600"/>
              <a:ext cx="1562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876800" y="43434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124200" y="4343400"/>
              <a:ext cx="1562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/>
          <p:cNvCxnSpPr/>
          <p:nvPr/>
        </p:nvCxnSpPr>
        <p:spPr>
          <a:xfrm>
            <a:off x="4171950" y="3429000"/>
            <a:ext cx="962025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4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</a:rPr>
              <a:t>Strategy 2 </a:t>
            </a:r>
          </a:p>
          <a:p>
            <a:pPr marL="0" indent="0">
              <a:buNone/>
            </a:pPr>
            <a:r>
              <a:rPr lang="en-US" sz="1800" dirty="0"/>
              <a:t>Interval that </a:t>
            </a:r>
            <a:r>
              <a:rPr lang="en-US" sz="1800" b="1" u="sng" dirty="0"/>
              <a:t>overlaps maximum no.</a:t>
            </a:r>
            <a:r>
              <a:rPr lang="en-US" sz="1800" dirty="0"/>
              <a:t> of intervals should be there in optimal solution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Intuition: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1800" dirty="0"/>
              <a:t>Selecting such an interval will </a:t>
            </a:r>
            <a:r>
              <a:rPr lang="en-US" sz="1800" b="1" dirty="0"/>
              <a:t>cover maximum </a:t>
            </a:r>
            <a:r>
              <a:rPr lang="en-US" sz="1800" dirty="0"/>
              <a:t>no.  of other intervals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628900" y="5738336"/>
            <a:ext cx="30861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There is a counter example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IN" dirty="0">
              <a:solidFill>
                <a:srgbClr val="C0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124200" y="3429000"/>
            <a:ext cx="3200400" cy="304800"/>
            <a:chOff x="3124200" y="3429000"/>
            <a:chExt cx="3200400" cy="3048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4171950" y="3429000"/>
              <a:ext cx="962025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876800" y="37338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124200" y="3733800"/>
              <a:ext cx="1562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/>
          <p:cNvCxnSpPr/>
          <p:nvPr/>
        </p:nvCxnSpPr>
        <p:spPr>
          <a:xfrm>
            <a:off x="4876800" y="4038600"/>
            <a:ext cx="144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124200" y="4038600"/>
            <a:ext cx="1562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876800" y="4343400"/>
            <a:ext cx="144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124200" y="4343400"/>
            <a:ext cx="1562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35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</a:rPr>
              <a:t>Strategy 2 </a:t>
            </a:r>
          </a:p>
          <a:p>
            <a:pPr marL="0" indent="0">
              <a:buNone/>
            </a:pPr>
            <a:r>
              <a:rPr lang="en-US" sz="1800" dirty="0"/>
              <a:t>Interval that </a:t>
            </a:r>
            <a:r>
              <a:rPr lang="en-US" sz="1800" b="1" u="sng" dirty="0"/>
              <a:t>overlaps maximum no.</a:t>
            </a:r>
            <a:r>
              <a:rPr lang="en-US" sz="1800" dirty="0"/>
              <a:t> of intervals should be there in optimal solution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295400" y="39624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81200" y="3733800"/>
            <a:ext cx="1181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43200" y="3429000"/>
            <a:ext cx="3352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91200" y="3733800"/>
            <a:ext cx="144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6858000" y="39624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1981200" y="4191000"/>
            <a:ext cx="5257800" cy="0"/>
            <a:chOff x="1981200" y="4191000"/>
            <a:chExt cx="5257800" cy="0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5791200" y="41910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981200" y="4191000"/>
              <a:ext cx="1181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74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</a:rPr>
              <a:t>Strategy 2 </a:t>
            </a:r>
          </a:p>
          <a:p>
            <a:pPr marL="0" indent="0">
              <a:buNone/>
            </a:pPr>
            <a:r>
              <a:rPr lang="en-US" sz="1800" dirty="0"/>
              <a:t>Interval that </a:t>
            </a:r>
            <a:r>
              <a:rPr lang="en-US" sz="1800" b="1" u="sng" dirty="0"/>
              <a:t>overlaps maximum no.</a:t>
            </a:r>
            <a:r>
              <a:rPr lang="en-US" sz="1800" dirty="0"/>
              <a:t> of intervals should be there in optimal solution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295400" y="39624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81200" y="3733800"/>
            <a:ext cx="1181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43200" y="3429000"/>
            <a:ext cx="3352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91200" y="4191000"/>
            <a:ext cx="144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91200" y="3733800"/>
            <a:ext cx="144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628900" y="5257800"/>
            <a:ext cx="30861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Not an optimal solution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IN" dirty="0">
              <a:solidFill>
                <a:srgbClr val="C00000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6858000" y="39624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1981200" y="4191000"/>
            <a:ext cx="1181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743200" y="3429000"/>
            <a:ext cx="33528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295400" y="3962400"/>
            <a:ext cx="990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858000" y="3962400"/>
            <a:ext cx="990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7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</a:rPr>
              <a:t>Strategy 2 </a:t>
            </a:r>
          </a:p>
          <a:p>
            <a:pPr marL="0" indent="0">
              <a:buNone/>
            </a:pPr>
            <a:r>
              <a:rPr lang="en-US" sz="1800" dirty="0"/>
              <a:t>Interval that </a:t>
            </a:r>
            <a:r>
              <a:rPr lang="en-US" sz="1800" b="1" u="sng" dirty="0"/>
              <a:t>overlaps maximum no.</a:t>
            </a:r>
            <a:r>
              <a:rPr lang="en-US" sz="1800" dirty="0"/>
              <a:t> of intervals should be there in optimal solution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295400" y="39624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81200" y="3733800"/>
            <a:ext cx="11811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743200" y="3429000"/>
            <a:ext cx="3352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91200" y="4191000"/>
            <a:ext cx="1447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791200" y="3733800"/>
            <a:ext cx="14478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628900" y="5257800"/>
            <a:ext cx="30861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optimal solution has size 2.</a:t>
            </a:r>
            <a:endParaRPr lang="en-IN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6858000" y="3962400"/>
            <a:ext cx="990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1981200" y="4191000"/>
            <a:ext cx="1181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19200" y="5943600"/>
            <a:ext cx="708660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Think for a while :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After failure of two strategies, how to proceed to design the algorithm.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26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830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Let </a:t>
            </a:r>
            <a:r>
              <a:rPr lang="en-US" sz="1800" b="1" dirty="0">
                <a:solidFill>
                  <a:srgbClr val="0070C0"/>
                </a:solidFill>
              </a:rPr>
              <a:t>I* </a:t>
            </a:r>
            <a:r>
              <a:rPr lang="en-US" sz="1800" dirty="0"/>
              <a:t>be the interval with earliest finish time.</a:t>
            </a:r>
          </a:p>
          <a:p>
            <a:pPr marL="0" indent="0">
              <a:buNone/>
            </a:pPr>
            <a:r>
              <a:rPr lang="en-US" sz="1800" dirty="0"/>
              <a:t>Let </a:t>
            </a:r>
            <a:r>
              <a:rPr lang="en-US" sz="1800" b="1" dirty="0">
                <a:solidFill>
                  <a:srgbClr val="0070C0"/>
                </a:solidFill>
              </a:rPr>
              <a:t>I’ </a:t>
            </a:r>
            <a:r>
              <a:rPr lang="en-US" sz="1800" dirty="0"/>
              <a:t>be the interval with </a:t>
            </a:r>
            <a:r>
              <a:rPr lang="en-US" sz="1800" b="1" dirty="0"/>
              <a:t>maximum</a:t>
            </a:r>
            <a:r>
              <a:rPr lang="en-US" sz="1800" dirty="0"/>
              <a:t> finish time overlapping </a:t>
            </a:r>
            <a:r>
              <a:rPr lang="en-US" sz="1800" b="1" dirty="0">
                <a:solidFill>
                  <a:srgbClr val="0070C0"/>
                </a:solidFill>
              </a:rPr>
              <a:t>I*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Lemma1:</a:t>
            </a:r>
            <a:r>
              <a:rPr lang="en-US" sz="1800" b="1" dirty="0"/>
              <a:t> </a:t>
            </a:r>
            <a:r>
              <a:rPr lang="en-US" sz="1800" dirty="0"/>
              <a:t>There is an optimal solution for set </a:t>
            </a:r>
            <a:r>
              <a:rPr lang="en-US" sz="1800" b="1" dirty="0"/>
              <a:t>A </a:t>
            </a:r>
            <a:r>
              <a:rPr lang="en-US" sz="1800" dirty="0"/>
              <a:t>that contains </a:t>
            </a:r>
            <a:r>
              <a:rPr lang="en-US" sz="1800" b="1" dirty="0">
                <a:solidFill>
                  <a:srgbClr val="0070C0"/>
                </a:solidFill>
              </a:rPr>
              <a:t>I’.</a:t>
            </a:r>
          </a:p>
          <a:p>
            <a:pPr marL="0" indent="0">
              <a:buNone/>
            </a:pPr>
            <a:r>
              <a:rPr lang="en-US" sz="1800" b="1" dirty="0"/>
              <a:t>Proof:(sketch) :</a:t>
            </a:r>
          </a:p>
          <a:p>
            <a:pPr marL="0" indent="0">
              <a:buNone/>
            </a:pPr>
            <a:r>
              <a:rPr lang="en-US" sz="1800" dirty="0"/>
              <a:t>If</a:t>
            </a:r>
            <a:r>
              <a:rPr lang="en-US" sz="1800" b="1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I* </a:t>
            </a:r>
            <a:r>
              <a:rPr lang="en-US" sz="2000" dirty="0"/>
              <a:t>is overlapped by any other interval in the optimal solution, say </a:t>
            </a:r>
            <a:r>
              <a:rPr lang="en-US" sz="2000" b="1" dirty="0">
                <a:solidFill>
                  <a:srgbClr val="0070C0"/>
                </a:solidFill>
              </a:rPr>
              <a:t>I^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I’ </a:t>
            </a:r>
            <a:r>
              <a:rPr lang="en-US" sz="2000" dirty="0"/>
              <a:t>will surely overlap all intervals that are overlapped by </a:t>
            </a:r>
            <a:r>
              <a:rPr lang="en-US" sz="2000" b="1" dirty="0">
                <a:solidFill>
                  <a:srgbClr val="0070C0"/>
                </a:solidFill>
              </a:rPr>
              <a:t>I^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 Swapping </a:t>
            </a:r>
            <a:r>
              <a:rPr lang="en-US" sz="2000" b="1" dirty="0">
                <a:solidFill>
                  <a:srgbClr val="0070C0"/>
                </a:solidFill>
              </a:rPr>
              <a:t>I^ </a:t>
            </a:r>
            <a:r>
              <a:rPr lang="en-US" sz="2000" dirty="0">
                <a:solidFill>
                  <a:srgbClr val="002060"/>
                </a:solidFill>
              </a:rPr>
              <a:t>by</a:t>
            </a:r>
            <a:r>
              <a:rPr lang="en-US" sz="2000" b="1" dirty="0">
                <a:solidFill>
                  <a:srgbClr val="0070C0"/>
                </a:solidFill>
              </a:rPr>
              <a:t> I’ </a:t>
            </a:r>
            <a:r>
              <a:rPr lang="en-US" sz="2000" dirty="0"/>
              <a:t>will still give an optimal solution.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04800" y="3429000"/>
            <a:ext cx="8458200" cy="1219200"/>
            <a:chOff x="304800" y="1524000"/>
            <a:chExt cx="8458200" cy="12192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609600" y="2743200"/>
              <a:ext cx="8001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1066800" y="2057400"/>
              <a:ext cx="1219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1600200" y="2209800"/>
              <a:ext cx="1219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981200" y="1828800"/>
              <a:ext cx="23622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62000" y="1524000"/>
              <a:ext cx="20574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048000" y="2057400"/>
              <a:ext cx="6096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352800" y="2209800"/>
              <a:ext cx="1905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886200" y="2057400"/>
              <a:ext cx="9525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372100" y="1524000"/>
              <a:ext cx="9525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33900" y="1828800"/>
              <a:ext cx="59055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448300" y="2209800"/>
              <a:ext cx="29337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981700" y="2057400"/>
              <a:ext cx="800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315200" y="20574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477000" y="1905000"/>
              <a:ext cx="14478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04800" y="1828800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219200" y="3669268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4010" y="3440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I’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981200" y="3733800"/>
            <a:ext cx="23622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ine Callout 1 14"/>
          <p:cNvSpPr/>
          <p:nvPr/>
        </p:nvSpPr>
        <p:spPr>
          <a:xfrm>
            <a:off x="7010400" y="5635752"/>
            <a:ext cx="2133600" cy="993648"/>
          </a:xfrm>
          <a:prstGeom prst="borderCallout1">
            <a:avLst>
              <a:gd name="adj1" fmla="val 48004"/>
              <a:gd name="adj2" fmla="val -3324"/>
              <a:gd name="adj3" fmla="val 18816"/>
              <a:gd name="adj4" fmla="val -233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Exploit the fact that </a:t>
            </a:r>
            <a:r>
              <a:rPr lang="en-US" b="1" dirty="0">
                <a:solidFill>
                  <a:srgbClr val="0070C0"/>
                </a:solidFill>
              </a:rPr>
              <a:t>I* </a:t>
            </a:r>
            <a:r>
              <a:rPr lang="en-US" dirty="0">
                <a:solidFill>
                  <a:schemeClr val="tx1"/>
                </a:solidFill>
              </a:rPr>
              <a:t>has earliest finish time for this claim.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12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" grpId="0"/>
      <p:bldP spid="25" grpId="0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Question: </a:t>
            </a:r>
            <a:r>
              <a:rPr lang="en-US" sz="1800" dirty="0"/>
              <a:t>How to obtain smaller instance </a:t>
            </a:r>
            <a:r>
              <a:rPr lang="en-US" sz="1800" b="1" dirty="0"/>
              <a:t>A’ </a:t>
            </a:r>
            <a:r>
              <a:rPr lang="en-US" sz="1800" dirty="0"/>
              <a:t>using </a:t>
            </a:r>
            <a:r>
              <a:rPr lang="en-US" sz="1800" b="1" dirty="0">
                <a:solidFill>
                  <a:srgbClr val="C00000"/>
                </a:solidFill>
              </a:rPr>
              <a:t>Lemma 1</a:t>
            </a:r>
            <a:r>
              <a:rPr lang="en-US" sz="1800" dirty="0"/>
              <a:t> ? </a:t>
            </a: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14010" y="3440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3669268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I*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04800" y="3429000"/>
            <a:ext cx="8458200" cy="1219200"/>
            <a:chOff x="304800" y="3429000"/>
            <a:chExt cx="8458200" cy="1219200"/>
          </a:xfrm>
        </p:grpSpPr>
        <p:grpSp>
          <p:nvGrpSpPr>
            <p:cNvPr id="4" name="Group 3"/>
            <p:cNvGrpSpPr/>
            <p:nvPr/>
          </p:nvGrpSpPr>
          <p:grpSpPr>
            <a:xfrm>
              <a:off x="304800" y="3429000"/>
              <a:ext cx="8458200" cy="1219200"/>
              <a:chOff x="304800" y="1524000"/>
              <a:chExt cx="8458200" cy="12192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609600" y="2743200"/>
                <a:ext cx="80010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1066800" y="2057400"/>
                <a:ext cx="1219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600200" y="2209800"/>
                <a:ext cx="1219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981200" y="1828800"/>
                <a:ext cx="2362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762000" y="1524000"/>
                <a:ext cx="33528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048000" y="2057400"/>
                <a:ext cx="6096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886200" y="2057400"/>
                <a:ext cx="9525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372100" y="1524000"/>
                <a:ext cx="9525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533900" y="1828800"/>
                <a:ext cx="5905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981700" y="2057400"/>
                <a:ext cx="8001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7315200" y="2057400"/>
                <a:ext cx="14478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477000" y="1905000"/>
                <a:ext cx="14478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304800" y="1828800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3352800" y="4114800"/>
              <a:ext cx="1181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859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5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Overlapping Intervals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Question: </a:t>
            </a:r>
            <a:r>
              <a:rPr lang="en-US" sz="1800" dirty="0"/>
              <a:t>How to obtain smaller instance </a:t>
            </a:r>
            <a:r>
              <a:rPr lang="en-US" sz="1800" b="1" dirty="0"/>
              <a:t>A’ </a:t>
            </a:r>
            <a:r>
              <a:rPr lang="en-US" sz="1800" dirty="0"/>
              <a:t>using </a:t>
            </a:r>
            <a:r>
              <a:rPr lang="en-US" sz="1800" b="1" dirty="0">
                <a:solidFill>
                  <a:srgbClr val="C00000"/>
                </a:solidFill>
              </a:rPr>
              <a:t>Lemma 1</a:t>
            </a:r>
            <a:r>
              <a:rPr lang="en-US" sz="1800" dirty="0"/>
              <a:t> ?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Naive approach </a:t>
            </a:r>
            <a:r>
              <a:rPr lang="en-US" sz="1800" dirty="0"/>
              <a:t>: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US" sz="1800" dirty="0"/>
              <a:t>remove from </a:t>
            </a:r>
            <a:r>
              <a:rPr lang="en-US" sz="1800" b="1" dirty="0"/>
              <a:t>A</a:t>
            </a:r>
            <a:r>
              <a:rPr lang="en-US" sz="1800" dirty="0"/>
              <a:t> all intervals which overlap with </a:t>
            </a:r>
            <a:r>
              <a:rPr lang="en-US" sz="1800" b="1" dirty="0">
                <a:solidFill>
                  <a:srgbClr val="0070C0"/>
                </a:solidFill>
              </a:rPr>
              <a:t>I’</a:t>
            </a:r>
            <a:r>
              <a:rPr lang="en-US" sz="1800" dirty="0"/>
              <a:t>.  This is </a:t>
            </a:r>
            <a:r>
              <a:rPr lang="en-US" sz="1800" b="1" dirty="0"/>
              <a:t>A’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problem is that some deleted interval (in this case </a:t>
            </a:r>
            <a:r>
              <a:rPr lang="en-US" sz="1800" b="1" dirty="0">
                <a:solidFill>
                  <a:srgbClr val="0070C0"/>
                </a:solidFill>
              </a:rPr>
              <a:t>I’’</a:t>
            </a:r>
            <a:r>
              <a:rPr lang="en-US" sz="1800" dirty="0"/>
              <a:t>) could have been used for intersecting many intervals if it were not deleted. But deleting it from the instance disallows it to be selected in the solution. </a:t>
            </a: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4333875" y="2743200"/>
            <a:ext cx="19050" cy="22860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14010" y="3440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3669268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508" y="40386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I’’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352800" y="4114800"/>
            <a:ext cx="4495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304800" y="3429000"/>
            <a:ext cx="8458200" cy="1219200"/>
            <a:chOff x="304800" y="3429000"/>
            <a:chExt cx="8458200" cy="1219200"/>
          </a:xfrm>
        </p:grpSpPr>
        <p:grpSp>
          <p:nvGrpSpPr>
            <p:cNvPr id="4" name="Group 3"/>
            <p:cNvGrpSpPr/>
            <p:nvPr/>
          </p:nvGrpSpPr>
          <p:grpSpPr>
            <a:xfrm>
              <a:off x="304800" y="3429000"/>
              <a:ext cx="8458200" cy="1219200"/>
              <a:chOff x="304800" y="1524000"/>
              <a:chExt cx="8458200" cy="12192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609600" y="2743200"/>
                <a:ext cx="8001000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1066800" y="2057400"/>
                <a:ext cx="1219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600200" y="2209800"/>
                <a:ext cx="1219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981200" y="1828800"/>
                <a:ext cx="23622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762000" y="1524000"/>
                <a:ext cx="33528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048000" y="2057400"/>
                <a:ext cx="6096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886200" y="2057400"/>
                <a:ext cx="9525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372100" y="1524000"/>
                <a:ext cx="9525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533900" y="1828800"/>
                <a:ext cx="59055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981700" y="2057400"/>
                <a:ext cx="8001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7315200" y="2057400"/>
                <a:ext cx="14478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477000" y="1905000"/>
                <a:ext cx="14478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304800" y="1828800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</a:t>
                </a:r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3352800" y="4114800"/>
              <a:ext cx="11811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2628900" y="2133600"/>
            <a:ext cx="30861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There is a counter example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IN" dirty="0">
              <a:solidFill>
                <a:srgbClr val="C00000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4343401" y="2373868"/>
            <a:ext cx="4343400" cy="826533"/>
            <a:chOff x="4343401" y="2373868"/>
            <a:chExt cx="4343400" cy="826533"/>
          </a:xfrm>
        </p:grpSpPr>
        <p:sp>
          <p:nvSpPr>
            <p:cNvPr id="31" name="Right Brace 30"/>
            <p:cNvSpPr/>
            <p:nvPr/>
          </p:nvSpPr>
          <p:spPr>
            <a:xfrm rot="16200000">
              <a:off x="6286500" y="800101"/>
              <a:ext cx="457201" cy="4343400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24600" y="2373868"/>
              <a:ext cx="3728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A’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9404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6600"/>
                </a:solidFill>
              </a:rPr>
              <a:t>Homework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How will you form the smaller instance ?</a:t>
            </a:r>
          </a:p>
          <a:p>
            <a:endParaRPr lang="en-US" sz="2000" dirty="0"/>
          </a:p>
          <a:p>
            <a:r>
              <a:rPr lang="en-US" sz="2000" dirty="0"/>
              <a:t>Design an algorithm for the problem.</a:t>
            </a:r>
          </a:p>
          <a:p>
            <a:endParaRPr lang="en-US" sz="2000" dirty="0"/>
          </a:p>
          <a:p>
            <a:r>
              <a:rPr lang="en-US" sz="2000" dirty="0"/>
              <a:t>Give a neat, concise, and formal proof of correctness of the algorithm.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7611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3776</TotalTime>
  <Words>1847</Words>
  <Application>Microsoft Macintosh PowerPoint</Application>
  <PresentationFormat>On-screen Show (4:3)</PresentationFormat>
  <Paragraphs>537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Wingdings</vt:lpstr>
      <vt:lpstr>1_Office Theme</vt:lpstr>
      <vt:lpstr>Data Structures and Algorithms (ESO207) </vt:lpstr>
      <vt:lpstr>Problem 3</vt:lpstr>
      <vt:lpstr>Mobile towers on a road </vt:lpstr>
      <vt:lpstr>Mobile towers on a road </vt:lpstr>
      <vt:lpstr>Mobile towers on a road </vt:lpstr>
      <vt:lpstr>Mobile towers on a road </vt:lpstr>
      <vt:lpstr>Problems solved till now </vt:lpstr>
      <vt:lpstr>Problem 1 Job scheduling Problem </vt:lpstr>
      <vt:lpstr>All that we could do was to make  a local observation</vt:lpstr>
      <vt:lpstr>Theorem:  Opt(J) = Opt(J′) + 1. </vt:lpstr>
      <vt:lpstr>Problem 2 Mobile Tower Problem </vt:lpstr>
      <vt:lpstr>All that we could do was to make  a local observation</vt:lpstr>
      <vt:lpstr>What is a greedy strategy ?</vt:lpstr>
      <vt:lpstr>Design of a greedy algorithm</vt:lpstr>
      <vt:lpstr>MST</vt:lpstr>
      <vt:lpstr>How to compute a MST ?</vt:lpstr>
      <vt:lpstr>How to compute a MST ?</vt:lpstr>
      <vt:lpstr>How to compute a MST ?</vt:lpstr>
      <vt:lpstr>How to compute a MST ?</vt:lpstr>
      <vt:lpstr>Problem 4 Overlapping Intervals</vt:lpstr>
      <vt:lpstr>Problem 4 Overlapping Intervals</vt:lpstr>
      <vt:lpstr>Overlapping Intervals</vt:lpstr>
      <vt:lpstr>Overlapping Intervals</vt:lpstr>
      <vt:lpstr>Overlapping Intervals</vt:lpstr>
      <vt:lpstr>Overlapping Intervals</vt:lpstr>
      <vt:lpstr>Overlapping Intervals</vt:lpstr>
      <vt:lpstr>Overlapping Intervals</vt:lpstr>
      <vt:lpstr>Overlapping Intervals</vt:lpstr>
      <vt:lpstr>Overlapping Intervals</vt:lpstr>
      <vt:lpstr>Overlapping Intervals</vt:lpstr>
      <vt:lpstr>Overlapping Intervals</vt:lpstr>
      <vt:lpstr>Overlapping Intervals</vt:lpstr>
      <vt:lpstr>Homework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163</cp:revision>
  <dcterms:created xsi:type="dcterms:W3CDTF">2012-11-11T08:58:57Z</dcterms:created>
  <dcterms:modified xsi:type="dcterms:W3CDTF">2025-11-10T03:54:29Z</dcterms:modified>
</cp:coreProperties>
</file>