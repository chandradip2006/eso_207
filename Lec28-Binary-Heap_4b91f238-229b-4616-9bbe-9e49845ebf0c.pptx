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6"/>
  </p:notesMasterIdLst>
  <p:sldIdLst>
    <p:sldId id="390" r:id="rId2"/>
    <p:sldId id="368" r:id="rId3"/>
    <p:sldId id="366" r:id="rId4"/>
    <p:sldId id="354" r:id="rId5"/>
    <p:sldId id="367" r:id="rId6"/>
    <p:sldId id="406" r:id="rId7"/>
    <p:sldId id="377" r:id="rId8"/>
    <p:sldId id="407" r:id="rId9"/>
    <p:sldId id="372" r:id="rId10"/>
    <p:sldId id="379" r:id="rId11"/>
    <p:sldId id="380" r:id="rId12"/>
    <p:sldId id="381" r:id="rId13"/>
    <p:sldId id="382" r:id="rId14"/>
    <p:sldId id="405" r:id="rId15"/>
    <p:sldId id="384" r:id="rId16"/>
    <p:sldId id="386" r:id="rId17"/>
    <p:sldId id="387" r:id="rId18"/>
    <p:sldId id="392" r:id="rId19"/>
    <p:sldId id="393" r:id="rId20"/>
    <p:sldId id="394" r:id="rId21"/>
    <p:sldId id="395" r:id="rId22"/>
    <p:sldId id="396" r:id="rId23"/>
    <p:sldId id="397" r:id="rId24"/>
    <p:sldId id="398" r:id="rId25"/>
    <p:sldId id="399" r:id="rId26"/>
    <p:sldId id="400" r:id="rId27"/>
    <p:sldId id="408" r:id="rId28"/>
    <p:sldId id="402" r:id="rId29"/>
    <p:sldId id="403" r:id="rId30"/>
    <p:sldId id="411" r:id="rId31"/>
    <p:sldId id="412" r:id="rId32"/>
    <p:sldId id="413" r:id="rId33"/>
    <p:sldId id="409" r:id="rId34"/>
    <p:sldId id="410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 autoAdjust="0"/>
    <p:restoredTop sz="94699" autoAdjust="0"/>
  </p:normalViewPr>
  <p:slideViewPr>
    <p:cSldViewPr>
      <p:cViewPr varScale="1">
        <p:scale>
          <a:sx n="115" d="100"/>
          <a:sy n="115" d="100"/>
        </p:scale>
        <p:origin x="175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10/17/25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10/17/25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10/17/25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10/17/25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10/17/25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10/17/25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10/17/25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50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Structures and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002060"/>
                </a:solidFill>
              </a:rPr>
              <a:t>(</a:t>
            </a:r>
            <a:r>
              <a:rPr lang="en-US" sz="2700" b="1" dirty="0">
                <a:solidFill>
                  <a:srgbClr val="7030A0"/>
                </a:solidFill>
              </a:rPr>
              <a:t>ESO207</a:t>
            </a:r>
            <a:r>
              <a:rPr lang="en-US" sz="2700" dirty="0">
                <a:solidFill>
                  <a:srgbClr val="002060"/>
                </a:solidFill>
              </a:rPr>
              <a:t>)</a:t>
            </a:r>
            <a:br>
              <a:rPr lang="en-US" sz="2700" dirty="0">
                <a:solidFill>
                  <a:srgbClr val="002060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495800"/>
            <a:ext cx="8153400" cy="14478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Lecture 28:</a:t>
            </a: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7030A0"/>
                </a:solidFill>
              </a:rPr>
              <a:t>Heap : </a:t>
            </a:r>
            <a:r>
              <a:rPr lang="en-US" sz="2000" dirty="0">
                <a:solidFill>
                  <a:schemeClr val="tx1"/>
                </a:solidFill>
              </a:rPr>
              <a:t>an important tree data structure</a:t>
            </a: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</a:rPr>
              <a:t>Implementing some</a:t>
            </a:r>
            <a:r>
              <a:rPr lang="en-US" sz="2000" b="1" dirty="0">
                <a:solidFill>
                  <a:srgbClr val="C00000"/>
                </a:solidFill>
              </a:rPr>
              <a:t> special binary tree </a:t>
            </a:r>
            <a:r>
              <a:rPr lang="en-US" sz="2000" dirty="0">
                <a:solidFill>
                  <a:schemeClr val="tx1"/>
                </a:solidFill>
              </a:rPr>
              <a:t>using an </a:t>
            </a:r>
            <a:r>
              <a:rPr lang="en-US" sz="2000" b="1" dirty="0">
                <a:solidFill>
                  <a:srgbClr val="C00000"/>
                </a:solidFill>
              </a:rPr>
              <a:t>array </a:t>
            </a:r>
            <a:r>
              <a:rPr lang="en-US" sz="2000" b="1" dirty="0">
                <a:solidFill>
                  <a:schemeClr val="tx1"/>
                </a:solidFill>
              </a:rPr>
              <a:t>!</a:t>
            </a: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7030A0"/>
                </a:solidFill>
              </a:rPr>
              <a:t>Binary heap</a:t>
            </a:r>
            <a:endParaRPr lang="en-US" sz="1400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79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Heap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>
              <a:solidFill>
                <a:srgbClr val="7030A0"/>
              </a:solidFill>
            </a:endParaRPr>
          </a:p>
        </p:txBody>
      </p:sp>
      <p:sp>
        <p:nvSpPr>
          <p:cNvPr id="67" name="Content Placeholder 66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7030A0"/>
                </a:solidFill>
              </a:rPr>
              <a:t>Definition</a:t>
            </a:r>
            <a:r>
              <a:rPr lang="en-US" sz="1800" b="1" dirty="0">
                <a:solidFill>
                  <a:srgbClr val="002060"/>
                </a:solidFill>
              </a:rPr>
              <a:t>:</a:t>
            </a:r>
            <a:r>
              <a:rPr lang="en-US" sz="1800" dirty="0"/>
              <a:t> a tree data structure where :</a:t>
            </a:r>
          </a:p>
          <a:p>
            <a:pPr marL="0" indent="0" algn="ctr">
              <a:buNone/>
            </a:pPr>
            <a:r>
              <a:rPr lang="en-US" sz="1800" dirty="0"/>
              <a:t>value stored in  a node     </a:t>
            </a:r>
            <a:r>
              <a:rPr lang="en-US" sz="1800" dirty="0">
                <a:solidFill>
                  <a:srgbClr val="C00000"/>
                </a:solidFill>
              </a:rPr>
              <a:t>?</a:t>
            </a:r>
            <a:r>
              <a:rPr lang="en-US" sz="1800" dirty="0"/>
              <a:t>      value stored in each of its children.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grpSp>
        <p:nvGrpSpPr>
          <p:cNvPr id="71" name="Group 70"/>
          <p:cNvGrpSpPr/>
          <p:nvPr/>
        </p:nvGrpSpPr>
        <p:grpSpPr>
          <a:xfrm>
            <a:off x="1828800" y="1905000"/>
            <a:ext cx="5029200" cy="4267200"/>
            <a:chOff x="1828800" y="1295400"/>
            <a:chExt cx="5029200" cy="4267200"/>
          </a:xfrm>
        </p:grpSpPr>
        <p:sp>
          <p:nvSpPr>
            <p:cNvPr id="6" name="Oval 5"/>
            <p:cNvSpPr/>
            <p:nvPr/>
          </p:nvSpPr>
          <p:spPr>
            <a:xfrm>
              <a:off x="4419600" y="1295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4715107" y="1524000"/>
              <a:ext cx="1304693" cy="71185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H="1">
              <a:off x="3155796" y="1524000"/>
              <a:ext cx="1263804" cy="762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2971800" y="2286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5867400" y="2235852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2286000" y="2546163"/>
              <a:ext cx="1665248" cy="1035237"/>
              <a:chOff x="2286000" y="3231963"/>
              <a:chExt cx="1665248" cy="1035237"/>
            </a:xfrm>
          </p:grpSpPr>
          <p:sp>
            <p:nvSpPr>
              <p:cNvPr id="16" name="Oval 15"/>
              <p:cNvSpPr/>
              <p:nvPr/>
            </p:nvSpPr>
            <p:spPr>
              <a:xfrm>
                <a:off x="2286000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3646448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" name="Straight Arrow Connector 17"/>
              <p:cNvCxnSpPr>
                <a:stCxn id="14" idx="3"/>
                <a:endCxn id="16" idx="0"/>
              </p:cNvCxnSpPr>
              <p:nvPr/>
            </p:nvCxnSpPr>
            <p:spPr>
              <a:xfrm flipH="1">
                <a:off x="2438400" y="3231963"/>
                <a:ext cx="578037" cy="73043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>
                <a:off x="3231963" y="3231963"/>
                <a:ext cx="566885" cy="73043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/>
          </p:nvGrpSpPr>
          <p:grpSpPr>
            <a:xfrm>
              <a:off x="5192752" y="2514600"/>
              <a:ext cx="1665248" cy="1035237"/>
              <a:chOff x="2286000" y="3231963"/>
              <a:chExt cx="1665248" cy="1035237"/>
            </a:xfrm>
          </p:grpSpPr>
          <p:sp>
            <p:nvSpPr>
              <p:cNvPr id="28" name="Oval 27"/>
              <p:cNvSpPr/>
              <p:nvPr/>
            </p:nvSpPr>
            <p:spPr>
              <a:xfrm>
                <a:off x="2286000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3646448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" name="Straight Arrow Connector 29"/>
              <p:cNvCxnSpPr>
                <a:endCxn id="28" idx="0"/>
              </p:cNvCxnSpPr>
              <p:nvPr/>
            </p:nvCxnSpPr>
            <p:spPr>
              <a:xfrm flipH="1">
                <a:off x="2438400" y="3231963"/>
                <a:ext cx="578037" cy="73043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>
                <a:off x="3231963" y="3231963"/>
                <a:ext cx="566885" cy="73043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/>
            <p:cNvGrpSpPr/>
            <p:nvPr/>
          </p:nvGrpSpPr>
          <p:grpSpPr>
            <a:xfrm>
              <a:off x="1828800" y="3536763"/>
              <a:ext cx="1143000" cy="1035237"/>
              <a:chOff x="2503448" y="3231963"/>
              <a:chExt cx="1143000" cy="1035237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2503448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3341648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Arrow Connector 34"/>
              <p:cNvCxnSpPr/>
              <p:nvPr/>
            </p:nvCxnSpPr>
            <p:spPr>
              <a:xfrm flipH="1">
                <a:off x="2687412" y="3231963"/>
                <a:ext cx="317873" cy="73043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/>
              <p:cNvCxnSpPr>
                <a:endCxn id="34" idx="0"/>
              </p:cNvCxnSpPr>
              <p:nvPr/>
            </p:nvCxnSpPr>
            <p:spPr>
              <a:xfrm>
                <a:off x="3231963" y="3231963"/>
                <a:ext cx="262085" cy="73043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/>
            <p:cNvGrpSpPr/>
            <p:nvPr/>
          </p:nvGrpSpPr>
          <p:grpSpPr>
            <a:xfrm>
              <a:off x="3657600" y="3581400"/>
              <a:ext cx="304800" cy="1066800"/>
              <a:chOff x="2960648" y="3200400"/>
              <a:chExt cx="304800" cy="1066800"/>
            </a:xfrm>
          </p:grpSpPr>
          <p:sp>
            <p:nvSpPr>
              <p:cNvPr id="49" name="Oval 48"/>
              <p:cNvSpPr/>
              <p:nvPr/>
            </p:nvSpPr>
            <p:spPr>
              <a:xfrm>
                <a:off x="2960648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1" name="Straight Arrow Connector 50"/>
              <p:cNvCxnSpPr>
                <a:stCxn id="17" idx="4"/>
                <a:endCxn id="49" idx="0"/>
              </p:cNvCxnSpPr>
              <p:nvPr/>
            </p:nvCxnSpPr>
            <p:spPr>
              <a:xfrm>
                <a:off x="3101896" y="3200400"/>
                <a:ext cx="11152" cy="7620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" name="Group 53"/>
            <p:cNvGrpSpPr/>
            <p:nvPr/>
          </p:nvGrpSpPr>
          <p:grpSpPr>
            <a:xfrm>
              <a:off x="2971800" y="2590800"/>
              <a:ext cx="304800" cy="990600"/>
              <a:chOff x="2427248" y="3276600"/>
              <a:chExt cx="304800" cy="990600"/>
            </a:xfrm>
          </p:grpSpPr>
          <p:sp>
            <p:nvSpPr>
              <p:cNvPr id="55" name="Oval 54"/>
              <p:cNvSpPr/>
              <p:nvPr/>
            </p:nvSpPr>
            <p:spPr>
              <a:xfrm>
                <a:off x="2427248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/>
              <p:cNvCxnSpPr>
                <a:stCxn id="14" idx="4"/>
                <a:endCxn id="55" idx="0"/>
              </p:cNvCxnSpPr>
              <p:nvPr/>
            </p:nvCxnSpPr>
            <p:spPr>
              <a:xfrm>
                <a:off x="2579648" y="3276600"/>
                <a:ext cx="0" cy="6858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1828800" y="4572000"/>
              <a:ext cx="304800" cy="990600"/>
              <a:chOff x="2427248" y="3276600"/>
              <a:chExt cx="304800" cy="990600"/>
            </a:xfrm>
          </p:grpSpPr>
          <p:sp>
            <p:nvSpPr>
              <p:cNvPr id="59" name="Oval 58"/>
              <p:cNvSpPr/>
              <p:nvPr/>
            </p:nvSpPr>
            <p:spPr>
              <a:xfrm>
                <a:off x="2427248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/>
              <p:cNvCxnSpPr>
                <a:endCxn id="59" idx="0"/>
              </p:cNvCxnSpPr>
              <p:nvPr/>
            </p:nvCxnSpPr>
            <p:spPr>
              <a:xfrm>
                <a:off x="2579648" y="3276600"/>
                <a:ext cx="0" cy="6858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/>
          </p:nvGrpSpPr>
          <p:grpSpPr>
            <a:xfrm>
              <a:off x="6553200" y="3546088"/>
              <a:ext cx="304800" cy="990600"/>
              <a:chOff x="2427248" y="3276600"/>
              <a:chExt cx="304800" cy="990600"/>
            </a:xfrm>
          </p:grpSpPr>
          <p:sp>
            <p:nvSpPr>
              <p:cNvPr id="63" name="Oval 62"/>
              <p:cNvSpPr/>
              <p:nvPr/>
            </p:nvSpPr>
            <p:spPr>
              <a:xfrm>
                <a:off x="2427248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/>
              <p:cNvCxnSpPr>
                <a:endCxn id="63" idx="0"/>
              </p:cNvCxnSpPr>
              <p:nvPr/>
            </p:nvCxnSpPr>
            <p:spPr>
              <a:xfrm>
                <a:off x="2579648" y="3276600"/>
                <a:ext cx="0" cy="6858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Group 83"/>
          <p:cNvGrpSpPr/>
          <p:nvPr/>
        </p:nvGrpSpPr>
        <p:grpSpPr>
          <a:xfrm>
            <a:off x="1752600" y="1916668"/>
            <a:ext cx="5143104" cy="4331732"/>
            <a:chOff x="1752600" y="1295400"/>
            <a:chExt cx="5143104" cy="4331732"/>
          </a:xfrm>
        </p:grpSpPr>
        <p:sp>
          <p:nvSpPr>
            <p:cNvPr id="69" name="TextBox 68"/>
            <p:cNvSpPr txBox="1"/>
            <p:nvPr/>
          </p:nvSpPr>
          <p:spPr>
            <a:xfrm>
              <a:off x="5791200" y="22214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419600" y="12954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5143896" y="32120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18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477000" y="32004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23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6477000" y="42026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47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3600648" y="4311134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21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2934096" y="2286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2934096" y="32766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71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3619896" y="32766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2209800" y="32766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13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752600" y="42788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37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1752600" y="52578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43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2621361" y="4234934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19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733800" y="1383268"/>
                <a:ext cx="410689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&lt;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1383268"/>
                <a:ext cx="410689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r="-1940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5447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uiExpand="1" build="p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7030A0"/>
                </a:solidFill>
              </a:rPr>
              <a:t>Operations </a:t>
            </a:r>
            <a:r>
              <a:rPr lang="en-US" sz="4000" b="1" dirty="0"/>
              <a:t>on a heap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Query Operations</a:t>
            </a:r>
          </a:p>
          <a:p>
            <a:r>
              <a:rPr lang="en-US" sz="2000" b="1" dirty="0">
                <a:solidFill>
                  <a:srgbClr val="7030A0"/>
                </a:solidFill>
              </a:rPr>
              <a:t>Find-min</a:t>
            </a:r>
            <a:r>
              <a:rPr lang="en-US" sz="2000" dirty="0"/>
              <a:t>: report the smallest key stored in the heap.</a:t>
            </a:r>
          </a:p>
          <a:p>
            <a:pPr marL="0" indent="0">
              <a:buNone/>
            </a:pPr>
            <a:endParaRPr lang="en-US" sz="24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Update Operations</a:t>
            </a:r>
          </a:p>
          <a:p>
            <a:r>
              <a:rPr lang="en-US" sz="2000" b="1" dirty="0" err="1">
                <a:solidFill>
                  <a:srgbClr val="C00000"/>
                </a:solidFill>
              </a:rPr>
              <a:t>CreateHeap</a:t>
            </a:r>
            <a:r>
              <a:rPr lang="en-US" sz="2000" dirty="0"/>
              <a:t>(</a:t>
            </a:r>
            <a:r>
              <a:rPr lang="en-US" sz="2000" b="1" dirty="0">
                <a:solidFill>
                  <a:srgbClr val="0070C0"/>
                </a:solidFill>
              </a:rPr>
              <a:t>H</a:t>
            </a:r>
            <a:r>
              <a:rPr lang="en-US" sz="2000" dirty="0"/>
              <a:t>)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Insert</a:t>
            </a:r>
            <a:r>
              <a:rPr lang="en-US" sz="2000" dirty="0"/>
              <a:t>(</a:t>
            </a:r>
            <a:r>
              <a:rPr lang="en-US" sz="2000" b="1" dirty="0" err="1">
                <a:solidFill>
                  <a:srgbClr val="0070C0"/>
                </a:solidFill>
              </a:rPr>
              <a:t>x</a:t>
            </a:r>
            <a:r>
              <a:rPr lang="en-US" sz="2000" dirty="0" err="1"/>
              <a:t>,</a:t>
            </a:r>
            <a:r>
              <a:rPr lang="en-US" sz="2000" b="1" dirty="0" err="1">
                <a:solidFill>
                  <a:srgbClr val="0070C0"/>
                </a:solidFill>
              </a:rPr>
              <a:t>H</a:t>
            </a:r>
            <a:r>
              <a:rPr lang="en-US" sz="2000" dirty="0"/>
              <a:t>) 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Extract-min</a:t>
            </a:r>
            <a:r>
              <a:rPr lang="en-US" sz="2000" dirty="0"/>
              <a:t>(</a:t>
            </a:r>
            <a:r>
              <a:rPr lang="en-US" sz="2000" b="1" dirty="0">
                <a:solidFill>
                  <a:srgbClr val="0070C0"/>
                </a:solidFill>
              </a:rPr>
              <a:t>H</a:t>
            </a:r>
            <a:r>
              <a:rPr lang="en-US" sz="2000" dirty="0"/>
              <a:t>) 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Decrease-key</a:t>
            </a:r>
            <a:r>
              <a:rPr lang="en-US" sz="2000" dirty="0"/>
              <a:t>(</a:t>
            </a:r>
            <a:r>
              <a:rPr lang="en-US" sz="2000" b="1" i="1" dirty="0">
                <a:solidFill>
                  <a:srgbClr val="0070C0"/>
                </a:solidFill>
              </a:rPr>
              <a:t>p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0070C0"/>
                </a:solidFill>
              </a:rPr>
              <a:t>∆</a:t>
            </a:r>
            <a:r>
              <a:rPr lang="en-US" sz="2000" dirty="0"/>
              <a:t>, </a:t>
            </a:r>
            <a:r>
              <a:rPr lang="en-US" sz="2000" b="1" dirty="0">
                <a:solidFill>
                  <a:srgbClr val="0070C0"/>
                </a:solidFill>
              </a:rPr>
              <a:t>H</a:t>
            </a:r>
            <a:r>
              <a:rPr lang="en-US" sz="2000" dirty="0"/>
              <a:t>) </a:t>
            </a:r>
            <a:endParaRPr lang="en-US" sz="2000" b="1" dirty="0"/>
          </a:p>
          <a:p>
            <a:r>
              <a:rPr lang="en-US" sz="2000" b="1" dirty="0">
                <a:solidFill>
                  <a:srgbClr val="C00000"/>
                </a:solidFill>
              </a:rPr>
              <a:t>Merge</a:t>
            </a:r>
            <a:r>
              <a:rPr lang="en-US" sz="2000" dirty="0"/>
              <a:t>(</a:t>
            </a:r>
            <a:r>
              <a:rPr lang="en-US" sz="2000" b="1" dirty="0">
                <a:solidFill>
                  <a:srgbClr val="0070C0"/>
                </a:solidFill>
              </a:rPr>
              <a:t>H</a:t>
            </a:r>
            <a:r>
              <a:rPr lang="en-US" sz="1600" b="1" dirty="0">
                <a:solidFill>
                  <a:srgbClr val="0070C0"/>
                </a:solidFill>
              </a:rPr>
              <a:t>1</a:t>
            </a:r>
            <a:r>
              <a:rPr lang="en-US" sz="2000" b="1" dirty="0">
                <a:solidFill>
                  <a:srgbClr val="0070C0"/>
                </a:solidFill>
              </a:rPr>
              <a:t>,H</a:t>
            </a:r>
            <a:r>
              <a:rPr lang="en-US" sz="1600" b="1" dirty="0">
                <a:solidFill>
                  <a:srgbClr val="0070C0"/>
                </a:solidFill>
              </a:rPr>
              <a:t>2</a:t>
            </a:r>
            <a:r>
              <a:rPr lang="en-US" sz="2000" dirty="0"/>
              <a:t>)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      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510111" y="3276600"/>
            <a:ext cx="2900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: Create an empty heap </a:t>
            </a:r>
            <a:r>
              <a:rPr lang="en-US" sz="2000" b="1" dirty="0">
                <a:solidFill>
                  <a:srgbClr val="0070C0"/>
                </a:solidFill>
              </a:rPr>
              <a:t>H</a:t>
            </a:r>
            <a:r>
              <a:rPr lang="en-US" sz="2000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4573" y="3657600"/>
            <a:ext cx="50620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: Insert a </a:t>
            </a:r>
            <a:r>
              <a:rPr lang="en-US" sz="2000" u="sng" dirty="0"/>
              <a:t>new key</a:t>
            </a:r>
            <a:r>
              <a:rPr lang="en-US" sz="2000" dirty="0"/>
              <a:t> with value </a:t>
            </a:r>
            <a:r>
              <a:rPr lang="en-US" sz="2000" b="1" dirty="0">
                <a:solidFill>
                  <a:srgbClr val="0070C0"/>
                </a:solidFill>
              </a:rPr>
              <a:t>x</a:t>
            </a:r>
            <a:r>
              <a:rPr lang="en-US" sz="2000" b="1" dirty="0"/>
              <a:t> </a:t>
            </a:r>
            <a:r>
              <a:rPr lang="en-US" sz="2000" dirty="0"/>
              <a:t>into the heap </a:t>
            </a:r>
            <a:r>
              <a:rPr lang="en-US" sz="2000" b="1" dirty="0">
                <a:solidFill>
                  <a:srgbClr val="0070C0"/>
                </a:solidFill>
              </a:rPr>
              <a:t>H</a:t>
            </a:r>
            <a:r>
              <a:rPr lang="en-US" sz="2000" b="1" dirty="0"/>
              <a:t>.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2438400" y="4019490"/>
            <a:ext cx="35572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: delete the </a:t>
            </a:r>
            <a:r>
              <a:rPr lang="en-US" sz="2000" u="sng" dirty="0"/>
              <a:t>smallest</a:t>
            </a:r>
            <a:r>
              <a:rPr lang="en-US" sz="2000" dirty="0"/>
              <a:t> key from </a:t>
            </a:r>
            <a:r>
              <a:rPr lang="en-US" sz="2000" b="1" dirty="0">
                <a:solidFill>
                  <a:srgbClr val="0070C0"/>
                </a:solidFill>
              </a:rPr>
              <a:t>H</a:t>
            </a:r>
            <a:r>
              <a:rPr lang="en-US" sz="2000" b="1" dirty="0"/>
              <a:t>.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3149979" y="4343400"/>
            <a:ext cx="5003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: decrease the value of the key </a:t>
            </a:r>
            <a:r>
              <a:rPr lang="en-US" sz="2000" b="1" i="1" dirty="0">
                <a:solidFill>
                  <a:srgbClr val="0070C0"/>
                </a:solidFill>
              </a:rPr>
              <a:t>p</a:t>
            </a:r>
            <a:r>
              <a:rPr lang="en-US" sz="2000" dirty="0"/>
              <a:t> by amount </a:t>
            </a:r>
            <a:r>
              <a:rPr lang="en-US" sz="2000" dirty="0">
                <a:solidFill>
                  <a:srgbClr val="0070C0"/>
                </a:solidFill>
              </a:rPr>
              <a:t>∆</a:t>
            </a:r>
            <a:r>
              <a:rPr lang="en-US" sz="2000" b="1" dirty="0"/>
              <a:t>.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2362200" y="4724400"/>
            <a:ext cx="32819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: Merge two heaps </a:t>
            </a:r>
            <a:r>
              <a:rPr lang="en-US" sz="2000" b="1" dirty="0">
                <a:solidFill>
                  <a:srgbClr val="0070C0"/>
                </a:solidFill>
              </a:rPr>
              <a:t>H</a:t>
            </a:r>
            <a:r>
              <a:rPr lang="en-US" sz="1600" b="1" dirty="0">
                <a:solidFill>
                  <a:srgbClr val="0070C0"/>
                </a:solidFill>
              </a:rPr>
              <a:t>1</a:t>
            </a:r>
            <a:r>
              <a:rPr lang="en-US" sz="2000" b="1" dirty="0"/>
              <a:t> and </a:t>
            </a:r>
            <a:r>
              <a:rPr lang="en-US" sz="2000" b="1" dirty="0">
                <a:solidFill>
                  <a:srgbClr val="0070C0"/>
                </a:solidFill>
              </a:rPr>
              <a:t>H</a:t>
            </a:r>
            <a:r>
              <a:rPr lang="en-US" sz="1600" b="1" dirty="0">
                <a:solidFill>
                  <a:srgbClr val="0070C0"/>
                </a:solidFill>
              </a:rPr>
              <a:t>2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38617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b="1" dirty="0"/>
              <a:t>Can  we </a:t>
            </a:r>
            <a:r>
              <a:rPr lang="en-US" sz="3200" b="1" dirty="0">
                <a:solidFill>
                  <a:srgbClr val="7030A0"/>
                </a:solidFill>
              </a:rPr>
              <a:t>implement</a:t>
            </a:r>
            <a:br>
              <a:rPr lang="en-US" sz="3200" b="1" dirty="0">
                <a:solidFill>
                  <a:srgbClr val="7030A0"/>
                </a:solidFill>
              </a:rPr>
            </a:br>
            <a:r>
              <a:rPr lang="en-US" sz="3200" b="1" dirty="0">
                <a:solidFill>
                  <a:srgbClr val="7030A0"/>
                </a:solidFill>
              </a:rPr>
              <a:t> </a:t>
            </a:r>
            <a:r>
              <a:rPr lang="en-US" sz="3200" b="1" dirty="0">
                <a:solidFill>
                  <a:srgbClr val="0070C0"/>
                </a:solidFill>
              </a:rPr>
              <a:t>a binary tree</a:t>
            </a:r>
            <a:r>
              <a:rPr lang="en-US" sz="3200" b="1" dirty="0">
                <a:solidFill>
                  <a:srgbClr val="7030A0"/>
                </a:solidFill>
              </a:rPr>
              <a:t> </a:t>
            </a:r>
            <a:r>
              <a:rPr lang="en-US" sz="3200" b="1" dirty="0"/>
              <a:t>using</a:t>
            </a:r>
            <a:r>
              <a:rPr lang="en-US" sz="3200" b="1" dirty="0">
                <a:solidFill>
                  <a:srgbClr val="7030A0"/>
                </a:solidFill>
              </a:rPr>
              <a:t> </a:t>
            </a:r>
            <a:r>
              <a:rPr lang="en-US" sz="3200" b="1" dirty="0">
                <a:solidFill>
                  <a:srgbClr val="0070C0"/>
                </a:solidFill>
              </a:rPr>
              <a:t>an array </a:t>
            </a:r>
            <a:r>
              <a:rPr lang="en-US" sz="3200" b="1" dirty="0"/>
              <a:t>?</a:t>
            </a:r>
            <a:endParaRPr lang="en-US" sz="2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sz="2800" b="1" dirty="0">
              <a:solidFill>
                <a:srgbClr val="7030A0"/>
              </a:solidFill>
            </a:endParaRPr>
          </a:p>
        </p:txBody>
      </p:sp>
      <p:sp>
        <p:nvSpPr>
          <p:cNvPr id="2" name="Down Ribbon 1"/>
          <p:cNvSpPr/>
          <p:nvPr/>
        </p:nvSpPr>
        <p:spPr>
          <a:xfrm>
            <a:off x="2514600" y="4495800"/>
            <a:ext cx="3733800" cy="7650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Yes.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In some </a:t>
            </a:r>
            <a:r>
              <a:rPr lang="en-US" b="1" dirty="0">
                <a:solidFill>
                  <a:srgbClr val="C00000"/>
                </a:solidFill>
              </a:rPr>
              <a:t>special</a:t>
            </a:r>
            <a:r>
              <a:rPr lang="en-US" b="1" dirty="0">
                <a:solidFill>
                  <a:schemeClr val="tx1"/>
                </a:solidFill>
              </a:rPr>
              <a:t> cases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02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 </a:t>
            </a:r>
            <a:r>
              <a:rPr lang="en-US" sz="3600" b="1" dirty="0">
                <a:solidFill>
                  <a:srgbClr val="7030A0"/>
                </a:solidFill>
              </a:rPr>
              <a:t>complete </a:t>
            </a:r>
            <a:r>
              <a:rPr lang="en-US" sz="3600" b="1" dirty="0"/>
              <a:t>binary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                                A complete binary of 12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419600" y="19812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971800" y="2209800"/>
            <a:ext cx="1447800" cy="1066800"/>
            <a:chOff x="2971800" y="2209800"/>
            <a:chExt cx="1447800" cy="1066800"/>
          </a:xfrm>
        </p:grpSpPr>
        <p:cxnSp>
          <p:nvCxnSpPr>
            <p:cNvPr id="12" name="Straight Arrow Connector 11"/>
            <p:cNvCxnSpPr/>
            <p:nvPr/>
          </p:nvCxnSpPr>
          <p:spPr>
            <a:xfrm flipH="1">
              <a:off x="3155796" y="2209800"/>
              <a:ext cx="1263804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2971800" y="29718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715107" y="2209800"/>
            <a:ext cx="1457093" cy="1016652"/>
            <a:chOff x="4715107" y="2209800"/>
            <a:chExt cx="1457093" cy="1016652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4715107" y="2209800"/>
              <a:ext cx="1304693" cy="71185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5867400" y="2921652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286000" y="3231963"/>
            <a:ext cx="730437" cy="1035237"/>
            <a:chOff x="2286000" y="3231963"/>
            <a:chExt cx="730437" cy="1035237"/>
          </a:xfrm>
        </p:grpSpPr>
        <p:sp>
          <p:nvSpPr>
            <p:cNvPr id="16" name="Oval 15"/>
            <p:cNvSpPr/>
            <p:nvPr/>
          </p:nvSpPr>
          <p:spPr>
            <a:xfrm>
              <a:off x="2286000" y="3962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/>
            <p:cNvCxnSpPr>
              <a:stCxn id="14" idx="3"/>
              <a:endCxn id="16" idx="0"/>
            </p:cNvCxnSpPr>
            <p:nvPr/>
          </p:nvCxnSpPr>
          <p:spPr>
            <a:xfrm flipH="1">
              <a:off x="2438400" y="3231963"/>
              <a:ext cx="578037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3231963" y="3231963"/>
            <a:ext cx="719285" cy="1035237"/>
            <a:chOff x="3231963" y="3231963"/>
            <a:chExt cx="719285" cy="1035237"/>
          </a:xfrm>
        </p:grpSpPr>
        <p:sp>
          <p:nvSpPr>
            <p:cNvPr id="17" name="Oval 16"/>
            <p:cNvSpPr/>
            <p:nvPr/>
          </p:nvSpPr>
          <p:spPr>
            <a:xfrm>
              <a:off x="3646448" y="3962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/>
            <p:cNvCxnSpPr>
              <a:stCxn id="14" idx="5"/>
            </p:cNvCxnSpPr>
            <p:nvPr/>
          </p:nvCxnSpPr>
          <p:spPr>
            <a:xfrm>
              <a:off x="3231963" y="3231963"/>
              <a:ext cx="566885" cy="730437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5192752" y="3200400"/>
            <a:ext cx="730437" cy="1035237"/>
            <a:chOff x="5192752" y="3200400"/>
            <a:chExt cx="730437" cy="1035237"/>
          </a:xfrm>
        </p:grpSpPr>
        <p:sp>
          <p:nvSpPr>
            <p:cNvPr id="28" name="Oval 27"/>
            <p:cNvSpPr/>
            <p:nvPr/>
          </p:nvSpPr>
          <p:spPr>
            <a:xfrm>
              <a:off x="5192752" y="3930837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/>
            <p:cNvCxnSpPr>
              <a:endCxn id="28" idx="0"/>
            </p:cNvCxnSpPr>
            <p:nvPr/>
          </p:nvCxnSpPr>
          <p:spPr>
            <a:xfrm flipH="1">
              <a:off x="5345152" y="3200400"/>
              <a:ext cx="578037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6138715" y="3200400"/>
            <a:ext cx="719285" cy="1035237"/>
            <a:chOff x="6138715" y="3200400"/>
            <a:chExt cx="719285" cy="1035237"/>
          </a:xfrm>
        </p:grpSpPr>
        <p:sp>
          <p:nvSpPr>
            <p:cNvPr id="29" name="Oval 28"/>
            <p:cNvSpPr/>
            <p:nvPr/>
          </p:nvSpPr>
          <p:spPr>
            <a:xfrm>
              <a:off x="6553200" y="3930837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>
              <a:off x="6138715" y="3200400"/>
              <a:ext cx="5668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1828800" y="4222563"/>
            <a:ext cx="501837" cy="1035237"/>
            <a:chOff x="1828800" y="4222563"/>
            <a:chExt cx="501837" cy="1035237"/>
          </a:xfrm>
        </p:grpSpPr>
        <p:sp>
          <p:nvSpPr>
            <p:cNvPr id="33" name="Oval 32"/>
            <p:cNvSpPr/>
            <p:nvPr/>
          </p:nvSpPr>
          <p:spPr>
            <a:xfrm>
              <a:off x="18288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>
              <a:stCxn id="16" idx="3"/>
            </p:cNvCxnSpPr>
            <p:nvPr/>
          </p:nvCxnSpPr>
          <p:spPr>
            <a:xfrm flipH="1">
              <a:off x="20127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2557315" y="4222563"/>
            <a:ext cx="414485" cy="1035237"/>
            <a:chOff x="2557315" y="4222563"/>
            <a:chExt cx="414485" cy="1035237"/>
          </a:xfrm>
        </p:grpSpPr>
        <p:sp>
          <p:nvSpPr>
            <p:cNvPr id="34" name="Oval 33"/>
            <p:cNvSpPr/>
            <p:nvPr/>
          </p:nvSpPr>
          <p:spPr>
            <a:xfrm>
              <a:off x="26670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/>
            <p:cNvCxnSpPr>
              <a:endCxn id="34" idx="0"/>
            </p:cNvCxnSpPr>
            <p:nvPr/>
          </p:nvCxnSpPr>
          <p:spPr>
            <a:xfrm>
              <a:off x="25573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4800600" y="4222563"/>
            <a:ext cx="459122" cy="1003674"/>
            <a:chOff x="2427248" y="3263526"/>
            <a:chExt cx="459122" cy="1003674"/>
          </a:xfrm>
        </p:grpSpPr>
        <p:sp>
          <p:nvSpPr>
            <p:cNvPr id="40" name="Oval 39"/>
            <p:cNvSpPr/>
            <p:nvPr/>
          </p:nvSpPr>
          <p:spPr>
            <a:xfrm>
              <a:off x="2427248" y="3962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/>
            <p:cNvCxnSpPr>
              <a:stCxn id="17" idx="3"/>
              <a:endCxn id="40" idx="0"/>
            </p:cNvCxnSpPr>
            <p:nvPr/>
          </p:nvCxnSpPr>
          <p:spPr>
            <a:xfrm flipH="1">
              <a:off x="2579648" y="3263526"/>
              <a:ext cx="306722" cy="698874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3200400" y="4222563"/>
            <a:ext cx="501837" cy="1035237"/>
            <a:chOff x="3200400" y="4222563"/>
            <a:chExt cx="501837" cy="1035237"/>
          </a:xfrm>
        </p:grpSpPr>
        <p:sp>
          <p:nvSpPr>
            <p:cNvPr id="48" name="Oval 47"/>
            <p:cNvSpPr/>
            <p:nvPr/>
          </p:nvSpPr>
          <p:spPr>
            <a:xfrm>
              <a:off x="32004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 flipH="1">
              <a:off x="33843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3928915" y="4222563"/>
            <a:ext cx="414485" cy="1035237"/>
            <a:chOff x="3928915" y="4222563"/>
            <a:chExt cx="414485" cy="1035237"/>
          </a:xfrm>
        </p:grpSpPr>
        <p:sp>
          <p:nvSpPr>
            <p:cNvPr id="49" name="Oval 48"/>
            <p:cNvSpPr/>
            <p:nvPr/>
          </p:nvSpPr>
          <p:spPr>
            <a:xfrm>
              <a:off x="40386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Arrow Connector 50"/>
            <p:cNvCxnSpPr>
              <a:endCxn id="49" idx="0"/>
            </p:cNvCxnSpPr>
            <p:nvPr/>
          </p:nvCxnSpPr>
          <p:spPr>
            <a:xfrm>
              <a:off x="39289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5356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</a:t>
            </a:r>
            <a:r>
              <a:rPr lang="en-US" sz="3600" b="1" dirty="0">
                <a:solidFill>
                  <a:srgbClr val="7030A0"/>
                </a:solidFill>
              </a:rPr>
              <a:t> complete </a:t>
            </a:r>
            <a:r>
              <a:rPr lang="en-US" sz="3600" b="1" dirty="0"/>
              <a:t>binary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sz="1800" dirty="0"/>
                  <a:t>The label of the </a:t>
                </a:r>
                <a:r>
                  <a:rPr lang="en-US" sz="1800" b="1" dirty="0"/>
                  <a:t>leftmost node </a:t>
                </a:r>
                <a:r>
                  <a:rPr lang="en-US" sz="1800" dirty="0"/>
                  <a:t>at level 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b="1" dirty="0"/>
                  <a:t> =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??</a:t>
                </a:r>
                <a:r>
                  <a:rPr lang="en-US" sz="1800" b="1" dirty="0"/>
                  <a:t>  </a:t>
                </a:r>
              </a:p>
              <a:p>
                <a:pPr marL="0" indent="0">
                  <a:buNone/>
                </a:pPr>
                <a:r>
                  <a:rPr lang="en-US" sz="1800" dirty="0"/>
                  <a:t>The label of  a </a:t>
                </a:r>
                <a:r>
                  <a:rPr lang="en-US" sz="1800" b="1" dirty="0"/>
                  <a:t>node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v</a:t>
                </a:r>
                <a:r>
                  <a:rPr lang="en-US" sz="1800" b="1" dirty="0"/>
                  <a:t> </a:t>
                </a:r>
                <a:r>
                  <a:rPr lang="en-US" sz="1800" dirty="0"/>
                  <a:t>at level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b="1" dirty="0"/>
                  <a:t> occurring at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1800" b="1" dirty="0" err="1"/>
                  <a:t>th</a:t>
                </a:r>
                <a:r>
                  <a:rPr lang="en-US" sz="1800" b="1" dirty="0"/>
                  <a:t> place from left  =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??</a:t>
                </a:r>
                <a:r>
                  <a:rPr lang="en-US" sz="1800" b="1" dirty="0"/>
                  <a:t>  </a:t>
                </a:r>
              </a:p>
              <a:p>
                <a:pPr marL="0" indent="0">
                  <a:buNone/>
                </a:pPr>
                <a:r>
                  <a:rPr lang="en-US" sz="1800" dirty="0"/>
                  <a:t>The label of the </a:t>
                </a:r>
                <a:r>
                  <a:rPr lang="en-US" sz="1800" b="1" dirty="0"/>
                  <a:t>left</a:t>
                </a:r>
                <a:r>
                  <a:rPr lang="en-US" sz="1800" dirty="0"/>
                  <a:t> child of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v </a:t>
                </a:r>
                <a:r>
                  <a:rPr lang="en-US" sz="1800" dirty="0"/>
                  <a:t>is=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??</a:t>
                </a:r>
              </a:p>
              <a:p>
                <a:pPr marL="0" indent="0">
                  <a:buNone/>
                </a:pPr>
                <a:r>
                  <a:rPr lang="en-US" sz="1800" dirty="0"/>
                  <a:t>The label of the </a:t>
                </a:r>
                <a:r>
                  <a:rPr lang="en-US" sz="1800" b="1" dirty="0"/>
                  <a:t>right</a:t>
                </a:r>
                <a:r>
                  <a:rPr lang="en-US" sz="1800" dirty="0"/>
                  <a:t> child of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v </a:t>
                </a:r>
                <a:r>
                  <a:rPr lang="en-US" sz="1800" dirty="0"/>
                  <a:t>is=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??</a:t>
                </a: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  <a:blipFill rotWithShape="1">
                <a:blip r:embed="rId2"/>
                <a:stretch>
                  <a:fillRect l="-1852" t="-956" b="-6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4419600" y="19812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971800" y="2209800"/>
            <a:ext cx="1447800" cy="1066800"/>
            <a:chOff x="2971800" y="2209800"/>
            <a:chExt cx="1447800" cy="1066800"/>
          </a:xfrm>
        </p:grpSpPr>
        <p:cxnSp>
          <p:nvCxnSpPr>
            <p:cNvPr id="12" name="Straight Arrow Connector 11"/>
            <p:cNvCxnSpPr/>
            <p:nvPr/>
          </p:nvCxnSpPr>
          <p:spPr>
            <a:xfrm flipH="1">
              <a:off x="3155796" y="2209800"/>
              <a:ext cx="1263804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2971800" y="29718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715107" y="2209800"/>
            <a:ext cx="1457093" cy="1016652"/>
            <a:chOff x="4715107" y="2209800"/>
            <a:chExt cx="1457093" cy="1016652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4715107" y="2209800"/>
              <a:ext cx="1304693" cy="71185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5867400" y="2921652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286000" y="3231963"/>
            <a:ext cx="730437" cy="1035237"/>
            <a:chOff x="2286000" y="3231963"/>
            <a:chExt cx="730437" cy="1035237"/>
          </a:xfrm>
        </p:grpSpPr>
        <p:sp>
          <p:nvSpPr>
            <p:cNvPr id="16" name="Oval 15"/>
            <p:cNvSpPr/>
            <p:nvPr/>
          </p:nvSpPr>
          <p:spPr>
            <a:xfrm>
              <a:off x="2286000" y="3962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/>
            <p:cNvCxnSpPr>
              <a:stCxn id="14" idx="3"/>
              <a:endCxn id="16" idx="0"/>
            </p:cNvCxnSpPr>
            <p:nvPr/>
          </p:nvCxnSpPr>
          <p:spPr>
            <a:xfrm flipH="1">
              <a:off x="2438400" y="3231963"/>
              <a:ext cx="578037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3231963" y="3231963"/>
            <a:ext cx="719285" cy="1035237"/>
            <a:chOff x="3231963" y="3231963"/>
            <a:chExt cx="719285" cy="1035237"/>
          </a:xfrm>
        </p:grpSpPr>
        <p:sp>
          <p:nvSpPr>
            <p:cNvPr id="17" name="Oval 16"/>
            <p:cNvSpPr/>
            <p:nvPr/>
          </p:nvSpPr>
          <p:spPr>
            <a:xfrm>
              <a:off x="3646448" y="3962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/>
            <p:cNvCxnSpPr>
              <a:stCxn id="14" idx="5"/>
            </p:cNvCxnSpPr>
            <p:nvPr/>
          </p:nvCxnSpPr>
          <p:spPr>
            <a:xfrm>
              <a:off x="3231963" y="3231963"/>
              <a:ext cx="566885" cy="730437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5192752" y="3200400"/>
            <a:ext cx="730437" cy="1035237"/>
            <a:chOff x="5192752" y="3200400"/>
            <a:chExt cx="730437" cy="1035237"/>
          </a:xfrm>
        </p:grpSpPr>
        <p:sp>
          <p:nvSpPr>
            <p:cNvPr id="28" name="Oval 27"/>
            <p:cNvSpPr/>
            <p:nvPr/>
          </p:nvSpPr>
          <p:spPr>
            <a:xfrm>
              <a:off x="5192752" y="3930837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/>
            <p:cNvCxnSpPr>
              <a:endCxn id="28" idx="0"/>
            </p:cNvCxnSpPr>
            <p:nvPr/>
          </p:nvCxnSpPr>
          <p:spPr>
            <a:xfrm flipH="1">
              <a:off x="5345152" y="3200400"/>
              <a:ext cx="578037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6138715" y="3200400"/>
            <a:ext cx="719285" cy="1035237"/>
            <a:chOff x="6138715" y="3200400"/>
            <a:chExt cx="719285" cy="1035237"/>
          </a:xfrm>
        </p:grpSpPr>
        <p:sp>
          <p:nvSpPr>
            <p:cNvPr id="29" name="Oval 28"/>
            <p:cNvSpPr/>
            <p:nvPr/>
          </p:nvSpPr>
          <p:spPr>
            <a:xfrm>
              <a:off x="6553200" y="3930837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>
              <a:off x="6138715" y="3200400"/>
              <a:ext cx="5668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1828800" y="4222563"/>
            <a:ext cx="501837" cy="1035237"/>
            <a:chOff x="1828800" y="4222563"/>
            <a:chExt cx="501837" cy="1035237"/>
          </a:xfrm>
        </p:grpSpPr>
        <p:sp>
          <p:nvSpPr>
            <p:cNvPr id="33" name="Oval 32"/>
            <p:cNvSpPr/>
            <p:nvPr/>
          </p:nvSpPr>
          <p:spPr>
            <a:xfrm>
              <a:off x="18288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>
              <a:stCxn id="16" idx="3"/>
            </p:cNvCxnSpPr>
            <p:nvPr/>
          </p:nvCxnSpPr>
          <p:spPr>
            <a:xfrm flipH="1">
              <a:off x="20127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2557315" y="4222563"/>
            <a:ext cx="414485" cy="1035237"/>
            <a:chOff x="2557315" y="4222563"/>
            <a:chExt cx="414485" cy="1035237"/>
          </a:xfrm>
        </p:grpSpPr>
        <p:sp>
          <p:nvSpPr>
            <p:cNvPr id="34" name="Oval 33"/>
            <p:cNvSpPr/>
            <p:nvPr/>
          </p:nvSpPr>
          <p:spPr>
            <a:xfrm>
              <a:off x="26670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/>
            <p:cNvCxnSpPr>
              <a:endCxn id="34" idx="0"/>
            </p:cNvCxnSpPr>
            <p:nvPr/>
          </p:nvCxnSpPr>
          <p:spPr>
            <a:xfrm>
              <a:off x="25573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4800600" y="4222563"/>
            <a:ext cx="459122" cy="1003674"/>
            <a:chOff x="2427248" y="3263526"/>
            <a:chExt cx="459122" cy="1003674"/>
          </a:xfrm>
        </p:grpSpPr>
        <p:sp>
          <p:nvSpPr>
            <p:cNvPr id="40" name="Oval 39"/>
            <p:cNvSpPr/>
            <p:nvPr/>
          </p:nvSpPr>
          <p:spPr>
            <a:xfrm>
              <a:off x="2427248" y="3962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/>
            <p:cNvCxnSpPr>
              <a:stCxn id="17" idx="3"/>
              <a:endCxn id="40" idx="0"/>
            </p:cNvCxnSpPr>
            <p:nvPr/>
          </p:nvCxnSpPr>
          <p:spPr>
            <a:xfrm flipH="1">
              <a:off x="2579648" y="3263526"/>
              <a:ext cx="306722" cy="698874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3200400" y="4222563"/>
            <a:ext cx="501837" cy="1035237"/>
            <a:chOff x="3200400" y="4222563"/>
            <a:chExt cx="501837" cy="1035237"/>
          </a:xfrm>
        </p:grpSpPr>
        <p:sp>
          <p:nvSpPr>
            <p:cNvPr id="48" name="Oval 47"/>
            <p:cNvSpPr/>
            <p:nvPr/>
          </p:nvSpPr>
          <p:spPr>
            <a:xfrm>
              <a:off x="32004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 flipH="1">
              <a:off x="33843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3928915" y="4222563"/>
            <a:ext cx="414485" cy="1035237"/>
            <a:chOff x="3928915" y="4222563"/>
            <a:chExt cx="414485" cy="1035237"/>
          </a:xfrm>
        </p:grpSpPr>
        <p:sp>
          <p:nvSpPr>
            <p:cNvPr id="49" name="Oval 48"/>
            <p:cNvSpPr/>
            <p:nvPr/>
          </p:nvSpPr>
          <p:spPr>
            <a:xfrm>
              <a:off x="40386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Arrow Connector 50"/>
            <p:cNvCxnSpPr>
              <a:endCxn id="49" idx="0"/>
            </p:cNvCxnSpPr>
            <p:nvPr/>
          </p:nvCxnSpPr>
          <p:spPr>
            <a:xfrm>
              <a:off x="39289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5367453" y="1948934"/>
            <a:ext cx="3325526" cy="369332"/>
            <a:chOff x="5367453" y="1948934"/>
            <a:chExt cx="3325526" cy="369332"/>
          </a:xfrm>
        </p:grpSpPr>
        <p:cxnSp>
          <p:nvCxnSpPr>
            <p:cNvPr id="25" name="Straight Connector 24"/>
            <p:cNvCxnSpPr/>
            <p:nvPr/>
          </p:nvCxnSpPr>
          <p:spPr>
            <a:xfrm>
              <a:off x="5367453" y="2133600"/>
              <a:ext cx="210014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7553093" y="1948934"/>
              <a:ext cx="11398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0           1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7391400" y="1524000"/>
            <a:ext cx="1463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Level</a:t>
            </a:r>
            <a:r>
              <a:rPr lang="en-US" dirty="0"/>
              <a:t>    </a:t>
            </a:r>
            <a:r>
              <a:rPr lang="en-US" b="1" dirty="0">
                <a:solidFill>
                  <a:srgbClr val="002060"/>
                </a:solidFill>
              </a:rPr>
              <a:t>nodes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6281853" y="2831068"/>
            <a:ext cx="2401833" cy="369332"/>
            <a:chOff x="6281853" y="2831068"/>
            <a:chExt cx="2401833" cy="369332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6281853" y="3048000"/>
              <a:ext cx="118574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7543800" y="2831068"/>
              <a:ext cx="11398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1           2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6858000" y="3821668"/>
            <a:ext cx="1825686" cy="369332"/>
            <a:chOff x="6858000" y="3821668"/>
            <a:chExt cx="1825686" cy="369332"/>
          </a:xfrm>
        </p:grpSpPr>
        <p:cxnSp>
          <p:nvCxnSpPr>
            <p:cNvPr id="47" name="Straight Connector 46"/>
            <p:cNvCxnSpPr/>
            <p:nvPr/>
          </p:nvCxnSpPr>
          <p:spPr>
            <a:xfrm>
              <a:off x="6858000" y="4038600"/>
              <a:ext cx="609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7543800" y="3821668"/>
              <a:ext cx="11398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2           4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4194114" y="1916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67000" y="2907268"/>
            <a:ext cx="3275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1                                                      2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60514" y="3897868"/>
            <a:ext cx="4620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3                        4                           5                        6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00200" y="4953000"/>
            <a:ext cx="3648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7              8        9           10            11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495800" y="5262415"/>
                <a:ext cx="861069" cy="37638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5262415"/>
                <a:ext cx="861069" cy="376385"/>
              </a:xfrm>
              <a:prstGeom prst="rect">
                <a:avLst/>
              </a:prstGeom>
              <a:blipFill rotWithShape="1">
                <a:blip r:embed="rId3"/>
                <a:stretch>
                  <a:fillRect t="-4839" r="-8511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6705600" y="5567215"/>
                <a:ext cx="1277849" cy="376385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𝒌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5567215"/>
                <a:ext cx="1277849" cy="376385"/>
              </a:xfrm>
              <a:prstGeom prst="rect">
                <a:avLst/>
              </a:prstGeom>
              <a:blipFill rotWithShape="1">
                <a:blip r:embed="rId4"/>
                <a:stretch>
                  <a:fillRect t="-4839" r="-5238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657600" y="5867400"/>
                <a:ext cx="1638525" cy="376385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p>
                      </m:sSup>
                      <m:r>
                        <a:rPr lang="en-US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𝟐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𝒌</m:t>
                      </m:r>
                      <m:r>
                        <a:rPr lang="en-US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5867400"/>
                <a:ext cx="1638525" cy="376385"/>
              </a:xfrm>
              <a:prstGeom prst="rect">
                <a:avLst/>
              </a:prstGeom>
              <a:blipFill rotWithShape="1">
                <a:blip r:embed="rId5"/>
                <a:stretch>
                  <a:fillRect t="-4918" r="-4089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3771675" y="6248400"/>
                <a:ext cx="1638525" cy="376385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p>
                      </m:sSup>
                      <m:r>
                        <a:rPr lang="en-US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𝟐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𝒌</m:t>
                      </m:r>
                      <m:r>
                        <a:rPr lang="en-US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675" y="6248400"/>
                <a:ext cx="1638525" cy="376385"/>
              </a:xfrm>
              <a:prstGeom prst="rect">
                <a:avLst/>
              </a:prstGeom>
              <a:blipFill rotWithShape="1">
                <a:blip r:embed="rId6"/>
                <a:stretch>
                  <a:fillRect t="-4839" r="-4089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3657600" y="5872015"/>
                <a:ext cx="1406091" cy="376385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p>
                      </m:sSup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+ ?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5872015"/>
                <a:ext cx="1406091" cy="376385"/>
              </a:xfrm>
              <a:prstGeom prst="rect">
                <a:avLst/>
              </a:prstGeom>
              <a:blipFill rotWithShape="1">
                <a:blip r:embed="rId7"/>
                <a:stretch>
                  <a:fillRect t="-4839" r="-4762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4821177" y="5879068"/>
                <a:ext cx="1122423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𝟐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𝒌</m:t>
                      </m:r>
                      <m:r>
                        <a:rPr lang="en-US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1177" y="5879068"/>
                <a:ext cx="1122423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652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/>
          <p:cNvSpPr/>
          <p:nvPr/>
        </p:nvSpPr>
        <p:spPr>
          <a:xfrm>
            <a:off x="3446244" y="5638800"/>
            <a:ext cx="3945156" cy="3164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loud Callout 62"/>
          <p:cNvSpPr/>
          <p:nvPr/>
        </p:nvSpPr>
        <p:spPr>
          <a:xfrm>
            <a:off x="-1" y="1295400"/>
            <a:ext cx="3702237" cy="1535668"/>
          </a:xfrm>
          <a:prstGeom prst="cloudCallout">
            <a:avLst>
              <a:gd name="adj1" fmla="val -27548"/>
              <a:gd name="adj2" fmla="val 67206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Can you see a relationship between </a:t>
            </a:r>
            <a:r>
              <a:rPr lang="en-US" sz="1600" dirty="0">
                <a:solidFill>
                  <a:srgbClr val="C00000"/>
                </a:solidFill>
              </a:rPr>
              <a:t>label of a node </a:t>
            </a:r>
            <a:r>
              <a:rPr lang="en-US" sz="1600" dirty="0">
                <a:solidFill>
                  <a:schemeClr val="tx1"/>
                </a:solidFill>
              </a:rPr>
              <a:t>and  </a:t>
            </a:r>
            <a:r>
              <a:rPr lang="en-US" sz="1600" dirty="0">
                <a:solidFill>
                  <a:srgbClr val="C00000"/>
                </a:solidFill>
              </a:rPr>
              <a:t>labels of its children ?</a:t>
            </a:r>
          </a:p>
        </p:txBody>
      </p:sp>
    </p:spTree>
    <p:extLst>
      <p:ext uri="{BB962C8B-B14F-4D97-AF65-F5344CB8AC3E}">
        <p14:creationId xmlns:p14="http://schemas.microsoft.com/office/powerpoint/2010/main" val="3389857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8" grpId="0"/>
      <p:bldP spid="53" grpId="0"/>
      <p:bldP spid="57" grpId="0"/>
      <p:bldP spid="60" grpId="0"/>
      <p:bldP spid="26" grpId="0" uiExpand="1" animBg="1"/>
      <p:bldP spid="61" grpId="0" uiExpand="1" animBg="1"/>
      <p:bldP spid="62" grpId="0" animBg="1"/>
      <p:bldP spid="64" grpId="0" animBg="1"/>
      <p:bldP spid="58" grpId="0" animBg="1"/>
      <p:bldP spid="58" grpId="1" animBg="1"/>
      <p:bldP spid="59" grpId="0" animBg="1"/>
      <p:bldP spid="59" grpId="1" animBg="1"/>
      <p:bldP spid="43" grpId="0" animBg="1"/>
      <p:bldP spid="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 </a:t>
            </a:r>
            <a:r>
              <a:rPr lang="en-US" sz="3600" b="1" dirty="0">
                <a:solidFill>
                  <a:srgbClr val="7030A0"/>
                </a:solidFill>
              </a:rPr>
              <a:t>complete </a:t>
            </a:r>
            <a:r>
              <a:rPr lang="en-US" sz="3600" b="1" dirty="0"/>
              <a:t>binary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sz="2000" dirty="0"/>
                  <a:t>Let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v</a:t>
                </a:r>
                <a:r>
                  <a:rPr lang="en-US" sz="2000" dirty="0"/>
                  <a:t> be a node with label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Label of </a:t>
                </a:r>
                <a:r>
                  <a:rPr lang="en-US" sz="2000" b="1" dirty="0"/>
                  <a:t>left child(v) </a:t>
                </a:r>
                <a:r>
                  <a:rPr lang="en-US" sz="2000" dirty="0"/>
                  <a:t>  = </a:t>
                </a:r>
              </a:p>
              <a:p>
                <a:pPr marL="0" indent="0">
                  <a:buNone/>
                </a:pPr>
                <a:r>
                  <a:rPr lang="en-US" sz="2000" dirty="0"/>
                  <a:t>Label of </a:t>
                </a:r>
                <a:r>
                  <a:rPr lang="en-US" sz="2000" b="1" dirty="0"/>
                  <a:t>right child(v) </a:t>
                </a:r>
                <a:r>
                  <a:rPr lang="en-US" sz="2000" dirty="0"/>
                  <a:t>= </a:t>
                </a:r>
              </a:p>
              <a:p>
                <a:pPr marL="0" indent="0">
                  <a:buNone/>
                </a:pPr>
                <a:r>
                  <a:rPr lang="en-US" sz="2000" dirty="0"/>
                  <a:t>Label of </a:t>
                </a:r>
                <a:r>
                  <a:rPr lang="en-US" sz="2000" b="1" dirty="0"/>
                  <a:t>parent(v)      </a:t>
                </a:r>
                <a:r>
                  <a:rPr lang="en-US" sz="2000" dirty="0"/>
                  <a:t> =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  <a:blipFill rotWithShape="1">
                <a:blip r:embed="rId2"/>
                <a:stretch>
                  <a:fillRect l="-1852" t="-956" b="-27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419600" y="19812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971800" y="2209800"/>
            <a:ext cx="1447800" cy="1066800"/>
            <a:chOff x="2971800" y="2209800"/>
            <a:chExt cx="1447800" cy="1066800"/>
          </a:xfrm>
        </p:grpSpPr>
        <p:cxnSp>
          <p:nvCxnSpPr>
            <p:cNvPr id="12" name="Straight Arrow Connector 11"/>
            <p:cNvCxnSpPr/>
            <p:nvPr/>
          </p:nvCxnSpPr>
          <p:spPr>
            <a:xfrm flipH="1">
              <a:off x="3155796" y="2209800"/>
              <a:ext cx="1263804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2971800" y="29718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715107" y="2209800"/>
            <a:ext cx="1457093" cy="1016652"/>
            <a:chOff x="4715107" y="2209800"/>
            <a:chExt cx="1457093" cy="1016652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4715107" y="2209800"/>
              <a:ext cx="1304693" cy="71185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5867400" y="2921652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286000" y="3231963"/>
            <a:ext cx="730437" cy="1035237"/>
            <a:chOff x="2286000" y="3231963"/>
            <a:chExt cx="730437" cy="1035237"/>
          </a:xfrm>
        </p:grpSpPr>
        <p:sp>
          <p:nvSpPr>
            <p:cNvPr id="16" name="Oval 15"/>
            <p:cNvSpPr/>
            <p:nvPr/>
          </p:nvSpPr>
          <p:spPr>
            <a:xfrm>
              <a:off x="2286000" y="3962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/>
            <p:cNvCxnSpPr>
              <a:stCxn id="14" idx="3"/>
              <a:endCxn id="16" idx="0"/>
            </p:cNvCxnSpPr>
            <p:nvPr/>
          </p:nvCxnSpPr>
          <p:spPr>
            <a:xfrm flipH="1">
              <a:off x="2438400" y="3231963"/>
              <a:ext cx="578037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3231963" y="3231963"/>
            <a:ext cx="719285" cy="1035237"/>
            <a:chOff x="3231963" y="3231963"/>
            <a:chExt cx="719285" cy="1035237"/>
          </a:xfrm>
        </p:grpSpPr>
        <p:sp>
          <p:nvSpPr>
            <p:cNvPr id="17" name="Oval 16"/>
            <p:cNvSpPr/>
            <p:nvPr/>
          </p:nvSpPr>
          <p:spPr>
            <a:xfrm>
              <a:off x="3646448" y="3962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/>
            <p:cNvCxnSpPr>
              <a:stCxn id="14" idx="5"/>
            </p:cNvCxnSpPr>
            <p:nvPr/>
          </p:nvCxnSpPr>
          <p:spPr>
            <a:xfrm>
              <a:off x="3231963" y="3231963"/>
              <a:ext cx="566885" cy="730437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5192752" y="3200400"/>
            <a:ext cx="730437" cy="1035237"/>
            <a:chOff x="5192752" y="3200400"/>
            <a:chExt cx="730437" cy="1035237"/>
          </a:xfrm>
        </p:grpSpPr>
        <p:sp>
          <p:nvSpPr>
            <p:cNvPr id="28" name="Oval 27"/>
            <p:cNvSpPr/>
            <p:nvPr/>
          </p:nvSpPr>
          <p:spPr>
            <a:xfrm>
              <a:off x="5192752" y="3930837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/>
            <p:cNvCxnSpPr>
              <a:endCxn id="28" idx="0"/>
            </p:cNvCxnSpPr>
            <p:nvPr/>
          </p:nvCxnSpPr>
          <p:spPr>
            <a:xfrm flipH="1">
              <a:off x="5345152" y="3200400"/>
              <a:ext cx="578037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6138715" y="3200400"/>
            <a:ext cx="719285" cy="1035237"/>
            <a:chOff x="6138715" y="3200400"/>
            <a:chExt cx="719285" cy="1035237"/>
          </a:xfrm>
        </p:grpSpPr>
        <p:sp>
          <p:nvSpPr>
            <p:cNvPr id="29" name="Oval 28"/>
            <p:cNvSpPr/>
            <p:nvPr/>
          </p:nvSpPr>
          <p:spPr>
            <a:xfrm>
              <a:off x="6553200" y="3930837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>
              <a:off x="6138715" y="3200400"/>
              <a:ext cx="5668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1828800" y="4222563"/>
            <a:ext cx="501837" cy="1035237"/>
            <a:chOff x="1828800" y="4222563"/>
            <a:chExt cx="501837" cy="1035237"/>
          </a:xfrm>
        </p:grpSpPr>
        <p:sp>
          <p:nvSpPr>
            <p:cNvPr id="33" name="Oval 32"/>
            <p:cNvSpPr/>
            <p:nvPr/>
          </p:nvSpPr>
          <p:spPr>
            <a:xfrm>
              <a:off x="18288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>
              <a:stCxn id="16" idx="3"/>
            </p:cNvCxnSpPr>
            <p:nvPr/>
          </p:nvCxnSpPr>
          <p:spPr>
            <a:xfrm flipH="1">
              <a:off x="20127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2557315" y="4222563"/>
            <a:ext cx="414485" cy="1035237"/>
            <a:chOff x="2557315" y="4222563"/>
            <a:chExt cx="414485" cy="1035237"/>
          </a:xfrm>
        </p:grpSpPr>
        <p:sp>
          <p:nvSpPr>
            <p:cNvPr id="34" name="Oval 33"/>
            <p:cNvSpPr/>
            <p:nvPr/>
          </p:nvSpPr>
          <p:spPr>
            <a:xfrm>
              <a:off x="26670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/>
            <p:cNvCxnSpPr>
              <a:endCxn id="34" idx="0"/>
            </p:cNvCxnSpPr>
            <p:nvPr/>
          </p:nvCxnSpPr>
          <p:spPr>
            <a:xfrm>
              <a:off x="25573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4800600" y="4222563"/>
            <a:ext cx="459122" cy="1003674"/>
            <a:chOff x="2427248" y="3263526"/>
            <a:chExt cx="459122" cy="1003674"/>
          </a:xfrm>
        </p:grpSpPr>
        <p:sp>
          <p:nvSpPr>
            <p:cNvPr id="40" name="Oval 39"/>
            <p:cNvSpPr/>
            <p:nvPr/>
          </p:nvSpPr>
          <p:spPr>
            <a:xfrm>
              <a:off x="2427248" y="3962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/>
            <p:cNvCxnSpPr>
              <a:stCxn id="17" idx="3"/>
              <a:endCxn id="40" idx="0"/>
            </p:cNvCxnSpPr>
            <p:nvPr/>
          </p:nvCxnSpPr>
          <p:spPr>
            <a:xfrm flipH="1">
              <a:off x="2579648" y="3263526"/>
              <a:ext cx="306722" cy="698874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3200400" y="4222563"/>
            <a:ext cx="501837" cy="1035237"/>
            <a:chOff x="3200400" y="4222563"/>
            <a:chExt cx="501837" cy="1035237"/>
          </a:xfrm>
        </p:grpSpPr>
        <p:sp>
          <p:nvSpPr>
            <p:cNvPr id="48" name="Oval 47"/>
            <p:cNvSpPr/>
            <p:nvPr/>
          </p:nvSpPr>
          <p:spPr>
            <a:xfrm>
              <a:off x="32004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 flipH="1">
              <a:off x="33843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3928915" y="4222563"/>
            <a:ext cx="414485" cy="1035237"/>
            <a:chOff x="3928915" y="4222563"/>
            <a:chExt cx="414485" cy="1035237"/>
          </a:xfrm>
        </p:grpSpPr>
        <p:sp>
          <p:nvSpPr>
            <p:cNvPr id="49" name="Oval 48"/>
            <p:cNvSpPr/>
            <p:nvPr/>
          </p:nvSpPr>
          <p:spPr>
            <a:xfrm>
              <a:off x="40386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Arrow Connector 50"/>
            <p:cNvCxnSpPr>
              <a:endCxn id="49" idx="0"/>
            </p:cNvCxnSpPr>
            <p:nvPr/>
          </p:nvCxnSpPr>
          <p:spPr>
            <a:xfrm>
              <a:off x="39289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5367453" y="1948934"/>
            <a:ext cx="3325526" cy="369332"/>
            <a:chOff x="5367453" y="1948934"/>
            <a:chExt cx="3325526" cy="369332"/>
          </a:xfrm>
        </p:grpSpPr>
        <p:cxnSp>
          <p:nvCxnSpPr>
            <p:cNvPr id="25" name="Straight Connector 24"/>
            <p:cNvCxnSpPr/>
            <p:nvPr/>
          </p:nvCxnSpPr>
          <p:spPr>
            <a:xfrm>
              <a:off x="5367453" y="2133600"/>
              <a:ext cx="210014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7553093" y="1948934"/>
              <a:ext cx="11398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0           1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7391400" y="1524000"/>
            <a:ext cx="1463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Level</a:t>
            </a:r>
            <a:r>
              <a:rPr lang="en-US" dirty="0"/>
              <a:t>    </a:t>
            </a:r>
            <a:r>
              <a:rPr lang="en-US" b="1" dirty="0">
                <a:solidFill>
                  <a:srgbClr val="002060"/>
                </a:solidFill>
              </a:rPr>
              <a:t>nodes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6281853" y="2831068"/>
            <a:ext cx="2401833" cy="369332"/>
            <a:chOff x="6281853" y="2831068"/>
            <a:chExt cx="2401833" cy="369332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6281853" y="3048000"/>
              <a:ext cx="118574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7543800" y="2831068"/>
              <a:ext cx="11398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1           2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6858000" y="3821668"/>
            <a:ext cx="1825686" cy="369332"/>
            <a:chOff x="6858000" y="3821668"/>
            <a:chExt cx="1825686" cy="369332"/>
          </a:xfrm>
        </p:grpSpPr>
        <p:cxnSp>
          <p:nvCxnSpPr>
            <p:cNvPr id="47" name="Straight Connector 46"/>
            <p:cNvCxnSpPr/>
            <p:nvPr/>
          </p:nvCxnSpPr>
          <p:spPr>
            <a:xfrm>
              <a:off x="6858000" y="4038600"/>
              <a:ext cx="609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7543800" y="3821668"/>
              <a:ext cx="11398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2           4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4194114" y="1916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67000" y="2907268"/>
            <a:ext cx="3275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1                                                      2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60514" y="3897868"/>
            <a:ext cx="4620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3                        4                           5                        6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09044" y="4964668"/>
            <a:ext cx="3648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7              8        9           10           11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3048000" y="5643415"/>
                <a:ext cx="728084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70C0"/>
                    </a:solidFill>
                  </a:rPr>
                  <a:t>2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+1</a:t>
                </a:r>
                <a:endParaRPr lang="en-US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5643415"/>
                <a:ext cx="72808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6723" t="-8333" r="-1428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3048000" y="6019800"/>
                <a:ext cx="675185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70C0"/>
                    </a:solidFill>
                  </a:rPr>
                  <a:t>2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+2</a:t>
                </a:r>
                <a:endParaRPr lang="en-US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6019800"/>
                <a:ext cx="675185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7207" t="-8333" r="-14414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3048000" y="6412468"/>
                <a:ext cx="1344920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𝒋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−1)/2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6412468"/>
                <a:ext cx="1344920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452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6060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1" grpId="0" animBg="1"/>
      <p:bldP spid="64" grpId="0" animBg="1"/>
      <p:bldP spid="5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</a:t>
            </a:r>
            <a:r>
              <a:rPr lang="en-US" sz="3600" b="1" dirty="0">
                <a:solidFill>
                  <a:srgbClr val="7030A0"/>
                </a:solidFill>
              </a:rPr>
              <a:t> complete </a:t>
            </a:r>
            <a:r>
              <a:rPr lang="en-US" sz="3600" b="1" dirty="0"/>
              <a:t>binary tree and</a:t>
            </a:r>
            <a:r>
              <a:rPr lang="en-US" sz="3600" b="1" dirty="0">
                <a:solidFill>
                  <a:srgbClr val="7030A0"/>
                </a:solidFill>
              </a:rPr>
              <a:t> </a:t>
            </a:r>
            <a:r>
              <a:rPr lang="en-US" sz="3600" b="1" dirty="0">
                <a:solidFill>
                  <a:srgbClr val="0070C0"/>
                </a:solidFill>
              </a:rPr>
              <a:t>array</a:t>
            </a:r>
            <a:br>
              <a:rPr lang="en-US" sz="3600" b="1" dirty="0">
                <a:solidFill>
                  <a:srgbClr val="0070C0"/>
                </a:solidFill>
              </a:rPr>
            </a:br>
            <a:endParaRPr lang="en-US" sz="36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534400" cy="533400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Question: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What is the relation between a complete binary trees and an array ?</a:t>
            </a:r>
          </a:p>
          <a:p>
            <a:pPr marL="0" indent="0">
              <a:buNone/>
            </a:pPr>
            <a:r>
              <a:rPr lang="en-US" sz="2000" b="1" dirty="0"/>
              <a:t>Answer:  </a:t>
            </a:r>
            <a:r>
              <a:rPr lang="en-US" sz="2000" dirty="0"/>
              <a:t>A complete binary tree can be </a:t>
            </a:r>
            <a:r>
              <a:rPr lang="en-US" sz="2000" b="1" dirty="0"/>
              <a:t>implemented</a:t>
            </a:r>
            <a:r>
              <a:rPr lang="en-US" sz="2000" dirty="0"/>
              <a:t> by an array.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pSp>
        <p:nvGrpSpPr>
          <p:cNvPr id="27" name="Group 26"/>
          <p:cNvGrpSpPr/>
          <p:nvPr/>
        </p:nvGrpSpPr>
        <p:grpSpPr>
          <a:xfrm>
            <a:off x="1752600" y="2057400"/>
            <a:ext cx="5181600" cy="3341132"/>
            <a:chOff x="1752600" y="2057400"/>
            <a:chExt cx="5181600" cy="3341132"/>
          </a:xfrm>
        </p:grpSpPr>
        <p:grpSp>
          <p:nvGrpSpPr>
            <p:cNvPr id="24" name="Group 23"/>
            <p:cNvGrpSpPr/>
            <p:nvPr/>
          </p:nvGrpSpPr>
          <p:grpSpPr>
            <a:xfrm>
              <a:off x="1828800" y="2057400"/>
              <a:ext cx="5029200" cy="3276600"/>
              <a:chOff x="1828800" y="1981200"/>
              <a:chExt cx="5029200" cy="3276600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4419600" y="19812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" name="Group 4"/>
              <p:cNvGrpSpPr/>
              <p:nvPr/>
            </p:nvGrpSpPr>
            <p:grpSpPr>
              <a:xfrm>
                <a:off x="2971800" y="2209800"/>
                <a:ext cx="1447800" cy="1066800"/>
                <a:chOff x="2971800" y="2209800"/>
                <a:chExt cx="1447800" cy="1066800"/>
              </a:xfrm>
            </p:grpSpPr>
            <p:cxnSp>
              <p:nvCxnSpPr>
                <p:cNvPr id="12" name="Straight Arrow Connector 11"/>
                <p:cNvCxnSpPr/>
                <p:nvPr/>
              </p:nvCxnSpPr>
              <p:spPr>
                <a:xfrm flipH="1">
                  <a:off x="3155796" y="2209800"/>
                  <a:ext cx="1263804" cy="76200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Oval 13"/>
                <p:cNvSpPr/>
                <p:nvPr/>
              </p:nvSpPr>
              <p:spPr>
                <a:xfrm>
                  <a:off x="2971800" y="2971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" name="Group 6"/>
              <p:cNvGrpSpPr/>
              <p:nvPr/>
            </p:nvGrpSpPr>
            <p:grpSpPr>
              <a:xfrm>
                <a:off x="4715107" y="2209800"/>
                <a:ext cx="1457093" cy="1016652"/>
                <a:chOff x="4715107" y="2209800"/>
                <a:chExt cx="1457093" cy="1016652"/>
              </a:xfrm>
            </p:grpSpPr>
            <p:cxnSp>
              <p:nvCxnSpPr>
                <p:cNvPr id="8" name="Straight Arrow Connector 7"/>
                <p:cNvCxnSpPr/>
                <p:nvPr/>
              </p:nvCxnSpPr>
              <p:spPr>
                <a:xfrm>
                  <a:off x="4715107" y="2209800"/>
                  <a:ext cx="1304693" cy="711852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Oval 14"/>
                <p:cNvSpPr/>
                <p:nvPr/>
              </p:nvSpPr>
              <p:spPr>
                <a:xfrm>
                  <a:off x="5867400" y="2921652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" name="Group 8"/>
              <p:cNvGrpSpPr/>
              <p:nvPr/>
            </p:nvGrpSpPr>
            <p:grpSpPr>
              <a:xfrm>
                <a:off x="2286000" y="3231963"/>
                <a:ext cx="730437" cy="1035237"/>
                <a:chOff x="2286000" y="3231963"/>
                <a:chExt cx="730437" cy="1035237"/>
              </a:xfrm>
            </p:grpSpPr>
            <p:sp>
              <p:nvSpPr>
                <p:cNvPr id="16" name="Oval 15"/>
                <p:cNvSpPr/>
                <p:nvPr/>
              </p:nvSpPr>
              <p:spPr>
                <a:xfrm>
                  <a:off x="2286000" y="39624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8" name="Straight Arrow Connector 17"/>
                <p:cNvCxnSpPr>
                  <a:stCxn id="14" idx="3"/>
                  <a:endCxn id="16" idx="0"/>
                </p:cNvCxnSpPr>
                <p:nvPr/>
              </p:nvCxnSpPr>
              <p:spPr>
                <a:xfrm flipH="1">
                  <a:off x="2438400" y="3231963"/>
                  <a:ext cx="578037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Group 9"/>
              <p:cNvGrpSpPr/>
              <p:nvPr/>
            </p:nvGrpSpPr>
            <p:grpSpPr>
              <a:xfrm>
                <a:off x="3231963" y="3231963"/>
                <a:ext cx="719285" cy="1035237"/>
                <a:chOff x="3231963" y="3231963"/>
                <a:chExt cx="719285" cy="1035237"/>
              </a:xfrm>
            </p:grpSpPr>
            <p:sp>
              <p:nvSpPr>
                <p:cNvPr id="17" name="Oval 16"/>
                <p:cNvSpPr/>
                <p:nvPr/>
              </p:nvSpPr>
              <p:spPr>
                <a:xfrm>
                  <a:off x="3646448" y="39624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1" name="Straight Arrow Connector 20"/>
                <p:cNvCxnSpPr>
                  <a:stCxn id="14" idx="5"/>
                </p:cNvCxnSpPr>
                <p:nvPr/>
              </p:nvCxnSpPr>
              <p:spPr>
                <a:xfrm>
                  <a:off x="3231963" y="3231963"/>
                  <a:ext cx="566885" cy="730437"/>
                </a:xfrm>
                <a:prstGeom prst="straightConnector1">
                  <a:avLst/>
                </a:prstGeom>
                <a:ln w="28575">
                  <a:solidFill>
                    <a:srgbClr val="0070C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Group 10"/>
              <p:cNvGrpSpPr/>
              <p:nvPr/>
            </p:nvGrpSpPr>
            <p:grpSpPr>
              <a:xfrm>
                <a:off x="5192752" y="3200400"/>
                <a:ext cx="730437" cy="1035237"/>
                <a:chOff x="5192752" y="3200400"/>
                <a:chExt cx="730437" cy="1035237"/>
              </a:xfrm>
            </p:grpSpPr>
            <p:sp>
              <p:nvSpPr>
                <p:cNvPr id="28" name="Oval 27"/>
                <p:cNvSpPr/>
                <p:nvPr/>
              </p:nvSpPr>
              <p:spPr>
                <a:xfrm>
                  <a:off x="5192752" y="3930837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0" name="Straight Arrow Connector 29"/>
                <p:cNvCxnSpPr>
                  <a:endCxn id="28" idx="0"/>
                </p:cNvCxnSpPr>
                <p:nvPr/>
              </p:nvCxnSpPr>
              <p:spPr>
                <a:xfrm flipH="1">
                  <a:off x="5345152" y="3200400"/>
                  <a:ext cx="578037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Group 12"/>
              <p:cNvGrpSpPr/>
              <p:nvPr/>
            </p:nvGrpSpPr>
            <p:grpSpPr>
              <a:xfrm>
                <a:off x="6138715" y="3200400"/>
                <a:ext cx="719285" cy="1035237"/>
                <a:chOff x="6138715" y="3200400"/>
                <a:chExt cx="719285" cy="1035237"/>
              </a:xfrm>
            </p:grpSpPr>
            <p:sp>
              <p:nvSpPr>
                <p:cNvPr id="29" name="Oval 28"/>
                <p:cNvSpPr/>
                <p:nvPr/>
              </p:nvSpPr>
              <p:spPr>
                <a:xfrm>
                  <a:off x="6553200" y="3930837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1" name="Straight Arrow Connector 30"/>
                <p:cNvCxnSpPr/>
                <p:nvPr/>
              </p:nvCxnSpPr>
              <p:spPr>
                <a:xfrm>
                  <a:off x="6138715" y="3200400"/>
                  <a:ext cx="566885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 18"/>
              <p:cNvGrpSpPr/>
              <p:nvPr/>
            </p:nvGrpSpPr>
            <p:grpSpPr>
              <a:xfrm>
                <a:off x="1828800" y="4222563"/>
                <a:ext cx="501837" cy="1035237"/>
                <a:chOff x="1828800" y="4222563"/>
                <a:chExt cx="501837" cy="1035237"/>
              </a:xfrm>
            </p:grpSpPr>
            <p:sp>
              <p:nvSpPr>
                <p:cNvPr id="33" name="Oval 32"/>
                <p:cNvSpPr/>
                <p:nvPr/>
              </p:nvSpPr>
              <p:spPr>
                <a:xfrm>
                  <a:off x="1828800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5" name="Straight Arrow Connector 34"/>
                <p:cNvCxnSpPr>
                  <a:stCxn id="16" idx="3"/>
                </p:cNvCxnSpPr>
                <p:nvPr/>
              </p:nvCxnSpPr>
              <p:spPr>
                <a:xfrm flipH="1">
                  <a:off x="2012764" y="4222563"/>
                  <a:ext cx="317873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oup 19"/>
              <p:cNvGrpSpPr/>
              <p:nvPr/>
            </p:nvGrpSpPr>
            <p:grpSpPr>
              <a:xfrm>
                <a:off x="2557315" y="4222563"/>
                <a:ext cx="414485" cy="1035237"/>
                <a:chOff x="2557315" y="4222563"/>
                <a:chExt cx="414485" cy="1035237"/>
              </a:xfrm>
            </p:grpSpPr>
            <p:sp>
              <p:nvSpPr>
                <p:cNvPr id="34" name="Oval 33"/>
                <p:cNvSpPr/>
                <p:nvPr/>
              </p:nvSpPr>
              <p:spPr>
                <a:xfrm>
                  <a:off x="2667000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6" name="Straight Arrow Connector 35"/>
                <p:cNvCxnSpPr>
                  <a:endCxn id="34" idx="0"/>
                </p:cNvCxnSpPr>
                <p:nvPr/>
              </p:nvCxnSpPr>
              <p:spPr>
                <a:xfrm>
                  <a:off x="2557315" y="4222563"/>
                  <a:ext cx="262085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9" name="Group 38"/>
              <p:cNvGrpSpPr/>
              <p:nvPr/>
            </p:nvGrpSpPr>
            <p:grpSpPr>
              <a:xfrm>
                <a:off x="4800600" y="4222563"/>
                <a:ext cx="459122" cy="1003674"/>
                <a:chOff x="2427248" y="3263526"/>
                <a:chExt cx="459122" cy="1003674"/>
              </a:xfrm>
            </p:grpSpPr>
            <p:sp>
              <p:nvSpPr>
                <p:cNvPr id="40" name="Oval 39"/>
                <p:cNvSpPr/>
                <p:nvPr/>
              </p:nvSpPr>
              <p:spPr>
                <a:xfrm>
                  <a:off x="2427248" y="39624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2" name="Straight Arrow Connector 41"/>
                <p:cNvCxnSpPr>
                  <a:stCxn id="17" idx="3"/>
                  <a:endCxn id="40" idx="0"/>
                </p:cNvCxnSpPr>
                <p:nvPr/>
              </p:nvCxnSpPr>
              <p:spPr>
                <a:xfrm flipH="1">
                  <a:off x="2579648" y="3263526"/>
                  <a:ext cx="306722" cy="698874"/>
                </a:xfrm>
                <a:prstGeom prst="straightConnector1">
                  <a:avLst/>
                </a:prstGeom>
                <a:ln w="28575">
                  <a:solidFill>
                    <a:srgbClr val="0070C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Group 21"/>
              <p:cNvGrpSpPr/>
              <p:nvPr/>
            </p:nvGrpSpPr>
            <p:grpSpPr>
              <a:xfrm>
                <a:off x="3200400" y="4222563"/>
                <a:ext cx="501837" cy="1035237"/>
                <a:chOff x="3200400" y="4222563"/>
                <a:chExt cx="501837" cy="1035237"/>
              </a:xfrm>
            </p:grpSpPr>
            <p:sp>
              <p:nvSpPr>
                <p:cNvPr id="48" name="Oval 47"/>
                <p:cNvSpPr/>
                <p:nvPr/>
              </p:nvSpPr>
              <p:spPr>
                <a:xfrm>
                  <a:off x="3200400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0" name="Straight Arrow Connector 49"/>
                <p:cNvCxnSpPr/>
                <p:nvPr/>
              </p:nvCxnSpPr>
              <p:spPr>
                <a:xfrm flipH="1">
                  <a:off x="3384364" y="4222563"/>
                  <a:ext cx="317873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oup 22"/>
              <p:cNvGrpSpPr/>
              <p:nvPr/>
            </p:nvGrpSpPr>
            <p:grpSpPr>
              <a:xfrm>
                <a:off x="3928915" y="4222563"/>
                <a:ext cx="414485" cy="1035237"/>
                <a:chOff x="3928915" y="4222563"/>
                <a:chExt cx="414485" cy="1035237"/>
              </a:xfrm>
            </p:grpSpPr>
            <p:sp>
              <p:nvSpPr>
                <p:cNvPr id="49" name="Oval 48"/>
                <p:cNvSpPr/>
                <p:nvPr/>
              </p:nvSpPr>
              <p:spPr>
                <a:xfrm>
                  <a:off x="4038600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1" name="Straight Arrow Connector 50"/>
                <p:cNvCxnSpPr>
                  <a:endCxn id="49" idx="0"/>
                </p:cNvCxnSpPr>
                <p:nvPr/>
              </p:nvCxnSpPr>
              <p:spPr>
                <a:xfrm>
                  <a:off x="3928915" y="4222563"/>
                  <a:ext cx="262085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5" name="Group 24"/>
            <p:cNvGrpSpPr/>
            <p:nvPr/>
          </p:nvGrpSpPr>
          <p:grpSpPr>
            <a:xfrm>
              <a:off x="1752600" y="2057400"/>
              <a:ext cx="5181600" cy="3341132"/>
              <a:chOff x="1752600" y="2514600"/>
              <a:chExt cx="5181600" cy="3341132"/>
            </a:xfrm>
          </p:grpSpPr>
          <p:sp>
            <p:nvSpPr>
              <p:cNvPr id="41" name="TextBox 40"/>
              <p:cNvSpPr txBox="1"/>
              <p:nvPr/>
            </p:nvSpPr>
            <p:spPr>
              <a:xfrm>
                <a:off x="4381896" y="25146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41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2895600" y="35052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17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2209800" y="44958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57</a:t>
                </a: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1752600" y="54864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91</a:t>
                </a: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5791200" y="3429000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 9</a:t>
                </a: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5181600" y="44312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3619896" y="443126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33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6515496" y="443126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70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2590800" y="54864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37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3162696" y="54864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25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4000896" y="54864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88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4762896" y="542186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35</a:t>
                </a:r>
              </a:p>
            </p:txBody>
          </p:sp>
        </p:grpSp>
      </p:grpSp>
      <p:grpSp>
        <p:nvGrpSpPr>
          <p:cNvPr id="72" name="Group 71"/>
          <p:cNvGrpSpPr/>
          <p:nvPr/>
        </p:nvGrpSpPr>
        <p:grpSpPr>
          <a:xfrm>
            <a:off x="1671335" y="5486400"/>
            <a:ext cx="5410200" cy="381000"/>
            <a:chOff x="1524000" y="6096000"/>
            <a:chExt cx="5410200" cy="381000"/>
          </a:xfrm>
        </p:grpSpPr>
        <p:sp>
          <p:nvSpPr>
            <p:cNvPr id="26" name="Rectangle 25"/>
            <p:cNvSpPr/>
            <p:nvPr/>
          </p:nvSpPr>
          <p:spPr>
            <a:xfrm>
              <a:off x="1524000" y="6096000"/>
              <a:ext cx="5410200" cy="3810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2" name="Straight Connector 31"/>
            <p:cNvCxnSpPr/>
            <p:nvPr/>
          </p:nvCxnSpPr>
          <p:spPr>
            <a:xfrm>
              <a:off x="1961952" y="60960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2362200" y="60960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2819400" y="60960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3276600" y="60960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3733800" y="60960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4191000" y="60960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4648200" y="60960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5105400" y="60960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5562600" y="60960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6019800" y="60960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6477000" y="60960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6934200" y="60960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TextBox 73"/>
          <p:cNvSpPr txBox="1"/>
          <p:nvPr/>
        </p:nvSpPr>
        <p:spPr>
          <a:xfrm>
            <a:off x="1747535" y="5498068"/>
            <a:ext cx="5415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41   17     9     57   33      1     70    91    37    25     88     35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1609044" y="1981200"/>
            <a:ext cx="5071646" cy="3352800"/>
            <a:chOff x="1609044" y="1981200"/>
            <a:chExt cx="5071646" cy="3352800"/>
          </a:xfrm>
        </p:grpSpPr>
        <p:sp>
          <p:nvSpPr>
            <p:cNvPr id="71" name="TextBox 70"/>
            <p:cNvSpPr txBox="1"/>
            <p:nvPr/>
          </p:nvSpPr>
          <p:spPr>
            <a:xfrm>
              <a:off x="4194114" y="19812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0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2667000" y="2971800"/>
              <a:ext cx="32752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1                                                      2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060514" y="3974068"/>
              <a:ext cx="4620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3                        4                           5                        6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609044" y="4964668"/>
              <a:ext cx="36487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7              8        9           10           11     </a:t>
              </a:r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1747535" y="5867400"/>
            <a:ext cx="5367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0      1      2      3       4      5      6       7      8       9     10     11</a:t>
            </a:r>
          </a:p>
        </p:txBody>
      </p:sp>
      <p:sp>
        <p:nvSpPr>
          <p:cNvPr id="78" name="Cloud Callout 77"/>
          <p:cNvSpPr/>
          <p:nvPr/>
        </p:nvSpPr>
        <p:spPr>
          <a:xfrm>
            <a:off x="457200" y="2514600"/>
            <a:ext cx="2247884" cy="1010818"/>
          </a:xfrm>
          <a:prstGeom prst="cloudCallout">
            <a:avLst>
              <a:gd name="adj1" fmla="val -33235"/>
              <a:gd name="adj2" fmla="val 8235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Advantages ?</a:t>
            </a:r>
          </a:p>
        </p:txBody>
      </p:sp>
      <p:sp>
        <p:nvSpPr>
          <p:cNvPr id="79" name="Down Ribbon 78"/>
          <p:cNvSpPr/>
          <p:nvPr/>
        </p:nvSpPr>
        <p:spPr>
          <a:xfrm>
            <a:off x="152400" y="2438400"/>
            <a:ext cx="2666999" cy="1037582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most </a:t>
            </a:r>
            <a:r>
              <a:rPr lang="en-US" dirty="0">
                <a:solidFill>
                  <a:srgbClr val="C00000"/>
                </a:solidFill>
              </a:rPr>
              <a:t>compact</a:t>
            </a:r>
            <a:r>
              <a:rPr lang="en-US" dirty="0">
                <a:solidFill>
                  <a:schemeClr val="tx1"/>
                </a:solidFill>
              </a:rPr>
              <a:t>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3765956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7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74" grpId="0"/>
      <p:bldP spid="77" grpId="0"/>
      <p:bldP spid="78" grpId="0" animBg="1"/>
      <p:bldP spid="78" grpId="1" animBg="1"/>
      <p:bldP spid="7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Binary heap</a:t>
            </a:r>
            <a:endParaRPr lang="en-US" sz="3200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3886200"/>
            <a:ext cx="7010400" cy="1752600"/>
          </a:xfrm>
        </p:spPr>
        <p:txBody>
          <a:bodyPr/>
          <a:lstStyle/>
          <a:p>
            <a:endParaRPr lang="en-US" sz="2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189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Binary heap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a </a:t>
            </a:r>
            <a:r>
              <a:rPr lang="en-US" sz="2400" b="1" dirty="0">
                <a:solidFill>
                  <a:srgbClr val="7030A0"/>
                </a:solidFill>
              </a:rPr>
              <a:t>complete</a:t>
            </a:r>
            <a:r>
              <a:rPr lang="en-US" sz="2400" b="1" dirty="0"/>
              <a:t> binary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pSp>
        <p:nvGrpSpPr>
          <p:cNvPr id="24" name="Group 23"/>
          <p:cNvGrpSpPr/>
          <p:nvPr/>
        </p:nvGrpSpPr>
        <p:grpSpPr>
          <a:xfrm>
            <a:off x="1828800" y="2514600"/>
            <a:ext cx="5029200" cy="3276600"/>
            <a:chOff x="1828800" y="1981200"/>
            <a:chExt cx="5029200" cy="3276600"/>
          </a:xfrm>
        </p:grpSpPr>
        <p:sp>
          <p:nvSpPr>
            <p:cNvPr id="6" name="Oval 5"/>
            <p:cNvSpPr/>
            <p:nvPr/>
          </p:nvSpPr>
          <p:spPr>
            <a:xfrm>
              <a:off x="4419600" y="19812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2971800" y="2209800"/>
              <a:ext cx="1447800" cy="1066800"/>
              <a:chOff x="2971800" y="2209800"/>
              <a:chExt cx="1447800" cy="1066800"/>
            </a:xfrm>
          </p:grpSpPr>
          <p:cxnSp>
            <p:nvCxnSpPr>
              <p:cNvPr id="12" name="Straight Arrow Connector 11"/>
              <p:cNvCxnSpPr/>
              <p:nvPr/>
            </p:nvCxnSpPr>
            <p:spPr>
              <a:xfrm flipH="1">
                <a:off x="3155796" y="2209800"/>
                <a:ext cx="1263804" cy="7620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val 13"/>
              <p:cNvSpPr/>
              <p:nvPr/>
            </p:nvSpPr>
            <p:spPr>
              <a:xfrm>
                <a:off x="2971800" y="2971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4715107" y="2209800"/>
              <a:ext cx="1457093" cy="1016652"/>
              <a:chOff x="4715107" y="2209800"/>
              <a:chExt cx="1457093" cy="1016652"/>
            </a:xfrm>
          </p:grpSpPr>
          <p:cxnSp>
            <p:nvCxnSpPr>
              <p:cNvPr id="8" name="Straight Arrow Connector 7"/>
              <p:cNvCxnSpPr/>
              <p:nvPr/>
            </p:nvCxnSpPr>
            <p:spPr>
              <a:xfrm>
                <a:off x="4715107" y="2209800"/>
                <a:ext cx="1304693" cy="711852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/>
              <p:cNvSpPr/>
              <p:nvPr/>
            </p:nvSpPr>
            <p:spPr>
              <a:xfrm>
                <a:off x="5867400" y="2921652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2286000" y="3231963"/>
              <a:ext cx="730437" cy="1035237"/>
              <a:chOff x="2286000" y="3231963"/>
              <a:chExt cx="730437" cy="1035237"/>
            </a:xfrm>
          </p:grpSpPr>
          <p:sp>
            <p:nvSpPr>
              <p:cNvPr id="16" name="Oval 15"/>
              <p:cNvSpPr/>
              <p:nvPr/>
            </p:nvSpPr>
            <p:spPr>
              <a:xfrm>
                <a:off x="2286000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" name="Straight Arrow Connector 17"/>
              <p:cNvCxnSpPr>
                <a:stCxn id="14" idx="3"/>
                <a:endCxn id="16" idx="0"/>
              </p:cNvCxnSpPr>
              <p:nvPr/>
            </p:nvCxnSpPr>
            <p:spPr>
              <a:xfrm flipH="1">
                <a:off x="2438400" y="3231963"/>
                <a:ext cx="578037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/>
            <p:cNvGrpSpPr/>
            <p:nvPr/>
          </p:nvGrpSpPr>
          <p:grpSpPr>
            <a:xfrm>
              <a:off x="3231963" y="3231963"/>
              <a:ext cx="719285" cy="1035237"/>
              <a:chOff x="3231963" y="3231963"/>
              <a:chExt cx="719285" cy="1035237"/>
            </a:xfrm>
          </p:grpSpPr>
          <p:sp>
            <p:nvSpPr>
              <p:cNvPr id="17" name="Oval 16"/>
              <p:cNvSpPr/>
              <p:nvPr/>
            </p:nvSpPr>
            <p:spPr>
              <a:xfrm>
                <a:off x="3646448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Arrow Connector 20"/>
              <p:cNvCxnSpPr>
                <a:stCxn id="14" idx="5"/>
              </p:cNvCxnSpPr>
              <p:nvPr/>
            </p:nvCxnSpPr>
            <p:spPr>
              <a:xfrm>
                <a:off x="3231963" y="3231963"/>
                <a:ext cx="566885" cy="730437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/>
            <p:cNvGrpSpPr/>
            <p:nvPr/>
          </p:nvGrpSpPr>
          <p:grpSpPr>
            <a:xfrm>
              <a:off x="5192752" y="3200400"/>
              <a:ext cx="730437" cy="1035237"/>
              <a:chOff x="5192752" y="3200400"/>
              <a:chExt cx="730437" cy="1035237"/>
            </a:xfrm>
          </p:grpSpPr>
          <p:sp>
            <p:nvSpPr>
              <p:cNvPr id="28" name="Oval 27"/>
              <p:cNvSpPr/>
              <p:nvPr/>
            </p:nvSpPr>
            <p:spPr>
              <a:xfrm>
                <a:off x="5192752" y="3930837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" name="Straight Arrow Connector 29"/>
              <p:cNvCxnSpPr>
                <a:endCxn id="28" idx="0"/>
              </p:cNvCxnSpPr>
              <p:nvPr/>
            </p:nvCxnSpPr>
            <p:spPr>
              <a:xfrm flipH="1">
                <a:off x="5345152" y="3200400"/>
                <a:ext cx="578037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/>
            <p:cNvGrpSpPr/>
            <p:nvPr/>
          </p:nvGrpSpPr>
          <p:grpSpPr>
            <a:xfrm>
              <a:off x="6138715" y="3200400"/>
              <a:ext cx="719285" cy="1035237"/>
              <a:chOff x="6138715" y="3200400"/>
              <a:chExt cx="719285" cy="1035237"/>
            </a:xfrm>
          </p:grpSpPr>
          <p:sp>
            <p:nvSpPr>
              <p:cNvPr id="29" name="Oval 28"/>
              <p:cNvSpPr/>
              <p:nvPr/>
            </p:nvSpPr>
            <p:spPr>
              <a:xfrm>
                <a:off x="6553200" y="3930837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" name="Straight Arrow Connector 30"/>
              <p:cNvCxnSpPr/>
              <p:nvPr/>
            </p:nvCxnSpPr>
            <p:spPr>
              <a:xfrm>
                <a:off x="6138715" y="3200400"/>
                <a:ext cx="566885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/>
            <p:cNvGrpSpPr/>
            <p:nvPr/>
          </p:nvGrpSpPr>
          <p:grpSpPr>
            <a:xfrm>
              <a:off x="1828800" y="4222563"/>
              <a:ext cx="501837" cy="1035237"/>
              <a:chOff x="1828800" y="4222563"/>
              <a:chExt cx="501837" cy="1035237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18288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Arrow Connector 34"/>
              <p:cNvCxnSpPr>
                <a:stCxn id="16" idx="3"/>
              </p:cNvCxnSpPr>
              <p:nvPr/>
            </p:nvCxnSpPr>
            <p:spPr>
              <a:xfrm flipH="1">
                <a:off x="2012764" y="4222563"/>
                <a:ext cx="317873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/>
            <p:cNvGrpSpPr/>
            <p:nvPr/>
          </p:nvGrpSpPr>
          <p:grpSpPr>
            <a:xfrm>
              <a:off x="2557315" y="4222563"/>
              <a:ext cx="414485" cy="1035237"/>
              <a:chOff x="2557315" y="4222563"/>
              <a:chExt cx="414485" cy="1035237"/>
            </a:xfrm>
          </p:grpSpPr>
          <p:sp>
            <p:nvSpPr>
              <p:cNvPr id="34" name="Oval 33"/>
              <p:cNvSpPr/>
              <p:nvPr/>
            </p:nvSpPr>
            <p:spPr>
              <a:xfrm>
                <a:off x="26670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6" name="Straight Arrow Connector 35"/>
              <p:cNvCxnSpPr>
                <a:endCxn id="34" idx="0"/>
              </p:cNvCxnSpPr>
              <p:nvPr/>
            </p:nvCxnSpPr>
            <p:spPr>
              <a:xfrm>
                <a:off x="2557315" y="4222563"/>
                <a:ext cx="262085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Group 38"/>
            <p:cNvGrpSpPr/>
            <p:nvPr/>
          </p:nvGrpSpPr>
          <p:grpSpPr>
            <a:xfrm>
              <a:off x="4800600" y="4222563"/>
              <a:ext cx="459122" cy="1003674"/>
              <a:chOff x="2427248" y="3263526"/>
              <a:chExt cx="459122" cy="1003674"/>
            </a:xfrm>
          </p:grpSpPr>
          <p:sp>
            <p:nvSpPr>
              <p:cNvPr id="40" name="Oval 39"/>
              <p:cNvSpPr/>
              <p:nvPr/>
            </p:nvSpPr>
            <p:spPr>
              <a:xfrm>
                <a:off x="2427248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" name="Straight Arrow Connector 41"/>
              <p:cNvCxnSpPr>
                <a:stCxn id="17" idx="3"/>
                <a:endCxn id="40" idx="0"/>
              </p:cNvCxnSpPr>
              <p:nvPr/>
            </p:nvCxnSpPr>
            <p:spPr>
              <a:xfrm flipH="1">
                <a:off x="2579648" y="3263526"/>
                <a:ext cx="306722" cy="6988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/>
            <p:cNvGrpSpPr/>
            <p:nvPr/>
          </p:nvGrpSpPr>
          <p:grpSpPr>
            <a:xfrm>
              <a:off x="3200400" y="4222563"/>
              <a:ext cx="501837" cy="1035237"/>
              <a:chOff x="3200400" y="4222563"/>
              <a:chExt cx="501837" cy="1035237"/>
            </a:xfrm>
          </p:grpSpPr>
          <p:sp>
            <p:nvSpPr>
              <p:cNvPr id="48" name="Oval 47"/>
              <p:cNvSpPr/>
              <p:nvPr/>
            </p:nvSpPr>
            <p:spPr>
              <a:xfrm>
                <a:off x="32004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Straight Arrow Connector 49"/>
              <p:cNvCxnSpPr/>
              <p:nvPr/>
            </p:nvCxnSpPr>
            <p:spPr>
              <a:xfrm flipH="1">
                <a:off x="3384364" y="4222563"/>
                <a:ext cx="317873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/>
            <p:cNvGrpSpPr/>
            <p:nvPr/>
          </p:nvGrpSpPr>
          <p:grpSpPr>
            <a:xfrm>
              <a:off x="3928915" y="4222563"/>
              <a:ext cx="414485" cy="1035237"/>
              <a:chOff x="3928915" y="4222563"/>
              <a:chExt cx="414485" cy="1035237"/>
            </a:xfrm>
          </p:grpSpPr>
          <p:sp>
            <p:nvSpPr>
              <p:cNvPr id="49" name="Oval 48"/>
              <p:cNvSpPr/>
              <p:nvPr/>
            </p:nvSpPr>
            <p:spPr>
              <a:xfrm>
                <a:off x="40386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1" name="Straight Arrow Connector 50"/>
              <p:cNvCxnSpPr>
                <a:endCxn id="49" idx="0"/>
              </p:cNvCxnSpPr>
              <p:nvPr/>
            </p:nvCxnSpPr>
            <p:spPr>
              <a:xfrm>
                <a:off x="3928915" y="4222563"/>
                <a:ext cx="262085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Group 24"/>
          <p:cNvGrpSpPr/>
          <p:nvPr/>
        </p:nvGrpSpPr>
        <p:grpSpPr>
          <a:xfrm>
            <a:off x="1752600" y="2514600"/>
            <a:ext cx="5181600" cy="3341132"/>
            <a:chOff x="1752600" y="2514600"/>
            <a:chExt cx="5181600" cy="3341132"/>
          </a:xfrm>
        </p:grpSpPr>
        <p:sp>
          <p:nvSpPr>
            <p:cNvPr id="41" name="TextBox 40"/>
            <p:cNvSpPr txBox="1"/>
            <p:nvPr/>
          </p:nvSpPr>
          <p:spPr>
            <a:xfrm>
              <a:off x="4381896" y="25146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895600" y="35052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14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209800" y="44958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17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752600" y="54864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91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791200" y="3429000"/>
              <a:ext cx="3545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9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181600" y="44312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21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19896" y="44312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23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515496" y="44312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29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590800" y="54864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37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162696" y="54864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25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000896" y="54864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88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762896" y="54218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33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1524000" y="6096000"/>
            <a:ext cx="6705600" cy="381000"/>
            <a:chOff x="1524000" y="6096000"/>
            <a:chExt cx="6705600" cy="381000"/>
          </a:xfrm>
        </p:grpSpPr>
        <p:grpSp>
          <p:nvGrpSpPr>
            <p:cNvPr id="63" name="Group 62"/>
            <p:cNvGrpSpPr/>
            <p:nvPr/>
          </p:nvGrpSpPr>
          <p:grpSpPr>
            <a:xfrm>
              <a:off x="1524000" y="6096000"/>
              <a:ext cx="6705600" cy="381000"/>
              <a:chOff x="1524000" y="6096000"/>
              <a:chExt cx="6705600" cy="381000"/>
            </a:xfrm>
          </p:grpSpPr>
          <p:sp>
            <p:nvSpPr>
              <p:cNvPr id="65" name="Rectangle 64"/>
              <p:cNvSpPr/>
              <p:nvPr/>
            </p:nvSpPr>
            <p:spPr>
              <a:xfrm>
                <a:off x="1524000" y="6096000"/>
                <a:ext cx="6705600" cy="3810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66" name="Straight Connector 65"/>
              <p:cNvCxnSpPr/>
              <p:nvPr/>
            </p:nvCxnSpPr>
            <p:spPr>
              <a:xfrm>
                <a:off x="1961952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23622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>
                <a:off x="28194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>
                <a:off x="32766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>
                <a:off x="37338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41910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>
                <a:off x="46482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>
                <a:off x="51054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>
                <a:off x="55626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>
                <a:off x="60198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>
                <a:off x="64770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>
                <a:off x="69342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>
                <a:off x="73914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>
                <a:off x="78486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TextBox 63"/>
            <p:cNvSpPr txBox="1"/>
            <p:nvPr/>
          </p:nvSpPr>
          <p:spPr>
            <a:xfrm>
              <a:off x="1600200" y="6107668"/>
              <a:ext cx="53511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4    14     9      17   23    21     29    91    37    25    88      33</a:t>
              </a:r>
            </a:p>
          </p:txBody>
        </p:sp>
      </p:grpSp>
      <p:sp>
        <p:nvSpPr>
          <p:cNvPr id="80" name="TextBox 79"/>
          <p:cNvSpPr txBox="1"/>
          <p:nvPr/>
        </p:nvSpPr>
        <p:spPr>
          <a:xfrm>
            <a:off x="1066800" y="6029980"/>
            <a:ext cx="410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H</a:t>
            </a:r>
            <a:endParaRPr lang="en-US" sz="2800" dirty="0"/>
          </a:p>
        </p:txBody>
      </p:sp>
      <p:sp>
        <p:nvSpPr>
          <p:cNvPr id="26" name="TextBox 25"/>
          <p:cNvSpPr txBox="1"/>
          <p:nvPr/>
        </p:nvSpPr>
        <p:spPr>
          <a:xfrm>
            <a:off x="3505200" y="1276290"/>
            <a:ext cx="41902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sz="2000" dirty="0"/>
              <a:t>satisfying</a:t>
            </a:r>
            <a:r>
              <a:rPr lang="en-US" sz="2000" b="1" dirty="0"/>
              <a:t> heap </a:t>
            </a:r>
            <a:r>
              <a:rPr lang="en-US" sz="2000" dirty="0"/>
              <a:t>property at each node.</a:t>
            </a:r>
          </a:p>
        </p:txBody>
      </p:sp>
    </p:spTree>
    <p:extLst>
      <p:ext uri="{BB962C8B-B14F-4D97-AF65-F5344CB8AC3E}">
        <p14:creationId xmlns:p14="http://schemas.microsoft.com/office/powerpoint/2010/main" val="2988782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0" grpId="0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Implementation </a:t>
            </a:r>
            <a:r>
              <a:rPr lang="en-US" sz="3600" b="1" dirty="0"/>
              <a:t>of a Binary heap</a:t>
            </a:r>
            <a:endParaRPr lang="en-US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l">
                  <a:buNone/>
                </a:pPr>
                <a:endParaRPr lang="en-US" sz="2000" dirty="0">
                  <a:solidFill>
                    <a:schemeClr val="tx1"/>
                  </a:solidFill>
                </a:endParaRPr>
              </a:p>
              <a:p>
                <a:pPr marL="0" indent="0" algn="l">
                  <a:buNone/>
                </a:pP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: the maximum number of keys at any moment of time, </a:t>
                </a:r>
              </a:p>
              <a:p>
                <a:pPr marL="0" indent="0" algn="l">
                  <a:buNone/>
                </a:pPr>
                <a:r>
                  <a:rPr lang="en-US" sz="2000" dirty="0">
                    <a:solidFill>
                      <a:schemeClr val="tx1"/>
                    </a:solidFill>
                  </a:rPr>
                  <a:t>that we keep </a:t>
                </a:r>
              </a:p>
              <a:p>
                <a:pPr marL="0" indent="0" algn="l">
                  <a:buNone/>
                </a:pPr>
                <a:endParaRPr lang="en-US" sz="20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Font typeface="Arial" pitchFamily="34" charset="0"/>
                  <a:buChar char="•"/>
                </a:pP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H</a:t>
                </a:r>
                <a:r>
                  <a:rPr lang="en-US" sz="2400" dirty="0">
                    <a:solidFill>
                      <a:schemeClr val="tx1"/>
                    </a:solidFill>
                  </a:rPr>
                  <a:t>[]</a:t>
                </a:r>
              </a:p>
              <a:p>
                <a:pPr marL="342900" indent="-342900" algn="l">
                  <a:buFont typeface="Arial" pitchFamily="34" charset="0"/>
                  <a:buChar char="•"/>
                </a:pPr>
                <a:endParaRPr lang="en-US" sz="20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Font typeface="Arial" pitchFamily="34" charset="0"/>
                  <a:buChar char="•"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size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b="1" dirty="0">
                  <a:solidFill>
                    <a:srgbClr val="7030A0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371600" y="3124200"/>
                <a:ext cx="503342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: </a:t>
                </a:r>
                <a:r>
                  <a:rPr lang="en-US" dirty="0"/>
                  <a:t>an </a:t>
                </a:r>
                <a:r>
                  <a:rPr lang="en-US" b="1" dirty="0"/>
                  <a:t>array</a:t>
                </a:r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 used for storing the binary heap.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3124200"/>
                <a:ext cx="5033429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1211" t="-7692" r="-1453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405363" y="3897868"/>
            <a:ext cx="6062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 a </a:t>
            </a:r>
            <a:r>
              <a:rPr lang="en-US" b="1" dirty="0"/>
              <a:t>variable</a:t>
            </a:r>
            <a:r>
              <a:rPr lang="en-US" dirty="0"/>
              <a:t> for the total number of keys </a:t>
            </a:r>
            <a:r>
              <a:rPr lang="en-US" b="1" u="sng" dirty="0">
                <a:solidFill>
                  <a:srgbClr val="006C31"/>
                </a:solidFill>
              </a:rPr>
              <a:t>currently</a:t>
            </a:r>
            <a:r>
              <a:rPr lang="en-US" dirty="0"/>
              <a:t> in the heap. 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1981200"/>
            <a:ext cx="5715000" cy="3164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22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uiExpand="1" build="p"/>
      <p:bldP spid="2" grpId="0"/>
      <p:bldP spid="6" grpId="0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err="1">
                <a:solidFill>
                  <a:srgbClr val="7030A0"/>
                </a:solidFill>
              </a:rPr>
              <a:t>Find_min</a:t>
            </a:r>
            <a:r>
              <a:rPr lang="en-US" sz="3600" b="1" dirty="0">
                <a:solidFill>
                  <a:srgbClr val="7030A0"/>
                </a:solidFill>
              </a:rPr>
              <a:t>(H)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Report </a:t>
            </a:r>
            <a:r>
              <a:rPr lang="en-US" sz="2000" b="1" dirty="0"/>
              <a:t>H</a:t>
            </a:r>
            <a:r>
              <a:rPr lang="en-US" sz="2000" dirty="0"/>
              <a:t>[</a:t>
            </a:r>
            <a:r>
              <a:rPr lang="en-US" sz="2000" dirty="0">
                <a:solidFill>
                  <a:schemeClr val="tx2"/>
                </a:solidFill>
              </a:rPr>
              <a:t>0</a:t>
            </a:r>
            <a:r>
              <a:rPr lang="en-US" sz="2000" dirty="0"/>
              <a:t>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grpSp>
        <p:nvGrpSpPr>
          <p:cNvPr id="24" name="Group 23"/>
          <p:cNvGrpSpPr/>
          <p:nvPr/>
        </p:nvGrpSpPr>
        <p:grpSpPr>
          <a:xfrm>
            <a:off x="1828800" y="2514600"/>
            <a:ext cx="5029200" cy="3276600"/>
            <a:chOff x="1828800" y="1981200"/>
            <a:chExt cx="5029200" cy="3276600"/>
          </a:xfrm>
        </p:grpSpPr>
        <p:sp>
          <p:nvSpPr>
            <p:cNvPr id="6" name="Oval 5"/>
            <p:cNvSpPr/>
            <p:nvPr/>
          </p:nvSpPr>
          <p:spPr>
            <a:xfrm>
              <a:off x="4419600" y="19812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2971800" y="2209800"/>
              <a:ext cx="1447800" cy="1066800"/>
              <a:chOff x="2971800" y="2209800"/>
              <a:chExt cx="1447800" cy="1066800"/>
            </a:xfrm>
          </p:grpSpPr>
          <p:cxnSp>
            <p:nvCxnSpPr>
              <p:cNvPr id="12" name="Straight Arrow Connector 11"/>
              <p:cNvCxnSpPr/>
              <p:nvPr/>
            </p:nvCxnSpPr>
            <p:spPr>
              <a:xfrm flipH="1">
                <a:off x="3155796" y="2209800"/>
                <a:ext cx="1263804" cy="7620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val 13"/>
              <p:cNvSpPr/>
              <p:nvPr/>
            </p:nvSpPr>
            <p:spPr>
              <a:xfrm>
                <a:off x="2971800" y="2971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4715107" y="2209800"/>
              <a:ext cx="1457093" cy="1016652"/>
              <a:chOff x="4715107" y="2209800"/>
              <a:chExt cx="1457093" cy="1016652"/>
            </a:xfrm>
          </p:grpSpPr>
          <p:cxnSp>
            <p:nvCxnSpPr>
              <p:cNvPr id="8" name="Straight Arrow Connector 7"/>
              <p:cNvCxnSpPr/>
              <p:nvPr/>
            </p:nvCxnSpPr>
            <p:spPr>
              <a:xfrm>
                <a:off x="4715107" y="2209800"/>
                <a:ext cx="1304693" cy="711852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/>
              <p:cNvSpPr/>
              <p:nvPr/>
            </p:nvSpPr>
            <p:spPr>
              <a:xfrm>
                <a:off x="5867400" y="2921652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2286000" y="3231963"/>
              <a:ext cx="730437" cy="1035237"/>
              <a:chOff x="2286000" y="3231963"/>
              <a:chExt cx="730437" cy="1035237"/>
            </a:xfrm>
          </p:grpSpPr>
          <p:sp>
            <p:nvSpPr>
              <p:cNvPr id="16" name="Oval 15"/>
              <p:cNvSpPr/>
              <p:nvPr/>
            </p:nvSpPr>
            <p:spPr>
              <a:xfrm>
                <a:off x="2286000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" name="Straight Arrow Connector 17"/>
              <p:cNvCxnSpPr>
                <a:stCxn id="14" idx="3"/>
                <a:endCxn id="16" idx="0"/>
              </p:cNvCxnSpPr>
              <p:nvPr/>
            </p:nvCxnSpPr>
            <p:spPr>
              <a:xfrm flipH="1">
                <a:off x="2438400" y="3231963"/>
                <a:ext cx="578037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/>
            <p:cNvGrpSpPr/>
            <p:nvPr/>
          </p:nvGrpSpPr>
          <p:grpSpPr>
            <a:xfrm>
              <a:off x="3231963" y="3231963"/>
              <a:ext cx="719285" cy="1035237"/>
              <a:chOff x="3231963" y="3231963"/>
              <a:chExt cx="719285" cy="1035237"/>
            </a:xfrm>
          </p:grpSpPr>
          <p:sp>
            <p:nvSpPr>
              <p:cNvPr id="17" name="Oval 16"/>
              <p:cNvSpPr/>
              <p:nvPr/>
            </p:nvSpPr>
            <p:spPr>
              <a:xfrm>
                <a:off x="3646448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Arrow Connector 20"/>
              <p:cNvCxnSpPr>
                <a:stCxn id="14" idx="5"/>
              </p:cNvCxnSpPr>
              <p:nvPr/>
            </p:nvCxnSpPr>
            <p:spPr>
              <a:xfrm>
                <a:off x="3231963" y="3231963"/>
                <a:ext cx="566885" cy="730437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/>
            <p:cNvGrpSpPr/>
            <p:nvPr/>
          </p:nvGrpSpPr>
          <p:grpSpPr>
            <a:xfrm>
              <a:off x="5192752" y="3200400"/>
              <a:ext cx="730437" cy="1035237"/>
              <a:chOff x="5192752" y="3200400"/>
              <a:chExt cx="730437" cy="1035237"/>
            </a:xfrm>
          </p:grpSpPr>
          <p:sp>
            <p:nvSpPr>
              <p:cNvPr id="28" name="Oval 27"/>
              <p:cNvSpPr/>
              <p:nvPr/>
            </p:nvSpPr>
            <p:spPr>
              <a:xfrm>
                <a:off x="5192752" y="3930837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" name="Straight Arrow Connector 29"/>
              <p:cNvCxnSpPr>
                <a:endCxn id="28" idx="0"/>
              </p:cNvCxnSpPr>
              <p:nvPr/>
            </p:nvCxnSpPr>
            <p:spPr>
              <a:xfrm flipH="1">
                <a:off x="5345152" y="3200400"/>
                <a:ext cx="578037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/>
            <p:cNvGrpSpPr/>
            <p:nvPr/>
          </p:nvGrpSpPr>
          <p:grpSpPr>
            <a:xfrm>
              <a:off x="6138715" y="3200400"/>
              <a:ext cx="719285" cy="1035237"/>
              <a:chOff x="6138715" y="3200400"/>
              <a:chExt cx="719285" cy="1035237"/>
            </a:xfrm>
          </p:grpSpPr>
          <p:sp>
            <p:nvSpPr>
              <p:cNvPr id="29" name="Oval 28"/>
              <p:cNvSpPr/>
              <p:nvPr/>
            </p:nvSpPr>
            <p:spPr>
              <a:xfrm>
                <a:off x="6553200" y="3930837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" name="Straight Arrow Connector 30"/>
              <p:cNvCxnSpPr/>
              <p:nvPr/>
            </p:nvCxnSpPr>
            <p:spPr>
              <a:xfrm>
                <a:off x="6138715" y="3200400"/>
                <a:ext cx="566885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/>
            <p:cNvGrpSpPr/>
            <p:nvPr/>
          </p:nvGrpSpPr>
          <p:grpSpPr>
            <a:xfrm>
              <a:off x="1828800" y="4222563"/>
              <a:ext cx="501837" cy="1035237"/>
              <a:chOff x="1828800" y="4222563"/>
              <a:chExt cx="501837" cy="1035237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18288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Arrow Connector 34"/>
              <p:cNvCxnSpPr>
                <a:stCxn id="16" idx="3"/>
              </p:cNvCxnSpPr>
              <p:nvPr/>
            </p:nvCxnSpPr>
            <p:spPr>
              <a:xfrm flipH="1">
                <a:off x="2012764" y="4222563"/>
                <a:ext cx="317873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/>
            <p:cNvGrpSpPr/>
            <p:nvPr/>
          </p:nvGrpSpPr>
          <p:grpSpPr>
            <a:xfrm>
              <a:off x="2557315" y="4222563"/>
              <a:ext cx="414485" cy="1035237"/>
              <a:chOff x="2557315" y="4222563"/>
              <a:chExt cx="414485" cy="1035237"/>
            </a:xfrm>
          </p:grpSpPr>
          <p:sp>
            <p:nvSpPr>
              <p:cNvPr id="34" name="Oval 33"/>
              <p:cNvSpPr/>
              <p:nvPr/>
            </p:nvSpPr>
            <p:spPr>
              <a:xfrm>
                <a:off x="26670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6" name="Straight Arrow Connector 35"/>
              <p:cNvCxnSpPr>
                <a:endCxn id="34" idx="0"/>
              </p:cNvCxnSpPr>
              <p:nvPr/>
            </p:nvCxnSpPr>
            <p:spPr>
              <a:xfrm>
                <a:off x="2557315" y="4222563"/>
                <a:ext cx="262085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Group 38"/>
            <p:cNvGrpSpPr/>
            <p:nvPr/>
          </p:nvGrpSpPr>
          <p:grpSpPr>
            <a:xfrm>
              <a:off x="4800600" y="4222563"/>
              <a:ext cx="459122" cy="1003674"/>
              <a:chOff x="2427248" y="3263526"/>
              <a:chExt cx="459122" cy="1003674"/>
            </a:xfrm>
          </p:grpSpPr>
          <p:sp>
            <p:nvSpPr>
              <p:cNvPr id="40" name="Oval 39"/>
              <p:cNvSpPr/>
              <p:nvPr/>
            </p:nvSpPr>
            <p:spPr>
              <a:xfrm>
                <a:off x="2427248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" name="Straight Arrow Connector 41"/>
              <p:cNvCxnSpPr>
                <a:stCxn id="17" idx="3"/>
                <a:endCxn id="40" idx="0"/>
              </p:cNvCxnSpPr>
              <p:nvPr/>
            </p:nvCxnSpPr>
            <p:spPr>
              <a:xfrm flipH="1">
                <a:off x="2579648" y="3263526"/>
                <a:ext cx="306722" cy="6988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/>
            <p:cNvGrpSpPr/>
            <p:nvPr/>
          </p:nvGrpSpPr>
          <p:grpSpPr>
            <a:xfrm>
              <a:off x="3200400" y="4222563"/>
              <a:ext cx="501837" cy="1035237"/>
              <a:chOff x="3200400" y="4222563"/>
              <a:chExt cx="501837" cy="1035237"/>
            </a:xfrm>
          </p:grpSpPr>
          <p:sp>
            <p:nvSpPr>
              <p:cNvPr id="48" name="Oval 47"/>
              <p:cNvSpPr/>
              <p:nvPr/>
            </p:nvSpPr>
            <p:spPr>
              <a:xfrm>
                <a:off x="32004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Straight Arrow Connector 49"/>
              <p:cNvCxnSpPr/>
              <p:nvPr/>
            </p:nvCxnSpPr>
            <p:spPr>
              <a:xfrm flipH="1">
                <a:off x="3384364" y="4222563"/>
                <a:ext cx="317873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/>
            <p:cNvGrpSpPr/>
            <p:nvPr/>
          </p:nvGrpSpPr>
          <p:grpSpPr>
            <a:xfrm>
              <a:off x="3928915" y="4222563"/>
              <a:ext cx="414485" cy="1035237"/>
              <a:chOff x="3928915" y="4222563"/>
              <a:chExt cx="414485" cy="1035237"/>
            </a:xfrm>
          </p:grpSpPr>
          <p:sp>
            <p:nvSpPr>
              <p:cNvPr id="49" name="Oval 48"/>
              <p:cNvSpPr/>
              <p:nvPr/>
            </p:nvSpPr>
            <p:spPr>
              <a:xfrm>
                <a:off x="40386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1" name="Straight Arrow Connector 50"/>
              <p:cNvCxnSpPr>
                <a:endCxn id="49" idx="0"/>
              </p:cNvCxnSpPr>
              <p:nvPr/>
            </p:nvCxnSpPr>
            <p:spPr>
              <a:xfrm>
                <a:off x="3928915" y="4222563"/>
                <a:ext cx="262085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Group 24"/>
          <p:cNvGrpSpPr/>
          <p:nvPr/>
        </p:nvGrpSpPr>
        <p:grpSpPr>
          <a:xfrm>
            <a:off x="1752600" y="2514600"/>
            <a:ext cx="5181600" cy="3341132"/>
            <a:chOff x="1752600" y="2514600"/>
            <a:chExt cx="5181600" cy="3341132"/>
          </a:xfrm>
        </p:grpSpPr>
        <p:sp>
          <p:nvSpPr>
            <p:cNvPr id="41" name="TextBox 40"/>
            <p:cNvSpPr txBox="1"/>
            <p:nvPr/>
          </p:nvSpPr>
          <p:spPr>
            <a:xfrm>
              <a:off x="4381896" y="25146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895600" y="35052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14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209800" y="44958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17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752600" y="54864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91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791200" y="3429000"/>
              <a:ext cx="3545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9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181600" y="44312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21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19896" y="44312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23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515496" y="44312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29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590800" y="54864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37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162696" y="54864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25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000896" y="54864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88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762896" y="54218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33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1066800" y="6029980"/>
            <a:ext cx="7162800" cy="523220"/>
            <a:chOff x="1066800" y="6029980"/>
            <a:chExt cx="7162800" cy="523220"/>
          </a:xfrm>
        </p:grpSpPr>
        <p:grpSp>
          <p:nvGrpSpPr>
            <p:cNvPr id="73" name="Group 72"/>
            <p:cNvGrpSpPr/>
            <p:nvPr/>
          </p:nvGrpSpPr>
          <p:grpSpPr>
            <a:xfrm>
              <a:off x="1524000" y="6096000"/>
              <a:ext cx="6705600" cy="381000"/>
              <a:chOff x="1524000" y="6096000"/>
              <a:chExt cx="6705600" cy="381000"/>
            </a:xfrm>
          </p:grpSpPr>
          <p:grpSp>
            <p:nvGrpSpPr>
              <p:cNvPr id="72" name="Group 71"/>
              <p:cNvGrpSpPr/>
              <p:nvPr/>
            </p:nvGrpSpPr>
            <p:grpSpPr>
              <a:xfrm>
                <a:off x="1524000" y="6096000"/>
                <a:ext cx="6705600" cy="381000"/>
                <a:chOff x="1524000" y="6096000"/>
                <a:chExt cx="6705600" cy="381000"/>
              </a:xfrm>
            </p:grpSpPr>
            <p:sp>
              <p:nvSpPr>
                <p:cNvPr id="26" name="Rectangle 25"/>
                <p:cNvSpPr/>
                <p:nvPr/>
              </p:nvSpPr>
              <p:spPr>
                <a:xfrm>
                  <a:off x="1524000" y="6096000"/>
                  <a:ext cx="6705600" cy="38100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2" name="Straight Connector 31"/>
                <p:cNvCxnSpPr/>
                <p:nvPr/>
              </p:nvCxnSpPr>
              <p:spPr>
                <a:xfrm>
                  <a:off x="1961952" y="6096000"/>
                  <a:ext cx="0" cy="3810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>
                <a:xfrm>
                  <a:off x="2362200" y="6096000"/>
                  <a:ext cx="0" cy="3810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>
                <a:xfrm>
                  <a:off x="2819400" y="6096000"/>
                  <a:ext cx="0" cy="3810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/>
                <p:cNvCxnSpPr/>
                <p:nvPr/>
              </p:nvCxnSpPr>
              <p:spPr>
                <a:xfrm>
                  <a:off x="3276600" y="6096000"/>
                  <a:ext cx="0" cy="3810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/>
                <p:cNvCxnSpPr/>
                <p:nvPr/>
              </p:nvCxnSpPr>
              <p:spPr>
                <a:xfrm>
                  <a:off x="3733800" y="6096000"/>
                  <a:ext cx="0" cy="3810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/>
                <p:cNvCxnSpPr/>
                <p:nvPr/>
              </p:nvCxnSpPr>
              <p:spPr>
                <a:xfrm>
                  <a:off x="4191000" y="6096000"/>
                  <a:ext cx="0" cy="3810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/>
                <p:cNvCxnSpPr/>
                <p:nvPr/>
              </p:nvCxnSpPr>
              <p:spPr>
                <a:xfrm>
                  <a:off x="4648200" y="6096000"/>
                  <a:ext cx="0" cy="3810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>
                <a:xfrm>
                  <a:off x="5105400" y="6096000"/>
                  <a:ext cx="0" cy="3810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>
                <a:xfrm>
                  <a:off x="5562600" y="6096000"/>
                  <a:ext cx="0" cy="3810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>
                <a:xfrm>
                  <a:off x="6019800" y="6096000"/>
                  <a:ext cx="0" cy="3810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/>
              </p:nvCxnSpPr>
              <p:spPr>
                <a:xfrm>
                  <a:off x="6477000" y="6096000"/>
                  <a:ext cx="0" cy="3810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/>
                <p:cNvCxnSpPr/>
                <p:nvPr/>
              </p:nvCxnSpPr>
              <p:spPr>
                <a:xfrm>
                  <a:off x="6934200" y="6096000"/>
                  <a:ext cx="0" cy="3810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/>
                <p:cNvCxnSpPr/>
                <p:nvPr/>
              </p:nvCxnSpPr>
              <p:spPr>
                <a:xfrm>
                  <a:off x="7391400" y="6096000"/>
                  <a:ext cx="0" cy="3810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/>
                <p:cNvCxnSpPr/>
                <p:nvPr/>
              </p:nvCxnSpPr>
              <p:spPr>
                <a:xfrm>
                  <a:off x="7848600" y="6096000"/>
                  <a:ext cx="0" cy="3810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8" name="TextBox 37"/>
              <p:cNvSpPr txBox="1"/>
              <p:nvPr/>
            </p:nvSpPr>
            <p:spPr>
              <a:xfrm>
                <a:off x="1600200" y="6107668"/>
                <a:ext cx="53511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4    14     9      17   23    21     29    91    37    25    88      33</a:t>
                </a:r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1066800" y="6029980"/>
              <a:ext cx="4106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H</a:t>
              </a:r>
              <a:endParaRPr 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33188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err="1">
                <a:solidFill>
                  <a:srgbClr val="7030A0"/>
                </a:solidFill>
              </a:rPr>
              <a:t>Extract_min</a:t>
            </a:r>
            <a:r>
              <a:rPr lang="en-US" sz="3600" b="1" dirty="0">
                <a:solidFill>
                  <a:srgbClr val="7030A0"/>
                </a:solidFill>
              </a:rPr>
              <a:t>(H)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Think hard on designing efficient algorithm for this operation.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The challenge is: </a:t>
            </a:r>
          </a:p>
          <a:p>
            <a:pPr marL="0" indent="0">
              <a:buNone/>
            </a:pPr>
            <a:r>
              <a:rPr lang="en-US" sz="1800" dirty="0"/>
              <a:t>how to preserve the complete binary tree structure as well as the heap property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pSp>
        <p:nvGrpSpPr>
          <p:cNvPr id="24" name="Group 23"/>
          <p:cNvGrpSpPr/>
          <p:nvPr/>
        </p:nvGrpSpPr>
        <p:grpSpPr>
          <a:xfrm>
            <a:off x="1828800" y="2514600"/>
            <a:ext cx="5029200" cy="3276600"/>
            <a:chOff x="1828800" y="1981200"/>
            <a:chExt cx="5029200" cy="3276600"/>
          </a:xfrm>
        </p:grpSpPr>
        <p:sp>
          <p:nvSpPr>
            <p:cNvPr id="6" name="Oval 5"/>
            <p:cNvSpPr/>
            <p:nvPr/>
          </p:nvSpPr>
          <p:spPr>
            <a:xfrm>
              <a:off x="4419600" y="19812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2971800" y="2209800"/>
              <a:ext cx="1447800" cy="1066800"/>
              <a:chOff x="2971800" y="2209800"/>
              <a:chExt cx="1447800" cy="1066800"/>
            </a:xfrm>
          </p:grpSpPr>
          <p:cxnSp>
            <p:nvCxnSpPr>
              <p:cNvPr id="12" name="Straight Arrow Connector 11"/>
              <p:cNvCxnSpPr/>
              <p:nvPr/>
            </p:nvCxnSpPr>
            <p:spPr>
              <a:xfrm flipH="1">
                <a:off x="3155796" y="2209800"/>
                <a:ext cx="1263804" cy="7620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val 13"/>
              <p:cNvSpPr/>
              <p:nvPr/>
            </p:nvSpPr>
            <p:spPr>
              <a:xfrm>
                <a:off x="2971800" y="2971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4715107" y="2209800"/>
              <a:ext cx="1457093" cy="1016652"/>
              <a:chOff x="4715107" y="2209800"/>
              <a:chExt cx="1457093" cy="1016652"/>
            </a:xfrm>
          </p:grpSpPr>
          <p:cxnSp>
            <p:nvCxnSpPr>
              <p:cNvPr id="8" name="Straight Arrow Connector 7"/>
              <p:cNvCxnSpPr/>
              <p:nvPr/>
            </p:nvCxnSpPr>
            <p:spPr>
              <a:xfrm>
                <a:off x="4715107" y="2209800"/>
                <a:ext cx="1304693" cy="711852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/>
              <p:cNvSpPr/>
              <p:nvPr/>
            </p:nvSpPr>
            <p:spPr>
              <a:xfrm>
                <a:off x="5867400" y="2921652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2286000" y="3231963"/>
              <a:ext cx="730437" cy="1035237"/>
              <a:chOff x="2286000" y="3231963"/>
              <a:chExt cx="730437" cy="1035237"/>
            </a:xfrm>
          </p:grpSpPr>
          <p:sp>
            <p:nvSpPr>
              <p:cNvPr id="16" name="Oval 15"/>
              <p:cNvSpPr/>
              <p:nvPr/>
            </p:nvSpPr>
            <p:spPr>
              <a:xfrm>
                <a:off x="2286000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" name="Straight Arrow Connector 17"/>
              <p:cNvCxnSpPr>
                <a:stCxn id="14" idx="3"/>
                <a:endCxn id="16" idx="0"/>
              </p:cNvCxnSpPr>
              <p:nvPr/>
            </p:nvCxnSpPr>
            <p:spPr>
              <a:xfrm flipH="1">
                <a:off x="2438400" y="3231963"/>
                <a:ext cx="578037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/>
            <p:cNvGrpSpPr/>
            <p:nvPr/>
          </p:nvGrpSpPr>
          <p:grpSpPr>
            <a:xfrm>
              <a:off x="3231963" y="3231963"/>
              <a:ext cx="719285" cy="1035237"/>
              <a:chOff x="3231963" y="3231963"/>
              <a:chExt cx="719285" cy="1035237"/>
            </a:xfrm>
          </p:grpSpPr>
          <p:sp>
            <p:nvSpPr>
              <p:cNvPr id="17" name="Oval 16"/>
              <p:cNvSpPr/>
              <p:nvPr/>
            </p:nvSpPr>
            <p:spPr>
              <a:xfrm>
                <a:off x="3646448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Arrow Connector 20"/>
              <p:cNvCxnSpPr>
                <a:stCxn id="14" idx="5"/>
              </p:cNvCxnSpPr>
              <p:nvPr/>
            </p:nvCxnSpPr>
            <p:spPr>
              <a:xfrm>
                <a:off x="3231963" y="3231963"/>
                <a:ext cx="566885" cy="730437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/>
            <p:cNvGrpSpPr/>
            <p:nvPr/>
          </p:nvGrpSpPr>
          <p:grpSpPr>
            <a:xfrm>
              <a:off x="5192752" y="3200400"/>
              <a:ext cx="730437" cy="1035237"/>
              <a:chOff x="5192752" y="3200400"/>
              <a:chExt cx="730437" cy="1035237"/>
            </a:xfrm>
          </p:grpSpPr>
          <p:sp>
            <p:nvSpPr>
              <p:cNvPr id="28" name="Oval 27"/>
              <p:cNvSpPr/>
              <p:nvPr/>
            </p:nvSpPr>
            <p:spPr>
              <a:xfrm>
                <a:off x="5192752" y="3930837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" name="Straight Arrow Connector 29"/>
              <p:cNvCxnSpPr>
                <a:endCxn id="28" idx="0"/>
              </p:cNvCxnSpPr>
              <p:nvPr/>
            </p:nvCxnSpPr>
            <p:spPr>
              <a:xfrm flipH="1">
                <a:off x="5345152" y="3200400"/>
                <a:ext cx="578037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/>
            <p:cNvGrpSpPr/>
            <p:nvPr/>
          </p:nvGrpSpPr>
          <p:grpSpPr>
            <a:xfrm>
              <a:off x="6138715" y="3200400"/>
              <a:ext cx="719285" cy="1035237"/>
              <a:chOff x="6138715" y="3200400"/>
              <a:chExt cx="719285" cy="1035237"/>
            </a:xfrm>
          </p:grpSpPr>
          <p:sp>
            <p:nvSpPr>
              <p:cNvPr id="29" name="Oval 28"/>
              <p:cNvSpPr/>
              <p:nvPr/>
            </p:nvSpPr>
            <p:spPr>
              <a:xfrm>
                <a:off x="6553200" y="3930837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" name="Straight Arrow Connector 30"/>
              <p:cNvCxnSpPr/>
              <p:nvPr/>
            </p:nvCxnSpPr>
            <p:spPr>
              <a:xfrm>
                <a:off x="6138715" y="3200400"/>
                <a:ext cx="566885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/>
            <p:cNvGrpSpPr/>
            <p:nvPr/>
          </p:nvGrpSpPr>
          <p:grpSpPr>
            <a:xfrm>
              <a:off x="1828800" y="4222563"/>
              <a:ext cx="501837" cy="1035237"/>
              <a:chOff x="1828800" y="4222563"/>
              <a:chExt cx="501837" cy="1035237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18288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Arrow Connector 34"/>
              <p:cNvCxnSpPr>
                <a:stCxn id="16" idx="3"/>
              </p:cNvCxnSpPr>
              <p:nvPr/>
            </p:nvCxnSpPr>
            <p:spPr>
              <a:xfrm flipH="1">
                <a:off x="2012764" y="4222563"/>
                <a:ext cx="317873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/>
            <p:cNvGrpSpPr/>
            <p:nvPr/>
          </p:nvGrpSpPr>
          <p:grpSpPr>
            <a:xfrm>
              <a:off x="2557315" y="4222563"/>
              <a:ext cx="414485" cy="1035237"/>
              <a:chOff x="2557315" y="4222563"/>
              <a:chExt cx="414485" cy="1035237"/>
            </a:xfrm>
          </p:grpSpPr>
          <p:sp>
            <p:nvSpPr>
              <p:cNvPr id="34" name="Oval 33"/>
              <p:cNvSpPr/>
              <p:nvPr/>
            </p:nvSpPr>
            <p:spPr>
              <a:xfrm>
                <a:off x="26670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6" name="Straight Arrow Connector 35"/>
              <p:cNvCxnSpPr>
                <a:endCxn id="34" idx="0"/>
              </p:cNvCxnSpPr>
              <p:nvPr/>
            </p:nvCxnSpPr>
            <p:spPr>
              <a:xfrm>
                <a:off x="2557315" y="4222563"/>
                <a:ext cx="262085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Group 38"/>
            <p:cNvGrpSpPr/>
            <p:nvPr/>
          </p:nvGrpSpPr>
          <p:grpSpPr>
            <a:xfrm>
              <a:off x="4800600" y="4222563"/>
              <a:ext cx="459122" cy="1003674"/>
              <a:chOff x="2427248" y="3263526"/>
              <a:chExt cx="459122" cy="1003674"/>
            </a:xfrm>
          </p:grpSpPr>
          <p:sp>
            <p:nvSpPr>
              <p:cNvPr id="40" name="Oval 39"/>
              <p:cNvSpPr/>
              <p:nvPr/>
            </p:nvSpPr>
            <p:spPr>
              <a:xfrm>
                <a:off x="2427248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" name="Straight Arrow Connector 41"/>
              <p:cNvCxnSpPr>
                <a:stCxn id="17" idx="3"/>
                <a:endCxn id="40" idx="0"/>
              </p:cNvCxnSpPr>
              <p:nvPr/>
            </p:nvCxnSpPr>
            <p:spPr>
              <a:xfrm flipH="1">
                <a:off x="2579648" y="3263526"/>
                <a:ext cx="306722" cy="6988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/>
            <p:cNvGrpSpPr/>
            <p:nvPr/>
          </p:nvGrpSpPr>
          <p:grpSpPr>
            <a:xfrm>
              <a:off x="3200400" y="4222563"/>
              <a:ext cx="501837" cy="1035237"/>
              <a:chOff x="3200400" y="4222563"/>
              <a:chExt cx="501837" cy="1035237"/>
            </a:xfrm>
          </p:grpSpPr>
          <p:sp>
            <p:nvSpPr>
              <p:cNvPr id="48" name="Oval 47"/>
              <p:cNvSpPr/>
              <p:nvPr/>
            </p:nvSpPr>
            <p:spPr>
              <a:xfrm>
                <a:off x="32004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Straight Arrow Connector 49"/>
              <p:cNvCxnSpPr/>
              <p:nvPr/>
            </p:nvCxnSpPr>
            <p:spPr>
              <a:xfrm flipH="1">
                <a:off x="3384364" y="4222563"/>
                <a:ext cx="317873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/>
            <p:cNvGrpSpPr/>
            <p:nvPr/>
          </p:nvGrpSpPr>
          <p:grpSpPr>
            <a:xfrm>
              <a:off x="3928915" y="4222563"/>
              <a:ext cx="414485" cy="1035237"/>
              <a:chOff x="3928915" y="4222563"/>
              <a:chExt cx="414485" cy="1035237"/>
            </a:xfrm>
          </p:grpSpPr>
          <p:sp>
            <p:nvSpPr>
              <p:cNvPr id="49" name="Oval 48"/>
              <p:cNvSpPr/>
              <p:nvPr/>
            </p:nvSpPr>
            <p:spPr>
              <a:xfrm>
                <a:off x="40386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1" name="Straight Arrow Connector 50"/>
              <p:cNvCxnSpPr>
                <a:endCxn id="49" idx="0"/>
              </p:cNvCxnSpPr>
              <p:nvPr/>
            </p:nvCxnSpPr>
            <p:spPr>
              <a:xfrm>
                <a:off x="3928915" y="4222563"/>
                <a:ext cx="262085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Group 24"/>
          <p:cNvGrpSpPr/>
          <p:nvPr/>
        </p:nvGrpSpPr>
        <p:grpSpPr>
          <a:xfrm>
            <a:off x="1752600" y="2514600"/>
            <a:ext cx="5181600" cy="3341132"/>
            <a:chOff x="1752600" y="2514600"/>
            <a:chExt cx="5181600" cy="3341132"/>
          </a:xfrm>
        </p:grpSpPr>
        <p:sp>
          <p:nvSpPr>
            <p:cNvPr id="41" name="TextBox 40"/>
            <p:cNvSpPr txBox="1"/>
            <p:nvPr/>
          </p:nvSpPr>
          <p:spPr>
            <a:xfrm>
              <a:off x="4381896" y="25146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895600" y="35052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14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209800" y="44958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17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752600" y="54864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91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791200" y="3429000"/>
              <a:ext cx="3545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9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181600" y="44312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21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19896" y="44312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23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515496" y="44312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29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590800" y="54864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37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162696" y="54864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25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000896" y="54864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88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762896" y="54218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33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1524000" y="6096000"/>
            <a:ext cx="6705600" cy="381000"/>
            <a:chOff x="1524000" y="6096000"/>
            <a:chExt cx="6705600" cy="381000"/>
          </a:xfrm>
        </p:grpSpPr>
        <p:grpSp>
          <p:nvGrpSpPr>
            <p:cNvPr id="72" name="Group 71"/>
            <p:cNvGrpSpPr/>
            <p:nvPr/>
          </p:nvGrpSpPr>
          <p:grpSpPr>
            <a:xfrm>
              <a:off x="1524000" y="6096000"/>
              <a:ext cx="6705600" cy="381000"/>
              <a:chOff x="1524000" y="6096000"/>
              <a:chExt cx="6705600" cy="381000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1524000" y="6096000"/>
                <a:ext cx="6705600" cy="3810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2" name="Straight Connector 31"/>
              <p:cNvCxnSpPr/>
              <p:nvPr/>
            </p:nvCxnSpPr>
            <p:spPr>
              <a:xfrm>
                <a:off x="1961952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>
                <a:off x="23622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>
                <a:off x="28194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2766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7338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>
              <a:xfrm>
                <a:off x="41910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>
                <a:off x="46482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>
                <a:off x="51054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>
                <a:off x="55626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60198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64770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>
                <a:off x="69342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>
                <a:off x="73914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>
                <a:off x="78486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TextBox 37"/>
            <p:cNvSpPr txBox="1"/>
            <p:nvPr/>
          </p:nvSpPr>
          <p:spPr>
            <a:xfrm>
              <a:off x="1600200" y="6107668"/>
              <a:ext cx="53511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4    14     9      17   23    21     29    91    37    25    88      33</a:t>
              </a:r>
            </a:p>
          </p:txBody>
        </p:sp>
      </p:grpSp>
      <p:sp>
        <p:nvSpPr>
          <p:cNvPr id="74" name="TextBox 73"/>
          <p:cNvSpPr txBox="1"/>
          <p:nvPr/>
        </p:nvSpPr>
        <p:spPr>
          <a:xfrm>
            <a:off x="1066800" y="6029980"/>
            <a:ext cx="410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H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66690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err="1">
                <a:solidFill>
                  <a:srgbClr val="7030A0"/>
                </a:solidFill>
              </a:rPr>
              <a:t>Extract_min</a:t>
            </a:r>
            <a:r>
              <a:rPr lang="en-US" sz="3600" b="1" dirty="0">
                <a:solidFill>
                  <a:srgbClr val="7030A0"/>
                </a:solidFill>
              </a:rPr>
              <a:t>(H)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grpSp>
        <p:nvGrpSpPr>
          <p:cNvPr id="24" name="Group 23"/>
          <p:cNvGrpSpPr/>
          <p:nvPr/>
        </p:nvGrpSpPr>
        <p:grpSpPr>
          <a:xfrm>
            <a:off x="1828800" y="2514600"/>
            <a:ext cx="5029200" cy="3276600"/>
            <a:chOff x="1828800" y="1981200"/>
            <a:chExt cx="5029200" cy="3276600"/>
          </a:xfrm>
        </p:grpSpPr>
        <p:sp>
          <p:nvSpPr>
            <p:cNvPr id="6" name="Oval 5"/>
            <p:cNvSpPr/>
            <p:nvPr/>
          </p:nvSpPr>
          <p:spPr>
            <a:xfrm>
              <a:off x="4419600" y="19812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2971800" y="2209800"/>
              <a:ext cx="1447800" cy="1066800"/>
              <a:chOff x="2971800" y="2209800"/>
              <a:chExt cx="1447800" cy="1066800"/>
            </a:xfrm>
          </p:grpSpPr>
          <p:cxnSp>
            <p:nvCxnSpPr>
              <p:cNvPr id="12" name="Straight Arrow Connector 11"/>
              <p:cNvCxnSpPr/>
              <p:nvPr/>
            </p:nvCxnSpPr>
            <p:spPr>
              <a:xfrm flipH="1">
                <a:off x="3155796" y="2209800"/>
                <a:ext cx="1263804" cy="7620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val 13"/>
              <p:cNvSpPr/>
              <p:nvPr/>
            </p:nvSpPr>
            <p:spPr>
              <a:xfrm>
                <a:off x="2971800" y="2971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4715107" y="2209800"/>
              <a:ext cx="1457093" cy="1016652"/>
              <a:chOff x="4715107" y="2209800"/>
              <a:chExt cx="1457093" cy="1016652"/>
            </a:xfrm>
          </p:grpSpPr>
          <p:cxnSp>
            <p:nvCxnSpPr>
              <p:cNvPr id="8" name="Straight Arrow Connector 7"/>
              <p:cNvCxnSpPr/>
              <p:nvPr/>
            </p:nvCxnSpPr>
            <p:spPr>
              <a:xfrm>
                <a:off x="4715107" y="2209800"/>
                <a:ext cx="1304693" cy="711852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/>
              <p:cNvSpPr/>
              <p:nvPr/>
            </p:nvSpPr>
            <p:spPr>
              <a:xfrm>
                <a:off x="5867400" y="2921652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2286000" y="3231963"/>
              <a:ext cx="730437" cy="1035237"/>
              <a:chOff x="2286000" y="3231963"/>
              <a:chExt cx="730437" cy="1035237"/>
            </a:xfrm>
          </p:grpSpPr>
          <p:sp>
            <p:nvSpPr>
              <p:cNvPr id="16" name="Oval 15"/>
              <p:cNvSpPr/>
              <p:nvPr/>
            </p:nvSpPr>
            <p:spPr>
              <a:xfrm>
                <a:off x="2286000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" name="Straight Arrow Connector 17"/>
              <p:cNvCxnSpPr>
                <a:stCxn id="14" idx="3"/>
                <a:endCxn id="16" idx="0"/>
              </p:cNvCxnSpPr>
              <p:nvPr/>
            </p:nvCxnSpPr>
            <p:spPr>
              <a:xfrm flipH="1">
                <a:off x="2438400" y="3231963"/>
                <a:ext cx="578037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/>
            <p:cNvGrpSpPr/>
            <p:nvPr/>
          </p:nvGrpSpPr>
          <p:grpSpPr>
            <a:xfrm>
              <a:off x="3231963" y="3231963"/>
              <a:ext cx="719285" cy="1035237"/>
              <a:chOff x="3231963" y="3231963"/>
              <a:chExt cx="719285" cy="1035237"/>
            </a:xfrm>
          </p:grpSpPr>
          <p:sp>
            <p:nvSpPr>
              <p:cNvPr id="17" name="Oval 16"/>
              <p:cNvSpPr/>
              <p:nvPr/>
            </p:nvSpPr>
            <p:spPr>
              <a:xfrm>
                <a:off x="3646448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Arrow Connector 20"/>
              <p:cNvCxnSpPr>
                <a:stCxn id="14" idx="5"/>
              </p:cNvCxnSpPr>
              <p:nvPr/>
            </p:nvCxnSpPr>
            <p:spPr>
              <a:xfrm>
                <a:off x="3231963" y="3231963"/>
                <a:ext cx="566885" cy="730437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/>
            <p:cNvGrpSpPr/>
            <p:nvPr/>
          </p:nvGrpSpPr>
          <p:grpSpPr>
            <a:xfrm>
              <a:off x="5192752" y="3200400"/>
              <a:ext cx="730437" cy="1035237"/>
              <a:chOff x="5192752" y="3200400"/>
              <a:chExt cx="730437" cy="1035237"/>
            </a:xfrm>
          </p:grpSpPr>
          <p:sp>
            <p:nvSpPr>
              <p:cNvPr id="28" name="Oval 27"/>
              <p:cNvSpPr/>
              <p:nvPr/>
            </p:nvSpPr>
            <p:spPr>
              <a:xfrm>
                <a:off x="5192752" y="3930837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" name="Straight Arrow Connector 29"/>
              <p:cNvCxnSpPr>
                <a:endCxn id="28" idx="0"/>
              </p:cNvCxnSpPr>
              <p:nvPr/>
            </p:nvCxnSpPr>
            <p:spPr>
              <a:xfrm flipH="1">
                <a:off x="5345152" y="3200400"/>
                <a:ext cx="578037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/>
            <p:cNvGrpSpPr/>
            <p:nvPr/>
          </p:nvGrpSpPr>
          <p:grpSpPr>
            <a:xfrm>
              <a:off x="6138715" y="3200400"/>
              <a:ext cx="719285" cy="1035237"/>
              <a:chOff x="6138715" y="3200400"/>
              <a:chExt cx="719285" cy="1035237"/>
            </a:xfrm>
          </p:grpSpPr>
          <p:sp>
            <p:nvSpPr>
              <p:cNvPr id="29" name="Oval 28"/>
              <p:cNvSpPr/>
              <p:nvPr/>
            </p:nvSpPr>
            <p:spPr>
              <a:xfrm>
                <a:off x="6553200" y="3930837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" name="Straight Arrow Connector 30"/>
              <p:cNvCxnSpPr/>
              <p:nvPr/>
            </p:nvCxnSpPr>
            <p:spPr>
              <a:xfrm>
                <a:off x="6138715" y="3200400"/>
                <a:ext cx="566885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/>
            <p:cNvGrpSpPr/>
            <p:nvPr/>
          </p:nvGrpSpPr>
          <p:grpSpPr>
            <a:xfrm>
              <a:off x="1828800" y="4222563"/>
              <a:ext cx="501837" cy="1035237"/>
              <a:chOff x="1828800" y="4222563"/>
              <a:chExt cx="501837" cy="1035237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18288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Arrow Connector 34"/>
              <p:cNvCxnSpPr>
                <a:stCxn id="16" idx="3"/>
              </p:cNvCxnSpPr>
              <p:nvPr/>
            </p:nvCxnSpPr>
            <p:spPr>
              <a:xfrm flipH="1">
                <a:off x="2012764" y="4222563"/>
                <a:ext cx="317873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/>
            <p:cNvGrpSpPr/>
            <p:nvPr/>
          </p:nvGrpSpPr>
          <p:grpSpPr>
            <a:xfrm>
              <a:off x="2557315" y="4222563"/>
              <a:ext cx="414485" cy="1035237"/>
              <a:chOff x="2557315" y="4222563"/>
              <a:chExt cx="414485" cy="1035237"/>
            </a:xfrm>
          </p:grpSpPr>
          <p:sp>
            <p:nvSpPr>
              <p:cNvPr id="34" name="Oval 33"/>
              <p:cNvSpPr/>
              <p:nvPr/>
            </p:nvSpPr>
            <p:spPr>
              <a:xfrm>
                <a:off x="26670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6" name="Straight Arrow Connector 35"/>
              <p:cNvCxnSpPr>
                <a:endCxn id="34" idx="0"/>
              </p:cNvCxnSpPr>
              <p:nvPr/>
            </p:nvCxnSpPr>
            <p:spPr>
              <a:xfrm>
                <a:off x="2557315" y="4222563"/>
                <a:ext cx="262085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Group 38"/>
            <p:cNvGrpSpPr/>
            <p:nvPr/>
          </p:nvGrpSpPr>
          <p:grpSpPr>
            <a:xfrm>
              <a:off x="4800600" y="4222563"/>
              <a:ext cx="459122" cy="1003674"/>
              <a:chOff x="2427248" y="3263526"/>
              <a:chExt cx="459122" cy="1003674"/>
            </a:xfrm>
          </p:grpSpPr>
          <p:sp>
            <p:nvSpPr>
              <p:cNvPr id="40" name="Oval 39"/>
              <p:cNvSpPr/>
              <p:nvPr/>
            </p:nvSpPr>
            <p:spPr>
              <a:xfrm>
                <a:off x="2427248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" name="Straight Arrow Connector 41"/>
              <p:cNvCxnSpPr>
                <a:stCxn id="17" idx="3"/>
                <a:endCxn id="40" idx="0"/>
              </p:cNvCxnSpPr>
              <p:nvPr/>
            </p:nvCxnSpPr>
            <p:spPr>
              <a:xfrm flipH="1">
                <a:off x="2579648" y="3263526"/>
                <a:ext cx="306722" cy="6988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/>
            <p:cNvGrpSpPr/>
            <p:nvPr/>
          </p:nvGrpSpPr>
          <p:grpSpPr>
            <a:xfrm>
              <a:off x="3200400" y="4222563"/>
              <a:ext cx="501837" cy="1035237"/>
              <a:chOff x="3200400" y="4222563"/>
              <a:chExt cx="501837" cy="1035237"/>
            </a:xfrm>
          </p:grpSpPr>
          <p:sp>
            <p:nvSpPr>
              <p:cNvPr id="48" name="Oval 47"/>
              <p:cNvSpPr/>
              <p:nvPr/>
            </p:nvSpPr>
            <p:spPr>
              <a:xfrm>
                <a:off x="32004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Straight Arrow Connector 49"/>
              <p:cNvCxnSpPr/>
              <p:nvPr/>
            </p:nvCxnSpPr>
            <p:spPr>
              <a:xfrm flipH="1">
                <a:off x="3384364" y="4222563"/>
                <a:ext cx="317873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/>
            <p:cNvGrpSpPr/>
            <p:nvPr/>
          </p:nvGrpSpPr>
          <p:grpSpPr>
            <a:xfrm>
              <a:off x="3928915" y="4222563"/>
              <a:ext cx="414485" cy="1035237"/>
              <a:chOff x="3928915" y="4222563"/>
              <a:chExt cx="414485" cy="1035237"/>
            </a:xfrm>
          </p:grpSpPr>
          <p:sp>
            <p:nvSpPr>
              <p:cNvPr id="49" name="Oval 48"/>
              <p:cNvSpPr/>
              <p:nvPr/>
            </p:nvSpPr>
            <p:spPr>
              <a:xfrm>
                <a:off x="40386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1" name="Straight Arrow Connector 50"/>
              <p:cNvCxnSpPr>
                <a:endCxn id="49" idx="0"/>
              </p:cNvCxnSpPr>
              <p:nvPr/>
            </p:nvCxnSpPr>
            <p:spPr>
              <a:xfrm>
                <a:off x="3928915" y="4222563"/>
                <a:ext cx="262085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Group 24"/>
          <p:cNvGrpSpPr/>
          <p:nvPr/>
        </p:nvGrpSpPr>
        <p:grpSpPr>
          <a:xfrm>
            <a:off x="1752600" y="2514600"/>
            <a:ext cx="5181600" cy="3341132"/>
            <a:chOff x="1752600" y="2514600"/>
            <a:chExt cx="5181600" cy="3341132"/>
          </a:xfrm>
        </p:grpSpPr>
        <p:sp>
          <p:nvSpPr>
            <p:cNvPr id="41" name="TextBox 40"/>
            <p:cNvSpPr txBox="1"/>
            <p:nvPr/>
          </p:nvSpPr>
          <p:spPr>
            <a:xfrm>
              <a:off x="4381896" y="25146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895600" y="35052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14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209800" y="44958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17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752600" y="54864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91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791200" y="3429000"/>
              <a:ext cx="3545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9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181600" y="44312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21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19896" y="44312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23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515496" y="44312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29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590800" y="54864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37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162696" y="54864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25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000896" y="54864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88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762896" y="54218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33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1524000" y="6096000"/>
            <a:ext cx="6705600" cy="381000"/>
            <a:chOff x="1524000" y="6096000"/>
            <a:chExt cx="6705600" cy="381000"/>
          </a:xfrm>
        </p:grpSpPr>
        <p:grpSp>
          <p:nvGrpSpPr>
            <p:cNvPr id="72" name="Group 71"/>
            <p:cNvGrpSpPr/>
            <p:nvPr/>
          </p:nvGrpSpPr>
          <p:grpSpPr>
            <a:xfrm>
              <a:off x="1524000" y="6096000"/>
              <a:ext cx="6705600" cy="381000"/>
              <a:chOff x="1524000" y="6096000"/>
              <a:chExt cx="6705600" cy="381000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1524000" y="6096000"/>
                <a:ext cx="6705600" cy="3810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2" name="Straight Connector 31"/>
              <p:cNvCxnSpPr/>
              <p:nvPr/>
            </p:nvCxnSpPr>
            <p:spPr>
              <a:xfrm>
                <a:off x="1961952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>
                <a:off x="23622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>
                <a:off x="28194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2766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7338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>
              <a:xfrm>
                <a:off x="41910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>
                <a:off x="46482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>
                <a:off x="51054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>
                <a:off x="55626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60198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64770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>
                <a:off x="69342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>
                <a:off x="73914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>
                <a:off x="78486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TextBox 37"/>
            <p:cNvSpPr txBox="1"/>
            <p:nvPr/>
          </p:nvSpPr>
          <p:spPr>
            <a:xfrm>
              <a:off x="1600200" y="6107668"/>
              <a:ext cx="53511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4    14     9      17   23    21     29    91    37    25    88      33</a:t>
              </a:r>
            </a:p>
          </p:txBody>
        </p:sp>
      </p:grpSp>
      <p:cxnSp>
        <p:nvCxnSpPr>
          <p:cNvPr id="71" name="Straight Arrow Connector 70"/>
          <p:cNvCxnSpPr/>
          <p:nvPr/>
        </p:nvCxnSpPr>
        <p:spPr>
          <a:xfrm>
            <a:off x="4532739" y="2883932"/>
            <a:ext cx="344061" cy="2450068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066800" y="6029980"/>
            <a:ext cx="410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H</a:t>
            </a:r>
            <a:endParaRPr lang="en-US" sz="2800" dirty="0"/>
          </a:p>
        </p:txBody>
      </p:sp>
      <p:grpSp>
        <p:nvGrpSpPr>
          <p:cNvPr id="93" name="Group 92"/>
          <p:cNvGrpSpPr/>
          <p:nvPr/>
        </p:nvGrpSpPr>
        <p:grpSpPr>
          <a:xfrm>
            <a:off x="1676400" y="6362700"/>
            <a:ext cx="5181600" cy="364709"/>
            <a:chOff x="1676400" y="6362700"/>
            <a:chExt cx="5181600" cy="364709"/>
          </a:xfrm>
        </p:grpSpPr>
        <p:sp>
          <p:nvSpPr>
            <p:cNvPr id="75" name="Freeform 74"/>
            <p:cNvSpPr/>
            <p:nvPr/>
          </p:nvSpPr>
          <p:spPr>
            <a:xfrm>
              <a:off x="1739590" y="6434254"/>
              <a:ext cx="5096108" cy="293155"/>
            </a:xfrm>
            <a:custGeom>
              <a:avLst/>
              <a:gdLst>
                <a:gd name="connsiteX0" fmla="*/ 0 w 5096108"/>
                <a:gd name="connsiteY0" fmla="*/ 0 h 293155"/>
                <a:gd name="connsiteX1" fmla="*/ 223025 w 5096108"/>
                <a:gd name="connsiteY1" fmla="*/ 223024 h 293155"/>
                <a:gd name="connsiteX2" fmla="*/ 825190 w 5096108"/>
                <a:gd name="connsiteY2" fmla="*/ 289931 h 293155"/>
                <a:gd name="connsiteX3" fmla="*/ 3880625 w 5096108"/>
                <a:gd name="connsiteY3" fmla="*/ 278780 h 293155"/>
                <a:gd name="connsiteX4" fmla="*/ 4683512 w 5096108"/>
                <a:gd name="connsiteY4" fmla="*/ 245326 h 293155"/>
                <a:gd name="connsiteX5" fmla="*/ 4995747 w 5096108"/>
                <a:gd name="connsiteY5" fmla="*/ 167268 h 293155"/>
                <a:gd name="connsiteX6" fmla="*/ 5096108 w 5096108"/>
                <a:gd name="connsiteY6" fmla="*/ 0 h 293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96108" h="293155">
                  <a:moveTo>
                    <a:pt x="0" y="0"/>
                  </a:moveTo>
                  <a:cubicBezTo>
                    <a:pt x="42746" y="87351"/>
                    <a:pt x="85493" y="174702"/>
                    <a:pt x="223025" y="223024"/>
                  </a:cubicBezTo>
                  <a:cubicBezTo>
                    <a:pt x="360557" y="271346"/>
                    <a:pt x="215590" y="280638"/>
                    <a:pt x="825190" y="289931"/>
                  </a:cubicBezTo>
                  <a:cubicBezTo>
                    <a:pt x="1434790" y="299224"/>
                    <a:pt x="3237571" y="286214"/>
                    <a:pt x="3880625" y="278780"/>
                  </a:cubicBezTo>
                  <a:cubicBezTo>
                    <a:pt x="4523679" y="271346"/>
                    <a:pt x="4497658" y="263911"/>
                    <a:pt x="4683512" y="245326"/>
                  </a:cubicBezTo>
                  <a:cubicBezTo>
                    <a:pt x="4869366" y="226741"/>
                    <a:pt x="4926981" y="208156"/>
                    <a:pt x="4995747" y="167268"/>
                  </a:cubicBezTo>
                  <a:cubicBezTo>
                    <a:pt x="5064513" y="126380"/>
                    <a:pt x="5080310" y="63190"/>
                    <a:pt x="5096108" y="0"/>
                  </a:cubicBezTo>
                </a:path>
              </a:pathLst>
            </a:custGeom>
            <a:ln w="57150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1" name="Straight Arrow Connector 80"/>
            <p:cNvCxnSpPr/>
            <p:nvPr/>
          </p:nvCxnSpPr>
          <p:spPr>
            <a:xfrm flipV="1">
              <a:off x="6718192" y="6362700"/>
              <a:ext cx="139808" cy="266700"/>
            </a:xfrm>
            <a:prstGeom prst="straightConnector1">
              <a:avLst/>
            </a:prstGeom>
            <a:ln w="57150">
              <a:solidFill>
                <a:srgbClr val="C000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/>
            <p:nvPr/>
          </p:nvCxnSpPr>
          <p:spPr>
            <a:xfrm flipH="1" flipV="1">
              <a:off x="1676400" y="6362700"/>
              <a:ext cx="152400" cy="218131"/>
            </a:xfrm>
            <a:prstGeom prst="straightConnector1">
              <a:avLst/>
            </a:prstGeom>
            <a:ln w="57150">
              <a:solidFill>
                <a:srgbClr val="C000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2854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err="1">
                <a:solidFill>
                  <a:srgbClr val="7030A0"/>
                </a:solidFill>
              </a:rPr>
              <a:t>Extract_min</a:t>
            </a:r>
            <a:r>
              <a:rPr lang="en-US" sz="3600" b="1" dirty="0">
                <a:solidFill>
                  <a:srgbClr val="7030A0"/>
                </a:solidFill>
              </a:rPr>
              <a:t>(H)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419600" y="25146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971800" y="2743200"/>
            <a:ext cx="1447800" cy="1066800"/>
            <a:chOff x="2971800" y="2209800"/>
            <a:chExt cx="1447800" cy="1066800"/>
          </a:xfrm>
        </p:grpSpPr>
        <p:cxnSp>
          <p:nvCxnSpPr>
            <p:cNvPr id="12" name="Straight Arrow Connector 11"/>
            <p:cNvCxnSpPr/>
            <p:nvPr/>
          </p:nvCxnSpPr>
          <p:spPr>
            <a:xfrm flipH="1">
              <a:off x="3155796" y="2209800"/>
              <a:ext cx="1263804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2971800" y="29718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715107" y="2743200"/>
            <a:ext cx="1457093" cy="1016652"/>
            <a:chOff x="4715107" y="2209800"/>
            <a:chExt cx="1457093" cy="1016652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4715107" y="2209800"/>
              <a:ext cx="1304693" cy="71185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5867400" y="2921652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286000" y="3765363"/>
            <a:ext cx="730437" cy="1035237"/>
            <a:chOff x="2286000" y="3231963"/>
            <a:chExt cx="730437" cy="1035237"/>
          </a:xfrm>
        </p:grpSpPr>
        <p:sp>
          <p:nvSpPr>
            <p:cNvPr id="16" name="Oval 15"/>
            <p:cNvSpPr/>
            <p:nvPr/>
          </p:nvSpPr>
          <p:spPr>
            <a:xfrm>
              <a:off x="2286000" y="3962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/>
            <p:cNvCxnSpPr>
              <a:stCxn id="14" idx="3"/>
              <a:endCxn id="16" idx="0"/>
            </p:cNvCxnSpPr>
            <p:nvPr/>
          </p:nvCxnSpPr>
          <p:spPr>
            <a:xfrm flipH="1">
              <a:off x="2438400" y="3231963"/>
              <a:ext cx="578037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3231963" y="3765363"/>
            <a:ext cx="719285" cy="1035237"/>
            <a:chOff x="3231963" y="3231963"/>
            <a:chExt cx="719285" cy="1035237"/>
          </a:xfrm>
        </p:grpSpPr>
        <p:sp>
          <p:nvSpPr>
            <p:cNvPr id="17" name="Oval 16"/>
            <p:cNvSpPr/>
            <p:nvPr/>
          </p:nvSpPr>
          <p:spPr>
            <a:xfrm>
              <a:off x="3646448" y="3962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/>
            <p:cNvCxnSpPr>
              <a:stCxn id="14" idx="5"/>
            </p:cNvCxnSpPr>
            <p:nvPr/>
          </p:nvCxnSpPr>
          <p:spPr>
            <a:xfrm>
              <a:off x="3231963" y="3231963"/>
              <a:ext cx="566885" cy="730437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5192752" y="3733800"/>
            <a:ext cx="730437" cy="1035237"/>
            <a:chOff x="5192752" y="3200400"/>
            <a:chExt cx="730437" cy="1035237"/>
          </a:xfrm>
        </p:grpSpPr>
        <p:sp>
          <p:nvSpPr>
            <p:cNvPr id="28" name="Oval 27"/>
            <p:cNvSpPr/>
            <p:nvPr/>
          </p:nvSpPr>
          <p:spPr>
            <a:xfrm>
              <a:off x="5192752" y="3930837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/>
            <p:cNvCxnSpPr>
              <a:endCxn id="28" idx="0"/>
            </p:cNvCxnSpPr>
            <p:nvPr/>
          </p:nvCxnSpPr>
          <p:spPr>
            <a:xfrm flipH="1">
              <a:off x="5345152" y="3200400"/>
              <a:ext cx="578037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6138715" y="3733800"/>
            <a:ext cx="719285" cy="1035237"/>
            <a:chOff x="6138715" y="3200400"/>
            <a:chExt cx="719285" cy="1035237"/>
          </a:xfrm>
        </p:grpSpPr>
        <p:sp>
          <p:nvSpPr>
            <p:cNvPr id="29" name="Oval 28"/>
            <p:cNvSpPr/>
            <p:nvPr/>
          </p:nvSpPr>
          <p:spPr>
            <a:xfrm>
              <a:off x="6553200" y="3930837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>
              <a:off x="6138715" y="3200400"/>
              <a:ext cx="5668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1828800" y="4755963"/>
            <a:ext cx="501837" cy="1035237"/>
            <a:chOff x="1828800" y="4222563"/>
            <a:chExt cx="501837" cy="1035237"/>
          </a:xfrm>
        </p:grpSpPr>
        <p:sp>
          <p:nvSpPr>
            <p:cNvPr id="33" name="Oval 32"/>
            <p:cNvSpPr/>
            <p:nvPr/>
          </p:nvSpPr>
          <p:spPr>
            <a:xfrm>
              <a:off x="18288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>
              <a:stCxn id="16" idx="3"/>
            </p:cNvCxnSpPr>
            <p:nvPr/>
          </p:nvCxnSpPr>
          <p:spPr>
            <a:xfrm flipH="1">
              <a:off x="20127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2557315" y="4755963"/>
            <a:ext cx="414485" cy="1035237"/>
            <a:chOff x="2557315" y="4222563"/>
            <a:chExt cx="414485" cy="1035237"/>
          </a:xfrm>
        </p:grpSpPr>
        <p:sp>
          <p:nvSpPr>
            <p:cNvPr id="34" name="Oval 33"/>
            <p:cNvSpPr/>
            <p:nvPr/>
          </p:nvSpPr>
          <p:spPr>
            <a:xfrm>
              <a:off x="26670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/>
            <p:cNvCxnSpPr>
              <a:endCxn id="34" idx="0"/>
            </p:cNvCxnSpPr>
            <p:nvPr/>
          </p:nvCxnSpPr>
          <p:spPr>
            <a:xfrm>
              <a:off x="25573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3200400" y="4755963"/>
            <a:ext cx="501837" cy="1035237"/>
            <a:chOff x="3200400" y="4222563"/>
            <a:chExt cx="501837" cy="1035237"/>
          </a:xfrm>
        </p:grpSpPr>
        <p:sp>
          <p:nvSpPr>
            <p:cNvPr id="48" name="Oval 47"/>
            <p:cNvSpPr/>
            <p:nvPr/>
          </p:nvSpPr>
          <p:spPr>
            <a:xfrm>
              <a:off x="32004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 flipH="1">
              <a:off x="33843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3928915" y="4755963"/>
            <a:ext cx="414485" cy="1035237"/>
            <a:chOff x="3928915" y="4222563"/>
            <a:chExt cx="414485" cy="1035237"/>
          </a:xfrm>
        </p:grpSpPr>
        <p:sp>
          <p:nvSpPr>
            <p:cNvPr id="49" name="Oval 48"/>
            <p:cNvSpPr/>
            <p:nvPr/>
          </p:nvSpPr>
          <p:spPr>
            <a:xfrm>
              <a:off x="40386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Arrow Connector 50"/>
            <p:cNvCxnSpPr>
              <a:endCxn id="49" idx="0"/>
            </p:cNvCxnSpPr>
            <p:nvPr/>
          </p:nvCxnSpPr>
          <p:spPr>
            <a:xfrm>
              <a:off x="39289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/>
          <p:cNvSpPr txBox="1"/>
          <p:nvPr/>
        </p:nvSpPr>
        <p:spPr>
          <a:xfrm>
            <a:off x="4381896" y="2514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95600" y="3505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09800" y="4495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52600" y="5486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91200" y="3429000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81600" y="44312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19896" y="44312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15496" y="44312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90800" y="5486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62696" y="5486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00896" y="5486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88</a:t>
            </a:r>
          </a:p>
        </p:txBody>
      </p:sp>
      <p:grpSp>
        <p:nvGrpSpPr>
          <p:cNvPr id="75" name="Group 74"/>
          <p:cNvGrpSpPr/>
          <p:nvPr/>
        </p:nvGrpSpPr>
        <p:grpSpPr>
          <a:xfrm>
            <a:off x="4762896" y="4755963"/>
            <a:ext cx="496826" cy="1035237"/>
            <a:chOff x="4762896" y="4755963"/>
            <a:chExt cx="496826" cy="1035237"/>
          </a:xfrm>
        </p:grpSpPr>
        <p:grpSp>
          <p:nvGrpSpPr>
            <p:cNvPr id="39" name="Group 38"/>
            <p:cNvGrpSpPr/>
            <p:nvPr/>
          </p:nvGrpSpPr>
          <p:grpSpPr>
            <a:xfrm>
              <a:off x="4800600" y="4755963"/>
              <a:ext cx="459122" cy="1003674"/>
              <a:chOff x="2427248" y="3263526"/>
              <a:chExt cx="459122" cy="1003674"/>
            </a:xfrm>
          </p:grpSpPr>
          <p:sp>
            <p:nvSpPr>
              <p:cNvPr id="40" name="Oval 39"/>
              <p:cNvSpPr/>
              <p:nvPr/>
            </p:nvSpPr>
            <p:spPr>
              <a:xfrm>
                <a:off x="2427248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" name="Straight Arrow Connector 41"/>
              <p:cNvCxnSpPr>
                <a:stCxn id="17" idx="3"/>
                <a:endCxn id="40" idx="0"/>
              </p:cNvCxnSpPr>
              <p:nvPr/>
            </p:nvCxnSpPr>
            <p:spPr>
              <a:xfrm flipH="1">
                <a:off x="2579648" y="3263526"/>
                <a:ext cx="306722" cy="6988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TextBox 56"/>
            <p:cNvSpPr txBox="1"/>
            <p:nvPr/>
          </p:nvSpPr>
          <p:spPr>
            <a:xfrm>
              <a:off x="4762896" y="54218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1524000" y="6096000"/>
            <a:ext cx="6705600" cy="381000"/>
            <a:chOff x="1524000" y="6096000"/>
            <a:chExt cx="6705600" cy="381000"/>
          </a:xfrm>
        </p:grpSpPr>
        <p:grpSp>
          <p:nvGrpSpPr>
            <p:cNvPr id="72" name="Group 71"/>
            <p:cNvGrpSpPr/>
            <p:nvPr/>
          </p:nvGrpSpPr>
          <p:grpSpPr>
            <a:xfrm>
              <a:off x="1524000" y="6096000"/>
              <a:ext cx="6705600" cy="381000"/>
              <a:chOff x="1524000" y="6096000"/>
              <a:chExt cx="6705600" cy="381000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1524000" y="6096000"/>
                <a:ext cx="6705600" cy="3810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2" name="Straight Connector 31"/>
              <p:cNvCxnSpPr/>
              <p:nvPr/>
            </p:nvCxnSpPr>
            <p:spPr>
              <a:xfrm>
                <a:off x="1961952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>
                <a:off x="23622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>
                <a:off x="28194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2766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7338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>
              <a:xfrm>
                <a:off x="41910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>
                <a:off x="46482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>
                <a:off x="51054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>
                <a:off x="55626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60198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64770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>
                <a:off x="69342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>
                <a:off x="73914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>
                <a:off x="78486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TextBox 37"/>
            <p:cNvSpPr txBox="1"/>
            <p:nvPr/>
          </p:nvSpPr>
          <p:spPr>
            <a:xfrm>
              <a:off x="1600200" y="6107668"/>
              <a:ext cx="52982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33  14     9      17   23    21     29    91    37    25    88      </a:t>
              </a:r>
            </a:p>
          </p:txBody>
        </p:sp>
      </p:grpSp>
      <p:cxnSp>
        <p:nvCxnSpPr>
          <p:cNvPr id="76" name="Straight Arrow Connector 75"/>
          <p:cNvCxnSpPr>
            <a:endCxn id="46" idx="1"/>
          </p:cNvCxnSpPr>
          <p:nvPr/>
        </p:nvCxnSpPr>
        <p:spPr>
          <a:xfrm>
            <a:off x="4532739" y="2883932"/>
            <a:ext cx="1258461" cy="729734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066800" y="6029980"/>
            <a:ext cx="410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H</a:t>
            </a:r>
            <a:endParaRPr lang="en-US" sz="2800" dirty="0"/>
          </a:p>
        </p:txBody>
      </p:sp>
      <p:sp>
        <p:nvSpPr>
          <p:cNvPr id="24" name="TextBox 23"/>
          <p:cNvSpPr txBox="1"/>
          <p:nvPr/>
        </p:nvSpPr>
        <p:spPr>
          <a:xfrm>
            <a:off x="6556314" y="6107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grpSp>
        <p:nvGrpSpPr>
          <p:cNvPr id="74" name="Group 73"/>
          <p:cNvGrpSpPr/>
          <p:nvPr/>
        </p:nvGrpSpPr>
        <p:grpSpPr>
          <a:xfrm>
            <a:off x="1739590" y="6362700"/>
            <a:ext cx="851210" cy="364709"/>
            <a:chOff x="1739590" y="6362700"/>
            <a:chExt cx="851210" cy="364709"/>
          </a:xfrm>
        </p:grpSpPr>
        <p:sp>
          <p:nvSpPr>
            <p:cNvPr id="77" name="Freeform 76"/>
            <p:cNvSpPr/>
            <p:nvPr/>
          </p:nvSpPr>
          <p:spPr>
            <a:xfrm>
              <a:off x="1739590" y="6434254"/>
              <a:ext cx="851210" cy="293155"/>
            </a:xfrm>
            <a:custGeom>
              <a:avLst/>
              <a:gdLst>
                <a:gd name="connsiteX0" fmla="*/ 0 w 5096108"/>
                <a:gd name="connsiteY0" fmla="*/ 0 h 293155"/>
                <a:gd name="connsiteX1" fmla="*/ 223025 w 5096108"/>
                <a:gd name="connsiteY1" fmla="*/ 223024 h 293155"/>
                <a:gd name="connsiteX2" fmla="*/ 825190 w 5096108"/>
                <a:gd name="connsiteY2" fmla="*/ 289931 h 293155"/>
                <a:gd name="connsiteX3" fmla="*/ 3880625 w 5096108"/>
                <a:gd name="connsiteY3" fmla="*/ 278780 h 293155"/>
                <a:gd name="connsiteX4" fmla="*/ 4683512 w 5096108"/>
                <a:gd name="connsiteY4" fmla="*/ 245326 h 293155"/>
                <a:gd name="connsiteX5" fmla="*/ 4995747 w 5096108"/>
                <a:gd name="connsiteY5" fmla="*/ 167268 h 293155"/>
                <a:gd name="connsiteX6" fmla="*/ 5096108 w 5096108"/>
                <a:gd name="connsiteY6" fmla="*/ 0 h 293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96108" h="293155">
                  <a:moveTo>
                    <a:pt x="0" y="0"/>
                  </a:moveTo>
                  <a:cubicBezTo>
                    <a:pt x="42746" y="87351"/>
                    <a:pt x="85493" y="174702"/>
                    <a:pt x="223025" y="223024"/>
                  </a:cubicBezTo>
                  <a:cubicBezTo>
                    <a:pt x="360557" y="271346"/>
                    <a:pt x="215590" y="280638"/>
                    <a:pt x="825190" y="289931"/>
                  </a:cubicBezTo>
                  <a:cubicBezTo>
                    <a:pt x="1434790" y="299224"/>
                    <a:pt x="3237571" y="286214"/>
                    <a:pt x="3880625" y="278780"/>
                  </a:cubicBezTo>
                  <a:cubicBezTo>
                    <a:pt x="4523679" y="271346"/>
                    <a:pt x="4497658" y="263911"/>
                    <a:pt x="4683512" y="245326"/>
                  </a:cubicBezTo>
                  <a:cubicBezTo>
                    <a:pt x="4869366" y="226741"/>
                    <a:pt x="4926981" y="208156"/>
                    <a:pt x="4995747" y="167268"/>
                  </a:cubicBezTo>
                  <a:cubicBezTo>
                    <a:pt x="5064513" y="126380"/>
                    <a:pt x="5080310" y="63190"/>
                    <a:pt x="5096108" y="0"/>
                  </a:cubicBezTo>
                </a:path>
              </a:pathLst>
            </a:custGeom>
            <a:ln w="57150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8" name="Straight Arrow Connector 77"/>
            <p:cNvCxnSpPr>
              <a:stCxn id="77" idx="5"/>
            </p:cNvCxnSpPr>
            <p:nvPr/>
          </p:nvCxnSpPr>
          <p:spPr>
            <a:xfrm flipV="1">
              <a:off x="2574037" y="6362700"/>
              <a:ext cx="16763" cy="238822"/>
            </a:xfrm>
            <a:prstGeom prst="straightConnector1">
              <a:avLst/>
            </a:prstGeom>
            <a:ln w="57150">
              <a:solidFill>
                <a:srgbClr val="C000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/>
            <p:nvPr/>
          </p:nvCxnSpPr>
          <p:spPr>
            <a:xfrm flipV="1">
              <a:off x="1752600" y="6362701"/>
              <a:ext cx="0" cy="218130"/>
            </a:xfrm>
            <a:prstGeom prst="straightConnector1">
              <a:avLst/>
            </a:prstGeom>
            <a:ln w="57150">
              <a:solidFill>
                <a:srgbClr val="C000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1180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err="1">
                <a:solidFill>
                  <a:srgbClr val="7030A0"/>
                </a:solidFill>
              </a:rPr>
              <a:t>Extract_min</a:t>
            </a:r>
            <a:r>
              <a:rPr lang="en-US" sz="3600" b="1" dirty="0">
                <a:solidFill>
                  <a:srgbClr val="7030A0"/>
                </a:solidFill>
              </a:rPr>
              <a:t>(H)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419600" y="25146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971800" y="2743200"/>
            <a:ext cx="1447800" cy="1066800"/>
            <a:chOff x="2971800" y="2209800"/>
            <a:chExt cx="1447800" cy="1066800"/>
          </a:xfrm>
        </p:grpSpPr>
        <p:cxnSp>
          <p:nvCxnSpPr>
            <p:cNvPr id="12" name="Straight Arrow Connector 11"/>
            <p:cNvCxnSpPr/>
            <p:nvPr/>
          </p:nvCxnSpPr>
          <p:spPr>
            <a:xfrm flipH="1">
              <a:off x="3155796" y="2209800"/>
              <a:ext cx="1263804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2971800" y="29718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715107" y="2743200"/>
            <a:ext cx="1457093" cy="1016652"/>
            <a:chOff x="4715107" y="2209800"/>
            <a:chExt cx="1457093" cy="1016652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4715107" y="2209800"/>
              <a:ext cx="1304693" cy="71185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5867400" y="2921652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286000" y="3765363"/>
            <a:ext cx="730437" cy="1035237"/>
            <a:chOff x="2286000" y="3231963"/>
            <a:chExt cx="730437" cy="1035237"/>
          </a:xfrm>
        </p:grpSpPr>
        <p:sp>
          <p:nvSpPr>
            <p:cNvPr id="16" name="Oval 15"/>
            <p:cNvSpPr/>
            <p:nvPr/>
          </p:nvSpPr>
          <p:spPr>
            <a:xfrm>
              <a:off x="2286000" y="3962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/>
            <p:cNvCxnSpPr>
              <a:stCxn id="14" idx="3"/>
              <a:endCxn id="16" idx="0"/>
            </p:cNvCxnSpPr>
            <p:nvPr/>
          </p:nvCxnSpPr>
          <p:spPr>
            <a:xfrm flipH="1">
              <a:off x="2438400" y="3231963"/>
              <a:ext cx="578037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3231963" y="3765363"/>
            <a:ext cx="719285" cy="1035237"/>
            <a:chOff x="3231963" y="3231963"/>
            <a:chExt cx="719285" cy="1035237"/>
          </a:xfrm>
        </p:grpSpPr>
        <p:sp>
          <p:nvSpPr>
            <p:cNvPr id="17" name="Oval 16"/>
            <p:cNvSpPr/>
            <p:nvPr/>
          </p:nvSpPr>
          <p:spPr>
            <a:xfrm>
              <a:off x="3646448" y="3962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/>
            <p:cNvCxnSpPr>
              <a:stCxn id="14" idx="5"/>
            </p:cNvCxnSpPr>
            <p:nvPr/>
          </p:nvCxnSpPr>
          <p:spPr>
            <a:xfrm>
              <a:off x="3231963" y="3231963"/>
              <a:ext cx="566885" cy="730437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5192752" y="3733800"/>
            <a:ext cx="730437" cy="1035237"/>
            <a:chOff x="5192752" y="3200400"/>
            <a:chExt cx="730437" cy="1035237"/>
          </a:xfrm>
        </p:grpSpPr>
        <p:sp>
          <p:nvSpPr>
            <p:cNvPr id="28" name="Oval 27"/>
            <p:cNvSpPr/>
            <p:nvPr/>
          </p:nvSpPr>
          <p:spPr>
            <a:xfrm>
              <a:off x="5192752" y="3930837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/>
            <p:cNvCxnSpPr>
              <a:endCxn id="28" idx="0"/>
            </p:cNvCxnSpPr>
            <p:nvPr/>
          </p:nvCxnSpPr>
          <p:spPr>
            <a:xfrm flipH="1">
              <a:off x="5345152" y="3200400"/>
              <a:ext cx="578037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6138715" y="3733800"/>
            <a:ext cx="719285" cy="1035237"/>
            <a:chOff x="6138715" y="3200400"/>
            <a:chExt cx="719285" cy="1035237"/>
          </a:xfrm>
        </p:grpSpPr>
        <p:sp>
          <p:nvSpPr>
            <p:cNvPr id="29" name="Oval 28"/>
            <p:cNvSpPr/>
            <p:nvPr/>
          </p:nvSpPr>
          <p:spPr>
            <a:xfrm>
              <a:off x="6553200" y="3930837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>
              <a:off x="6138715" y="3200400"/>
              <a:ext cx="5668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1828800" y="4755963"/>
            <a:ext cx="501837" cy="1035237"/>
            <a:chOff x="1828800" y="4222563"/>
            <a:chExt cx="501837" cy="1035237"/>
          </a:xfrm>
        </p:grpSpPr>
        <p:sp>
          <p:nvSpPr>
            <p:cNvPr id="33" name="Oval 32"/>
            <p:cNvSpPr/>
            <p:nvPr/>
          </p:nvSpPr>
          <p:spPr>
            <a:xfrm>
              <a:off x="18288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>
              <a:stCxn id="16" idx="3"/>
            </p:cNvCxnSpPr>
            <p:nvPr/>
          </p:nvCxnSpPr>
          <p:spPr>
            <a:xfrm flipH="1">
              <a:off x="20127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2557315" y="4755963"/>
            <a:ext cx="414485" cy="1035237"/>
            <a:chOff x="2557315" y="4222563"/>
            <a:chExt cx="414485" cy="1035237"/>
          </a:xfrm>
        </p:grpSpPr>
        <p:sp>
          <p:nvSpPr>
            <p:cNvPr id="34" name="Oval 33"/>
            <p:cNvSpPr/>
            <p:nvPr/>
          </p:nvSpPr>
          <p:spPr>
            <a:xfrm>
              <a:off x="26670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/>
            <p:cNvCxnSpPr>
              <a:endCxn id="34" idx="0"/>
            </p:cNvCxnSpPr>
            <p:nvPr/>
          </p:nvCxnSpPr>
          <p:spPr>
            <a:xfrm>
              <a:off x="25573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3200400" y="4755963"/>
            <a:ext cx="501837" cy="1035237"/>
            <a:chOff x="3200400" y="4222563"/>
            <a:chExt cx="501837" cy="1035237"/>
          </a:xfrm>
        </p:grpSpPr>
        <p:sp>
          <p:nvSpPr>
            <p:cNvPr id="48" name="Oval 47"/>
            <p:cNvSpPr/>
            <p:nvPr/>
          </p:nvSpPr>
          <p:spPr>
            <a:xfrm>
              <a:off x="32004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 flipH="1">
              <a:off x="33843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3928915" y="4755963"/>
            <a:ext cx="414485" cy="1035237"/>
            <a:chOff x="3928915" y="4222563"/>
            <a:chExt cx="414485" cy="1035237"/>
          </a:xfrm>
        </p:grpSpPr>
        <p:sp>
          <p:nvSpPr>
            <p:cNvPr id="49" name="Oval 48"/>
            <p:cNvSpPr/>
            <p:nvPr/>
          </p:nvSpPr>
          <p:spPr>
            <a:xfrm>
              <a:off x="40386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Arrow Connector 50"/>
            <p:cNvCxnSpPr>
              <a:endCxn id="49" idx="0"/>
            </p:cNvCxnSpPr>
            <p:nvPr/>
          </p:nvCxnSpPr>
          <p:spPr>
            <a:xfrm>
              <a:off x="39289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/>
          <p:cNvSpPr txBox="1"/>
          <p:nvPr/>
        </p:nvSpPr>
        <p:spPr>
          <a:xfrm>
            <a:off x="4381896" y="2514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95600" y="3505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09800" y="4495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52600" y="5486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91200" y="3429000"/>
            <a:ext cx="471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33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81600" y="44312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19896" y="44312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15496" y="44312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90800" y="5486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62696" y="5486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00896" y="5486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88</a:t>
            </a:r>
          </a:p>
        </p:txBody>
      </p:sp>
      <p:grpSp>
        <p:nvGrpSpPr>
          <p:cNvPr id="73" name="Group 72"/>
          <p:cNvGrpSpPr/>
          <p:nvPr/>
        </p:nvGrpSpPr>
        <p:grpSpPr>
          <a:xfrm>
            <a:off x="1524000" y="6096000"/>
            <a:ext cx="6705600" cy="381000"/>
            <a:chOff x="1524000" y="6096000"/>
            <a:chExt cx="6705600" cy="381000"/>
          </a:xfrm>
        </p:grpSpPr>
        <p:grpSp>
          <p:nvGrpSpPr>
            <p:cNvPr id="72" name="Group 71"/>
            <p:cNvGrpSpPr/>
            <p:nvPr/>
          </p:nvGrpSpPr>
          <p:grpSpPr>
            <a:xfrm>
              <a:off x="1524000" y="6096000"/>
              <a:ext cx="6705600" cy="381000"/>
              <a:chOff x="1524000" y="6096000"/>
              <a:chExt cx="6705600" cy="381000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1524000" y="6096000"/>
                <a:ext cx="6705600" cy="3810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2" name="Straight Connector 31"/>
              <p:cNvCxnSpPr/>
              <p:nvPr/>
            </p:nvCxnSpPr>
            <p:spPr>
              <a:xfrm>
                <a:off x="1961952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>
                <a:off x="23622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>
                <a:off x="28194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2766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7338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>
              <a:xfrm>
                <a:off x="41910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>
                <a:off x="46482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>
                <a:off x="51054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>
                <a:off x="55626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60198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64770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>
                <a:off x="69342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>
                <a:off x="73914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>
                <a:off x="78486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TextBox 37"/>
            <p:cNvSpPr txBox="1"/>
            <p:nvPr/>
          </p:nvSpPr>
          <p:spPr>
            <a:xfrm>
              <a:off x="1600200" y="6107668"/>
              <a:ext cx="52982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9   14    33     17   23    21     29    91    37    25    88      </a:t>
              </a:r>
            </a:p>
          </p:txBody>
        </p:sp>
      </p:grpSp>
      <p:cxnSp>
        <p:nvCxnSpPr>
          <p:cNvPr id="71" name="Straight Arrow Connector 70"/>
          <p:cNvCxnSpPr/>
          <p:nvPr/>
        </p:nvCxnSpPr>
        <p:spPr>
          <a:xfrm flipH="1">
            <a:off x="4953000" y="3537466"/>
            <a:ext cx="838200" cy="958334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066800" y="6029980"/>
            <a:ext cx="410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H</a:t>
            </a:r>
            <a:endParaRPr lang="en-US" sz="2800" dirty="0"/>
          </a:p>
        </p:txBody>
      </p:sp>
      <p:grpSp>
        <p:nvGrpSpPr>
          <p:cNvPr id="75" name="Group 74"/>
          <p:cNvGrpSpPr/>
          <p:nvPr/>
        </p:nvGrpSpPr>
        <p:grpSpPr>
          <a:xfrm>
            <a:off x="2590800" y="6362701"/>
            <a:ext cx="1360448" cy="364708"/>
            <a:chOff x="1739590" y="6362701"/>
            <a:chExt cx="1360448" cy="364708"/>
          </a:xfrm>
        </p:grpSpPr>
        <p:sp>
          <p:nvSpPr>
            <p:cNvPr id="76" name="Freeform 75"/>
            <p:cNvSpPr/>
            <p:nvPr/>
          </p:nvSpPr>
          <p:spPr>
            <a:xfrm>
              <a:off x="1739590" y="6553200"/>
              <a:ext cx="1360448" cy="174209"/>
            </a:xfrm>
            <a:custGeom>
              <a:avLst/>
              <a:gdLst>
                <a:gd name="connsiteX0" fmla="*/ 0 w 5096108"/>
                <a:gd name="connsiteY0" fmla="*/ 0 h 293155"/>
                <a:gd name="connsiteX1" fmla="*/ 223025 w 5096108"/>
                <a:gd name="connsiteY1" fmla="*/ 223024 h 293155"/>
                <a:gd name="connsiteX2" fmla="*/ 825190 w 5096108"/>
                <a:gd name="connsiteY2" fmla="*/ 289931 h 293155"/>
                <a:gd name="connsiteX3" fmla="*/ 3880625 w 5096108"/>
                <a:gd name="connsiteY3" fmla="*/ 278780 h 293155"/>
                <a:gd name="connsiteX4" fmla="*/ 4683512 w 5096108"/>
                <a:gd name="connsiteY4" fmla="*/ 245326 h 293155"/>
                <a:gd name="connsiteX5" fmla="*/ 4995747 w 5096108"/>
                <a:gd name="connsiteY5" fmla="*/ 167268 h 293155"/>
                <a:gd name="connsiteX6" fmla="*/ 5096108 w 5096108"/>
                <a:gd name="connsiteY6" fmla="*/ 0 h 293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96108" h="293155">
                  <a:moveTo>
                    <a:pt x="0" y="0"/>
                  </a:moveTo>
                  <a:cubicBezTo>
                    <a:pt x="42746" y="87351"/>
                    <a:pt x="85493" y="174702"/>
                    <a:pt x="223025" y="223024"/>
                  </a:cubicBezTo>
                  <a:cubicBezTo>
                    <a:pt x="360557" y="271346"/>
                    <a:pt x="215590" y="280638"/>
                    <a:pt x="825190" y="289931"/>
                  </a:cubicBezTo>
                  <a:cubicBezTo>
                    <a:pt x="1434790" y="299224"/>
                    <a:pt x="3237571" y="286214"/>
                    <a:pt x="3880625" y="278780"/>
                  </a:cubicBezTo>
                  <a:cubicBezTo>
                    <a:pt x="4523679" y="271346"/>
                    <a:pt x="4497658" y="263911"/>
                    <a:pt x="4683512" y="245326"/>
                  </a:cubicBezTo>
                  <a:cubicBezTo>
                    <a:pt x="4869366" y="226741"/>
                    <a:pt x="4926981" y="208156"/>
                    <a:pt x="4995747" y="167268"/>
                  </a:cubicBezTo>
                  <a:cubicBezTo>
                    <a:pt x="5064513" y="126380"/>
                    <a:pt x="5080310" y="63190"/>
                    <a:pt x="5096108" y="0"/>
                  </a:cubicBezTo>
                </a:path>
              </a:pathLst>
            </a:custGeom>
            <a:ln w="57150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Arrow Connector 76"/>
            <p:cNvCxnSpPr>
              <a:stCxn id="76" idx="5"/>
            </p:cNvCxnSpPr>
            <p:nvPr/>
          </p:nvCxnSpPr>
          <p:spPr>
            <a:xfrm flipV="1">
              <a:off x="3073246" y="6362701"/>
              <a:ext cx="26792" cy="289899"/>
            </a:xfrm>
            <a:prstGeom prst="straightConnector1">
              <a:avLst/>
            </a:prstGeom>
            <a:ln w="57150">
              <a:solidFill>
                <a:srgbClr val="C000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/>
            <p:nvPr/>
          </p:nvCxnSpPr>
          <p:spPr>
            <a:xfrm flipV="1">
              <a:off x="1752600" y="6362701"/>
              <a:ext cx="0" cy="218130"/>
            </a:xfrm>
            <a:prstGeom prst="straightConnector1">
              <a:avLst/>
            </a:prstGeom>
            <a:ln w="57150">
              <a:solidFill>
                <a:srgbClr val="C000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5538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err="1">
                <a:solidFill>
                  <a:srgbClr val="7030A0"/>
                </a:solidFill>
              </a:rPr>
              <a:t>Extract_min</a:t>
            </a:r>
            <a:r>
              <a:rPr lang="en-US" sz="3600" b="1" dirty="0">
                <a:solidFill>
                  <a:srgbClr val="7030A0"/>
                </a:solidFill>
              </a:rPr>
              <a:t>(H)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4906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/>
                  <a:t>We are done.</a:t>
                </a:r>
              </a:p>
              <a:p>
                <a:pPr marL="0" indent="0">
                  <a:buNone/>
                </a:pPr>
                <a:r>
                  <a:rPr lang="en-US" sz="1800" dirty="0"/>
                  <a:t>The no. of operations  performed = 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(no. of levels in binary heap)</a:t>
                </a:r>
              </a:p>
              <a:p>
                <a:pPr marL="0" indent="0">
                  <a:buNone/>
                </a:pPr>
                <a:r>
                  <a:rPr lang="en-US" sz="1800" dirty="0"/>
                  <a:t>=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(log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1800" dirty="0"/>
                  <a:t>)      </a:t>
                </a:r>
                <a:r>
                  <a:rPr lang="en-US" sz="1800" dirty="0">
                    <a:solidFill>
                      <a:srgbClr val="7030A0"/>
                    </a:solidFill>
                  </a:rPr>
                  <a:t>…show it as an </a:t>
                </a:r>
                <a:r>
                  <a:rPr lang="en-US" sz="1800" b="1" dirty="0">
                    <a:solidFill>
                      <a:srgbClr val="006C31"/>
                    </a:solidFill>
                  </a:rPr>
                  <a:t>homework exercise</a:t>
                </a:r>
                <a:r>
                  <a:rPr lang="en-US" sz="1800" dirty="0">
                    <a:solidFill>
                      <a:srgbClr val="7030A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4906963"/>
              </a:xfrm>
              <a:blipFill rotWithShape="1">
                <a:blip r:embed="rId2"/>
                <a:stretch>
                  <a:fillRect l="-593" t="-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419600" y="25146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971800" y="2743200"/>
            <a:ext cx="1447800" cy="1066800"/>
            <a:chOff x="2971800" y="2209800"/>
            <a:chExt cx="1447800" cy="1066800"/>
          </a:xfrm>
        </p:grpSpPr>
        <p:cxnSp>
          <p:nvCxnSpPr>
            <p:cNvPr id="12" name="Straight Arrow Connector 11"/>
            <p:cNvCxnSpPr/>
            <p:nvPr/>
          </p:nvCxnSpPr>
          <p:spPr>
            <a:xfrm flipH="1">
              <a:off x="3155796" y="2209800"/>
              <a:ext cx="1263804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2971800" y="29718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715107" y="2743200"/>
            <a:ext cx="1457093" cy="1016652"/>
            <a:chOff x="4715107" y="2209800"/>
            <a:chExt cx="1457093" cy="1016652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4715107" y="2209800"/>
              <a:ext cx="1304693" cy="71185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5867400" y="2921652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286000" y="3765363"/>
            <a:ext cx="730437" cy="1035237"/>
            <a:chOff x="2286000" y="3231963"/>
            <a:chExt cx="730437" cy="1035237"/>
          </a:xfrm>
        </p:grpSpPr>
        <p:sp>
          <p:nvSpPr>
            <p:cNvPr id="16" name="Oval 15"/>
            <p:cNvSpPr/>
            <p:nvPr/>
          </p:nvSpPr>
          <p:spPr>
            <a:xfrm>
              <a:off x="2286000" y="3962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/>
            <p:cNvCxnSpPr>
              <a:stCxn id="14" idx="3"/>
              <a:endCxn id="16" idx="0"/>
            </p:cNvCxnSpPr>
            <p:nvPr/>
          </p:nvCxnSpPr>
          <p:spPr>
            <a:xfrm flipH="1">
              <a:off x="2438400" y="3231963"/>
              <a:ext cx="578037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3231963" y="3765363"/>
            <a:ext cx="719285" cy="1035237"/>
            <a:chOff x="3231963" y="3231963"/>
            <a:chExt cx="719285" cy="1035237"/>
          </a:xfrm>
        </p:grpSpPr>
        <p:sp>
          <p:nvSpPr>
            <p:cNvPr id="17" name="Oval 16"/>
            <p:cNvSpPr/>
            <p:nvPr/>
          </p:nvSpPr>
          <p:spPr>
            <a:xfrm>
              <a:off x="3646448" y="3962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/>
            <p:cNvCxnSpPr>
              <a:stCxn id="14" idx="5"/>
            </p:cNvCxnSpPr>
            <p:nvPr/>
          </p:nvCxnSpPr>
          <p:spPr>
            <a:xfrm>
              <a:off x="3231963" y="3231963"/>
              <a:ext cx="566885" cy="730437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5192752" y="3733800"/>
            <a:ext cx="730437" cy="1035237"/>
            <a:chOff x="5192752" y="3200400"/>
            <a:chExt cx="730437" cy="1035237"/>
          </a:xfrm>
        </p:grpSpPr>
        <p:sp>
          <p:nvSpPr>
            <p:cNvPr id="28" name="Oval 27"/>
            <p:cNvSpPr/>
            <p:nvPr/>
          </p:nvSpPr>
          <p:spPr>
            <a:xfrm>
              <a:off x="5192752" y="3930837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/>
            <p:cNvCxnSpPr>
              <a:endCxn id="28" idx="0"/>
            </p:cNvCxnSpPr>
            <p:nvPr/>
          </p:nvCxnSpPr>
          <p:spPr>
            <a:xfrm flipH="1">
              <a:off x="5345152" y="3200400"/>
              <a:ext cx="578037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6138715" y="3733800"/>
            <a:ext cx="719285" cy="1035237"/>
            <a:chOff x="6138715" y="3200400"/>
            <a:chExt cx="719285" cy="1035237"/>
          </a:xfrm>
        </p:grpSpPr>
        <p:sp>
          <p:nvSpPr>
            <p:cNvPr id="29" name="Oval 28"/>
            <p:cNvSpPr/>
            <p:nvPr/>
          </p:nvSpPr>
          <p:spPr>
            <a:xfrm>
              <a:off x="6553200" y="3930837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>
              <a:off x="6138715" y="3200400"/>
              <a:ext cx="5668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1828800" y="4755963"/>
            <a:ext cx="501837" cy="1035237"/>
            <a:chOff x="1828800" y="4222563"/>
            <a:chExt cx="501837" cy="1035237"/>
          </a:xfrm>
        </p:grpSpPr>
        <p:sp>
          <p:nvSpPr>
            <p:cNvPr id="33" name="Oval 32"/>
            <p:cNvSpPr/>
            <p:nvPr/>
          </p:nvSpPr>
          <p:spPr>
            <a:xfrm>
              <a:off x="18288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>
              <a:stCxn id="16" idx="3"/>
            </p:cNvCxnSpPr>
            <p:nvPr/>
          </p:nvCxnSpPr>
          <p:spPr>
            <a:xfrm flipH="1">
              <a:off x="20127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2557315" y="4755963"/>
            <a:ext cx="414485" cy="1035237"/>
            <a:chOff x="2557315" y="4222563"/>
            <a:chExt cx="414485" cy="1035237"/>
          </a:xfrm>
        </p:grpSpPr>
        <p:sp>
          <p:nvSpPr>
            <p:cNvPr id="34" name="Oval 33"/>
            <p:cNvSpPr/>
            <p:nvPr/>
          </p:nvSpPr>
          <p:spPr>
            <a:xfrm>
              <a:off x="26670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/>
            <p:cNvCxnSpPr>
              <a:endCxn id="34" idx="0"/>
            </p:cNvCxnSpPr>
            <p:nvPr/>
          </p:nvCxnSpPr>
          <p:spPr>
            <a:xfrm>
              <a:off x="25573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3200400" y="4755963"/>
            <a:ext cx="501837" cy="1035237"/>
            <a:chOff x="3200400" y="4222563"/>
            <a:chExt cx="501837" cy="1035237"/>
          </a:xfrm>
        </p:grpSpPr>
        <p:sp>
          <p:nvSpPr>
            <p:cNvPr id="48" name="Oval 47"/>
            <p:cNvSpPr/>
            <p:nvPr/>
          </p:nvSpPr>
          <p:spPr>
            <a:xfrm>
              <a:off x="32004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 flipH="1">
              <a:off x="33843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3928915" y="4755963"/>
            <a:ext cx="414485" cy="1035237"/>
            <a:chOff x="3928915" y="4222563"/>
            <a:chExt cx="414485" cy="1035237"/>
          </a:xfrm>
        </p:grpSpPr>
        <p:sp>
          <p:nvSpPr>
            <p:cNvPr id="49" name="Oval 48"/>
            <p:cNvSpPr/>
            <p:nvPr/>
          </p:nvSpPr>
          <p:spPr>
            <a:xfrm>
              <a:off x="40386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Arrow Connector 50"/>
            <p:cNvCxnSpPr>
              <a:endCxn id="49" idx="0"/>
            </p:cNvCxnSpPr>
            <p:nvPr/>
          </p:nvCxnSpPr>
          <p:spPr>
            <a:xfrm>
              <a:off x="39289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/>
          <p:cNvSpPr txBox="1"/>
          <p:nvPr/>
        </p:nvSpPr>
        <p:spPr>
          <a:xfrm>
            <a:off x="4381896" y="2514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95600" y="3505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09800" y="44958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52600" y="5486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91200" y="3429000"/>
            <a:ext cx="471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21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81600" y="44312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19896" y="44312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15496" y="44312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90800" y="5486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62696" y="5486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00896" y="5486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88</a:t>
            </a:r>
          </a:p>
        </p:txBody>
      </p:sp>
      <p:grpSp>
        <p:nvGrpSpPr>
          <p:cNvPr id="73" name="Group 72"/>
          <p:cNvGrpSpPr/>
          <p:nvPr/>
        </p:nvGrpSpPr>
        <p:grpSpPr>
          <a:xfrm>
            <a:off x="1524000" y="6096000"/>
            <a:ext cx="6705600" cy="381000"/>
            <a:chOff x="1524000" y="6096000"/>
            <a:chExt cx="6705600" cy="381000"/>
          </a:xfrm>
        </p:grpSpPr>
        <p:grpSp>
          <p:nvGrpSpPr>
            <p:cNvPr id="72" name="Group 71"/>
            <p:cNvGrpSpPr/>
            <p:nvPr/>
          </p:nvGrpSpPr>
          <p:grpSpPr>
            <a:xfrm>
              <a:off x="1524000" y="6096000"/>
              <a:ext cx="6705600" cy="381000"/>
              <a:chOff x="1524000" y="6096000"/>
              <a:chExt cx="6705600" cy="381000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1524000" y="6096000"/>
                <a:ext cx="6705600" cy="3810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2" name="Straight Connector 31"/>
              <p:cNvCxnSpPr/>
              <p:nvPr/>
            </p:nvCxnSpPr>
            <p:spPr>
              <a:xfrm>
                <a:off x="1961952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>
                <a:off x="23622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>
                <a:off x="28194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2766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7338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>
              <a:xfrm>
                <a:off x="41910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>
                <a:off x="46482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>
                <a:off x="51054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>
                <a:off x="55626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60198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64770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>
                <a:off x="69342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>
                <a:off x="73914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>
                <a:off x="7848600" y="60960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TextBox 37"/>
            <p:cNvSpPr txBox="1"/>
            <p:nvPr/>
          </p:nvSpPr>
          <p:spPr>
            <a:xfrm>
              <a:off x="1600200" y="6107668"/>
              <a:ext cx="5128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9   14    21     17   23    33     29    91    37    25    88      </a:t>
              </a:r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1066800" y="6029980"/>
            <a:ext cx="410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H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67912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Insert(</a:t>
            </a:r>
            <a:r>
              <a:rPr lang="en-US" sz="3600" b="1" dirty="0" err="1">
                <a:solidFill>
                  <a:srgbClr val="0070C0"/>
                </a:solidFill>
              </a:rPr>
              <a:t>x</a:t>
            </a:r>
            <a:r>
              <a:rPr lang="en-US" sz="3600" b="1" dirty="0" err="1">
                <a:solidFill>
                  <a:srgbClr val="7030A0"/>
                </a:solidFill>
              </a:rPr>
              <a:t>,H</a:t>
            </a:r>
            <a:r>
              <a:rPr lang="en-US" sz="3600" b="1" dirty="0">
                <a:solidFill>
                  <a:srgbClr val="7030A0"/>
                </a:solidFill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>
              <a:buNone/>
            </a:pPr>
            <a:endParaRPr lang="en-US" sz="1800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419600" y="12954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971800" y="1524000"/>
            <a:ext cx="1447800" cy="1066800"/>
            <a:chOff x="2971800" y="2209800"/>
            <a:chExt cx="1447800" cy="1066800"/>
          </a:xfrm>
        </p:grpSpPr>
        <p:cxnSp>
          <p:nvCxnSpPr>
            <p:cNvPr id="12" name="Straight Arrow Connector 11"/>
            <p:cNvCxnSpPr/>
            <p:nvPr/>
          </p:nvCxnSpPr>
          <p:spPr>
            <a:xfrm flipH="1">
              <a:off x="3155796" y="2209800"/>
              <a:ext cx="1263804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2971800" y="29718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715107" y="1524000"/>
            <a:ext cx="1457093" cy="1016652"/>
            <a:chOff x="4715107" y="2209800"/>
            <a:chExt cx="1457093" cy="1016652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4715107" y="2209800"/>
              <a:ext cx="1304693" cy="71185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5867400" y="2921652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286000" y="2546163"/>
            <a:ext cx="730437" cy="1035237"/>
            <a:chOff x="2286000" y="3231963"/>
            <a:chExt cx="730437" cy="1035237"/>
          </a:xfrm>
        </p:grpSpPr>
        <p:sp>
          <p:nvSpPr>
            <p:cNvPr id="16" name="Oval 15"/>
            <p:cNvSpPr/>
            <p:nvPr/>
          </p:nvSpPr>
          <p:spPr>
            <a:xfrm>
              <a:off x="2286000" y="3962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/>
            <p:cNvCxnSpPr>
              <a:stCxn id="14" idx="3"/>
              <a:endCxn id="16" idx="0"/>
            </p:cNvCxnSpPr>
            <p:nvPr/>
          </p:nvCxnSpPr>
          <p:spPr>
            <a:xfrm flipH="1">
              <a:off x="2438400" y="3231963"/>
              <a:ext cx="578037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3231963" y="2546163"/>
            <a:ext cx="719285" cy="1035237"/>
            <a:chOff x="3231963" y="3231963"/>
            <a:chExt cx="719285" cy="1035237"/>
          </a:xfrm>
        </p:grpSpPr>
        <p:sp>
          <p:nvSpPr>
            <p:cNvPr id="17" name="Oval 16"/>
            <p:cNvSpPr/>
            <p:nvPr/>
          </p:nvSpPr>
          <p:spPr>
            <a:xfrm>
              <a:off x="3646448" y="3962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/>
            <p:cNvCxnSpPr>
              <a:stCxn id="14" idx="5"/>
            </p:cNvCxnSpPr>
            <p:nvPr/>
          </p:nvCxnSpPr>
          <p:spPr>
            <a:xfrm>
              <a:off x="3231963" y="3231963"/>
              <a:ext cx="566885" cy="730437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5192752" y="2514600"/>
            <a:ext cx="730437" cy="1035237"/>
            <a:chOff x="5192752" y="3200400"/>
            <a:chExt cx="730437" cy="1035237"/>
          </a:xfrm>
        </p:grpSpPr>
        <p:sp>
          <p:nvSpPr>
            <p:cNvPr id="28" name="Oval 27"/>
            <p:cNvSpPr/>
            <p:nvPr/>
          </p:nvSpPr>
          <p:spPr>
            <a:xfrm>
              <a:off x="5192752" y="3930837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/>
            <p:cNvCxnSpPr>
              <a:endCxn id="28" idx="0"/>
            </p:cNvCxnSpPr>
            <p:nvPr/>
          </p:nvCxnSpPr>
          <p:spPr>
            <a:xfrm flipH="1">
              <a:off x="5345152" y="3200400"/>
              <a:ext cx="578037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6138715" y="2514600"/>
            <a:ext cx="719285" cy="1035237"/>
            <a:chOff x="6138715" y="3200400"/>
            <a:chExt cx="719285" cy="1035237"/>
          </a:xfrm>
        </p:grpSpPr>
        <p:sp>
          <p:nvSpPr>
            <p:cNvPr id="29" name="Oval 28"/>
            <p:cNvSpPr/>
            <p:nvPr/>
          </p:nvSpPr>
          <p:spPr>
            <a:xfrm>
              <a:off x="6553200" y="3930837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>
              <a:off x="6138715" y="3200400"/>
              <a:ext cx="5668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1828800" y="3536763"/>
            <a:ext cx="501837" cy="1035237"/>
            <a:chOff x="1828800" y="4222563"/>
            <a:chExt cx="501837" cy="1035237"/>
          </a:xfrm>
        </p:grpSpPr>
        <p:sp>
          <p:nvSpPr>
            <p:cNvPr id="33" name="Oval 32"/>
            <p:cNvSpPr/>
            <p:nvPr/>
          </p:nvSpPr>
          <p:spPr>
            <a:xfrm>
              <a:off x="18288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>
              <a:stCxn id="16" idx="3"/>
            </p:cNvCxnSpPr>
            <p:nvPr/>
          </p:nvCxnSpPr>
          <p:spPr>
            <a:xfrm flipH="1">
              <a:off x="20127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2557315" y="3536763"/>
            <a:ext cx="414485" cy="1035237"/>
            <a:chOff x="2557315" y="4222563"/>
            <a:chExt cx="414485" cy="1035237"/>
          </a:xfrm>
        </p:grpSpPr>
        <p:sp>
          <p:nvSpPr>
            <p:cNvPr id="34" name="Oval 33"/>
            <p:cNvSpPr/>
            <p:nvPr/>
          </p:nvSpPr>
          <p:spPr>
            <a:xfrm>
              <a:off x="26670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/>
            <p:cNvCxnSpPr>
              <a:endCxn id="34" idx="0"/>
            </p:cNvCxnSpPr>
            <p:nvPr/>
          </p:nvCxnSpPr>
          <p:spPr>
            <a:xfrm>
              <a:off x="25573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3352800" y="3549837"/>
            <a:ext cx="381000" cy="1022163"/>
            <a:chOff x="3245037" y="4235637"/>
            <a:chExt cx="381000" cy="1022163"/>
          </a:xfrm>
        </p:grpSpPr>
        <p:sp>
          <p:nvSpPr>
            <p:cNvPr id="48" name="Oval 47"/>
            <p:cNvSpPr/>
            <p:nvPr/>
          </p:nvSpPr>
          <p:spPr>
            <a:xfrm>
              <a:off x="3245037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 flipH="1">
              <a:off x="3384365" y="4235637"/>
              <a:ext cx="241672" cy="717363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3928915" y="3536763"/>
            <a:ext cx="414485" cy="1035237"/>
            <a:chOff x="3928915" y="4222563"/>
            <a:chExt cx="414485" cy="1035237"/>
          </a:xfrm>
        </p:grpSpPr>
        <p:sp>
          <p:nvSpPr>
            <p:cNvPr id="49" name="Oval 48"/>
            <p:cNvSpPr/>
            <p:nvPr/>
          </p:nvSpPr>
          <p:spPr>
            <a:xfrm>
              <a:off x="40386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Arrow Connector 50"/>
            <p:cNvCxnSpPr>
              <a:endCxn id="49" idx="0"/>
            </p:cNvCxnSpPr>
            <p:nvPr/>
          </p:nvCxnSpPr>
          <p:spPr>
            <a:xfrm>
              <a:off x="39289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/>
          <p:cNvSpPr txBox="1"/>
          <p:nvPr/>
        </p:nvSpPr>
        <p:spPr>
          <a:xfrm>
            <a:off x="4381896" y="1295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95600" y="2286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09800" y="3276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52600" y="4267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91200" y="2209800"/>
            <a:ext cx="471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21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81600" y="3212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19896" y="3212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15496" y="3212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90800" y="4267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5096" y="4267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00896" y="4267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88</a:t>
            </a:r>
          </a:p>
        </p:txBody>
      </p:sp>
      <p:grpSp>
        <p:nvGrpSpPr>
          <p:cNvPr id="74" name="Group 73"/>
          <p:cNvGrpSpPr/>
          <p:nvPr/>
        </p:nvGrpSpPr>
        <p:grpSpPr>
          <a:xfrm>
            <a:off x="4755963" y="3536763"/>
            <a:ext cx="501837" cy="1035237"/>
            <a:chOff x="3200400" y="4222563"/>
            <a:chExt cx="501837" cy="1035237"/>
          </a:xfrm>
        </p:grpSpPr>
        <p:sp>
          <p:nvSpPr>
            <p:cNvPr id="75" name="Oval 74"/>
            <p:cNvSpPr/>
            <p:nvPr/>
          </p:nvSpPr>
          <p:spPr>
            <a:xfrm>
              <a:off x="32004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Arrow Connector 75"/>
            <p:cNvCxnSpPr/>
            <p:nvPr/>
          </p:nvCxnSpPr>
          <p:spPr>
            <a:xfrm flipH="1">
              <a:off x="33843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/>
          <p:cNvGrpSpPr/>
          <p:nvPr/>
        </p:nvGrpSpPr>
        <p:grpSpPr>
          <a:xfrm>
            <a:off x="6127563" y="3536763"/>
            <a:ext cx="501837" cy="1035237"/>
            <a:chOff x="3200400" y="4222563"/>
            <a:chExt cx="501837" cy="1035237"/>
          </a:xfrm>
        </p:grpSpPr>
        <p:sp>
          <p:nvSpPr>
            <p:cNvPr id="78" name="Oval 77"/>
            <p:cNvSpPr/>
            <p:nvPr/>
          </p:nvSpPr>
          <p:spPr>
            <a:xfrm>
              <a:off x="32004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9" name="Straight Arrow Connector 78"/>
            <p:cNvCxnSpPr/>
            <p:nvPr/>
          </p:nvCxnSpPr>
          <p:spPr>
            <a:xfrm flipH="1">
              <a:off x="33843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/>
          <p:cNvGrpSpPr/>
          <p:nvPr/>
        </p:nvGrpSpPr>
        <p:grpSpPr>
          <a:xfrm>
            <a:off x="5452915" y="3505200"/>
            <a:ext cx="414485" cy="1035237"/>
            <a:chOff x="3928915" y="4222563"/>
            <a:chExt cx="414485" cy="1035237"/>
          </a:xfrm>
        </p:grpSpPr>
        <p:sp>
          <p:nvSpPr>
            <p:cNvPr id="81" name="Oval 80"/>
            <p:cNvSpPr/>
            <p:nvPr/>
          </p:nvSpPr>
          <p:spPr>
            <a:xfrm>
              <a:off x="40386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Arrow Connector 81"/>
            <p:cNvCxnSpPr>
              <a:endCxn id="81" idx="0"/>
            </p:cNvCxnSpPr>
            <p:nvPr/>
          </p:nvCxnSpPr>
          <p:spPr>
            <a:xfrm>
              <a:off x="39289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/>
          <p:cNvGrpSpPr/>
          <p:nvPr/>
        </p:nvGrpSpPr>
        <p:grpSpPr>
          <a:xfrm>
            <a:off x="6824515" y="3505200"/>
            <a:ext cx="414485" cy="1035237"/>
            <a:chOff x="3928915" y="4222563"/>
            <a:chExt cx="414485" cy="1035237"/>
          </a:xfrm>
        </p:grpSpPr>
        <p:sp>
          <p:nvSpPr>
            <p:cNvPr id="84" name="Oval 83"/>
            <p:cNvSpPr/>
            <p:nvPr/>
          </p:nvSpPr>
          <p:spPr>
            <a:xfrm>
              <a:off x="40386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5" name="Straight Arrow Connector 84"/>
            <p:cNvCxnSpPr>
              <a:endCxn id="84" idx="0"/>
            </p:cNvCxnSpPr>
            <p:nvPr/>
          </p:nvCxnSpPr>
          <p:spPr>
            <a:xfrm>
              <a:off x="39289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1600200" y="4540437"/>
            <a:ext cx="685800" cy="1098363"/>
            <a:chOff x="1600200" y="4540437"/>
            <a:chExt cx="685800" cy="1098363"/>
          </a:xfrm>
        </p:grpSpPr>
        <p:grpSp>
          <p:nvGrpSpPr>
            <p:cNvPr id="86" name="Group 85"/>
            <p:cNvGrpSpPr/>
            <p:nvPr/>
          </p:nvGrpSpPr>
          <p:grpSpPr>
            <a:xfrm>
              <a:off x="1981200" y="4572000"/>
              <a:ext cx="304800" cy="1066800"/>
              <a:chOff x="3852715" y="4222563"/>
              <a:chExt cx="304800" cy="1066800"/>
            </a:xfrm>
          </p:grpSpPr>
          <p:sp>
            <p:nvSpPr>
              <p:cNvPr id="87" name="Oval 86"/>
              <p:cNvSpPr/>
              <p:nvPr/>
            </p:nvSpPr>
            <p:spPr>
              <a:xfrm>
                <a:off x="3852715" y="4984563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8" name="Straight Arrow Connector 87"/>
              <p:cNvCxnSpPr/>
              <p:nvPr/>
            </p:nvCxnSpPr>
            <p:spPr>
              <a:xfrm>
                <a:off x="3884279" y="4222563"/>
                <a:ext cx="120836" cy="7620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Group 88"/>
            <p:cNvGrpSpPr/>
            <p:nvPr/>
          </p:nvGrpSpPr>
          <p:grpSpPr>
            <a:xfrm>
              <a:off x="1600200" y="4540437"/>
              <a:ext cx="304800" cy="1098363"/>
              <a:chOff x="3429000" y="4235637"/>
              <a:chExt cx="304800" cy="1098363"/>
            </a:xfrm>
          </p:grpSpPr>
          <p:sp>
            <p:nvSpPr>
              <p:cNvPr id="90" name="Oval 89"/>
              <p:cNvSpPr/>
              <p:nvPr/>
            </p:nvSpPr>
            <p:spPr>
              <a:xfrm>
                <a:off x="3429000" y="50292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/>
              <p:cNvCxnSpPr/>
              <p:nvPr/>
            </p:nvCxnSpPr>
            <p:spPr>
              <a:xfrm flipH="1">
                <a:off x="3600647" y="4235637"/>
                <a:ext cx="133153" cy="80593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9" name="Group 98"/>
          <p:cNvGrpSpPr/>
          <p:nvPr/>
        </p:nvGrpSpPr>
        <p:grpSpPr>
          <a:xfrm>
            <a:off x="2438400" y="4540437"/>
            <a:ext cx="685800" cy="1098363"/>
            <a:chOff x="1600200" y="4540437"/>
            <a:chExt cx="685800" cy="1098363"/>
          </a:xfrm>
        </p:grpSpPr>
        <p:grpSp>
          <p:nvGrpSpPr>
            <p:cNvPr id="100" name="Group 99"/>
            <p:cNvGrpSpPr/>
            <p:nvPr/>
          </p:nvGrpSpPr>
          <p:grpSpPr>
            <a:xfrm>
              <a:off x="1981200" y="4572000"/>
              <a:ext cx="304800" cy="1066800"/>
              <a:chOff x="3852715" y="4222563"/>
              <a:chExt cx="304800" cy="1066800"/>
            </a:xfrm>
          </p:grpSpPr>
          <p:sp>
            <p:nvSpPr>
              <p:cNvPr id="104" name="Oval 103"/>
              <p:cNvSpPr/>
              <p:nvPr/>
            </p:nvSpPr>
            <p:spPr>
              <a:xfrm>
                <a:off x="3852715" y="4984563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Straight Arrow Connector 104"/>
              <p:cNvCxnSpPr/>
              <p:nvPr/>
            </p:nvCxnSpPr>
            <p:spPr>
              <a:xfrm>
                <a:off x="3884279" y="4222563"/>
                <a:ext cx="120836" cy="7620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Group 100"/>
            <p:cNvGrpSpPr/>
            <p:nvPr/>
          </p:nvGrpSpPr>
          <p:grpSpPr>
            <a:xfrm>
              <a:off x="1600200" y="4540437"/>
              <a:ext cx="304800" cy="1098363"/>
              <a:chOff x="3429000" y="4235637"/>
              <a:chExt cx="304800" cy="1098363"/>
            </a:xfrm>
          </p:grpSpPr>
          <p:sp>
            <p:nvSpPr>
              <p:cNvPr id="102" name="Oval 101"/>
              <p:cNvSpPr/>
              <p:nvPr/>
            </p:nvSpPr>
            <p:spPr>
              <a:xfrm>
                <a:off x="3429000" y="50292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3" name="Straight Arrow Connector 102"/>
              <p:cNvCxnSpPr/>
              <p:nvPr/>
            </p:nvCxnSpPr>
            <p:spPr>
              <a:xfrm flipH="1">
                <a:off x="3600647" y="4235637"/>
                <a:ext cx="133153" cy="80593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3" name="TextBox 112"/>
          <p:cNvSpPr txBox="1"/>
          <p:nvPr/>
        </p:nvSpPr>
        <p:spPr>
          <a:xfrm>
            <a:off x="4724400" y="4202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524896" y="4191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058296" y="4267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896496" y="4191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562496" y="5334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98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943496" y="5334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85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400696" y="5334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47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781696" y="5334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</a:t>
            </a:r>
          </a:p>
        </p:txBody>
      </p:sp>
      <p:grpSp>
        <p:nvGrpSpPr>
          <p:cNvPr id="132" name="Group 131"/>
          <p:cNvGrpSpPr/>
          <p:nvPr/>
        </p:nvGrpSpPr>
        <p:grpSpPr>
          <a:xfrm>
            <a:off x="3162696" y="4572703"/>
            <a:ext cx="418704" cy="1130629"/>
            <a:chOff x="3162696" y="4572703"/>
            <a:chExt cx="418704" cy="1130629"/>
          </a:xfrm>
        </p:grpSpPr>
        <p:cxnSp>
          <p:nvCxnSpPr>
            <p:cNvPr id="115" name="Straight Arrow Connector 114"/>
            <p:cNvCxnSpPr/>
            <p:nvPr/>
          </p:nvCxnSpPr>
          <p:spPr>
            <a:xfrm flipH="1">
              <a:off x="3314304" y="4572703"/>
              <a:ext cx="210144" cy="76129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Oval 115"/>
            <p:cNvSpPr/>
            <p:nvPr/>
          </p:nvSpPr>
          <p:spPr>
            <a:xfrm>
              <a:off x="3200400" y="5334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3162696" y="53340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11</a:t>
              </a:r>
            </a:p>
          </p:txBody>
        </p:sp>
      </p:grpSp>
      <p:grpSp>
        <p:nvGrpSpPr>
          <p:cNvPr id="168" name="Group 167"/>
          <p:cNvGrpSpPr/>
          <p:nvPr/>
        </p:nvGrpSpPr>
        <p:grpSpPr>
          <a:xfrm>
            <a:off x="381000" y="5791200"/>
            <a:ext cx="8305800" cy="523220"/>
            <a:chOff x="381000" y="5791200"/>
            <a:chExt cx="8305800" cy="523220"/>
          </a:xfrm>
        </p:grpSpPr>
        <p:grpSp>
          <p:nvGrpSpPr>
            <p:cNvPr id="157" name="Group 156"/>
            <p:cNvGrpSpPr/>
            <p:nvPr/>
          </p:nvGrpSpPr>
          <p:grpSpPr>
            <a:xfrm>
              <a:off x="762000" y="5867400"/>
              <a:ext cx="7924800" cy="381000"/>
              <a:chOff x="762000" y="5867400"/>
              <a:chExt cx="7924800" cy="381000"/>
            </a:xfrm>
          </p:grpSpPr>
          <p:sp>
            <p:nvSpPr>
              <p:cNvPr id="136" name="Rectangle 135"/>
              <p:cNvSpPr/>
              <p:nvPr/>
            </p:nvSpPr>
            <p:spPr>
              <a:xfrm>
                <a:off x="762000" y="5867400"/>
                <a:ext cx="7924800" cy="3810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37" name="Straight Connector 136"/>
              <p:cNvCxnSpPr/>
              <p:nvPr/>
            </p:nvCxnSpPr>
            <p:spPr>
              <a:xfrm>
                <a:off x="1143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>
              <a:xfrm>
                <a:off x="1524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>
              <a:xfrm>
                <a:off x="1905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>
              <a:xfrm>
                <a:off x="2286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>
              <a:xfrm>
                <a:off x="2667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/>
              <p:cNvCxnSpPr/>
              <p:nvPr/>
            </p:nvCxnSpPr>
            <p:spPr>
              <a:xfrm>
                <a:off x="3048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/>
              <p:cNvCxnSpPr/>
              <p:nvPr/>
            </p:nvCxnSpPr>
            <p:spPr>
              <a:xfrm>
                <a:off x="3429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/>
              <p:cNvCxnSpPr/>
              <p:nvPr/>
            </p:nvCxnSpPr>
            <p:spPr>
              <a:xfrm>
                <a:off x="4572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/>
              <p:cNvCxnSpPr/>
              <p:nvPr/>
            </p:nvCxnSpPr>
            <p:spPr>
              <a:xfrm>
                <a:off x="4953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/>
              <p:cNvCxnSpPr/>
              <p:nvPr/>
            </p:nvCxnSpPr>
            <p:spPr>
              <a:xfrm>
                <a:off x="5334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/>
              <p:cNvCxnSpPr/>
              <p:nvPr/>
            </p:nvCxnSpPr>
            <p:spPr>
              <a:xfrm>
                <a:off x="5715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>
                <a:off x="6096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6477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>
                <a:off x="6858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TextBox 134"/>
              <p:cNvSpPr txBox="1"/>
              <p:nvPr/>
            </p:nvSpPr>
            <p:spPr>
              <a:xfrm>
                <a:off x="838200" y="5867400"/>
                <a:ext cx="77107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 9   14  21   17   23   33   29  71   37   25   88   41  52   32   76   98   85   47  57      </a:t>
                </a:r>
              </a:p>
            </p:txBody>
          </p:sp>
          <p:cxnSp>
            <p:nvCxnSpPr>
              <p:cNvPr id="151" name="Straight Connector 150"/>
              <p:cNvCxnSpPr/>
              <p:nvPr/>
            </p:nvCxnSpPr>
            <p:spPr>
              <a:xfrm>
                <a:off x="3810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>
                <a:off x="4191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7239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>
                <a:off x="7620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/>
              <p:cNvCxnSpPr/>
              <p:nvPr/>
            </p:nvCxnSpPr>
            <p:spPr>
              <a:xfrm>
                <a:off x="8001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>
                <a:off x="8382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7" name="TextBox 166"/>
            <p:cNvSpPr txBox="1"/>
            <p:nvPr/>
          </p:nvSpPr>
          <p:spPr>
            <a:xfrm>
              <a:off x="381000" y="5791200"/>
              <a:ext cx="4106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H</a:t>
              </a:r>
              <a:endParaRPr lang="en-US" sz="2800" dirty="0"/>
            </a:p>
          </p:txBody>
        </p:sp>
      </p:grpSp>
      <p:sp>
        <p:nvSpPr>
          <p:cNvPr id="169" name="TextBox 168"/>
          <p:cNvSpPr txBox="1"/>
          <p:nvPr/>
        </p:nvSpPr>
        <p:spPr>
          <a:xfrm>
            <a:off x="8001000" y="5879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0780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Insert(</a:t>
            </a:r>
            <a:r>
              <a:rPr lang="en-US" sz="3600" b="1" dirty="0" err="1">
                <a:solidFill>
                  <a:srgbClr val="0070C0"/>
                </a:solidFill>
              </a:rPr>
              <a:t>x</a:t>
            </a:r>
            <a:r>
              <a:rPr lang="en-US" sz="3600" b="1" dirty="0" err="1">
                <a:solidFill>
                  <a:srgbClr val="7030A0"/>
                </a:solidFill>
              </a:rPr>
              <a:t>,H</a:t>
            </a:r>
            <a:r>
              <a:rPr lang="en-US" sz="3600" b="1" dirty="0">
                <a:solidFill>
                  <a:srgbClr val="7030A0"/>
                </a:solidFill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>
              <a:buNone/>
            </a:pPr>
            <a:endParaRPr lang="en-US" sz="1800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419600" y="12954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971800" y="1524000"/>
            <a:ext cx="1447800" cy="1066800"/>
            <a:chOff x="2971800" y="2209800"/>
            <a:chExt cx="1447800" cy="1066800"/>
          </a:xfrm>
        </p:grpSpPr>
        <p:cxnSp>
          <p:nvCxnSpPr>
            <p:cNvPr id="12" name="Straight Arrow Connector 11"/>
            <p:cNvCxnSpPr/>
            <p:nvPr/>
          </p:nvCxnSpPr>
          <p:spPr>
            <a:xfrm flipH="1">
              <a:off x="3155796" y="2209800"/>
              <a:ext cx="1263804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2971800" y="29718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715107" y="1524000"/>
            <a:ext cx="1457093" cy="1016652"/>
            <a:chOff x="4715107" y="2209800"/>
            <a:chExt cx="1457093" cy="1016652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4715107" y="2209800"/>
              <a:ext cx="1304693" cy="71185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5867400" y="2921652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286000" y="2546163"/>
            <a:ext cx="730437" cy="1035237"/>
            <a:chOff x="2286000" y="3231963"/>
            <a:chExt cx="730437" cy="1035237"/>
          </a:xfrm>
        </p:grpSpPr>
        <p:sp>
          <p:nvSpPr>
            <p:cNvPr id="16" name="Oval 15"/>
            <p:cNvSpPr/>
            <p:nvPr/>
          </p:nvSpPr>
          <p:spPr>
            <a:xfrm>
              <a:off x="2286000" y="3962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/>
            <p:cNvCxnSpPr>
              <a:stCxn id="14" idx="3"/>
              <a:endCxn id="16" idx="0"/>
            </p:cNvCxnSpPr>
            <p:nvPr/>
          </p:nvCxnSpPr>
          <p:spPr>
            <a:xfrm flipH="1">
              <a:off x="2438400" y="3231963"/>
              <a:ext cx="578037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3231963" y="2546163"/>
            <a:ext cx="719285" cy="1035237"/>
            <a:chOff x="3231963" y="3231963"/>
            <a:chExt cx="719285" cy="1035237"/>
          </a:xfrm>
        </p:grpSpPr>
        <p:sp>
          <p:nvSpPr>
            <p:cNvPr id="17" name="Oval 16"/>
            <p:cNvSpPr/>
            <p:nvPr/>
          </p:nvSpPr>
          <p:spPr>
            <a:xfrm>
              <a:off x="3646448" y="3962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/>
            <p:cNvCxnSpPr>
              <a:stCxn id="14" idx="5"/>
            </p:cNvCxnSpPr>
            <p:nvPr/>
          </p:nvCxnSpPr>
          <p:spPr>
            <a:xfrm>
              <a:off x="3231963" y="3231963"/>
              <a:ext cx="566885" cy="730437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5192752" y="2514600"/>
            <a:ext cx="730437" cy="1035237"/>
            <a:chOff x="5192752" y="3200400"/>
            <a:chExt cx="730437" cy="1035237"/>
          </a:xfrm>
        </p:grpSpPr>
        <p:sp>
          <p:nvSpPr>
            <p:cNvPr id="28" name="Oval 27"/>
            <p:cNvSpPr/>
            <p:nvPr/>
          </p:nvSpPr>
          <p:spPr>
            <a:xfrm>
              <a:off x="5192752" y="3930837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/>
            <p:cNvCxnSpPr>
              <a:endCxn id="28" idx="0"/>
            </p:cNvCxnSpPr>
            <p:nvPr/>
          </p:nvCxnSpPr>
          <p:spPr>
            <a:xfrm flipH="1">
              <a:off x="5345152" y="3200400"/>
              <a:ext cx="578037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6138715" y="2514600"/>
            <a:ext cx="719285" cy="1035237"/>
            <a:chOff x="6138715" y="3200400"/>
            <a:chExt cx="719285" cy="1035237"/>
          </a:xfrm>
        </p:grpSpPr>
        <p:sp>
          <p:nvSpPr>
            <p:cNvPr id="29" name="Oval 28"/>
            <p:cNvSpPr/>
            <p:nvPr/>
          </p:nvSpPr>
          <p:spPr>
            <a:xfrm>
              <a:off x="6553200" y="3930837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>
              <a:off x="6138715" y="3200400"/>
              <a:ext cx="5668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1828800" y="3536763"/>
            <a:ext cx="501837" cy="1035237"/>
            <a:chOff x="1828800" y="4222563"/>
            <a:chExt cx="501837" cy="1035237"/>
          </a:xfrm>
        </p:grpSpPr>
        <p:sp>
          <p:nvSpPr>
            <p:cNvPr id="33" name="Oval 32"/>
            <p:cNvSpPr/>
            <p:nvPr/>
          </p:nvSpPr>
          <p:spPr>
            <a:xfrm>
              <a:off x="18288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>
              <a:stCxn id="16" idx="3"/>
            </p:cNvCxnSpPr>
            <p:nvPr/>
          </p:nvCxnSpPr>
          <p:spPr>
            <a:xfrm flipH="1">
              <a:off x="20127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2557315" y="3536763"/>
            <a:ext cx="414485" cy="1035237"/>
            <a:chOff x="2557315" y="4222563"/>
            <a:chExt cx="414485" cy="1035237"/>
          </a:xfrm>
        </p:grpSpPr>
        <p:sp>
          <p:nvSpPr>
            <p:cNvPr id="34" name="Oval 33"/>
            <p:cNvSpPr/>
            <p:nvPr/>
          </p:nvSpPr>
          <p:spPr>
            <a:xfrm>
              <a:off x="26670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/>
            <p:cNvCxnSpPr>
              <a:endCxn id="34" idx="0"/>
            </p:cNvCxnSpPr>
            <p:nvPr/>
          </p:nvCxnSpPr>
          <p:spPr>
            <a:xfrm>
              <a:off x="25573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3352800" y="3549837"/>
            <a:ext cx="381000" cy="1022163"/>
            <a:chOff x="3245037" y="4235637"/>
            <a:chExt cx="381000" cy="1022163"/>
          </a:xfrm>
        </p:grpSpPr>
        <p:sp>
          <p:nvSpPr>
            <p:cNvPr id="48" name="Oval 47"/>
            <p:cNvSpPr/>
            <p:nvPr/>
          </p:nvSpPr>
          <p:spPr>
            <a:xfrm>
              <a:off x="3245037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 flipH="1">
              <a:off x="3384365" y="4235637"/>
              <a:ext cx="241672" cy="717363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3928915" y="3536763"/>
            <a:ext cx="414485" cy="1035237"/>
            <a:chOff x="3928915" y="4222563"/>
            <a:chExt cx="414485" cy="1035237"/>
          </a:xfrm>
        </p:grpSpPr>
        <p:sp>
          <p:nvSpPr>
            <p:cNvPr id="49" name="Oval 48"/>
            <p:cNvSpPr/>
            <p:nvPr/>
          </p:nvSpPr>
          <p:spPr>
            <a:xfrm>
              <a:off x="40386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Arrow Connector 50"/>
            <p:cNvCxnSpPr>
              <a:endCxn id="49" idx="0"/>
            </p:cNvCxnSpPr>
            <p:nvPr/>
          </p:nvCxnSpPr>
          <p:spPr>
            <a:xfrm>
              <a:off x="39289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/>
          <p:cNvSpPr txBox="1"/>
          <p:nvPr/>
        </p:nvSpPr>
        <p:spPr>
          <a:xfrm>
            <a:off x="4381896" y="1295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95600" y="2286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09800" y="3276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52600" y="4267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91200" y="2209800"/>
            <a:ext cx="471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21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81600" y="3212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19896" y="3212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15496" y="3212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90800" y="4267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5096" y="4267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00896" y="4267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88</a:t>
            </a:r>
          </a:p>
        </p:txBody>
      </p:sp>
      <p:grpSp>
        <p:nvGrpSpPr>
          <p:cNvPr id="74" name="Group 73"/>
          <p:cNvGrpSpPr/>
          <p:nvPr/>
        </p:nvGrpSpPr>
        <p:grpSpPr>
          <a:xfrm>
            <a:off x="4755963" y="3536763"/>
            <a:ext cx="501837" cy="1035237"/>
            <a:chOff x="3200400" y="4222563"/>
            <a:chExt cx="501837" cy="1035237"/>
          </a:xfrm>
        </p:grpSpPr>
        <p:sp>
          <p:nvSpPr>
            <p:cNvPr id="75" name="Oval 74"/>
            <p:cNvSpPr/>
            <p:nvPr/>
          </p:nvSpPr>
          <p:spPr>
            <a:xfrm>
              <a:off x="32004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Arrow Connector 75"/>
            <p:cNvCxnSpPr/>
            <p:nvPr/>
          </p:nvCxnSpPr>
          <p:spPr>
            <a:xfrm flipH="1">
              <a:off x="33843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/>
          <p:cNvGrpSpPr/>
          <p:nvPr/>
        </p:nvGrpSpPr>
        <p:grpSpPr>
          <a:xfrm>
            <a:off x="6127563" y="3536763"/>
            <a:ext cx="501837" cy="1035237"/>
            <a:chOff x="3200400" y="4222563"/>
            <a:chExt cx="501837" cy="1035237"/>
          </a:xfrm>
        </p:grpSpPr>
        <p:sp>
          <p:nvSpPr>
            <p:cNvPr id="78" name="Oval 77"/>
            <p:cNvSpPr/>
            <p:nvPr/>
          </p:nvSpPr>
          <p:spPr>
            <a:xfrm>
              <a:off x="32004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9" name="Straight Arrow Connector 78"/>
            <p:cNvCxnSpPr/>
            <p:nvPr/>
          </p:nvCxnSpPr>
          <p:spPr>
            <a:xfrm flipH="1">
              <a:off x="33843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/>
          <p:cNvGrpSpPr/>
          <p:nvPr/>
        </p:nvGrpSpPr>
        <p:grpSpPr>
          <a:xfrm>
            <a:off x="5452915" y="3505200"/>
            <a:ext cx="414485" cy="1035237"/>
            <a:chOff x="3928915" y="4222563"/>
            <a:chExt cx="414485" cy="1035237"/>
          </a:xfrm>
        </p:grpSpPr>
        <p:sp>
          <p:nvSpPr>
            <p:cNvPr id="81" name="Oval 80"/>
            <p:cNvSpPr/>
            <p:nvPr/>
          </p:nvSpPr>
          <p:spPr>
            <a:xfrm>
              <a:off x="40386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Arrow Connector 81"/>
            <p:cNvCxnSpPr>
              <a:endCxn id="81" idx="0"/>
            </p:cNvCxnSpPr>
            <p:nvPr/>
          </p:nvCxnSpPr>
          <p:spPr>
            <a:xfrm>
              <a:off x="39289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/>
          <p:cNvGrpSpPr/>
          <p:nvPr/>
        </p:nvGrpSpPr>
        <p:grpSpPr>
          <a:xfrm>
            <a:off x="6824515" y="3505200"/>
            <a:ext cx="414485" cy="1035237"/>
            <a:chOff x="3928915" y="4222563"/>
            <a:chExt cx="414485" cy="1035237"/>
          </a:xfrm>
        </p:grpSpPr>
        <p:sp>
          <p:nvSpPr>
            <p:cNvPr id="84" name="Oval 83"/>
            <p:cNvSpPr/>
            <p:nvPr/>
          </p:nvSpPr>
          <p:spPr>
            <a:xfrm>
              <a:off x="40386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5" name="Straight Arrow Connector 84"/>
            <p:cNvCxnSpPr>
              <a:endCxn id="84" idx="0"/>
            </p:cNvCxnSpPr>
            <p:nvPr/>
          </p:nvCxnSpPr>
          <p:spPr>
            <a:xfrm>
              <a:off x="39289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1600200" y="4540437"/>
            <a:ext cx="685800" cy="1098363"/>
            <a:chOff x="1600200" y="4540437"/>
            <a:chExt cx="685800" cy="1098363"/>
          </a:xfrm>
        </p:grpSpPr>
        <p:grpSp>
          <p:nvGrpSpPr>
            <p:cNvPr id="86" name="Group 85"/>
            <p:cNvGrpSpPr/>
            <p:nvPr/>
          </p:nvGrpSpPr>
          <p:grpSpPr>
            <a:xfrm>
              <a:off x="1981200" y="4572000"/>
              <a:ext cx="304800" cy="1066800"/>
              <a:chOff x="3852715" y="4222563"/>
              <a:chExt cx="304800" cy="1066800"/>
            </a:xfrm>
          </p:grpSpPr>
          <p:sp>
            <p:nvSpPr>
              <p:cNvPr id="87" name="Oval 86"/>
              <p:cNvSpPr/>
              <p:nvPr/>
            </p:nvSpPr>
            <p:spPr>
              <a:xfrm>
                <a:off x="3852715" y="4984563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8" name="Straight Arrow Connector 87"/>
              <p:cNvCxnSpPr/>
              <p:nvPr/>
            </p:nvCxnSpPr>
            <p:spPr>
              <a:xfrm>
                <a:off x="3884279" y="4222563"/>
                <a:ext cx="120836" cy="7620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Group 88"/>
            <p:cNvGrpSpPr/>
            <p:nvPr/>
          </p:nvGrpSpPr>
          <p:grpSpPr>
            <a:xfrm>
              <a:off x="1600200" y="4540437"/>
              <a:ext cx="304800" cy="1098363"/>
              <a:chOff x="3429000" y="4235637"/>
              <a:chExt cx="304800" cy="1098363"/>
            </a:xfrm>
          </p:grpSpPr>
          <p:sp>
            <p:nvSpPr>
              <p:cNvPr id="90" name="Oval 89"/>
              <p:cNvSpPr/>
              <p:nvPr/>
            </p:nvSpPr>
            <p:spPr>
              <a:xfrm>
                <a:off x="3429000" y="50292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/>
              <p:cNvCxnSpPr/>
              <p:nvPr/>
            </p:nvCxnSpPr>
            <p:spPr>
              <a:xfrm flipH="1">
                <a:off x="3600647" y="4235637"/>
                <a:ext cx="133153" cy="80593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9" name="Group 98"/>
          <p:cNvGrpSpPr/>
          <p:nvPr/>
        </p:nvGrpSpPr>
        <p:grpSpPr>
          <a:xfrm>
            <a:off x="2438400" y="4540437"/>
            <a:ext cx="685800" cy="1098363"/>
            <a:chOff x="1600200" y="4540437"/>
            <a:chExt cx="685800" cy="1098363"/>
          </a:xfrm>
        </p:grpSpPr>
        <p:grpSp>
          <p:nvGrpSpPr>
            <p:cNvPr id="100" name="Group 99"/>
            <p:cNvGrpSpPr/>
            <p:nvPr/>
          </p:nvGrpSpPr>
          <p:grpSpPr>
            <a:xfrm>
              <a:off x="1981200" y="4572000"/>
              <a:ext cx="304800" cy="1066800"/>
              <a:chOff x="3852715" y="4222563"/>
              <a:chExt cx="304800" cy="1066800"/>
            </a:xfrm>
          </p:grpSpPr>
          <p:sp>
            <p:nvSpPr>
              <p:cNvPr id="104" name="Oval 103"/>
              <p:cNvSpPr/>
              <p:nvPr/>
            </p:nvSpPr>
            <p:spPr>
              <a:xfrm>
                <a:off x="3852715" y="4984563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Straight Arrow Connector 104"/>
              <p:cNvCxnSpPr/>
              <p:nvPr/>
            </p:nvCxnSpPr>
            <p:spPr>
              <a:xfrm>
                <a:off x="3884279" y="4222563"/>
                <a:ext cx="120836" cy="7620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Group 100"/>
            <p:cNvGrpSpPr/>
            <p:nvPr/>
          </p:nvGrpSpPr>
          <p:grpSpPr>
            <a:xfrm>
              <a:off x="1600200" y="4540437"/>
              <a:ext cx="304800" cy="1098363"/>
              <a:chOff x="3429000" y="4235637"/>
              <a:chExt cx="304800" cy="1098363"/>
            </a:xfrm>
          </p:grpSpPr>
          <p:sp>
            <p:nvSpPr>
              <p:cNvPr id="102" name="Oval 101"/>
              <p:cNvSpPr/>
              <p:nvPr/>
            </p:nvSpPr>
            <p:spPr>
              <a:xfrm>
                <a:off x="3429000" y="50292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3" name="Straight Arrow Connector 102"/>
              <p:cNvCxnSpPr/>
              <p:nvPr/>
            </p:nvCxnSpPr>
            <p:spPr>
              <a:xfrm flipH="1">
                <a:off x="3600647" y="4235637"/>
                <a:ext cx="133153" cy="80593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3" name="TextBox 112"/>
          <p:cNvSpPr txBox="1"/>
          <p:nvPr/>
        </p:nvSpPr>
        <p:spPr>
          <a:xfrm>
            <a:off x="4724400" y="4202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524896" y="4191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058296" y="4267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896496" y="4191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562496" y="5334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98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943496" y="5334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85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400696" y="5334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47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781696" y="5334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</a:t>
            </a:r>
          </a:p>
        </p:txBody>
      </p:sp>
      <p:grpSp>
        <p:nvGrpSpPr>
          <p:cNvPr id="132" name="Group 131"/>
          <p:cNvGrpSpPr/>
          <p:nvPr/>
        </p:nvGrpSpPr>
        <p:grpSpPr>
          <a:xfrm>
            <a:off x="3162696" y="4572703"/>
            <a:ext cx="418704" cy="1130629"/>
            <a:chOff x="3162696" y="4572703"/>
            <a:chExt cx="418704" cy="1130629"/>
          </a:xfrm>
        </p:grpSpPr>
        <p:cxnSp>
          <p:nvCxnSpPr>
            <p:cNvPr id="115" name="Straight Arrow Connector 114"/>
            <p:cNvCxnSpPr/>
            <p:nvPr/>
          </p:nvCxnSpPr>
          <p:spPr>
            <a:xfrm flipH="1">
              <a:off x="3314304" y="4572703"/>
              <a:ext cx="210144" cy="76129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Oval 115"/>
            <p:cNvSpPr/>
            <p:nvPr/>
          </p:nvSpPr>
          <p:spPr>
            <a:xfrm>
              <a:off x="3200400" y="5334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3162696" y="53340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11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762000" y="5867400"/>
            <a:ext cx="7924800" cy="381000"/>
            <a:chOff x="762000" y="5867400"/>
            <a:chExt cx="7924800" cy="381000"/>
          </a:xfrm>
        </p:grpSpPr>
        <p:sp>
          <p:nvSpPr>
            <p:cNvPr id="136" name="Rectangle 135"/>
            <p:cNvSpPr/>
            <p:nvPr/>
          </p:nvSpPr>
          <p:spPr>
            <a:xfrm>
              <a:off x="762000" y="5867400"/>
              <a:ext cx="7924800" cy="3810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7" name="Straight Connector 136"/>
            <p:cNvCxnSpPr/>
            <p:nvPr/>
          </p:nvCxnSpPr>
          <p:spPr>
            <a:xfrm>
              <a:off x="1143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>
              <a:off x="1524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>
              <a:off x="1905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>
              <a:off x="2286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>
              <a:off x="2667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3048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/>
          </p:nvCxnSpPr>
          <p:spPr>
            <a:xfrm>
              <a:off x="3429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/>
          </p:nvCxnSpPr>
          <p:spPr>
            <a:xfrm>
              <a:off x="4572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>
              <a:off x="4953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>
              <a:off x="5334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>
              <a:off x="5715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/>
          </p:nvCxnSpPr>
          <p:spPr>
            <a:xfrm>
              <a:off x="6096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/>
          </p:nvCxnSpPr>
          <p:spPr>
            <a:xfrm>
              <a:off x="6477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/>
          </p:nvCxnSpPr>
          <p:spPr>
            <a:xfrm>
              <a:off x="6858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/>
            <p:cNvSpPr txBox="1"/>
            <p:nvPr/>
          </p:nvSpPr>
          <p:spPr>
            <a:xfrm>
              <a:off x="838200" y="5867400"/>
              <a:ext cx="77107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9   14  21   17   23   33   29  71   37   25   88   41  52   32   76   98   85   47  57      </a:t>
              </a:r>
            </a:p>
          </p:txBody>
        </p:sp>
        <p:cxnSp>
          <p:nvCxnSpPr>
            <p:cNvPr id="151" name="Straight Connector 150"/>
            <p:cNvCxnSpPr/>
            <p:nvPr/>
          </p:nvCxnSpPr>
          <p:spPr>
            <a:xfrm>
              <a:off x="3810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/>
          </p:nvCxnSpPr>
          <p:spPr>
            <a:xfrm>
              <a:off x="4191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/>
          </p:nvCxnSpPr>
          <p:spPr>
            <a:xfrm>
              <a:off x="7239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>
              <a:off x="7620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/>
          </p:nvCxnSpPr>
          <p:spPr>
            <a:xfrm>
              <a:off x="8001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/>
          </p:nvCxnSpPr>
          <p:spPr>
            <a:xfrm>
              <a:off x="8382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9" name="Straight Arrow Connector 108"/>
          <p:cNvCxnSpPr/>
          <p:nvPr/>
        </p:nvCxnSpPr>
        <p:spPr>
          <a:xfrm flipH="1">
            <a:off x="3448248" y="4572703"/>
            <a:ext cx="218976" cy="837497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Group 109"/>
          <p:cNvGrpSpPr/>
          <p:nvPr/>
        </p:nvGrpSpPr>
        <p:grpSpPr>
          <a:xfrm>
            <a:off x="4343400" y="6264692"/>
            <a:ext cx="3810000" cy="364708"/>
            <a:chOff x="-709962" y="6362701"/>
            <a:chExt cx="3810000" cy="364708"/>
          </a:xfrm>
        </p:grpSpPr>
        <p:sp>
          <p:nvSpPr>
            <p:cNvPr id="111" name="Freeform 110"/>
            <p:cNvSpPr/>
            <p:nvPr/>
          </p:nvSpPr>
          <p:spPr>
            <a:xfrm>
              <a:off x="-709962" y="6553200"/>
              <a:ext cx="3810000" cy="174209"/>
            </a:xfrm>
            <a:custGeom>
              <a:avLst/>
              <a:gdLst>
                <a:gd name="connsiteX0" fmla="*/ 0 w 5096108"/>
                <a:gd name="connsiteY0" fmla="*/ 0 h 293155"/>
                <a:gd name="connsiteX1" fmla="*/ 223025 w 5096108"/>
                <a:gd name="connsiteY1" fmla="*/ 223024 h 293155"/>
                <a:gd name="connsiteX2" fmla="*/ 825190 w 5096108"/>
                <a:gd name="connsiteY2" fmla="*/ 289931 h 293155"/>
                <a:gd name="connsiteX3" fmla="*/ 3880625 w 5096108"/>
                <a:gd name="connsiteY3" fmla="*/ 278780 h 293155"/>
                <a:gd name="connsiteX4" fmla="*/ 4683512 w 5096108"/>
                <a:gd name="connsiteY4" fmla="*/ 245326 h 293155"/>
                <a:gd name="connsiteX5" fmla="*/ 4995747 w 5096108"/>
                <a:gd name="connsiteY5" fmla="*/ 167268 h 293155"/>
                <a:gd name="connsiteX6" fmla="*/ 5096108 w 5096108"/>
                <a:gd name="connsiteY6" fmla="*/ 0 h 293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96108" h="293155">
                  <a:moveTo>
                    <a:pt x="0" y="0"/>
                  </a:moveTo>
                  <a:cubicBezTo>
                    <a:pt x="42746" y="87351"/>
                    <a:pt x="85493" y="174702"/>
                    <a:pt x="223025" y="223024"/>
                  </a:cubicBezTo>
                  <a:cubicBezTo>
                    <a:pt x="360557" y="271346"/>
                    <a:pt x="215590" y="280638"/>
                    <a:pt x="825190" y="289931"/>
                  </a:cubicBezTo>
                  <a:cubicBezTo>
                    <a:pt x="1434790" y="299224"/>
                    <a:pt x="3237571" y="286214"/>
                    <a:pt x="3880625" y="278780"/>
                  </a:cubicBezTo>
                  <a:cubicBezTo>
                    <a:pt x="4523679" y="271346"/>
                    <a:pt x="4497658" y="263911"/>
                    <a:pt x="4683512" y="245326"/>
                  </a:cubicBezTo>
                  <a:cubicBezTo>
                    <a:pt x="4869366" y="226741"/>
                    <a:pt x="4926981" y="208156"/>
                    <a:pt x="4995747" y="167268"/>
                  </a:cubicBezTo>
                  <a:cubicBezTo>
                    <a:pt x="5064513" y="126380"/>
                    <a:pt x="5080310" y="63190"/>
                    <a:pt x="5096108" y="0"/>
                  </a:cubicBezTo>
                </a:path>
              </a:pathLst>
            </a:custGeom>
            <a:ln w="57150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2" name="Straight Arrow Connector 111"/>
            <p:cNvCxnSpPr>
              <a:stCxn id="111" idx="5"/>
            </p:cNvCxnSpPr>
            <p:nvPr/>
          </p:nvCxnSpPr>
          <p:spPr>
            <a:xfrm flipV="1">
              <a:off x="3025005" y="6362702"/>
              <a:ext cx="75033" cy="289898"/>
            </a:xfrm>
            <a:prstGeom prst="straightConnector1">
              <a:avLst/>
            </a:prstGeom>
            <a:ln w="57150">
              <a:solidFill>
                <a:srgbClr val="C000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/>
            <p:cNvCxnSpPr/>
            <p:nvPr/>
          </p:nvCxnSpPr>
          <p:spPr>
            <a:xfrm flipV="1">
              <a:off x="-709962" y="6362701"/>
              <a:ext cx="0" cy="218130"/>
            </a:xfrm>
            <a:prstGeom prst="straightConnector1">
              <a:avLst/>
            </a:prstGeom>
            <a:ln w="57150">
              <a:solidFill>
                <a:srgbClr val="C000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TextBox 116"/>
          <p:cNvSpPr txBox="1"/>
          <p:nvPr/>
        </p:nvSpPr>
        <p:spPr>
          <a:xfrm>
            <a:off x="381000" y="5791200"/>
            <a:ext cx="410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H</a:t>
            </a:r>
            <a:endParaRPr lang="en-US" sz="2800" dirty="0"/>
          </a:p>
        </p:txBody>
      </p:sp>
      <p:sp>
        <p:nvSpPr>
          <p:cNvPr id="24" name="TextBox 23"/>
          <p:cNvSpPr txBox="1"/>
          <p:nvPr/>
        </p:nvSpPr>
        <p:spPr>
          <a:xfrm>
            <a:off x="8001000" y="5879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58919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Insert(</a:t>
            </a:r>
            <a:r>
              <a:rPr lang="en-US" sz="3600" b="1" dirty="0" err="1">
                <a:solidFill>
                  <a:srgbClr val="0070C0"/>
                </a:solidFill>
              </a:rPr>
              <a:t>x</a:t>
            </a:r>
            <a:r>
              <a:rPr lang="en-US" sz="3600" b="1" dirty="0" err="1">
                <a:solidFill>
                  <a:srgbClr val="7030A0"/>
                </a:solidFill>
              </a:rPr>
              <a:t>,H</a:t>
            </a:r>
            <a:r>
              <a:rPr lang="en-US" sz="3600" b="1" dirty="0">
                <a:solidFill>
                  <a:srgbClr val="7030A0"/>
                </a:solidFill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>
              <a:buNone/>
            </a:pPr>
            <a:endParaRPr lang="en-US" sz="1800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419600" y="12954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971800" y="1524000"/>
            <a:ext cx="1447800" cy="1066800"/>
            <a:chOff x="2971800" y="2209800"/>
            <a:chExt cx="1447800" cy="1066800"/>
          </a:xfrm>
        </p:grpSpPr>
        <p:cxnSp>
          <p:nvCxnSpPr>
            <p:cNvPr id="12" name="Straight Arrow Connector 11"/>
            <p:cNvCxnSpPr/>
            <p:nvPr/>
          </p:nvCxnSpPr>
          <p:spPr>
            <a:xfrm flipH="1">
              <a:off x="3155796" y="2209800"/>
              <a:ext cx="1263804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2971800" y="29718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715107" y="1524000"/>
            <a:ext cx="1457093" cy="1016652"/>
            <a:chOff x="4715107" y="2209800"/>
            <a:chExt cx="1457093" cy="1016652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4715107" y="2209800"/>
              <a:ext cx="1304693" cy="71185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5867400" y="2921652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286000" y="2546163"/>
            <a:ext cx="730437" cy="1035237"/>
            <a:chOff x="2286000" y="3231963"/>
            <a:chExt cx="730437" cy="1035237"/>
          </a:xfrm>
        </p:grpSpPr>
        <p:sp>
          <p:nvSpPr>
            <p:cNvPr id="16" name="Oval 15"/>
            <p:cNvSpPr/>
            <p:nvPr/>
          </p:nvSpPr>
          <p:spPr>
            <a:xfrm>
              <a:off x="2286000" y="3962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/>
            <p:cNvCxnSpPr>
              <a:stCxn id="14" idx="3"/>
              <a:endCxn id="16" idx="0"/>
            </p:cNvCxnSpPr>
            <p:nvPr/>
          </p:nvCxnSpPr>
          <p:spPr>
            <a:xfrm flipH="1">
              <a:off x="2438400" y="3231963"/>
              <a:ext cx="578037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3231963" y="2546163"/>
            <a:ext cx="719285" cy="1035237"/>
            <a:chOff x="3231963" y="3231963"/>
            <a:chExt cx="719285" cy="1035237"/>
          </a:xfrm>
        </p:grpSpPr>
        <p:sp>
          <p:nvSpPr>
            <p:cNvPr id="17" name="Oval 16"/>
            <p:cNvSpPr/>
            <p:nvPr/>
          </p:nvSpPr>
          <p:spPr>
            <a:xfrm>
              <a:off x="3646448" y="3962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/>
            <p:cNvCxnSpPr>
              <a:stCxn id="14" idx="5"/>
            </p:cNvCxnSpPr>
            <p:nvPr/>
          </p:nvCxnSpPr>
          <p:spPr>
            <a:xfrm>
              <a:off x="3231963" y="3231963"/>
              <a:ext cx="566885" cy="730437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5192752" y="2514600"/>
            <a:ext cx="730437" cy="1035237"/>
            <a:chOff x="5192752" y="3200400"/>
            <a:chExt cx="730437" cy="1035237"/>
          </a:xfrm>
        </p:grpSpPr>
        <p:sp>
          <p:nvSpPr>
            <p:cNvPr id="28" name="Oval 27"/>
            <p:cNvSpPr/>
            <p:nvPr/>
          </p:nvSpPr>
          <p:spPr>
            <a:xfrm>
              <a:off x="5192752" y="3930837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/>
            <p:cNvCxnSpPr>
              <a:endCxn id="28" idx="0"/>
            </p:cNvCxnSpPr>
            <p:nvPr/>
          </p:nvCxnSpPr>
          <p:spPr>
            <a:xfrm flipH="1">
              <a:off x="5345152" y="3200400"/>
              <a:ext cx="578037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6138715" y="2514600"/>
            <a:ext cx="719285" cy="1035237"/>
            <a:chOff x="6138715" y="3200400"/>
            <a:chExt cx="719285" cy="1035237"/>
          </a:xfrm>
        </p:grpSpPr>
        <p:sp>
          <p:nvSpPr>
            <p:cNvPr id="29" name="Oval 28"/>
            <p:cNvSpPr/>
            <p:nvPr/>
          </p:nvSpPr>
          <p:spPr>
            <a:xfrm>
              <a:off x="6553200" y="3930837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>
              <a:off x="6138715" y="3200400"/>
              <a:ext cx="5668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1828800" y="3536763"/>
            <a:ext cx="501837" cy="1035237"/>
            <a:chOff x="1828800" y="4222563"/>
            <a:chExt cx="501837" cy="1035237"/>
          </a:xfrm>
        </p:grpSpPr>
        <p:sp>
          <p:nvSpPr>
            <p:cNvPr id="33" name="Oval 32"/>
            <p:cNvSpPr/>
            <p:nvPr/>
          </p:nvSpPr>
          <p:spPr>
            <a:xfrm>
              <a:off x="18288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>
              <a:stCxn id="16" idx="3"/>
            </p:cNvCxnSpPr>
            <p:nvPr/>
          </p:nvCxnSpPr>
          <p:spPr>
            <a:xfrm flipH="1">
              <a:off x="20127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2557315" y="3536763"/>
            <a:ext cx="414485" cy="1035237"/>
            <a:chOff x="2557315" y="4222563"/>
            <a:chExt cx="414485" cy="1035237"/>
          </a:xfrm>
        </p:grpSpPr>
        <p:sp>
          <p:nvSpPr>
            <p:cNvPr id="34" name="Oval 33"/>
            <p:cNvSpPr/>
            <p:nvPr/>
          </p:nvSpPr>
          <p:spPr>
            <a:xfrm>
              <a:off x="26670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/>
            <p:cNvCxnSpPr>
              <a:endCxn id="34" idx="0"/>
            </p:cNvCxnSpPr>
            <p:nvPr/>
          </p:nvCxnSpPr>
          <p:spPr>
            <a:xfrm>
              <a:off x="25573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3352800" y="3549837"/>
            <a:ext cx="381000" cy="1022163"/>
            <a:chOff x="3245037" y="4235637"/>
            <a:chExt cx="381000" cy="1022163"/>
          </a:xfrm>
        </p:grpSpPr>
        <p:sp>
          <p:nvSpPr>
            <p:cNvPr id="48" name="Oval 47"/>
            <p:cNvSpPr/>
            <p:nvPr/>
          </p:nvSpPr>
          <p:spPr>
            <a:xfrm>
              <a:off x="3245037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 flipH="1">
              <a:off x="3384365" y="4235637"/>
              <a:ext cx="241672" cy="717363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3928915" y="3536763"/>
            <a:ext cx="414485" cy="1035237"/>
            <a:chOff x="3928915" y="4222563"/>
            <a:chExt cx="414485" cy="1035237"/>
          </a:xfrm>
        </p:grpSpPr>
        <p:sp>
          <p:nvSpPr>
            <p:cNvPr id="49" name="Oval 48"/>
            <p:cNvSpPr/>
            <p:nvPr/>
          </p:nvSpPr>
          <p:spPr>
            <a:xfrm>
              <a:off x="40386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Arrow Connector 50"/>
            <p:cNvCxnSpPr>
              <a:endCxn id="49" idx="0"/>
            </p:cNvCxnSpPr>
            <p:nvPr/>
          </p:nvCxnSpPr>
          <p:spPr>
            <a:xfrm>
              <a:off x="39289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/>
          <p:cNvSpPr txBox="1"/>
          <p:nvPr/>
        </p:nvSpPr>
        <p:spPr>
          <a:xfrm>
            <a:off x="4381896" y="1295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95600" y="2286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09800" y="3276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52600" y="4267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91200" y="2209800"/>
            <a:ext cx="471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21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81600" y="3212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19896" y="3212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15496" y="3212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90800" y="4267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5096" y="4267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00896" y="4267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88</a:t>
            </a:r>
          </a:p>
        </p:txBody>
      </p:sp>
      <p:grpSp>
        <p:nvGrpSpPr>
          <p:cNvPr id="74" name="Group 73"/>
          <p:cNvGrpSpPr/>
          <p:nvPr/>
        </p:nvGrpSpPr>
        <p:grpSpPr>
          <a:xfrm>
            <a:off x="4755963" y="3536763"/>
            <a:ext cx="501837" cy="1035237"/>
            <a:chOff x="3200400" y="4222563"/>
            <a:chExt cx="501837" cy="1035237"/>
          </a:xfrm>
        </p:grpSpPr>
        <p:sp>
          <p:nvSpPr>
            <p:cNvPr id="75" name="Oval 74"/>
            <p:cNvSpPr/>
            <p:nvPr/>
          </p:nvSpPr>
          <p:spPr>
            <a:xfrm>
              <a:off x="32004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Arrow Connector 75"/>
            <p:cNvCxnSpPr/>
            <p:nvPr/>
          </p:nvCxnSpPr>
          <p:spPr>
            <a:xfrm flipH="1">
              <a:off x="33843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/>
          <p:cNvGrpSpPr/>
          <p:nvPr/>
        </p:nvGrpSpPr>
        <p:grpSpPr>
          <a:xfrm>
            <a:off x="6127563" y="3536763"/>
            <a:ext cx="501837" cy="1035237"/>
            <a:chOff x="3200400" y="4222563"/>
            <a:chExt cx="501837" cy="1035237"/>
          </a:xfrm>
        </p:grpSpPr>
        <p:sp>
          <p:nvSpPr>
            <p:cNvPr id="78" name="Oval 77"/>
            <p:cNvSpPr/>
            <p:nvPr/>
          </p:nvSpPr>
          <p:spPr>
            <a:xfrm>
              <a:off x="32004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9" name="Straight Arrow Connector 78"/>
            <p:cNvCxnSpPr/>
            <p:nvPr/>
          </p:nvCxnSpPr>
          <p:spPr>
            <a:xfrm flipH="1">
              <a:off x="33843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/>
          <p:cNvGrpSpPr/>
          <p:nvPr/>
        </p:nvGrpSpPr>
        <p:grpSpPr>
          <a:xfrm>
            <a:off x="5452915" y="3505200"/>
            <a:ext cx="414485" cy="1035237"/>
            <a:chOff x="3928915" y="4222563"/>
            <a:chExt cx="414485" cy="1035237"/>
          </a:xfrm>
        </p:grpSpPr>
        <p:sp>
          <p:nvSpPr>
            <p:cNvPr id="81" name="Oval 80"/>
            <p:cNvSpPr/>
            <p:nvPr/>
          </p:nvSpPr>
          <p:spPr>
            <a:xfrm>
              <a:off x="40386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Arrow Connector 81"/>
            <p:cNvCxnSpPr>
              <a:endCxn id="81" idx="0"/>
            </p:cNvCxnSpPr>
            <p:nvPr/>
          </p:nvCxnSpPr>
          <p:spPr>
            <a:xfrm>
              <a:off x="39289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/>
          <p:cNvGrpSpPr/>
          <p:nvPr/>
        </p:nvGrpSpPr>
        <p:grpSpPr>
          <a:xfrm>
            <a:off x="6824515" y="3505200"/>
            <a:ext cx="414485" cy="1035237"/>
            <a:chOff x="3928915" y="4222563"/>
            <a:chExt cx="414485" cy="1035237"/>
          </a:xfrm>
        </p:grpSpPr>
        <p:sp>
          <p:nvSpPr>
            <p:cNvPr id="84" name="Oval 83"/>
            <p:cNvSpPr/>
            <p:nvPr/>
          </p:nvSpPr>
          <p:spPr>
            <a:xfrm>
              <a:off x="40386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5" name="Straight Arrow Connector 84"/>
            <p:cNvCxnSpPr>
              <a:endCxn id="84" idx="0"/>
            </p:cNvCxnSpPr>
            <p:nvPr/>
          </p:nvCxnSpPr>
          <p:spPr>
            <a:xfrm>
              <a:off x="39289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1600200" y="4540437"/>
            <a:ext cx="685800" cy="1098363"/>
            <a:chOff x="1600200" y="4540437"/>
            <a:chExt cx="685800" cy="1098363"/>
          </a:xfrm>
        </p:grpSpPr>
        <p:grpSp>
          <p:nvGrpSpPr>
            <p:cNvPr id="86" name="Group 85"/>
            <p:cNvGrpSpPr/>
            <p:nvPr/>
          </p:nvGrpSpPr>
          <p:grpSpPr>
            <a:xfrm>
              <a:off x="1981200" y="4572000"/>
              <a:ext cx="304800" cy="1066800"/>
              <a:chOff x="3852715" y="4222563"/>
              <a:chExt cx="304800" cy="1066800"/>
            </a:xfrm>
          </p:grpSpPr>
          <p:sp>
            <p:nvSpPr>
              <p:cNvPr id="87" name="Oval 86"/>
              <p:cNvSpPr/>
              <p:nvPr/>
            </p:nvSpPr>
            <p:spPr>
              <a:xfrm>
                <a:off x="3852715" y="4984563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8" name="Straight Arrow Connector 87"/>
              <p:cNvCxnSpPr/>
              <p:nvPr/>
            </p:nvCxnSpPr>
            <p:spPr>
              <a:xfrm>
                <a:off x="3884279" y="4222563"/>
                <a:ext cx="120836" cy="7620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Group 88"/>
            <p:cNvGrpSpPr/>
            <p:nvPr/>
          </p:nvGrpSpPr>
          <p:grpSpPr>
            <a:xfrm>
              <a:off x="1600200" y="4540437"/>
              <a:ext cx="304800" cy="1098363"/>
              <a:chOff x="3429000" y="4235637"/>
              <a:chExt cx="304800" cy="1098363"/>
            </a:xfrm>
          </p:grpSpPr>
          <p:sp>
            <p:nvSpPr>
              <p:cNvPr id="90" name="Oval 89"/>
              <p:cNvSpPr/>
              <p:nvPr/>
            </p:nvSpPr>
            <p:spPr>
              <a:xfrm>
                <a:off x="3429000" y="50292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/>
              <p:cNvCxnSpPr/>
              <p:nvPr/>
            </p:nvCxnSpPr>
            <p:spPr>
              <a:xfrm flipH="1">
                <a:off x="3600647" y="4235637"/>
                <a:ext cx="133153" cy="80593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9" name="Group 98"/>
          <p:cNvGrpSpPr/>
          <p:nvPr/>
        </p:nvGrpSpPr>
        <p:grpSpPr>
          <a:xfrm>
            <a:off x="2438400" y="4540437"/>
            <a:ext cx="685800" cy="1098363"/>
            <a:chOff x="1600200" y="4540437"/>
            <a:chExt cx="685800" cy="1098363"/>
          </a:xfrm>
        </p:grpSpPr>
        <p:grpSp>
          <p:nvGrpSpPr>
            <p:cNvPr id="100" name="Group 99"/>
            <p:cNvGrpSpPr/>
            <p:nvPr/>
          </p:nvGrpSpPr>
          <p:grpSpPr>
            <a:xfrm>
              <a:off x="1981200" y="4572000"/>
              <a:ext cx="304800" cy="1066800"/>
              <a:chOff x="3852715" y="4222563"/>
              <a:chExt cx="304800" cy="1066800"/>
            </a:xfrm>
          </p:grpSpPr>
          <p:sp>
            <p:nvSpPr>
              <p:cNvPr id="104" name="Oval 103"/>
              <p:cNvSpPr/>
              <p:nvPr/>
            </p:nvSpPr>
            <p:spPr>
              <a:xfrm>
                <a:off x="3852715" y="4984563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Straight Arrow Connector 104"/>
              <p:cNvCxnSpPr/>
              <p:nvPr/>
            </p:nvCxnSpPr>
            <p:spPr>
              <a:xfrm>
                <a:off x="3884279" y="4222563"/>
                <a:ext cx="120836" cy="7620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Group 100"/>
            <p:cNvGrpSpPr/>
            <p:nvPr/>
          </p:nvGrpSpPr>
          <p:grpSpPr>
            <a:xfrm>
              <a:off x="1600200" y="4540437"/>
              <a:ext cx="304800" cy="1098363"/>
              <a:chOff x="3429000" y="4235637"/>
              <a:chExt cx="304800" cy="1098363"/>
            </a:xfrm>
          </p:grpSpPr>
          <p:sp>
            <p:nvSpPr>
              <p:cNvPr id="102" name="Oval 101"/>
              <p:cNvSpPr/>
              <p:nvPr/>
            </p:nvSpPr>
            <p:spPr>
              <a:xfrm>
                <a:off x="3429000" y="50292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3" name="Straight Arrow Connector 102"/>
              <p:cNvCxnSpPr/>
              <p:nvPr/>
            </p:nvCxnSpPr>
            <p:spPr>
              <a:xfrm flipH="1">
                <a:off x="3600647" y="4235637"/>
                <a:ext cx="133153" cy="80593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3" name="TextBox 112"/>
          <p:cNvSpPr txBox="1"/>
          <p:nvPr/>
        </p:nvSpPr>
        <p:spPr>
          <a:xfrm>
            <a:off x="4724400" y="4202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524896" y="4191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058296" y="4267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896496" y="4191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562496" y="5334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98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943496" y="5334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85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400696" y="5334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47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781696" y="5334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</a:t>
            </a:r>
          </a:p>
        </p:txBody>
      </p:sp>
      <p:grpSp>
        <p:nvGrpSpPr>
          <p:cNvPr id="132" name="Group 131"/>
          <p:cNvGrpSpPr/>
          <p:nvPr/>
        </p:nvGrpSpPr>
        <p:grpSpPr>
          <a:xfrm>
            <a:off x="3162696" y="4572703"/>
            <a:ext cx="418704" cy="1130629"/>
            <a:chOff x="3162696" y="4572703"/>
            <a:chExt cx="418704" cy="1130629"/>
          </a:xfrm>
        </p:grpSpPr>
        <p:cxnSp>
          <p:nvCxnSpPr>
            <p:cNvPr id="115" name="Straight Arrow Connector 114"/>
            <p:cNvCxnSpPr/>
            <p:nvPr/>
          </p:nvCxnSpPr>
          <p:spPr>
            <a:xfrm flipH="1">
              <a:off x="3314304" y="4572703"/>
              <a:ext cx="210144" cy="76129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Oval 115"/>
            <p:cNvSpPr/>
            <p:nvPr/>
          </p:nvSpPr>
          <p:spPr>
            <a:xfrm>
              <a:off x="3200400" y="5334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3162696" y="53340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25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762000" y="5867400"/>
            <a:ext cx="7924800" cy="381000"/>
            <a:chOff x="762000" y="5867400"/>
            <a:chExt cx="7924800" cy="381000"/>
          </a:xfrm>
        </p:grpSpPr>
        <p:sp>
          <p:nvSpPr>
            <p:cNvPr id="136" name="Rectangle 135"/>
            <p:cNvSpPr/>
            <p:nvPr/>
          </p:nvSpPr>
          <p:spPr>
            <a:xfrm>
              <a:off x="762000" y="5867400"/>
              <a:ext cx="7924800" cy="3810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7" name="Straight Connector 136"/>
            <p:cNvCxnSpPr/>
            <p:nvPr/>
          </p:nvCxnSpPr>
          <p:spPr>
            <a:xfrm>
              <a:off x="1143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>
              <a:off x="1524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>
              <a:off x="1905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>
              <a:off x="2286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>
              <a:off x="2667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3048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/>
          </p:nvCxnSpPr>
          <p:spPr>
            <a:xfrm>
              <a:off x="3429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/>
          </p:nvCxnSpPr>
          <p:spPr>
            <a:xfrm>
              <a:off x="4572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>
              <a:off x="4953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>
              <a:off x="5334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>
              <a:off x="5715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/>
          </p:nvCxnSpPr>
          <p:spPr>
            <a:xfrm>
              <a:off x="6096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/>
          </p:nvCxnSpPr>
          <p:spPr>
            <a:xfrm>
              <a:off x="6477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/>
          </p:nvCxnSpPr>
          <p:spPr>
            <a:xfrm>
              <a:off x="6858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/>
            <p:cNvSpPr txBox="1"/>
            <p:nvPr/>
          </p:nvSpPr>
          <p:spPr>
            <a:xfrm>
              <a:off x="838200" y="5867400"/>
              <a:ext cx="75296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9   14  21   17   23   33   29  71   37   </a:t>
              </a:r>
              <a:r>
                <a:rPr lang="en-US" b="1" dirty="0">
                  <a:solidFill>
                    <a:srgbClr val="0070C0"/>
                  </a:solidFill>
                </a:rPr>
                <a:t>11</a:t>
              </a:r>
              <a:r>
                <a:rPr lang="en-US" dirty="0"/>
                <a:t>   88   41  52   32   76   98   85   47  57      </a:t>
              </a:r>
            </a:p>
          </p:txBody>
        </p:sp>
        <p:cxnSp>
          <p:nvCxnSpPr>
            <p:cNvPr id="151" name="Straight Connector 150"/>
            <p:cNvCxnSpPr/>
            <p:nvPr/>
          </p:nvCxnSpPr>
          <p:spPr>
            <a:xfrm>
              <a:off x="3810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/>
          </p:nvCxnSpPr>
          <p:spPr>
            <a:xfrm>
              <a:off x="4191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/>
          </p:nvCxnSpPr>
          <p:spPr>
            <a:xfrm>
              <a:off x="7239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>
              <a:off x="7620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/>
          </p:nvCxnSpPr>
          <p:spPr>
            <a:xfrm>
              <a:off x="8001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/>
          </p:nvCxnSpPr>
          <p:spPr>
            <a:xfrm>
              <a:off x="8382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8" name="TextBox 157"/>
          <p:cNvSpPr txBox="1"/>
          <p:nvPr/>
        </p:nvSpPr>
        <p:spPr>
          <a:xfrm>
            <a:off x="7963296" y="5879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</a:t>
            </a:r>
          </a:p>
        </p:txBody>
      </p:sp>
      <p:cxnSp>
        <p:nvCxnSpPr>
          <p:cNvPr id="109" name="Straight Arrow Connector 108"/>
          <p:cNvCxnSpPr>
            <a:stCxn id="52" idx="2"/>
          </p:cNvCxnSpPr>
          <p:nvPr/>
        </p:nvCxnSpPr>
        <p:spPr>
          <a:xfrm flipH="1">
            <a:off x="3581400" y="3581400"/>
            <a:ext cx="247848" cy="761297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Group 109"/>
          <p:cNvGrpSpPr/>
          <p:nvPr/>
        </p:nvGrpSpPr>
        <p:grpSpPr>
          <a:xfrm>
            <a:off x="2514600" y="6264693"/>
            <a:ext cx="1905000" cy="364707"/>
            <a:chOff x="1195038" y="6362702"/>
            <a:chExt cx="1905000" cy="364707"/>
          </a:xfrm>
        </p:grpSpPr>
        <p:sp>
          <p:nvSpPr>
            <p:cNvPr id="111" name="Freeform 110"/>
            <p:cNvSpPr/>
            <p:nvPr/>
          </p:nvSpPr>
          <p:spPr>
            <a:xfrm>
              <a:off x="1195038" y="6567915"/>
              <a:ext cx="1905000" cy="159494"/>
            </a:xfrm>
            <a:custGeom>
              <a:avLst/>
              <a:gdLst>
                <a:gd name="connsiteX0" fmla="*/ 0 w 5096108"/>
                <a:gd name="connsiteY0" fmla="*/ 0 h 293155"/>
                <a:gd name="connsiteX1" fmla="*/ 223025 w 5096108"/>
                <a:gd name="connsiteY1" fmla="*/ 223024 h 293155"/>
                <a:gd name="connsiteX2" fmla="*/ 825190 w 5096108"/>
                <a:gd name="connsiteY2" fmla="*/ 289931 h 293155"/>
                <a:gd name="connsiteX3" fmla="*/ 3880625 w 5096108"/>
                <a:gd name="connsiteY3" fmla="*/ 278780 h 293155"/>
                <a:gd name="connsiteX4" fmla="*/ 4683512 w 5096108"/>
                <a:gd name="connsiteY4" fmla="*/ 245326 h 293155"/>
                <a:gd name="connsiteX5" fmla="*/ 4995747 w 5096108"/>
                <a:gd name="connsiteY5" fmla="*/ 167268 h 293155"/>
                <a:gd name="connsiteX6" fmla="*/ 5096108 w 5096108"/>
                <a:gd name="connsiteY6" fmla="*/ 0 h 293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96108" h="293155">
                  <a:moveTo>
                    <a:pt x="0" y="0"/>
                  </a:moveTo>
                  <a:cubicBezTo>
                    <a:pt x="42746" y="87351"/>
                    <a:pt x="85493" y="174702"/>
                    <a:pt x="223025" y="223024"/>
                  </a:cubicBezTo>
                  <a:cubicBezTo>
                    <a:pt x="360557" y="271346"/>
                    <a:pt x="215590" y="280638"/>
                    <a:pt x="825190" y="289931"/>
                  </a:cubicBezTo>
                  <a:cubicBezTo>
                    <a:pt x="1434790" y="299224"/>
                    <a:pt x="3237571" y="286214"/>
                    <a:pt x="3880625" y="278780"/>
                  </a:cubicBezTo>
                  <a:cubicBezTo>
                    <a:pt x="4523679" y="271346"/>
                    <a:pt x="4497658" y="263911"/>
                    <a:pt x="4683512" y="245326"/>
                  </a:cubicBezTo>
                  <a:cubicBezTo>
                    <a:pt x="4869366" y="226741"/>
                    <a:pt x="4926981" y="208156"/>
                    <a:pt x="4995747" y="167268"/>
                  </a:cubicBezTo>
                  <a:cubicBezTo>
                    <a:pt x="5064513" y="126380"/>
                    <a:pt x="5080310" y="63190"/>
                    <a:pt x="5096108" y="0"/>
                  </a:cubicBezTo>
                </a:path>
              </a:pathLst>
            </a:custGeom>
            <a:ln w="57150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2" name="Straight Arrow Connector 111"/>
            <p:cNvCxnSpPr>
              <a:stCxn id="111" idx="5"/>
            </p:cNvCxnSpPr>
            <p:nvPr/>
          </p:nvCxnSpPr>
          <p:spPr>
            <a:xfrm flipV="1">
              <a:off x="3062522" y="6362703"/>
              <a:ext cx="37516" cy="296216"/>
            </a:xfrm>
            <a:prstGeom prst="straightConnector1">
              <a:avLst/>
            </a:prstGeom>
            <a:ln w="57150">
              <a:solidFill>
                <a:srgbClr val="C000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/>
            <p:cNvCxnSpPr/>
            <p:nvPr/>
          </p:nvCxnSpPr>
          <p:spPr>
            <a:xfrm flipV="1">
              <a:off x="1195038" y="6362702"/>
              <a:ext cx="0" cy="284960"/>
            </a:xfrm>
            <a:prstGeom prst="straightConnector1">
              <a:avLst/>
            </a:prstGeom>
            <a:ln w="57150">
              <a:solidFill>
                <a:srgbClr val="C000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TextBox 119"/>
          <p:cNvSpPr txBox="1"/>
          <p:nvPr/>
        </p:nvSpPr>
        <p:spPr>
          <a:xfrm>
            <a:off x="381000" y="5791200"/>
            <a:ext cx="410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H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9374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Insert(</a:t>
            </a:r>
            <a:r>
              <a:rPr lang="en-US" sz="3600" b="1" dirty="0" err="1">
                <a:solidFill>
                  <a:srgbClr val="0070C0"/>
                </a:solidFill>
              </a:rPr>
              <a:t>x</a:t>
            </a:r>
            <a:r>
              <a:rPr lang="en-US" sz="3600" b="1" dirty="0" err="1">
                <a:solidFill>
                  <a:srgbClr val="7030A0"/>
                </a:solidFill>
              </a:rPr>
              <a:t>,H</a:t>
            </a:r>
            <a:r>
              <a:rPr lang="en-US" sz="3600" b="1" dirty="0">
                <a:solidFill>
                  <a:srgbClr val="7030A0"/>
                </a:solidFill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>
              <a:buNone/>
            </a:pPr>
            <a:endParaRPr lang="en-US" sz="1800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419600" y="12954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971800" y="1524000"/>
            <a:ext cx="1447800" cy="1066800"/>
            <a:chOff x="2971800" y="2209800"/>
            <a:chExt cx="1447800" cy="1066800"/>
          </a:xfrm>
        </p:grpSpPr>
        <p:cxnSp>
          <p:nvCxnSpPr>
            <p:cNvPr id="12" name="Straight Arrow Connector 11"/>
            <p:cNvCxnSpPr/>
            <p:nvPr/>
          </p:nvCxnSpPr>
          <p:spPr>
            <a:xfrm flipH="1">
              <a:off x="3155796" y="2209800"/>
              <a:ext cx="1263804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2971800" y="29718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715107" y="1524000"/>
            <a:ext cx="1457093" cy="1016652"/>
            <a:chOff x="4715107" y="2209800"/>
            <a:chExt cx="1457093" cy="1016652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4715107" y="2209800"/>
              <a:ext cx="1304693" cy="71185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5867400" y="2921652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286000" y="2546163"/>
            <a:ext cx="730437" cy="1035237"/>
            <a:chOff x="2286000" y="3231963"/>
            <a:chExt cx="730437" cy="1035237"/>
          </a:xfrm>
        </p:grpSpPr>
        <p:sp>
          <p:nvSpPr>
            <p:cNvPr id="16" name="Oval 15"/>
            <p:cNvSpPr/>
            <p:nvPr/>
          </p:nvSpPr>
          <p:spPr>
            <a:xfrm>
              <a:off x="2286000" y="3962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/>
            <p:cNvCxnSpPr>
              <a:stCxn id="14" idx="3"/>
              <a:endCxn id="16" idx="0"/>
            </p:cNvCxnSpPr>
            <p:nvPr/>
          </p:nvCxnSpPr>
          <p:spPr>
            <a:xfrm flipH="1">
              <a:off x="2438400" y="3231963"/>
              <a:ext cx="578037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3231963" y="2546163"/>
            <a:ext cx="719285" cy="1035237"/>
            <a:chOff x="3231963" y="3231963"/>
            <a:chExt cx="719285" cy="1035237"/>
          </a:xfrm>
        </p:grpSpPr>
        <p:sp>
          <p:nvSpPr>
            <p:cNvPr id="17" name="Oval 16"/>
            <p:cNvSpPr/>
            <p:nvPr/>
          </p:nvSpPr>
          <p:spPr>
            <a:xfrm>
              <a:off x="3646448" y="3962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/>
            <p:cNvCxnSpPr>
              <a:stCxn id="14" idx="5"/>
            </p:cNvCxnSpPr>
            <p:nvPr/>
          </p:nvCxnSpPr>
          <p:spPr>
            <a:xfrm>
              <a:off x="3231963" y="3231963"/>
              <a:ext cx="566885" cy="730437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5192752" y="2514600"/>
            <a:ext cx="730437" cy="1035237"/>
            <a:chOff x="5192752" y="3200400"/>
            <a:chExt cx="730437" cy="1035237"/>
          </a:xfrm>
        </p:grpSpPr>
        <p:sp>
          <p:nvSpPr>
            <p:cNvPr id="28" name="Oval 27"/>
            <p:cNvSpPr/>
            <p:nvPr/>
          </p:nvSpPr>
          <p:spPr>
            <a:xfrm>
              <a:off x="5192752" y="3930837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/>
            <p:cNvCxnSpPr>
              <a:endCxn id="28" idx="0"/>
            </p:cNvCxnSpPr>
            <p:nvPr/>
          </p:nvCxnSpPr>
          <p:spPr>
            <a:xfrm flipH="1">
              <a:off x="5345152" y="3200400"/>
              <a:ext cx="578037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6138715" y="2514600"/>
            <a:ext cx="719285" cy="1035237"/>
            <a:chOff x="6138715" y="3200400"/>
            <a:chExt cx="719285" cy="1035237"/>
          </a:xfrm>
        </p:grpSpPr>
        <p:sp>
          <p:nvSpPr>
            <p:cNvPr id="29" name="Oval 28"/>
            <p:cNvSpPr/>
            <p:nvPr/>
          </p:nvSpPr>
          <p:spPr>
            <a:xfrm>
              <a:off x="6553200" y="3930837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>
              <a:off x="6138715" y="3200400"/>
              <a:ext cx="5668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1828800" y="3536763"/>
            <a:ext cx="501837" cy="1035237"/>
            <a:chOff x="1828800" y="4222563"/>
            <a:chExt cx="501837" cy="1035237"/>
          </a:xfrm>
        </p:grpSpPr>
        <p:sp>
          <p:nvSpPr>
            <p:cNvPr id="33" name="Oval 32"/>
            <p:cNvSpPr/>
            <p:nvPr/>
          </p:nvSpPr>
          <p:spPr>
            <a:xfrm>
              <a:off x="18288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>
              <a:stCxn id="16" idx="3"/>
            </p:cNvCxnSpPr>
            <p:nvPr/>
          </p:nvCxnSpPr>
          <p:spPr>
            <a:xfrm flipH="1">
              <a:off x="20127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2557315" y="3536763"/>
            <a:ext cx="414485" cy="1035237"/>
            <a:chOff x="2557315" y="4222563"/>
            <a:chExt cx="414485" cy="1035237"/>
          </a:xfrm>
        </p:grpSpPr>
        <p:sp>
          <p:nvSpPr>
            <p:cNvPr id="34" name="Oval 33"/>
            <p:cNvSpPr/>
            <p:nvPr/>
          </p:nvSpPr>
          <p:spPr>
            <a:xfrm>
              <a:off x="26670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/>
            <p:cNvCxnSpPr>
              <a:endCxn id="34" idx="0"/>
            </p:cNvCxnSpPr>
            <p:nvPr/>
          </p:nvCxnSpPr>
          <p:spPr>
            <a:xfrm>
              <a:off x="25573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3352800" y="3549837"/>
            <a:ext cx="381000" cy="1022163"/>
            <a:chOff x="3245037" y="4235637"/>
            <a:chExt cx="381000" cy="1022163"/>
          </a:xfrm>
        </p:grpSpPr>
        <p:sp>
          <p:nvSpPr>
            <p:cNvPr id="48" name="Oval 47"/>
            <p:cNvSpPr/>
            <p:nvPr/>
          </p:nvSpPr>
          <p:spPr>
            <a:xfrm>
              <a:off x="3245037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 flipH="1">
              <a:off x="3384365" y="4235637"/>
              <a:ext cx="241672" cy="717363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3928915" y="3536763"/>
            <a:ext cx="414485" cy="1035237"/>
            <a:chOff x="3928915" y="4222563"/>
            <a:chExt cx="414485" cy="1035237"/>
          </a:xfrm>
        </p:grpSpPr>
        <p:sp>
          <p:nvSpPr>
            <p:cNvPr id="49" name="Oval 48"/>
            <p:cNvSpPr/>
            <p:nvPr/>
          </p:nvSpPr>
          <p:spPr>
            <a:xfrm>
              <a:off x="40386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Arrow Connector 50"/>
            <p:cNvCxnSpPr>
              <a:endCxn id="49" idx="0"/>
            </p:cNvCxnSpPr>
            <p:nvPr/>
          </p:nvCxnSpPr>
          <p:spPr>
            <a:xfrm>
              <a:off x="39289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/>
          <p:cNvSpPr txBox="1"/>
          <p:nvPr/>
        </p:nvSpPr>
        <p:spPr>
          <a:xfrm>
            <a:off x="4381896" y="1295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95600" y="2286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09800" y="3276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52600" y="4267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91200" y="2209800"/>
            <a:ext cx="471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21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81600" y="3212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19896" y="3212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15496" y="3212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90800" y="4267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5096" y="4267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00896" y="4267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88</a:t>
            </a:r>
          </a:p>
        </p:txBody>
      </p:sp>
      <p:grpSp>
        <p:nvGrpSpPr>
          <p:cNvPr id="74" name="Group 73"/>
          <p:cNvGrpSpPr/>
          <p:nvPr/>
        </p:nvGrpSpPr>
        <p:grpSpPr>
          <a:xfrm>
            <a:off x="4755963" y="3536763"/>
            <a:ext cx="501837" cy="1035237"/>
            <a:chOff x="3200400" y="4222563"/>
            <a:chExt cx="501837" cy="1035237"/>
          </a:xfrm>
        </p:grpSpPr>
        <p:sp>
          <p:nvSpPr>
            <p:cNvPr id="75" name="Oval 74"/>
            <p:cNvSpPr/>
            <p:nvPr/>
          </p:nvSpPr>
          <p:spPr>
            <a:xfrm>
              <a:off x="32004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Arrow Connector 75"/>
            <p:cNvCxnSpPr/>
            <p:nvPr/>
          </p:nvCxnSpPr>
          <p:spPr>
            <a:xfrm flipH="1">
              <a:off x="33843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/>
          <p:cNvGrpSpPr/>
          <p:nvPr/>
        </p:nvGrpSpPr>
        <p:grpSpPr>
          <a:xfrm>
            <a:off x="6127563" y="3536763"/>
            <a:ext cx="501837" cy="1035237"/>
            <a:chOff x="3200400" y="4222563"/>
            <a:chExt cx="501837" cy="1035237"/>
          </a:xfrm>
        </p:grpSpPr>
        <p:sp>
          <p:nvSpPr>
            <p:cNvPr id="78" name="Oval 77"/>
            <p:cNvSpPr/>
            <p:nvPr/>
          </p:nvSpPr>
          <p:spPr>
            <a:xfrm>
              <a:off x="32004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9" name="Straight Arrow Connector 78"/>
            <p:cNvCxnSpPr/>
            <p:nvPr/>
          </p:nvCxnSpPr>
          <p:spPr>
            <a:xfrm flipH="1">
              <a:off x="33843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/>
          <p:cNvGrpSpPr/>
          <p:nvPr/>
        </p:nvGrpSpPr>
        <p:grpSpPr>
          <a:xfrm>
            <a:off x="5452915" y="3505200"/>
            <a:ext cx="414485" cy="1035237"/>
            <a:chOff x="3928915" y="4222563"/>
            <a:chExt cx="414485" cy="1035237"/>
          </a:xfrm>
        </p:grpSpPr>
        <p:sp>
          <p:nvSpPr>
            <p:cNvPr id="81" name="Oval 80"/>
            <p:cNvSpPr/>
            <p:nvPr/>
          </p:nvSpPr>
          <p:spPr>
            <a:xfrm>
              <a:off x="40386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Arrow Connector 81"/>
            <p:cNvCxnSpPr>
              <a:endCxn id="81" idx="0"/>
            </p:cNvCxnSpPr>
            <p:nvPr/>
          </p:nvCxnSpPr>
          <p:spPr>
            <a:xfrm>
              <a:off x="39289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/>
          <p:cNvGrpSpPr/>
          <p:nvPr/>
        </p:nvGrpSpPr>
        <p:grpSpPr>
          <a:xfrm>
            <a:off x="6824515" y="3505200"/>
            <a:ext cx="414485" cy="1035237"/>
            <a:chOff x="3928915" y="4222563"/>
            <a:chExt cx="414485" cy="1035237"/>
          </a:xfrm>
        </p:grpSpPr>
        <p:sp>
          <p:nvSpPr>
            <p:cNvPr id="84" name="Oval 83"/>
            <p:cNvSpPr/>
            <p:nvPr/>
          </p:nvSpPr>
          <p:spPr>
            <a:xfrm>
              <a:off x="40386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5" name="Straight Arrow Connector 84"/>
            <p:cNvCxnSpPr>
              <a:endCxn id="84" idx="0"/>
            </p:cNvCxnSpPr>
            <p:nvPr/>
          </p:nvCxnSpPr>
          <p:spPr>
            <a:xfrm>
              <a:off x="39289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1600200" y="4540437"/>
            <a:ext cx="685800" cy="1098363"/>
            <a:chOff x="1600200" y="4540437"/>
            <a:chExt cx="685800" cy="1098363"/>
          </a:xfrm>
        </p:grpSpPr>
        <p:grpSp>
          <p:nvGrpSpPr>
            <p:cNvPr id="86" name="Group 85"/>
            <p:cNvGrpSpPr/>
            <p:nvPr/>
          </p:nvGrpSpPr>
          <p:grpSpPr>
            <a:xfrm>
              <a:off x="1981200" y="4572000"/>
              <a:ext cx="304800" cy="1066800"/>
              <a:chOff x="3852715" y="4222563"/>
              <a:chExt cx="304800" cy="1066800"/>
            </a:xfrm>
          </p:grpSpPr>
          <p:sp>
            <p:nvSpPr>
              <p:cNvPr id="87" name="Oval 86"/>
              <p:cNvSpPr/>
              <p:nvPr/>
            </p:nvSpPr>
            <p:spPr>
              <a:xfrm>
                <a:off x="3852715" y="4984563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8" name="Straight Arrow Connector 87"/>
              <p:cNvCxnSpPr/>
              <p:nvPr/>
            </p:nvCxnSpPr>
            <p:spPr>
              <a:xfrm>
                <a:off x="3884279" y="4222563"/>
                <a:ext cx="120836" cy="7620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Group 88"/>
            <p:cNvGrpSpPr/>
            <p:nvPr/>
          </p:nvGrpSpPr>
          <p:grpSpPr>
            <a:xfrm>
              <a:off x="1600200" y="4540437"/>
              <a:ext cx="304800" cy="1098363"/>
              <a:chOff x="3429000" y="4235637"/>
              <a:chExt cx="304800" cy="1098363"/>
            </a:xfrm>
          </p:grpSpPr>
          <p:sp>
            <p:nvSpPr>
              <p:cNvPr id="90" name="Oval 89"/>
              <p:cNvSpPr/>
              <p:nvPr/>
            </p:nvSpPr>
            <p:spPr>
              <a:xfrm>
                <a:off x="3429000" y="50292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/>
              <p:cNvCxnSpPr/>
              <p:nvPr/>
            </p:nvCxnSpPr>
            <p:spPr>
              <a:xfrm flipH="1">
                <a:off x="3600647" y="4235637"/>
                <a:ext cx="133153" cy="80593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9" name="Group 98"/>
          <p:cNvGrpSpPr/>
          <p:nvPr/>
        </p:nvGrpSpPr>
        <p:grpSpPr>
          <a:xfrm>
            <a:off x="2438400" y="4540437"/>
            <a:ext cx="685800" cy="1098363"/>
            <a:chOff x="1600200" y="4540437"/>
            <a:chExt cx="685800" cy="1098363"/>
          </a:xfrm>
        </p:grpSpPr>
        <p:grpSp>
          <p:nvGrpSpPr>
            <p:cNvPr id="100" name="Group 99"/>
            <p:cNvGrpSpPr/>
            <p:nvPr/>
          </p:nvGrpSpPr>
          <p:grpSpPr>
            <a:xfrm>
              <a:off x="1981200" y="4572000"/>
              <a:ext cx="304800" cy="1066800"/>
              <a:chOff x="3852715" y="4222563"/>
              <a:chExt cx="304800" cy="1066800"/>
            </a:xfrm>
          </p:grpSpPr>
          <p:sp>
            <p:nvSpPr>
              <p:cNvPr id="104" name="Oval 103"/>
              <p:cNvSpPr/>
              <p:nvPr/>
            </p:nvSpPr>
            <p:spPr>
              <a:xfrm>
                <a:off x="3852715" y="4984563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Straight Arrow Connector 104"/>
              <p:cNvCxnSpPr/>
              <p:nvPr/>
            </p:nvCxnSpPr>
            <p:spPr>
              <a:xfrm>
                <a:off x="3884279" y="4222563"/>
                <a:ext cx="120836" cy="7620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Group 100"/>
            <p:cNvGrpSpPr/>
            <p:nvPr/>
          </p:nvGrpSpPr>
          <p:grpSpPr>
            <a:xfrm>
              <a:off x="1600200" y="4540437"/>
              <a:ext cx="304800" cy="1098363"/>
              <a:chOff x="3429000" y="4235637"/>
              <a:chExt cx="304800" cy="1098363"/>
            </a:xfrm>
          </p:grpSpPr>
          <p:sp>
            <p:nvSpPr>
              <p:cNvPr id="102" name="Oval 101"/>
              <p:cNvSpPr/>
              <p:nvPr/>
            </p:nvSpPr>
            <p:spPr>
              <a:xfrm>
                <a:off x="3429000" y="50292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3" name="Straight Arrow Connector 102"/>
              <p:cNvCxnSpPr/>
              <p:nvPr/>
            </p:nvCxnSpPr>
            <p:spPr>
              <a:xfrm flipH="1">
                <a:off x="3600647" y="4235637"/>
                <a:ext cx="133153" cy="80593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3" name="TextBox 112"/>
          <p:cNvSpPr txBox="1"/>
          <p:nvPr/>
        </p:nvSpPr>
        <p:spPr>
          <a:xfrm>
            <a:off x="4724400" y="4202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524896" y="4191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058296" y="4267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896496" y="4191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562496" y="5334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98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943496" y="5334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85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400696" y="5334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47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781696" y="5334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</a:t>
            </a:r>
          </a:p>
        </p:txBody>
      </p:sp>
      <p:grpSp>
        <p:nvGrpSpPr>
          <p:cNvPr id="132" name="Group 131"/>
          <p:cNvGrpSpPr/>
          <p:nvPr/>
        </p:nvGrpSpPr>
        <p:grpSpPr>
          <a:xfrm>
            <a:off x="3162696" y="4572703"/>
            <a:ext cx="418704" cy="1130629"/>
            <a:chOff x="3162696" y="4572703"/>
            <a:chExt cx="418704" cy="1130629"/>
          </a:xfrm>
        </p:grpSpPr>
        <p:cxnSp>
          <p:nvCxnSpPr>
            <p:cNvPr id="115" name="Straight Arrow Connector 114"/>
            <p:cNvCxnSpPr/>
            <p:nvPr/>
          </p:nvCxnSpPr>
          <p:spPr>
            <a:xfrm flipH="1">
              <a:off x="3314304" y="4572703"/>
              <a:ext cx="210144" cy="76129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Oval 115"/>
            <p:cNvSpPr/>
            <p:nvPr/>
          </p:nvSpPr>
          <p:spPr>
            <a:xfrm>
              <a:off x="3200400" y="5334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3162696" y="53340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25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762000" y="5867400"/>
            <a:ext cx="7924800" cy="381000"/>
            <a:chOff x="762000" y="5867400"/>
            <a:chExt cx="7924800" cy="381000"/>
          </a:xfrm>
        </p:grpSpPr>
        <p:sp>
          <p:nvSpPr>
            <p:cNvPr id="136" name="Rectangle 135"/>
            <p:cNvSpPr/>
            <p:nvPr/>
          </p:nvSpPr>
          <p:spPr>
            <a:xfrm>
              <a:off x="762000" y="5867400"/>
              <a:ext cx="7924800" cy="3810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7" name="Straight Connector 136"/>
            <p:cNvCxnSpPr/>
            <p:nvPr/>
          </p:nvCxnSpPr>
          <p:spPr>
            <a:xfrm>
              <a:off x="1143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>
              <a:off x="1524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>
              <a:off x="1905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>
              <a:off x="2286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>
              <a:off x="2667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3048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/>
          </p:nvCxnSpPr>
          <p:spPr>
            <a:xfrm>
              <a:off x="3429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/>
          </p:nvCxnSpPr>
          <p:spPr>
            <a:xfrm>
              <a:off x="4572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>
              <a:off x="4953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>
              <a:off x="5334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>
              <a:off x="5715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/>
          </p:nvCxnSpPr>
          <p:spPr>
            <a:xfrm>
              <a:off x="6096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/>
          </p:nvCxnSpPr>
          <p:spPr>
            <a:xfrm>
              <a:off x="6477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/>
          </p:nvCxnSpPr>
          <p:spPr>
            <a:xfrm>
              <a:off x="6858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/>
            <p:cNvSpPr txBox="1"/>
            <p:nvPr/>
          </p:nvSpPr>
          <p:spPr>
            <a:xfrm>
              <a:off x="838200" y="5867400"/>
              <a:ext cx="7763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9   14  21   17   </a:t>
              </a:r>
              <a:r>
                <a:rPr lang="en-US" b="1" dirty="0">
                  <a:solidFill>
                    <a:srgbClr val="0070C0"/>
                  </a:solidFill>
                </a:rPr>
                <a:t>11</a:t>
              </a:r>
              <a:r>
                <a:rPr lang="en-US" dirty="0"/>
                <a:t>   33   29  71   37   23   88   41  52   32   76   98   85   47  57      </a:t>
              </a:r>
            </a:p>
          </p:txBody>
        </p:sp>
        <p:cxnSp>
          <p:nvCxnSpPr>
            <p:cNvPr id="151" name="Straight Connector 150"/>
            <p:cNvCxnSpPr/>
            <p:nvPr/>
          </p:nvCxnSpPr>
          <p:spPr>
            <a:xfrm>
              <a:off x="3810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/>
          </p:nvCxnSpPr>
          <p:spPr>
            <a:xfrm>
              <a:off x="4191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/>
          </p:nvCxnSpPr>
          <p:spPr>
            <a:xfrm>
              <a:off x="7239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>
              <a:off x="7620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/>
          </p:nvCxnSpPr>
          <p:spPr>
            <a:xfrm>
              <a:off x="8001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/>
          </p:nvCxnSpPr>
          <p:spPr>
            <a:xfrm>
              <a:off x="8382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8" name="TextBox 157"/>
          <p:cNvSpPr txBox="1"/>
          <p:nvPr/>
        </p:nvSpPr>
        <p:spPr>
          <a:xfrm>
            <a:off x="7963296" y="5879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</a:t>
            </a:r>
          </a:p>
        </p:txBody>
      </p:sp>
      <p:cxnSp>
        <p:nvCxnSpPr>
          <p:cNvPr id="109" name="Straight Arrow Connector 108"/>
          <p:cNvCxnSpPr/>
          <p:nvPr/>
        </p:nvCxnSpPr>
        <p:spPr>
          <a:xfrm>
            <a:off x="3419376" y="2438400"/>
            <a:ext cx="509539" cy="685097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Group 109"/>
          <p:cNvGrpSpPr/>
          <p:nvPr/>
        </p:nvGrpSpPr>
        <p:grpSpPr>
          <a:xfrm>
            <a:off x="1371600" y="6264693"/>
            <a:ext cx="1143000" cy="364707"/>
            <a:chOff x="1957038" y="6362702"/>
            <a:chExt cx="1143000" cy="364707"/>
          </a:xfrm>
        </p:grpSpPr>
        <p:sp>
          <p:nvSpPr>
            <p:cNvPr id="111" name="Freeform 110"/>
            <p:cNvSpPr/>
            <p:nvPr/>
          </p:nvSpPr>
          <p:spPr>
            <a:xfrm>
              <a:off x="1957038" y="6567915"/>
              <a:ext cx="1143000" cy="159494"/>
            </a:xfrm>
            <a:custGeom>
              <a:avLst/>
              <a:gdLst>
                <a:gd name="connsiteX0" fmla="*/ 0 w 5096108"/>
                <a:gd name="connsiteY0" fmla="*/ 0 h 293155"/>
                <a:gd name="connsiteX1" fmla="*/ 223025 w 5096108"/>
                <a:gd name="connsiteY1" fmla="*/ 223024 h 293155"/>
                <a:gd name="connsiteX2" fmla="*/ 825190 w 5096108"/>
                <a:gd name="connsiteY2" fmla="*/ 289931 h 293155"/>
                <a:gd name="connsiteX3" fmla="*/ 3880625 w 5096108"/>
                <a:gd name="connsiteY3" fmla="*/ 278780 h 293155"/>
                <a:gd name="connsiteX4" fmla="*/ 4683512 w 5096108"/>
                <a:gd name="connsiteY4" fmla="*/ 245326 h 293155"/>
                <a:gd name="connsiteX5" fmla="*/ 4995747 w 5096108"/>
                <a:gd name="connsiteY5" fmla="*/ 167268 h 293155"/>
                <a:gd name="connsiteX6" fmla="*/ 5096108 w 5096108"/>
                <a:gd name="connsiteY6" fmla="*/ 0 h 293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96108" h="293155">
                  <a:moveTo>
                    <a:pt x="0" y="0"/>
                  </a:moveTo>
                  <a:cubicBezTo>
                    <a:pt x="42746" y="87351"/>
                    <a:pt x="85493" y="174702"/>
                    <a:pt x="223025" y="223024"/>
                  </a:cubicBezTo>
                  <a:cubicBezTo>
                    <a:pt x="360557" y="271346"/>
                    <a:pt x="215590" y="280638"/>
                    <a:pt x="825190" y="289931"/>
                  </a:cubicBezTo>
                  <a:cubicBezTo>
                    <a:pt x="1434790" y="299224"/>
                    <a:pt x="3237571" y="286214"/>
                    <a:pt x="3880625" y="278780"/>
                  </a:cubicBezTo>
                  <a:cubicBezTo>
                    <a:pt x="4523679" y="271346"/>
                    <a:pt x="4497658" y="263911"/>
                    <a:pt x="4683512" y="245326"/>
                  </a:cubicBezTo>
                  <a:cubicBezTo>
                    <a:pt x="4869366" y="226741"/>
                    <a:pt x="4926981" y="208156"/>
                    <a:pt x="4995747" y="167268"/>
                  </a:cubicBezTo>
                  <a:cubicBezTo>
                    <a:pt x="5064513" y="126380"/>
                    <a:pt x="5080310" y="63190"/>
                    <a:pt x="5096108" y="0"/>
                  </a:cubicBezTo>
                </a:path>
              </a:pathLst>
            </a:custGeom>
            <a:ln w="57150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2" name="Straight Arrow Connector 111"/>
            <p:cNvCxnSpPr>
              <a:stCxn id="111" idx="5"/>
            </p:cNvCxnSpPr>
            <p:nvPr/>
          </p:nvCxnSpPr>
          <p:spPr>
            <a:xfrm flipV="1">
              <a:off x="3077528" y="6362703"/>
              <a:ext cx="22510" cy="296216"/>
            </a:xfrm>
            <a:prstGeom prst="straightConnector1">
              <a:avLst/>
            </a:prstGeom>
            <a:ln w="57150">
              <a:solidFill>
                <a:srgbClr val="C000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/>
            <p:cNvCxnSpPr/>
            <p:nvPr/>
          </p:nvCxnSpPr>
          <p:spPr>
            <a:xfrm flipV="1">
              <a:off x="1957038" y="6362702"/>
              <a:ext cx="0" cy="284960"/>
            </a:xfrm>
            <a:prstGeom prst="straightConnector1">
              <a:avLst/>
            </a:prstGeom>
            <a:ln w="57150">
              <a:solidFill>
                <a:srgbClr val="C000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TextBox 116"/>
          <p:cNvSpPr txBox="1"/>
          <p:nvPr/>
        </p:nvSpPr>
        <p:spPr>
          <a:xfrm>
            <a:off x="381000" y="5791200"/>
            <a:ext cx="410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H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1058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Insert(</a:t>
            </a:r>
            <a:r>
              <a:rPr lang="en-US" sz="3600" b="1" dirty="0" err="1">
                <a:solidFill>
                  <a:srgbClr val="0070C0"/>
                </a:solidFill>
              </a:rPr>
              <a:t>x</a:t>
            </a:r>
            <a:r>
              <a:rPr lang="en-US" sz="3600" b="1" dirty="0" err="1">
                <a:solidFill>
                  <a:srgbClr val="7030A0"/>
                </a:solidFill>
              </a:rPr>
              <a:t>,H</a:t>
            </a:r>
            <a:r>
              <a:rPr lang="en-US" sz="3600" b="1" dirty="0">
                <a:solidFill>
                  <a:srgbClr val="7030A0"/>
                </a:solidFill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>
              <a:buNone/>
            </a:pPr>
            <a:endParaRPr lang="en-US" sz="1800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419600" y="12954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971800" y="1524000"/>
            <a:ext cx="1447800" cy="1066800"/>
            <a:chOff x="2971800" y="2209800"/>
            <a:chExt cx="1447800" cy="1066800"/>
          </a:xfrm>
        </p:grpSpPr>
        <p:cxnSp>
          <p:nvCxnSpPr>
            <p:cNvPr id="12" name="Straight Arrow Connector 11"/>
            <p:cNvCxnSpPr/>
            <p:nvPr/>
          </p:nvCxnSpPr>
          <p:spPr>
            <a:xfrm flipH="1">
              <a:off x="3155796" y="2209800"/>
              <a:ext cx="1263804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2971800" y="29718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715107" y="1524000"/>
            <a:ext cx="1457093" cy="1016652"/>
            <a:chOff x="4715107" y="2209800"/>
            <a:chExt cx="1457093" cy="1016652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4715107" y="2209800"/>
              <a:ext cx="1304693" cy="71185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5867400" y="2921652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286000" y="2546163"/>
            <a:ext cx="730437" cy="1035237"/>
            <a:chOff x="2286000" y="3231963"/>
            <a:chExt cx="730437" cy="1035237"/>
          </a:xfrm>
        </p:grpSpPr>
        <p:sp>
          <p:nvSpPr>
            <p:cNvPr id="16" name="Oval 15"/>
            <p:cNvSpPr/>
            <p:nvPr/>
          </p:nvSpPr>
          <p:spPr>
            <a:xfrm>
              <a:off x="2286000" y="3962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/>
            <p:cNvCxnSpPr>
              <a:stCxn id="14" idx="3"/>
              <a:endCxn id="16" idx="0"/>
            </p:cNvCxnSpPr>
            <p:nvPr/>
          </p:nvCxnSpPr>
          <p:spPr>
            <a:xfrm flipH="1">
              <a:off x="2438400" y="3231963"/>
              <a:ext cx="578037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3231963" y="2546163"/>
            <a:ext cx="719285" cy="1035237"/>
            <a:chOff x="3231963" y="3231963"/>
            <a:chExt cx="719285" cy="1035237"/>
          </a:xfrm>
        </p:grpSpPr>
        <p:sp>
          <p:nvSpPr>
            <p:cNvPr id="17" name="Oval 16"/>
            <p:cNvSpPr/>
            <p:nvPr/>
          </p:nvSpPr>
          <p:spPr>
            <a:xfrm>
              <a:off x="3646448" y="3962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/>
            <p:cNvCxnSpPr>
              <a:stCxn id="14" idx="5"/>
            </p:cNvCxnSpPr>
            <p:nvPr/>
          </p:nvCxnSpPr>
          <p:spPr>
            <a:xfrm>
              <a:off x="3231963" y="3231963"/>
              <a:ext cx="566885" cy="730437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5192752" y="2514600"/>
            <a:ext cx="730437" cy="1035237"/>
            <a:chOff x="5192752" y="3200400"/>
            <a:chExt cx="730437" cy="1035237"/>
          </a:xfrm>
        </p:grpSpPr>
        <p:sp>
          <p:nvSpPr>
            <p:cNvPr id="28" name="Oval 27"/>
            <p:cNvSpPr/>
            <p:nvPr/>
          </p:nvSpPr>
          <p:spPr>
            <a:xfrm>
              <a:off x="5192752" y="3930837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/>
            <p:cNvCxnSpPr>
              <a:endCxn id="28" idx="0"/>
            </p:cNvCxnSpPr>
            <p:nvPr/>
          </p:nvCxnSpPr>
          <p:spPr>
            <a:xfrm flipH="1">
              <a:off x="5345152" y="3200400"/>
              <a:ext cx="578037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6138715" y="2514600"/>
            <a:ext cx="719285" cy="1035237"/>
            <a:chOff x="6138715" y="3200400"/>
            <a:chExt cx="719285" cy="1035237"/>
          </a:xfrm>
        </p:grpSpPr>
        <p:sp>
          <p:nvSpPr>
            <p:cNvPr id="29" name="Oval 28"/>
            <p:cNvSpPr/>
            <p:nvPr/>
          </p:nvSpPr>
          <p:spPr>
            <a:xfrm>
              <a:off x="6553200" y="3930837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>
              <a:off x="6138715" y="3200400"/>
              <a:ext cx="5668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1828800" y="3536763"/>
            <a:ext cx="501837" cy="1035237"/>
            <a:chOff x="1828800" y="4222563"/>
            <a:chExt cx="501837" cy="1035237"/>
          </a:xfrm>
        </p:grpSpPr>
        <p:sp>
          <p:nvSpPr>
            <p:cNvPr id="33" name="Oval 32"/>
            <p:cNvSpPr/>
            <p:nvPr/>
          </p:nvSpPr>
          <p:spPr>
            <a:xfrm>
              <a:off x="18288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>
              <a:stCxn id="16" idx="3"/>
            </p:cNvCxnSpPr>
            <p:nvPr/>
          </p:nvCxnSpPr>
          <p:spPr>
            <a:xfrm flipH="1">
              <a:off x="20127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2557315" y="3536763"/>
            <a:ext cx="414485" cy="1035237"/>
            <a:chOff x="2557315" y="4222563"/>
            <a:chExt cx="414485" cy="1035237"/>
          </a:xfrm>
        </p:grpSpPr>
        <p:sp>
          <p:nvSpPr>
            <p:cNvPr id="34" name="Oval 33"/>
            <p:cNvSpPr/>
            <p:nvPr/>
          </p:nvSpPr>
          <p:spPr>
            <a:xfrm>
              <a:off x="26670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/>
            <p:cNvCxnSpPr>
              <a:endCxn id="34" idx="0"/>
            </p:cNvCxnSpPr>
            <p:nvPr/>
          </p:nvCxnSpPr>
          <p:spPr>
            <a:xfrm>
              <a:off x="25573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3352800" y="3549837"/>
            <a:ext cx="381000" cy="1022163"/>
            <a:chOff x="3245037" y="4235637"/>
            <a:chExt cx="381000" cy="1022163"/>
          </a:xfrm>
        </p:grpSpPr>
        <p:sp>
          <p:nvSpPr>
            <p:cNvPr id="48" name="Oval 47"/>
            <p:cNvSpPr/>
            <p:nvPr/>
          </p:nvSpPr>
          <p:spPr>
            <a:xfrm>
              <a:off x="3245037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 flipH="1">
              <a:off x="3384365" y="4235637"/>
              <a:ext cx="241672" cy="717363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3928915" y="3536763"/>
            <a:ext cx="414485" cy="1035237"/>
            <a:chOff x="3928915" y="4222563"/>
            <a:chExt cx="414485" cy="1035237"/>
          </a:xfrm>
        </p:grpSpPr>
        <p:sp>
          <p:nvSpPr>
            <p:cNvPr id="49" name="Oval 48"/>
            <p:cNvSpPr/>
            <p:nvPr/>
          </p:nvSpPr>
          <p:spPr>
            <a:xfrm>
              <a:off x="40386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Arrow Connector 50"/>
            <p:cNvCxnSpPr>
              <a:endCxn id="49" idx="0"/>
            </p:cNvCxnSpPr>
            <p:nvPr/>
          </p:nvCxnSpPr>
          <p:spPr>
            <a:xfrm>
              <a:off x="39289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/>
          <p:cNvSpPr txBox="1"/>
          <p:nvPr/>
        </p:nvSpPr>
        <p:spPr>
          <a:xfrm>
            <a:off x="4381896" y="1295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95600" y="2286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09800" y="3276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52600" y="4267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91200" y="2209800"/>
            <a:ext cx="471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21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81600" y="3212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19896" y="3212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15496" y="3212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90800" y="4267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5096" y="4267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00896" y="4267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88</a:t>
            </a:r>
          </a:p>
        </p:txBody>
      </p:sp>
      <p:grpSp>
        <p:nvGrpSpPr>
          <p:cNvPr id="74" name="Group 73"/>
          <p:cNvGrpSpPr/>
          <p:nvPr/>
        </p:nvGrpSpPr>
        <p:grpSpPr>
          <a:xfrm>
            <a:off x="4755963" y="3536763"/>
            <a:ext cx="501837" cy="1035237"/>
            <a:chOff x="3200400" y="4222563"/>
            <a:chExt cx="501837" cy="1035237"/>
          </a:xfrm>
        </p:grpSpPr>
        <p:sp>
          <p:nvSpPr>
            <p:cNvPr id="75" name="Oval 74"/>
            <p:cNvSpPr/>
            <p:nvPr/>
          </p:nvSpPr>
          <p:spPr>
            <a:xfrm>
              <a:off x="32004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Arrow Connector 75"/>
            <p:cNvCxnSpPr/>
            <p:nvPr/>
          </p:nvCxnSpPr>
          <p:spPr>
            <a:xfrm flipH="1">
              <a:off x="33843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/>
          <p:cNvGrpSpPr/>
          <p:nvPr/>
        </p:nvGrpSpPr>
        <p:grpSpPr>
          <a:xfrm>
            <a:off x="6127563" y="3536763"/>
            <a:ext cx="501837" cy="1035237"/>
            <a:chOff x="3200400" y="4222563"/>
            <a:chExt cx="501837" cy="1035237"/>
          </a:xfrm>
        </p:grpSpPr>
        <p:sp>
          <p:nvSpPr>
            <p:cNvPr id="78" name="Oval 77"/>
            <p:cNvSpPr/>
            <p:nvPr/>
          </p:nvSpPr>
          <p:spPr>
            <a:xfrm>
              <a:off x="32004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9" name="Straight Arrow Connector 78"/>
            <p:cNvCxnSpPr/>
            <p:nvPr/>
          </p:nvCxnSpPr>
          <p:spPr>
            <a:xfrm flipH="1">
              <a:off x="3384364" y="4222563"/>
              <a:ext cx="317873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/>
          <p:cNvGrpSpPr/>
          <p:nvPr/>
        </p:nvGrpSpPr>
        <p:grpSpPr>
          <a:xfrm>
            <a:off x="5452915" y="3505200"/>
            <a:ext cx="414485" cy="1035237"/>
            <a:chOff x="3928915" y="4222563"/>
            <a:chExt cx="414485" cy="1035237"/>
          </a:xfrm>
        </p:grpSpPr>
        <p:sp>
          <p:nvSpPr>
            <p:cNvPr id="81" name="Oval 80"/>
            <p:cNvSpPr/>
            <p:nvPr/>
          </p:nvSpPr>
          <p:spPr>
            <a:xfrm>
              <a:off x="40386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Arrow Connector 81"/>
            <p:cNvCxnSpPr>
              <a:endCxn id="81" idx="0"/>
            </p:cNvCxnSpPr>
            <p:nvPr/>
          </p:nvCxnSpPr>
          <p:spPr>
            <a:xfrm>
              <a:off x="39289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/>
          <p:cNvGrpSpPr/>
          <p:nvPr/>
        </p:nvGrpSpPr>
        <p:grpSpPr>
          <a:xfrm>
            <a:off x="6824515" y="3505200"/>
            <a:ext cx="414485" cy="1035237"/>
            <a:chOff x="3928915" y="4222563"/>
            <a:chExt cx="414485" cy="1035237"/>
          </a:xfrm>
        </p:grpSpPr>
        <p:sp>
          <p:nvSpPr>
            <p:cNvPr id="84" name="Oval 83"/>
            <p:cNvSpPr/>
            <p:nvPr/>
          </p:nvSpPr>
          <p:spPr>
            <a:xfrm>
              <a:off x="4038600" y="4953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5" name="Straight Arrow Connector 84"/>
            <p:cNvCxnSpPr>
              <a:endCxn id="84" idx="0"/>
            </p:cNvCxnSpPr>
            <p:nvPr/>
          </p:nvCxnSpPr>
          <p:spPr>
            <a:xfrm>
              <a:off x="3928915" y="4222563"/>
              <a:ext cx="262085" cy="7304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1600200" y="4540437"/>
            <a:ext cx="685800" cy="1098363"/>
            <a:chOff x="1600200" y="4540437"/>
            <a:chExt cx="685800" cy="1098363"/>
          </a:xfrm>
        </p:grpSpPr>
        <p:grpSp>
          <p:nvGrpSpPr>
            <p:cNvPr id="86" name="Group 85"/>
            <p:cNvGrpSpPr/>
            <p:nvPr/>
          </p:nvGrpSpPr>
          <p:grpSpPr>
            <a:xfrm>
              <a:off x="1981200" y="4572000"/>
              <a:ext cx="304800" cy="1066800"/>
              <a:chOff x="3852715" y="4222563"/>
              <a:chExt cx="304800" cy="1066800"/>
            </a:xfrm>
          </p:grpSpPr>
          <p:sp>
            <p:nvSpPr>
              <p:cNvPr id="87" name="Oval 86"/>
              <p:cNvSpPr/>
              <p:nvPr/>
            </p:nvSpPr>
            <p:spPr>
              <a:xfrm>
                <a:off x="3852715" y="4984563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8" name="Straight Arrow Connector 87"/>
              <p:cNvCxnSpPr/>
              <p:nvPr/>
            </p:nvCxnSpPr>
            <p:spPr>
              <a:xfrm>
                <a:off x="3884279" y="4222563"/>
                <a:ext cx="120836" cy="7620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Group 88"/>
            <p:cNvGrpSpPr/>
            <p:nvPr/>
          </p:nvGrpSpPr>
          <p:grpSpPr>
            <a:xfrm>
              <a:off x="1600200" y="4540437"/>
              <a:ext cx="304800" cy="1098363"/>
              <a:chOff x="3429000" y="4235637"/>
              <a:chExt cx="304800" cy="1098363"/>
            </a:xfrm>
          </p:grpSpPr>
          <p:sp>
            <p:nvSpPr>
              <p:cNvPr id="90" name="Oval 89"/>
              <p:cNvSpPr/>
              <p:nvPr/>
            </p:nvSpPr>
            <p:spPr>
              <a:xfrm>
                <a:off x="3429000" y="50292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/>
              <p:cNvCxnSpPr/>
              <p:nvPr/>
            </p:nvCxnSpPr>
            <p:spPr>
              <a:xfrm flipH="1">
                <a:off x="3600647" y="4235637"/>
                <a:ext cx="133153" cy="80593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9" name="Group 98"/>
          <p:cNvGrpSpPr/>
          <p:nvPr/>
        </p:nvGrpSpPr>
        <p:grpSpPr>
          <a:xfrm>
            <a:off x="2438400" y="4540437"/>
            <a:ext cx="685800" cy="1098363"/>
            <a:chOff x="1600200" y="4540437"/>
            <a:chExt cx="685800" cy="1098363"/>
          </a:xfrm>
        </p:grpSpPr>
        <p:grpSp>
          <p:nvGrpSpPr>
            <p:cNvPr id="100" name="Group 99"/>
            <p:cNvGrpSpPr/>
            <p:nvPr/>
          </p:nvGrpSpPr>
          <p:grpSpPr>
            <a:xfrm>
              <a:off x="1981200" y="4572000"/>
              <a:ext cx="304800" cy="1066800"/>
              <a:chOff x="3852715" y="4222563"/>
              <a:chExt cx="304800" cy="1066800"/>
            </a:xfrm>
          </p:grpSpPr>
          <p:sp>
            <p:nvSpPr>
              <p:cNvPr id="104" name="Oval 103"/>
              <p:cNvSpPr/>
              <p:nvPr/>
            </p:nvSpPr>
            <p:spPr>
              <a:xfrm>
                <a:off x="3852715" y="4984563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Straight Arrow Connector 104"/>
              <p:cNvCxnSpPr/>
              <p:nvPr/>
            </p:nvCxnSpPr>
            <p:spPr>
              <a:xfrm>
                <a:off x="3884279" y="4222563"/>
                <a:ext cx="120836" cy="7620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Group 100"/>
            <p:cNvGrpSpPr/>
            <p:nvPr/>
          </p:nvGrpSpPr>
          <p:grpSpPr>
            <a:xfrm>
              <a:off x="1600200" y="4540437"/>
              <a:ext cx="304800" cy="1098363"/>
              <a:chOff x="3429000" y="4235637"/>
              <a:chExt cx="304800" cy="1098363"/>
            </a:xfrm>
          </p:grpSpPr>
          <p:sp>
            <p:nvSpPr>
              <p:cNvPr id="102" name="Oval 101"/>
              <p:cNvSpPr/>
              <p:nvPr/>
            </p:nvSpPr>
            <p:spPr>
              <a:xfrm>
                <a:off x="3429000" y="50292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3" name="Straight Arrow Connector 102"/>
              <p:cNvCxnSpPr/>
              <p:nvPr/>
            </p:nvCxnSpPr>
            <p:spPr>
              <a:xfrm flipH="1">
                <a:off x="3600647" y="4235637"/>
                <a:ext cx="133153" cy="80593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3" name="TextBox 112"/>
          <p:cNvSpPr txBox="1"/>
          <p:nvPr/>
        </p:nvSpPr>
        <p:spPr>
          <a:xfrm>
            <a:off x="4724400" y="4202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524896" y="4191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058296" y="4267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896496" y="4191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562496" y="5334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98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943496" y="5334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85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400696" y="5334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47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781696" y="5334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</a:t>
            </a:r>
          </a:p>
        </p:txBody>
      </p:sp>
      <p:grpSp>
        <p:nvGrpSpPr>
          <p:cNvPr id="132" name="Group 131"/>
          <p:cNvGrpSpPr/>
          <p:nvPr/>
        </p:nvGrpSpPr>
        <p:grpSpPr>
          <a:xfrm>
            <a:off x="3162696" y="4572703"/>
            <a:ext cx="418704" cy="1130629"/>
            <a:chOff x="3162696" y="4572703"/>
            <a:chExt cx="418704" cy="1130629"/>
          </a:xfrm>
        </p:grpSpPr>
        <p:cxnSp>
          <p:nvCxnSpPr>
            <p:cNvPr id="115" name="Straight Arrow Connector 114"/>
            <p:cNvCxnSpPr/>
            <p:nvPr/>
          </p:nvCxnSpPr>
          <p:spPr>
            <a:xfrm flipH="1">
              <a:off x="3314304" y="4572703"/>
              <a:ext cx="210144" cy="76129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Oval 115"/>
            <p:cNvSpPr/>
            <p:nvPr/>
          </p:nvSpPr>
          <p:spPr>
            <a:xfrm>
              <a:off x="3200400" y="5334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3162696" y="53340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25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762000" y="5867400"/>
            <a:ext cx="7924800" cy="381000"/>
            <a:chOff x="762000" y="5867400"/>
            <a:chExt cx="7924800" cy="381000"/>
          </a:xfrm>
        </p:grpSpPr>
        <p:sp>
          <p:nvSpPr>
            <p:cNvPr id="136" name="Rectangle 135"/>
            <p:cNvSpPr/>
            <p:nvPr/>
          </p:nvSpPr>
          <p:spPr>
            <a:xfrm>
              <a:off x="762000" y="5867400"/>
              <a:ext cx="7924800" cy="3810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7" name="Straight Connector 136"/>
            <p:cNvCxnSpPr/>
            <p:nvPr/>
          </p:nvCxnSpPr>
          <p:spPr>
            <a:xfrm>
              <a:off x="1143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>
              <a:off x="1524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>
              <a:off x="1905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>
              <a:off x="2286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>
              <a:off x="2667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3048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/>
          </p:nvCxnSpPr>
          <p:spPr>
            <a:xfrm>
              <a:off x="3429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/>
          </p:nvCxnSpPr>
          <p:spPr>
            <a:xfrm>
              <a:off x="4572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>
              <a:off x="4953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>
              <a:off x="5334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>
              <a:off x="5715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/>
          </p:nvCxnSpPr>
          <p:spPr>
            <a:xfrm>
              <a:off x="6096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/>
          </p:nvCxnSpPr>
          <p:spPr>
            <a:xfrm>
              <a:off x="6477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/>
          </p:nvCxnSpPr>
          <p:spPr>
            <a:xfrm>
              <a:off x="6858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/>
            <p:cNvSpPr txBox="1"/>
            <p:nvPr/>
          </p:nvSpPr>
          <p:spPr>
            <a:xfrm>
              <a:off x="838200" y="5867400"/>
              <a:ext cx="7646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9   </a:t>
              </a:r>
              <a:r>
                <a:rPr lang="en-US" b="1" dirty="0">
                  <a:solidFill>
                    <a:srgbClr val="0070C0"/>
                  </a:solidFill>
                </a:rPr>
                <a:t>11</a:t>
              </a:r>
              <a:r>
                <a:rPr lang="en-US" dirty="0"/>
                <a:t>  21   17   14   33   29  71   37   23   88   41  52   32   76   98   85   47  57      </a:t>
              </a:r>
            </a:p>
          </p:txBody>
        </p:sp>
        <p:cxnSp>
          <p:nvCxnSpPr>
            <p:cNvPr id="151" name="Straight Connector 150"/>
            <p:cNvCxnSpPr/>
            <p:nvPr/>
          </p:nvCxnSpPr>
          <p:spPr>
            <a:xfrm>
              <a:off x="3810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/>
          </p:nvCxnSpPr>
          <p:spPr>
            <a:xfrm>
              <a:off x="4191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/>
          </p:nvCxnSpPr>
          <p:spPr>
            <a:xfrm>
              <a:off x="7239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>
              <a:off x="7620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/>
          </p:nvCxnSpPr>
          <p:spPr>
            <a:xfrm>
              <a:off x="8001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/>
          </p:nvCxnSpPr>
          <p:spPr>
            <a:xfrm>
              <a:off x="8382000" y="5867400"/>
              <a:ext cx="0" cy="3810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8" name="TextBox 157"/>
          <p:cNvSpPr txBox="1"/>
          <p:nvPr/>
        </p:nvSpPr>
        <p:spPr>
          <a:xfrm>
            <a:off x="7963296" y="5879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</a:t>
            </a:r>
          </a:p>
        </p:txBody>
      </p:sp>
      <p:cxnSp>
        <p:nvCxnSpPr>
          <p:cNvPr id="109" name="Straight Arrow Connector 108"/>
          <p:cNvCxnSpPr/>
          <p:nvPr/>
        </p:nvCxnSpPr>
        <p:spPr>
          <a:xfrm flipV="1">
            <a:off x="3372048" y="1664732"/>
            <a:ext cx="1160691" cy="723520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Group 109"/>
          <p:cNvGrpSpPr/>
          <p:nvPr/>
        </p:nvGrpSpPr>
        <p:grpSpPr>
          <a:xfrm>
            <a:off x="990600" y="6264693"/>
            <a:ext cx="381000" cy="364706"/>
            <a:chOff x="1576038" y="6362702"/>
            <a:chExt cx="381000" cy="364706"/>
          </a:xfrm>
        </p:grpSpPr>
        <p:sp>
          <p:nvSpPr>
            <p:cNvPr id="111" name="Freeform 110"/>
            <p:cNvSpPr/>
            <p:nvPr/>
          </p:nvSpPr>
          <p:spPr>
            <a:xfrm>
              <a:off x="1576038" y="6647661"/>
              <a:ext cx="381000" cy="79747"/>
            </a:xfrm>
            <a:custGeom>
              <a:avLst/>
              <a:gdLst>
                <a:gd name="connsiteX0" fmla="*/ 0 w 5096108"/>
                <a:gd name="connsiteY0" fmla="*/ 0 h 293155"/>
                <a:gd name="connsiteX1" fmla="*/ 223025 w 5096108"/>
                <a:gd name="connsiteY1" fmla="*/ 223024 h 293155"/>
                <a:gd name="connsiteX2" fmla="*/ 825190 w 5096108"/>
                <a:gd name="connsiteY2" fmla="*/ 289931 h 293155"/>
                <a:gd name="connsiteX3" fmla="*/ 3880625 w 5096108"/>
                <a:gd name="connsiteY3" fmla="*/ 278780 h 293155"/>
                <a:gd name="connsiteX4" fmla="*/ 4683512 w 5096108"/>
                <a:gd name="connsiteY4" fmla="*/ 245326 h 293155"/>
                <a:gd name="connsiteX5" fmla="*/ 4995747 w 5096108"/>
                <a:gd name="connsiteY5" fmla="*/ 167268 h 293155"/>
                <a:gd name="connsiteX6" fmla="*/ 5096108 w 5096108"/>
                <a:gd name="connsiteY6" fmla="*/ 0 h 293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96108" h="293155">
                  <a:moveTo>
                    <a:pt x="0" y="0"/>
                  </a:moveTo>
                  <a:cubicBezTo>
                    <a:pt x="42746" y="87351"/>
                    <a:pt x="85493" y="174702"/>
                    <a:pt x="223025" y="223024"/>
                  </a:cubicBezTo>
                  <a:cubicBezTo>
                    <a:pt x="360557" y="271346"/>
                    <a:pt x="215590" y="280638"/>
                    <a:pt x="825190" y="289931"/>
                  </a:cubicBezTo>
                  <a:cubicBezTo>
                    <a:pt x="1434790" y="299224"/>
                    <a:pt x="3237571" y="286214"/>
                    <a:pt x="3880625" y="278780"/>
                  </a:cubicBezTo>
                  <a:cubicBezTo>
                    <a:pt x="4523679" y="271346"/>
                    <a:pt x="4497658" y="263911"/>
                    <a:pt x="4683512" y="245326"/>
                  </a:cubicBezTo>
                  <a:cubicBezTo>
                    <a:pt x="4869366" y="226741"/>
                    <a:pt x="4926981" y="208156"/>
                    <a:pt x="4995747" y="167268"/>
                  </a:cubicBezTo>
                  <a:cubicBezTo>
                    <a:pt x="5064513" y="126380"/>
                    <a:pt x="5080310" y="63190"/>
                    <a:pt x="5096108" y="0"/>
                  </a:cubicBezTo>
                </a:path>
              </a:pathLst>
            </a:custGeom>
            <a:ln w="57150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2" name="Straight Arrow Connector 111"/>
            <p:cNvCxnSpPr/>
            <p:nvPr/>
          </p:nvCxnSpPr>
          <p:spPr>
            <a:xfrm flipV="1">
              <a:off x="1576038" y="6362703"/>
              <a:ext cx="30013" cy="296216"/>
            </a:xfrm>
            <a:prstGeom prst="straightConnector1">
              <a:avLst/>
            </a:prstGeom>
            <a:ln w="57150">
              <a:solidFill>
                <a:srgbClr val="C000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/>
            <p:cNvCxnSpPr/>
            <p:nvPr/>
          </p:nvCxnSpPr>
          <p:spPr>
            <a:xfrm flipV="1">
              <a:off x="1957038" y="6362702"/>
              <a:ext cx="0" cy="284960"/>
            </a:xfrm>
            <a:prstGeom prst="straightConnector1">
              <a:avLst/>
            </a:prstGeom>
            <a:ln w="57150">
              <a:solidFill>
                <a:srgbClr val="C000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TextBox 116"/>
          <p:cNvSpPr txBox="1"/>
          <p:nvPr/>
        </p:nvSpPr>
        <p:spPr>
          <a:xfrm>
            <a:off x="381000" y="5791200"/>
            <a:ext cx="410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H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76699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Insert(</a:t>
            </a:r>
            <a:r>
              <a:rPr lang="en-US" sz="3600" b="1" dirty="0" err="1">
                <a:solidFill>
                  <a:srgbClr val="0070C0"/>
                </a:solidFill>
              </a:rPr>
              <a:t>x</a:t>
            </a:r>
            <a:r>
              <a:rPr lang="en-US" sz="3600" b="1" dirty="0" err="1">
                <a:solidFill>
                  <a:srgbClr val="7030A0"/>
                </a:solidFill>
              </a:rPr>
              <a:t>,H</a:t>
            </a:r>
            <a:r>
              <a:rPr lang="en-US" sz="3600" b="1" dirty="0">
                <a:solidFill>
                  <a:srgbClr val="7030A0"/>
                </a:solidFill>
              </a:rPr>
              <a:t>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Insert(</a:t>
                </a:r>
                <a:r>
                  <a:rPr lang="en-US" sz="2000" b="1" dirty="0" err="1">
                    <a:solidFill>
                      <a:srgbClr val="0070C0"/>
                    </a:solidFill>
                  </a:rPr>
                  <a:t>x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,</a:t>
                </a:r>
                <a:r>
                  <a:rPr lang="en-US" sz="2000" b="1" dirty="0" err="1"/>
                  <a:t>H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)</a:t>
                </a:r>
                <a:endParaRPr lang="en-US" sz="2000" b="1" i="1" dirty="0">
                  <a:solidFill>
                    <a:srgbClr val="0070C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b="1" dirty="0"/>
                  <a:t>{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size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ym typeface="Wingdings" pitchFamily="2" charset="2"/>
                  </a:rPr>
                  <a:t>H</a:t>
                </a:r>
                <a:r>
                  <a:rPr lang="en-US" sz="20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</a:t>
                </a:r>
                <a:r>
                  <a:rPr lang="en-US" sz="2000" b="1" dirty="0">
                    <a:sym typeface="Wingdings" pitchFamily="2" charset="2"/>
                  </a:rPr>
                  <a:t>H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size</a:t>
                </a:r>
                <a:r>
                  <a:rPr lang="en-US" sz="2000" dirty="0">
                    <a:sym typeface="Wingdings" pitchFamily="2" charset="2"/>
                  </a:rPr>
                  <a:t>) 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x</a:t>
                </a:r>
                <a:r>
                  <a:rPr lang="en-US" sz="20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       size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ym typeface="Wingdings" pitchFamily="2" charset="2"/>
                  </a:rPr>
                  <a:t>H</a:t>
                </a:r>
                <a:r>
                  <a:rPr lang="en-US" sz="2000" dirty="0">
                    <a:sym typeface="Wingdings" pitchFamily="2" charset="2"/>
                  </a:rPr>
                  <a:t>) 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size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ym typeface="Wingdings" pitchFamily="2" charset="2"/>
                  </a:rPr>
                  <a:t>H</a:t>
                </a:r>
                <a:r>
                  <a:rPr lang="en-US" sz="2000" dirty="0">
                    <a:sym typeface="Wingdings" pitchFamily="2" charset="2"/>
                  </a:rPr>
                  <a:t>)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+ </a:t>
                </a:r>
                <a:r>
                  <a:rPr lang="en-US" sz="2000" dirty="0">
                    <a:solidFill>
                      <a:srgbClr val="0070C0"/>
                    </a:solidFill>
                  </a:rPr>
                  <a:t>1</a:t>
                </a:r>
                <a:r>
                  <a:rPr lang="en-US" sz="2000" b="1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While(         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??            </a:t>
                </a:r>
                <a:r>
                  <a:rPr lang="en-US" sz="2000" b="1" dirty="0"/>
                  <a:t>    and                   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??</a:t>
                </a:r>
                <a:r>
                  <a:rPr lang="en-US" sz="2000" b="1" dirty="0"/>
                  <a:t>               )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{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??</a:t>
                </a:r>
                <a:r>
                  <a:rPr lang="en-US" sz="2000" b="1" dirty="0"/>
                  <a:t>     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}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}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                                                   Time complexity: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b="1" dirty="0"/>
                  <a:t>(log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n</a:t>
                </a:r>
                <a:r>
                  <a:rPr lang="en-US" sz="2000" b="1" dirty="0"/>
                  <a:t>)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943" b="-16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178179" y="3059668"/>
                <a:ext cx="2146421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H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dirty="0"/>
                  <a:t>) &lt;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b="1" dirty="0"/>
                  <a:t>H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)/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e>
                    </m:d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179" y="3059668"/>
                <a:ext cx="2146421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266" t="-8197" r="-453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334104" y="3821668"/>
                <a:ext cx="2399696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H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dirty="0"/>
                  <a:t>) </a:t>
                </a:r>
                <a:r>
                  <a:rPr lang="en-US" b="1" dirty="0">
                    <a:solidFill>
                      <a:srgbClr val="C00000"/>
                    </a:solidFill>
                  </a:rPr>
                  <a:t>↔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b="1" dirty="0"/>
                  <a:t>H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)/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e>
                    </m:d>
                  </m:oMath>
                </a14:m>
                <a:r>
                  <a:rPr lang="en-US" dirty="0"/>
                  <a:t>);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104" y="3821668"/>
                <a:ext cx="2399696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2284" t="-8197" r="-355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438400" y="3135868"/>
                <a:ext cx="606256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&gt; </a:t>
                </a:r>
                <a:r>
                  <a:rPr lang="en-US" dirty="0">
                    <a:solidFill>
                      <a:srgbClr val="0070C0"/>
                    </a:solidFill>
                  </a:rPr>
                  <a:t>0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3135868"/>
                <a:ext cx="606256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1616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69027" y="4202668"/>
                <a:ext cx="1907573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 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)/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e>
                    </m:d>
                  </m:oMath>
                </a14:m>
                <a:r>
                  <a:rPr lang="en-US" dirty="0"/>
                  <a:t> ;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9027" y="4202668"/>
                <a:ext cx="1907573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9836" r="-447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13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8" grpId="0" animBg="1"/>
      <p:bldP spid="9" grpId="0" animBg="1"/>
      <p:bldP spid="10" grpId="0" uiExpand="1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The remaining operations on Binary heap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endParaRPr lang="en-US" sz="2000" b="1" dirty="0">
                  <a:solidFill>
                    <a:srgbClr val="C00000"/>
                  </a:solidFill>
                </a:endParaRPr>
              </a:p>
              <a:p>
                <a:endParaRPr lang="en-US" sz="2000" b="1" dirty="0">
                  <a:solidFill>
                    <a:srgbClr val="C00000"/>
                  </a:solidFill>
                </a:endParaRPr>
              </a:p>
              <a:p>
                <a:r>
                  <a:rPr lang="en-US" sz="2000" b="1" dirty="0">
                    <a:solidFill>
                      <a:srgbClr val="C00000"/>
                    </a:solidFill>
                  </a:rPr>
                  <a:t>Decrease-key</a:t>
                </a:r>
                <a:r>
                  <a:rPr lang="en-US" sz="2000" dirty="0"/>
                  <a:t>(</a:t>
                </a:r>
                <a:r>
                  <a:rPr lang="en-US" sz="2000" b="1" i="1" dirty="0">
                    <a:solidFill>
                      <a:srgbClr val="0070C0"/>
                    </a:solidFill>
                  </a:rPr>
                  <a:t>p</a:t>
                </a:r>
                <a:r>
                  <a:rPr lang="en-US" sz="2000" dirty="0"/>
                  <a:t>, </a:t>
                </a:r>
                <a:r>
                  <a:rPr lang="en-US" sz="2000" dirty="0">
                    <a:solidFill>
                      <a:srgbClr val="0070C0"/>
                    </a:solidFill>
                  </a:rPr>
                  <a:t>∆</a:t>
                </a:r>
                <a:r>
                  <a:rPr lang="en-US" sz="2000" dirty="0"/>
                  <a:t>,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H</a:t>
                </a:r>
                <a:r>
                  <a:rPr lang="en-US" sz="2000" dirty="0"/>
                  <a:t>): decrease the value of the key </a:t>
                </a:r>
                <a:r>
                  <a:rPr lang="en-US" sz="2000" b="1" i="1" dirty="0">
                    <a:solidFill>
                      <a:srgbClr val="0070C0"/>
                    </a:solidFill>
                  </a:rPr>
                  <a:t>p</a:t>
                </a:r>
                <a:r>
                  <a:rPr lang="en-US" sz="2000" dirty="0"/>
                  <a:t> by amount </a:t>
                </a:r>
                <a:r>
                  <a:rPr lang="en-US" sz="2000" dirty="0">
                    <a:solidFill>
                      <a:srgbClr val="0070C0"/>
                    </a:solidFill>
                  </a:rPr>
                  <a:t>∆</a:t>
                </a:r>
                <a:r>
                  <a:rPr lang="en-US" sz="2000" b="1" dirty="0"/>
                  <a:t>.  </a:t>
                </a:r>
              </a:p>
              <a:p>
                <a:pPr lvl="1"/>
                <a:r>
                  <a:rPr lang="en-US" sz="1600" dirty="0"/>
                  <a:t>Similar to</a:t>
                </a:r>
                <a:r>
                  <a:rPr lang="en-US" sz="1600" b="1" dirty="0"/>
                  <a:t> 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Insert</a:t>
                </a:r>
                <a:r>
                  <a:rPr lang="en-US" sz="1600" b="1" dirty="0"/>
                  <a:t>(</a:t>
                </a:r>
                <a:r>
                  <a:rPr lang="en-US" sz="1600" b="1" dirty="0" err="1">
                    <a:solidFill>
                      <a:srgbClr val="0070C0"/>
                    </a:solidFill>
                  </a:rPr>
                  <a:t>x</a:t>
                </a:r>
                <a:r>
                  <a:rPr lang="en-US" sz="1600" b="1" dirty="0" err="1"/>
                  <a:t>,</a:t>
                </a:r>
                <a:r>
                  <a:rPr lang="en-US" sz="1600" b="1" dirty="0" err="1">
                    <a:solidFill>
                      <a:srgbClr val="0070C0"/>
                    </a:solidFill>
                  </a:rPr>
                  <a:t>H</a:t>
                </a:r>
                <a:r>
                  <a:rPr lang="en-US" sz="1600" b="1" dirty="0"/>
                  <a:t>).</a:t>
                </a:r>
              </a:p>
              <a:p>
                <a:pPr lvl="1"/>
                <a:r>
                  <a:rPr lang="en-US" sz="16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600" b="1" dirty="0"/>
                  <a:t>(</a:t>
                </a:r>
                <a:r>
                  <a:rPr lang="en-US" sz="1600" dirty="0"/>
                  <a:t>log</a:t>
                </a:r>
                <a:r>
                  <a:rPr lang="en-US" sz="1600" b="1" dirty="0"/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600" b="1" dirty="0"/>
                  <a:t>) time </a:t>
                </a:r>
              </a:p>
              <a:p>
                <a:pPr lvl="1"/>
                <a:r>
                  <a:rPr lang="en-US" sz="1600" dirty="0"/>
                  <a:t>Do it as an exercise</a:t>
                </a:r>
              </a:p>
              <a:p>
                <a:pPr marL="457200" lvl="1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r>
                  <a:rPr lang="en-US" sz="2000" b="1" dirty="0">
                    <a:solidFill>
                      <a:srgbClr val="C00000"/>
                    </a:solidFill>
                  </a:rPr>
                  <a:t>Merge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H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1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,H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2</a:t>
                </a:r>
                <a:r>
                  <a:rPr lang="en-US" sz="2000" dirty="0"/>
                  <a:t>): Merge two heaps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H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1</a:t>
                </a:r>
                <a:r>
                  <a:rPr lang="en-US" sz="2000" b="1" dirty="0"/>
                  <a:t> and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H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2</a:t>
                </a:r>
                <a:r>
                  <a:rPr lang="en-US" sz="2000" dirty="0"/>
                  <a:t>.</a:t>
                </a:r>
              </a:p>
              <a:p>
                <a:pPr lvl="1"/>
                <a:r>
                  <a:rPr lang="en-US" sz="16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600" b="1" dirty="0"/>
                  <a:t>(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600" b="1" dirty="0"/>
                  <a:t>) time </a:t>
                </a:r>
                <a:r>
                  <a:rPr lang="en-US" sz="1600" dirty="0"/>
                  <a:t>where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1600" dirty="0"/>
                  <a:t>= total number of elements in 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H</a:t>
                </a:r>
                <a:r>
                  <a:rPr lang="en-US" sz="1200" b="1" dirty="0">
                    <a:solidFill>
                      <a:srgbClr val="0070C0"/>
                    </a:solidFill>
                  </a:rPr>
                  <a:t>1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1600" dirty="0"/>
                  <a:t>and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H</a:t>
                </a:r>
                <a:r>
                  <a:rPr lang="en-US" sz="1200" b="1" dirty="0">
                    <a:solidFill>
                      <a:srgbClr val="0070C0"/>
                    </a:solidFill>
                  </a:rPr>
                  <a:t>2</a:t>
                </a:r>
              </a:p>
              <a:p>
                <a:pPr marL="457200" lvl="1" indent="0">
                  <a:buNone/>
                </a:pPr>
                <a:r>
                  <a:rPr lang="en-US" sz="1600" b="1" dirty="0"/>
                  <a:t>                    (This is because of the array implementation)</a:t>
                </a:r>
              </a:p>
              <a:p>
                <a:pPr lvl="1"/>
                <a:endParaRPr lang="en-US" sz="16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82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Other heaps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Fibonacci</a:t>
            </a:r>
            <a:r>
              <a:rPr lang="en-US" sz="2000" b="1" dirty="0"/>
              <a:t> heap </a:t>
            </a:r>
            <a:r>
              <a:rPr lang="en-US" sz="2000" dirty="0"/>
              <a:t>: a </a:t>
            </a:r>
            <a:r>
              <a:rPr lang="en-US" sz="2000" b="1" dirty="0"/>
              <a:t>link</a:t>
            </a:r>
            <a:r>
              <a:rPr lang="en-US" sz="2000" dirty="0"/>
              <a:t> based data structure.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242727"/>
              </p:ext>
            </p:extLst>
          </p:nvPr>
        </p:nvGraphicFramePr>
        <p:xfrm>
          <a:off x="1524000" y="3048000"/>
          <a:ext cx="609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Binary heap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Fibonacci</a:t>
                      </a:r>
                      <a:r>
                        <a:rPr lang="en-US" dirty="0"/>
                        <a:t> heap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Find-min</a:t>
                      </a:r>
                      <a:r>
                        <a:rPr lang="en-US" sz="1800" dirty="0"/>
                        <a:t>(</a:t>
                      </a:r>
                      <a:r>
                        <a:rPr lang="en-US" sz="1800" b="1" dirty="0">
                          <a:solidFill>
                            <a:srgbClr val="0070C0"/>
                          </a:solidFill>
                        </a:rPr>
                        <a:t>H</a:t>
                      </a:r>
                      <a:r>
                        <a:rPr lang="en-US" sz="1800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Insert</a:t>
                      </a:r>
                      <a:r>
                        <a:rPr lang="en-US" sz="1800" dirty="0"/>
                        <a:t>(</a:t>
                      </a:r>
                      <a:r>
                        <a:rPr lang="en-US" sz="1800" b="1" dirty="0" err="1">
                          <a:solidFill>
                            <a:srgbClr val="0070C0"/>
                          </a:solidFill>
                        </a:rPr>
                        <a:t>x</a:t>
                      </a:r>
                      <a:r>
                        <a:rPr lang="en-US" sz="1800" dirty="0" err="1"/>
                        <a:t>,</a:t>
                      </a:r>
                      <a:r>
                        <a:rPr lang="en-US" sz="1800" b="1" dirty="0" err="1">
                          <a:solidFill>
                            <a:srgbClr val="0070C0"/>
                          </a:solidFill>
                        </a:rPr>
                        <a:t>H</a:t>
                      </a:r>
                      <a:r>
                        <a:rPr lang="en-US" sz="1800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Extract-min</a:t>
                      </a:r>
                      <a:r>
                        <a:rPr lang="en-US" sz="1800" dirty="0"/>
                        <a:t>(</a:t>
                      </a:r>
                      <a:r>
                        <a:rPr lang="en-US" sz="1800" b="1" dirty="0">
                          <a:solidFill>
                            <a:srgbClr val="0070C0"/>
                          </a:solidFill>
                        </a:rPr>
                        <a:t>H</a:t>
                      </a:r>
                      <a:r>
                        <a:rPr lang="en-US" sz="1800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Decrease-key</a:t>
                      </a:r>
                      <a:r>
                        <a:rPr lang="en-US" sz="1800" dirty="0"/>
                        <a:t>(</a:t>
                      </a:r>
                      <a:r>
                        <a:rPr lang="en-US" sz="1800" b="1" i="1" dirty="0">
                          <a:solidFill>
                            <a:srgbClr val="0070C0"/>
                          </a:solidFill>
                        </a:rPr>
                        <a:t>p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>
                          <a:solidFill>
                            <a:srgbClr val="0070C0"/>
                          </a:solidFill>
                        </a:rPr>
                        <a:t>∆</a:t>
                      </a:r>
                      <a:r>
                        <a:rPr lang="en-US" sz="1800" dirty="0"/>
                        <a:t>, </a:t>
                      </a:r>
                      <a:r>
                        <a:rPr lang="en-US" sz="1800" b="1" dirty="0">
                          <a:solidFill>
                            <a:srgbClr val="0070C0"/>
                          </a:solidFill>
                        </a:rPr>
                        <a:t>H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Merge</a:t>
                      </a:r>
                      <a:r>
                        <a:rPr lang="en-US" sz="1800" dirty="0"/>
                        <a:t>(</a:t>
                      </a:r>
                      <a:r>
                        <a:rPr lang="en-US" sz="1800" b="1" dirty="0">
                          <a:solidFill>
                            <a:srgbClr val="0070C0"/>
                          </a:solidFill>
                        </a:rPr>
                        <a:t>H</a:t>
                      </a:r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sz="1800" b="1" dirty="0">
                          <a:solidFill>
                            <a:srgbClr val="0070C0"/>
                          </a:solidFill>
                        </a:rPr>
                        <a:t>,H</a:t>
                      </a:r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2</a:t>
                      </a:r>
                      <a:r>
                        <a:rPr lang="en-US" sz="1800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Down Ribbon 2"/>
          <p:cNvSpPr/>
          <p:nvPr/>
        </p:nvSpPr>
        <p:spPr>
          <a:xfrm>
            <a:off x="1066800" y="5562600"/>
            <a:ext cx="7010400" cy="8382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Fibonacci Heaps are not part of this course.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You can read about them by yourselves.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0" y="3505200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O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1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284123" y="4202668"/>
                <a:ext cx="9548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/>
                  <a:t>(log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4123" y="4202668"/>
                <a:ext cx="954877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5732" t="-8197" r="-955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477000" y="382166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O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1</a:t>
            </a:r>
            <a:r>
              <a:rPr lang="en-US" dirty="0"/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458366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O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1</a:t>
            </a:r>
            <a:r>
              <a:rPr lang="en-US" dirty="0"/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496466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O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1</a:t>
            </a:r>
            <a:r>
              <a:rPr lang="en-US" dirty="0"/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2400" y="3505200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O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1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962400" y="3821668"/>
                <a:ext cx="9548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/>
                  <a:t>(log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3821668"/>
                <a:ext cx="954877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5096" t="-8197" r="-955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962400" y="4202668"/>
                <a:ext cx="9548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/>
                  <a:t>(log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4202668"/>
                <a:ext cx="954877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5096" t="-8197" r="-955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962400" y="4583668"/>
                <a:ext cx="9548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/>
                  <a:t>(log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4583668"/>
                <a:ext cx="954877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5096" t="-8197" r="-955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998123" y="4964668"/>
                <a:ext cx="6182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8123" y="4964668"/>
                <a:ext cx="618246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8911" t="-8197" r="-1782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451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  <p:bldP spid="3" grpId="0" animBg="1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Building</a:t>
            </a:r>
            <a:r>
              <a:rPr lang="en-US" sz="3600" b="1" dirty="0">
                <a:solidFill>
                  <a:srgbClr val="7030A0"/>
                </a:solidFill>
              </a:rPr>
              <a:t> </a:t>
            </a:r>
            <a:r>
              <a:rPr lang="en-US" sz="3600" b="1" dirty="0"/>
              <a:t>a</a:t>
            </a:r>
            <a:r>
              <a:rPr lang="en-US" sz="3600" b="1" dirty="0">
                <a:solidFill>
                  <a:srgbClr val="7030A0"/>
                </a:solidFill>
              </a:rPr>
              <a:t> Binary heap</a:t>
            </a:r>
            <a:endParaRPr lang="en-US" sz="3200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sz="2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31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Building</a:t>
            </a:r>
            <a:r>
              <a:rPr lang="en-US" sz="3600" b="1" dirty="0">
                <a:solidFill>
                  <a:srgbClr val="7030A0"/>
                </a:solidFill>
              </a:rPr>
              <a:t> </a:t>
            </a:r>
            <a:r>
              <a:rPr lang="en-US" sz="3600" b="1" dirty="0"/>
              <a:t>a</a:t>
            </a:r>
            <a:r>
              <a:rPr lang="en-US" sz="3600" b="1" dirty="0">
                <a:solidFill>
                  <a:srgbClr val="7030A0"/>
                </a:solidFill>
              </a:rPr>
              <a:t> Binary heap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600200"/>
                <a:ext cx="84582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4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Problem:</a:t>
                </a:r>
                <a:r>
                  <a:rPr lang="en-US" sz="2400" b="1" dirty="0"/>
                  <a:t> </a:t>
                </a:r>
                <a:r>
                  <a:rPr lang="en-US" sz="2000" dirty="0"/>
                  <a:t>Given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n</a:t>
                </a:r>
                <a:r>
                  <a:rPr lang="en-US" sz="2000" dirty="0"/>
                  <a:t> elements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000" dirty="0"/>
                  <a:t>}, build a binary </a:t>
                </a:r>
                <a:r>
                  <a:rPr lang="en-US" sz="2000" b="1" dirty="0"/>
                  <a:t>heap H</a:t>
                </a:r>
                <a:r>
                  <a:rPr lang="en-US" sz="2000" dirty="0"/>
                  <a:t> storing them.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Trivial solution: </a:t>
                </a:r>
              </a:p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(</a:t>
                </a:r>
                <a:r>
                  <a:rPr lang="en-US" sz="2000" dirty="0"/>
                  <a:t>Building the Binary heap </a:t>
                </a:r>
                <a:r>
                  <a:rPr lang="en-US" sz="2000" dirty="0">
                    <a:solidFill>
                      <a:srgbClr val="0070C0"/>
                    </a:solidFill>
                  </a:rPr>
                  <a:t>incrementally</a:t>
                </a:r>
                <a:r>
                  <a:rPr lang="en-US" sz="20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           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CreateHeap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H</a:t>
                </a:r>
                <a:r>
                  <a:rPr lang="en-US" sz="2000" dirty="0"/>
                  <a:t>);</a:t>
                </a:r>
                <a:endParaRPr lang="en-US" sz="2000" b="1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/>
                  <a:t>           </a:t>
                </a:r>
                <a:r>
                  <a:rPr lang="en-US" sz="2000" b="1" dirty="0"/>
                  <a:t>For(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= </a:t>
                </a:r>
                <a:r>
                  <a:rPr lang="en-US" sz="2000" dirty="0">
                    <a:solidFill>
                      <a:srgbClr val="0070C0"/>
                    </a:solidFill>
                  </a:rPr>
                  <a:t>0</a:t>
                </a:r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b="1" dirty="0"/>
                  <a:t> )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       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Insert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b="1" dirty="0"/>
                  <a:t>H);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600200"/>
                <a:ext cx="8458200" cy="4525963"/>
              </a:xfrm>
              <a:blipFill rotWithShape="1">
                <a:blip r:embed="rId2"/>
                <a:stretch>
                  <a:fillRect l="-1154" t="-1078" r="-5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5" name="Cloud Callout 4"/>
          <p:cNvSpPr/>
          <p:nvPr/>
        </p:nvSpPr>
        <p:spPr>
          <a:xfrm>
            <a:off x="4953000" y="4340352"/>
            <a:ext cx="3505200" cy="1146048"/>
          </a:xfrm>
          <a:prstGeom prst="cloudCallout">
            <a:avLst>
              <a:gd name="adj1" fmla="val -24332"/>
              <a:gd name="adj2" fmla="val 800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is the time complexity of this algorithm?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09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Building </a:t>
            </a:r>
            <a:r>
              <a:rPr lang="en-US" sz="3600" b="1" dirty="0"/>
              <a:t>a</a:t>
            </a:r>
            <a:r>
              <a:rPr lang="en-US" sz="3600" b="1" dirty="0">
                <a:solidFill>
                  <a:srgbClr val="7030A0"/>
                </a:solidFill>
              </a:rPr>
              <a:t> Binary heap </a:t>
            </a:r>
            <a:r>
              <a:rPr lang="en-US" sz="3600" b="1" dirty="0">
                <a:solidFill>
                  <a:srgbClr val="C00000"/>
                </a:solidFill>
              </a:rPr>
              <a:t>incrementally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>
              <a:buNone/>
            </a:pPr>
            <a:endParaRPr lang="en-US" sz="1800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grpSp>
        <p:nvGrpSpPr>
          <p:cNvPr id="37" name="Group 36"/>
          <p:cNvGrpSpPr/>
          <p:nvPr/>
        </p:nvGrpSpPr>
        <p:grpSpPr>
          <a:xfrm>
            <a:off x="1562496" y="1295400"/>
            <a:ext cx="5752704" cy="4407932"/>
            <a:chOff x="1562496" y="1295400"/>
            <a:chExt cx="5752704" cy="4407932"/>
          </a:xfrm>
        </p:grpSpPr>
        <p:grpSp>
          <p:nvGrpSpPr>
            <p:cNvPr id="27" name="Group 26"/>
            <p:cNvGrpSpPr/>
            <p:nvPr/>
          </p:nvGrpSpPr>
          <p:grpSpPr>
            <a:xfrm>
              <a:off x="1600200" y="1295400"/>
              <a:ext cx="5638800" cy="4343400"/>
              <a:chOff x="1600200" y="1295400"/>
              <a:chExt cx="5638800" cy="4343400"/>
            </a:xfrm>
          </p:grpSpPr>
          <p:grpSp>
            <p:nvGrpSpPr>
              <p:cNvPr id="26" name="Group 25"/>
              <p:cNvGrpSpPr/>
              <p:nvPr/>
            </p:nvGrpSpPr>
            <p:grpSpPr>
              <a:xfrm>
                <a:off x="1600200" y="1295400"/>
                <a:ext cx="5638800" cy="4343400"/>
                <a:chOff x="1600200" y="1295400"/>
                <a:chExt cx="5638800" cy="4343400"/>
              </a:xfrm>
            </p:grpSpPr>
            <p:sp>
              <p:nvSpPr>
                <p:cNvPr id="6" name="Oval 5"/>
                <p:cNvSpPr/>
                <p:nvPr/>
              </p:nvSpPr>
              <p:spPr>
                <a:xfrm>
                  <a:off x="4419600" y="12954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5" name="Group 4"/>
                <p:cNvGrpSpPr/>
                <p:nvPr/>
              </p:nvGrpSpPr>
              <p:grpSpPr>
                <a:xfrm>
                  <a:off x="2971800" y="1524000"/>
                  <a:ext cx="1447800" cy="1066800"/>
                  <a:chOff x="2971800" y="2209800"/>
                  <a:chExt cx="1447800" cy="1066800"/>
                </a:xfrm>
              </p:grpSpPr>
              <p:cxnSp>
                <p:nvCxnSpPr>
                  <p:cNvPr id="12" name="Straight Arrow Connector 11"/>
                  <p:cNvCxnSpPr/>
                  <p:nvPr/>
                </p:nvCxnSpPr>
                <p:spPr>
                  <a:xfrm flipH="1">
                    <a:off x="3155796" y="2209800"/>
                    <a:ext cx="1263804" cy="762000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" name="Oval 13"/>
                  <p:cNvSpPr/>
                  <p:nvPr/>
                </p:nvSpPr>
                <p:spPr>
                  <a:xfrm>
                    <a:off x="2971800" y="2971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" name="Group 6"/>
                <p:cNvGrpSpPr/>
                <p:nvPr/>
              </p:nvGrpSpPr>
              <p:grpSpPr>
                <a:xfrm>
                  <a:off x="4715107" y="1524000"/>
                  <a:ext cx="1457093" cy="1016652"/>
                  <a:chOff x="4715107" y="2209800"/>
                  <a:chExt cx="1457093" cy="1016652"/>
                </a:xfrm>
              </p:grpSpPr>
              <p:cxnSp>
                <p:nvCxnSpPr>
                  <p:cNvPr id="8" name="Straight Arrow Connector 7"/>
                  <p:cNvCxnSpPr/>
                  <p:nvPr/>
                </p:nvCxnSpPr>
                <p:spPr>
                  <a:xfrm>
                    <a:off x="4715107" y="2209800"/>
                    <a:ext cx="1304693" cy="711852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" name="Oval 14"/>
                  <p:cNvSpPr/>
                  <p:nvPr/>
                </p:nvSpPr>
                <p:spPr>
                  <a:xfrm>
                    <a:off x="5867400" y="2921652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" name="Group 8"/>
                <p:cNvGrpSpPr/>
                <p:nvPr/>
              </p:nvGrpSpPr>
              <p:grpSpPr>
                <a:xfrm>
                  <a:off x="2286000" y="2546163"/>
                  <a:ext cx="730437" cy="1035237"/>
                  <a:chOff x="2286000" y="3231963"/>
                  <a:chExt cx="730437" cy="1035237"/>
                </a:xfrm>
              </p:grpSpPr>
              <p:sp>
                <p:nvSpPr>
                  <p:cNvPr id="16" name="Oval 15"/>
                  <p:cNvSpPr/>
                  <p:nvPr/>
                </p:nvSpPr>
                <p:spPr>
                  <a:xfrm>
                    <a:off x="2286000" y="39624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8" name="Straight Arrow Connector 17"/>
                  <p:cNvCxnSpPr>
                    <a:stCxn id="14" idx="3"/>
                    <a:endCxn id="16" idx="0"/>
                  </p:cNvCxnSpPr>
                  <p:nvPr/>
                </p:nvCxnSpPr>
                <p:spPr>
                  <a:xfrm flipH="1">
                    <a:off x="2438400" y="3231963"/>
                    <a:ext cx="578037" cy="7304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" name="Group 9"/>
                <p:cNvGrpSpPr/>
                <p:nvPr/>
              </p:nvGrpSpPr>
              <p:grpSpPr>
                <a:xfrm>
                  <a:off x="3231963" y="2546163"/>
                  <a:ext cx="719285" cy="1035237"/>
                  <a:chOff x="3231963" y="3231963"/>
                  <a:chExt cx="719285" cy="1035237"/>
                </a:xfrm>
              </p:grpSpPr>
              <p:sp>
                <p:nvSpPr>
                  <p:cNvPr id="17" name="Oval 16"/>
                  <p:cNvSpPr/>
                  <p:nvPr/>
                </p:nvSpPr>
                <p:spPr>
                  <a:xfrm>
                    <a:off x="3646448" y="39624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1" name="Straight Arrow Connector 20"/>
                  <p:cNvCxnSpPr>
                    <a:stCxn id="14" idx="5"/>
                  </p:cNvCxnSpPr>
                  <p:nvPr/>
                </p:nvCxnSpPr>
                <p:spPr>
                  <a:xfrm>
                    <a:off x="3231963" y="3231963"/>
                    <a:ext cx="566885" cy="730437"/>
                  </a:xfrm>
                  <a:prstGeom prst="straightConnector1">
                    <a:avLst/>
                  </a:prstGeom>
                  <a:ln w="28575">
                    <a:solidFill>
                      <a:srgbClr val="0070C0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" name="Group 10"/>
                <p:cNvGrpSpPr/>
                <p:nvPr/>
              </p:nvGrpSpPr>
              <p:grpSpPr>
                <a:xfrm>
                  <a:off x="5192752" y="2514600"/>
                  <a:ext cx="730437" cy="1035237"/>
                  <a:chOff x="5192752" y="3200400"/>
                  <a:chExt cx="730437" cy="1035237"/>
                </a:xfrm>
              </p:grpSpPr>
              <p:sp>
                <p:nvSpPr>
                  <p:cNvPr id="28" name="Oval 27"/>
                  <p:cNvSpPr/>
                  <p:nvPr/>
                </p:nvSpPr>
                <p:spPr>
                  <a:xfrm>
                    <a:off x="5192752" y="3930837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0" name="Straight Arrow Connector 29"/>
                  <p:cNvCxnSpPr>
                    <a:endCxn id="28" idx="0"/>
                  </p:cNvCxnSpPr>
                  <p:nvPr/>
                </p:nvCxnSpPr>
                <p:spPr>
                  <a:xfrm flipH="1">
                    <a:off x="5345152" y="3200400"/>
                    <a:ext cx="578037" cy="7304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" name="Group 12"/>
                <p:cNvGrpSpPr/>
                <p:nvPr/>
              </p:nvGrpSpPr>
              <p:grpSpPr>
                <a:xfrm>
                  <a:off x="6138715" y="2514600"/>
                  <a:ext cx="719285" cy="1035237"/>
                  <a:chOff x="6138715" y="3200400"/>
                  <a:chExt cx="719285" cy="1035237"/>
                </a:xfrm>
              </p:grpSpPr>
              <p:sp>
                <p:nvSpPr>
                  <p:cNvPr id="29" name="Oval 28"/>
                  <p:cNvSpPr/>
                  <p:nvPr/>
                </p:nvSpPr>
                <p:spPr>
                  <a:xfrm>
                    <a:off x="6553200" y="3930837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1" name="Straight Arrow Connector 30"/>
                  <p:cNvCxnSpPr/>
                  <p:nvPr/>
                </p:nvCxnSpPr>
                <p:spPr>
                  <a:xfrm>
                    <a:off x="6138715" y="3200400"/>
                    <a:ext cx="566885" cy="7304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9" name="Group 18"/>
                <p:cNvGrpSpPr/>
                <p:nvPr/>
              </p:nvGrpSpPr>
              <p:grpSpPr>
                <a:xfrm>
                  <a:off x="1828800" y="3536763"/>
                  <a:ext cx="501837" cy="1035237"/>
                  <a:chOff x="1828800" y="4222563"/>
                  <a:chExt cx="501837" cy="1035237"/>
                </a:xfrm>
              </p:grpSpPr>
              <p:sp>
                <p:nvSpPr>
                  <p:cNvPr id="33" name="Oval 32"/>
                  <p:cNvSpPr/>
                  <p:nvPr/>
                </p:nvSpPr>
                <p:spPr>
                  <a:xfrm>
                    <a:off x="1828800" y="49530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5" name="Straight Arrow Connector 34"/>
                  <p:cNvCxnSpPr>
                    <a:stCxn id="16" idx="3"/>
                  </p:cNvCxnSpPr>
                  <p:nvPr/>
                </p:nvCxnSpPr>
                <p:spPr>
                  <a:xfrm flipH="1">
                    <a:off x="2012764" y="4222563"/>
                    <a:ext cx="317873" cy="7304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" name="Group 19"/>
                <p:cNvGrpSpPr/>
                <p:nvPr/>
              </p:nvGrpSpPr>
              <p:grpSpPr>
                <a:xfrm>
                  <a:off x="2557315" y="3536763"/>
                  <a:ext cx="414485" cy="1035237"/>
                  <a:chOff x="2557315" y="4222563"/>
                  <a:chExt cx="414485" cy="1035237"/>
                </a:xfrm>
              </p:grpSpPr>
              <p:sp>
                <p:nvSpPr>
                  <p:cNvPr id="34" name="Oval 33"/>
                  <p:cNvSpPr/>
                  <p:nvPr/>
                </p:nvSpPr>
                <p:spPr>
                  <a:xfrm>
                    <a:off x="2667000" y="49530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6" name="Straight Arrow Connector 35"/>
                  <p:cNvCxnSpPr>
                    <a:endCxn id="34" idx="0"/>
                  </p:cNvCxnSpPr>
                  <p:nvPr/>
                </p:nvCxnSpPr>
                <p:spPr>
                  <a:xfrm>
                    <a:off x="2557315" y="4222563"/>
                    <a:ext cx="262085" cy="7304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2" name="Group 21"/>
                <p:cNvGrpSpPr/>
                <p:nvPr/>
              </p:nvGrpSpPr>
              <p:grpSpPr>
                <a:xfrm>
                  <a:off x="3352800" y="3549837"/>
                  <a:ext cx="381000" cy="1022163"/>
                  <a:chOff x="3245037" y="4235637"/>
                  <a:chExt cx="381000" cy="1022163"/>
                </a:xfrm>
              </p:grpSpPr>
              <p:sp>
                <p:nvSpPr>
                  <p:cNvPr id="48" name="Oval 47"/>
                  <p:cNvSpPr/>
                  <p:nvPr/>
                </p:nvSpPr>
                <p:spPr>
                  <a:xfrm>
                    <a:off x="3245037" y="49530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50" name="Straight Arrow Connector 49"/>
                  <p:cNvCxnSpPr/>
                  <p:nvPr/>
                </p:nvCxnSpPr>
                <p:spPr>
                  <a:xfrm flipH="1">
                    <a:off x="3384365" y="4235637"/>
                    <a:ext cx="241672" cy="717363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3928915" y="3536763"/>
                  <a:ext cx="414485" cy="1035237"/>
                  <a:chOff x="3928915" y="4222563"/>
                  <a:chExt cx="414485" cy="1035237"/>
                </a:xfrm>
              </p:grpSpPr>
              <p:sp>
                <p:nvSpPr>
                  <p:cNvPr id="49" name="Oval 48"/>
                  <p:cNvSpPr/>
                  <p:nvPr/>
                </p:nvSpPr>
                <p:spPr>
                  <a:xfrm>
                    <a:off x="4038600" y="49530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51" name="Straight Arrow Connector 50"/>
                  <p:cNvCxnSpPr>
                    <a:endCxn id="49" idx="0"/>
                  </p:cNvCxnSpPr>
                  <p:nvPr/>
                </p:nvCxnSpPr>
                <p:spPr>
                  <a:xfrm>
                    <a:off x="3928915" y="4222563"/>
                    <a:ext cx="262085" cy="7304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4" name="Group 73"/>
                <p:cNvGrpSpPr/>
                <p:nvPr/>
              </p:nvGrpSpPr>
              <p:grpSpPr>
                <a:xfrm>
                  <a:off x="4755963" y="3536763"/>
                  <a:ext cx="501837" cy="1035237"/>
                  <a:chOff x="3200400" y="4222563"/>
                  <a:chExt cx="501837" cy="1035237"/>
                </a:xfrm>
              </p:grpSpPr>
              <p:sp>
                <p:nvSpPr>
                  <p:cNvPr id="75" name="Oval 74"/>
                  <p:cNvSpPr/>
                  <p:nvPr/>
                </p:nvSpPr>
                <p:spPr>
                  <a:xfrm>
                    <a:off x="3200400" y="49530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76" name="Straight Arrow Connector 75"/>
                  <p:cNvCxnSpPr/>
                  <p:nvPr/>
                </p:nvCxnSpPr>
                <p:spPr>
                  <a:xfrm flipH="1">
                    <a:off x="3384364" y="4222563"/>
                    <a:ext cx="317873" cy="7304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7" name="Group 76"/>
                <p:cNvGrpSpPr/>
                <p:nvPr/>
              </p:nvGrpSpPr>
              <p:grpSpPr>
                <a:xfrm>
                  <a:off x="6127563" y="3536763"/>
                  <a:ext cx="501837" cy="1035237"/>
                  <a:chOff x="3200400" y="4222563"/>
                  <a:chExt cx="501837" cy="1035237"/>
                </a:xfrm>
              </p:grpSpPr>
              <p:sp>
                <p:nvSpPr>
                  <p:cNvPr id="78" name="Oval 77"/>
                  <p:cNvSpPr/>
                  <p:nvPr/>
                </p:nvSpPr>
                <p:spPr>
                  <a:xfrm>
                    <a:off x="3200400" y="49530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79" name="Straight Arrow Connector 78"/>
                  <p:cNvCxnSpPr/>
                  <p:nvPr/>
                </p:nvCxnSpPr>
                <p:spPr>
                  <a:xfrm flipH="1">
                    <a:off x="3384364" y="4222563"/>
                    <a:ext cx="317873" cy="7304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0" name="Group 79"/>
                <p:cNvGrpSpPr/>
                <p:nvPr/>
              </p:nvGrpSpPr>
              <p:grpSpPr>
                <a:xfrm>
                  <a:off x="5452915" y="3505200"/>
                  <a:ext cx="414485" cy="1035237"/>
                  <a:chOff x="3928915" y="4222563"/>
                  <a:chExt cx="414485" cy="1035237"/>
                </a:xfrm>
              </p:grpSpPr>
              <p:sp>
                <p:nvSpPr>
                  <p:cNvPr id="81" name="Oval 80"/>
                  <p:cNvSpPr/>
                  <p:nvPr/>
                </p:nvSpPr>
                <p:spPr>
                  <a:xfrm>
                    <a:off x="4038600" y="49530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82" name="Straight Arrow Connector 81"/>
                  <p:cNvCxnSpPr>
                    <a:endCxn id="81" idx="0"/>
                  </p:cNvCxnSpPr>
                  <p:nvPr/>
                </p:nvCxnSpPr>
                <p:spPr>
                  <a:xfrm>
                    <a:off x="3928915" y="4222563"/>
                    <a:ext cx="262085" cy="7304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3" name="Group 82"/>
                <p:cNvGrpSpPr/>
                <p:nvPr/>
              </p:nvGrpSpPr>
              <p:grpSpPr>
                <a:xfrm>
                  <a:off x="6824515" y="3505200"/>
                  <a:ext cx="414485" cy="1035237"/>
                  <a:chOff x="3928915" y="4222563"/>
                  <a:chExt cx="414485" cy="1035237"/>
                </a:xfrm>
              </p:grpSpPr>
              <p:sp>
                <p:nvSpPr>
                  <p:cNvPr id="84" name="Oval 83"/>
                  <p:cNvSpPr/>
                  <p:nvPr/>
                </p:nvSpPr>
                <p:spPr>
                  <a:xfrm>
                    <a:off x="4038600" y="49530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85" name="Straight Arrow Connector 84"/>
                  <p:cNvCxnSpPr>
                    <a:endCxn id="84" idx="0"/>
                  </p:cNvCxnSpPr>
                  <p:nvPr/>
                </p:nvCxnSpPr>
                <p:spPr>
                  <a:xfrm>
                    <a:off x="3928915" y="4222563"/>
                    <a:ext cx="262085" cy="7304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8" name="Group 97"/>
                <p:cNvGrpSpPr/>
                <p:nvPr/>
              </p:nvGrpSpPr>
              <p:grpSpPr>
                <a:xfrm>
                  <a:off x="1600200" y="4540437"/>
                  <a:ext cx="685800" cy="1098363"/>
                  <a:chOff x="1600200" y="4540437"/>
                  <a:chExt cx="685800" cy="1098363"/>
                </a:xfrm>
              </p:grpSpPr>
              <p:grpSp>
                <p:nvGrpSpPr>
                  <p:cNvPr id="86" name="Group 85"/>
                  <p:cNvGrpSpPr/>
                  <p:nvPr/>
                </p:nvGrpSpPr>
                <p:grpSpPr>
                  <a:xfrm>
                    <a:off x="1981200" y="4572000"/>
                    <a:ext cx="304800" cy="1066800"/>
                    <a:chOff x="3852715" y="4222563"/>
                    <a:chExt cx="304800" cy="1066800"/>
                  </a:xfrm>
                </p:grpSpPr>
                <p:sp>
                  <p:nvSpPr>
                    <p:cNvPr id="87" name="Oval 86"/>
                    <p:cNvSpPr/>
                    <p:nvPr/>
                  </p:nvSpPr>
                  <p:spPr>
                    <a:xfrm>
                      <a:off x="3852715" y="4984563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88" name="Straight Arrow Connector 87"/>
                    <p:cNvCxnSpPr/>
                    <p:nvPr/>
                  </p:nvCxnSpPr>
                  <p:spPr>
                    <a:xfrm>
                      <a:off x="3884279" y="4222563"/>
                      <a:ext cx="120836" cy="762000"/>
                    </a:xfrm>
                    <a:prstGeom prst="straightConnector1">
                      <a:avLst/>
                    </a:prstGeom>
                    <a:ln w="28575"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9" name="Group 88"/>
                  <p:cNvGrpSpPr/>
                  <p:nvPr/>
                </p:nvGrpSpPr>
                <p:grpSpPr>
                  <a:xfrm>
                    <a:off x="1600200" y="4540437"/>
                    <a:ext cx="304800" cy="1098363"/>
                    <a:chOff x="3429000" y="4235637"/>
                    <a:chExt cx="304800" cy="1098363"/>
                  </a:xfrm>
                </p:grpSpPr>
                <p:sp>
                  <p:nvSpPr>
                    <p:cNvPr id="90" name="Oval 89"/>
                    <p:cNvSpPr/>
                    <p:nvPr/>
                  </p:nvSpPr>
                  <p:spPr>
                    <a:xfrm>
                      <a:off x="3429000" y="50292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91" name="Straight Arrow Connector 90"/>
                    <p:cNvCxnSpPr/>
                    <p:nvPr/>
                  </p:nvCxnSpPr>
                  <p:spPr>
                    <a:xfrm flipH="1">
                      <a:off x="3600647" y="4235637"/>
                      <a:ext cx="133153" cy="805934"/>
                    </a:xfrm>
                    <a:prstGeom prst="straightConnector1">
                      <a:avLst/>
                    </a:prstGeom>
                    <a:ln w="28575"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99" name="Group 98"/>
                <p:cNvGrpSpPr/>
                <p:nvPr/>
              </p:nvGrpSpPr>
              <p:grpSpPr>
                <a:xfrm>
                  <a:off x="2438400" y="4540437"/>
                  <a:ext cx="685800" cy="1098363"/>
                  <a:chOff x="1600200" y="4540437"/>
                  <a:chExt cx="685800" cy="1098363"/>
                </a:xfrm>
              </p:grpSpPr>
              <p:grpSp>
                <p:nvGrpSpPr>
                  <p:cNvPr id="100" name="Group 99"/>
                  <p:cNvGrpSpPr/>
                  <p:nvPr/>
                </p:nvGrpSpPr>
                <p:grpSpPr>
                  <a:xfrm>
                    <a:off x="1981200" y="4572000"/>
                    <a:ext cx="304800" cy="1066800"/>
                    <a:chOff x="3852715" y="4222563"/>
                    <a:chExt cx="304800" cy="1066800"/>
                  </a:xfrm>
                </p:grpSpPr>
                <p:sp>
                  <p:nvSpPr>
                    <p:cNvPr id="104" name="Oval 103"/>
                    <p:cNvSpPr/>
                    <p:nvPr/>
                  </p:nvSpPr>
                  <p:spPr>
                    <a:xfrm>
                      <a:off x="3852715" y="4984563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05" name="Straight Arrow Connector 104"/>
                    <p:cNvCxnSpPr/>
                    <p:nvPr/>
                  </p:nvCxnSpPr>
                  <p:spPr>
                    <a:xfrm>
                      <a:off x="3884279" y="4222563"/>
                      <a:ext cx="120836" cy="762000"/>
                    </a:xfrm>
                    <a:prstGeom prst="straightConnector1">
                      <a:avLst/>
                    </a:prstGeom>
                    <a:ln w="28575"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1" name="Group 100"/>
                  <p:cNvGrpSpPr/>
                  <p:nvPr/>
                </p:nvGrpSpPr>
                <p:grpSpPr>
                  <a:xfrm>
                    <a:off x="1600200" y="4540437"/>
                    <a:ext cx="304800" cy="1098363"/>
                    <a:chOff x="3429000" y="4235637"/>
                    <a:chExt cx="304800" cy="1098363"/>
                  </a:xfrm>
                </p:grpSpPr>
                <p:sp>
                  <p:nvSpPr>
                    <p:cNvPr id="102" name="Oval 101"/>
                    <p:cNvSpPr/>
                    <p:nvPr/>
                  </p:nvSpPr>
                  <p:spPr>
                    <a:xfrm>
                      <a:off x="3429000" y="50292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03" name="Straight Arrow Connector 102"/>
                    <p:cNvCxnSpPr/>
                    <p:nvPr/>
                  </p:nvCxnSpPr>
                  <p:spPr>
                    <a:xfrm flipH="1">
                      <a:off x="3600647" y="4235637"/>
                      <a:ext cx="133153" cy="805934"/>
                    </a:xfrm>
                    <a:prstGeom prst="straightConnector1">
                      <a:avLst/>
                    </a:prstGeom>
                    <a:ln w="28575"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15" name="Straight Arrow Connector 114"/>
                <p:cNvCxnSpPr/>
                <p:nvPr/>
              </p:nvCxnSpPr>
              <p:spPr>
                <a:xfrm flipH="1">
                  <a:off x="3314304" y="4572703"/>
                  <a:ext cx="210144" cy="76129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6" name="Oval 115"/>
              <p:cNvSpPr/>
              <p:nvPr/>
            </p:nvSpPr>
            <p:spPr>
              <a:xfrm>
                <a:off x="3200400" y="5334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1562496" y="1295400"/>
              <a:ext cx="5752704" cy="4407932"/>
              <a:chOff x="1562496" y="1295400"/>
              <a:chExt cx="5752704" cy="4407932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1562496" y="1295400"/>
                <a:ext cx="5752704" cy="4407932"/>
                <a:chOff x="1562496" y="1295400"/>
                <a:chExt cx="5752704" cy="4407932"/>
              </a:xfrm>
            </p:grpSpPr>
            <p:sp>
              <p:nvSpPr>
                <p:cNvPr id="41" name="TextBox 40"/>
                <p:cNvSpPr txBox="1"/>
                <p:nvPr/>
              </p:nvSpPr>
              <p:spPr>
                <a:xfrm>
                  <a:off x="4381896" y="1295400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9</a:t>
                  </a:r>
                </a:p>
              </p:txBody>
            </p:sp>
            <p:sp>
              <p:nvSpPr>
                <p:cNvPr id="43" name="TextBox 42"/>
                <p:cNvSpPr txBox="1"/>
                <p:nvPr/>
              </p:nvSpPr>
              <p:spPr>
                <a:xfrm>
                  <a:off x="2895600" y="2286000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11</a:t>
                  </a:r>
                </a:p>
              </p:txBody>
            </p:sp>
            <p:sp>
              <p:nvSpPr>
                <p:cNvPr id="44" name="TextBox 43"/>
                <p:cNvSpPr txBox="1"/>
                <p:nvPr/>
              </p:nvSpPr>
              <p:spPr>
                <a:xfrm>
                  <a:off x="2209800" y="3276600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17</a:t>
                  </a:r>
                </a:p>
              </p:txBody>
            </p:sp>
            <p:sp>
              <p:nvSpPr>
                <p:cNvPr id="45" name="TextBox 44"/>
                <p:cNvSpPr txBox="1"/>
                <p:nvPr/>
              </p:nvSpPr>
              <p:spPr>
                <a:xfrm>
                  <a:off x="1752600" y="4267200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71</a:t>
                  </a:r>
                </a:p>
              </p:txBody>
            </p:sp>
            <p:sp>
              <p:nvSpPr>
                <p:cNvPr id="46" name="TextBox 45"/>
                <p:cNvSpPr txBox="1"/>
                <p:nvPr/>
              </p:nvSpPr>
              <p:spPr>
                <a:xfrm>
                  <a:off x="5791200" y="2209800"/>
                  <a:ext cx="4716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 21</a:t>
                  </a:r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5181600" y="3212068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33</a:t>
                  </a:r>
                </a:p>
              </p:txBody>
            </p:sp>
            <p:sp>
              <p:nvSpPr>
                <p:cNvPr id="52" name="TextBox 51"/>
                <p:cNvSpPr txBox="1"/>
                <p:nvPr/>
              </p:nvSpPr>
              <p:spPr>
                <a:xfrm>
                  <a:off x="3619896" y="3212068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14</a:t>
                  </a:r>
                </a:p>
              </p:txBody>
            </p:sp>
            <p:sp>
              <p:nvSpPr>
                <p:cNvPr id="53" name="TextBox 52"/>
                <p:cNvSpPr txBox="1"/>
                <p:nvPr/>
              </p:nvSpPr>
              <p:spPr>
                <a:xfrm>
                  <a:off x="6515496" y="3212068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29</a:t>
                  </a:r>
                </a:p>
              </p:txBody>
            </p:sp>
            <p:sp>
              <p:nvSpPr>
                <p:cNvPr id="54" name="TextBox 53"/>
                <p:cNvSpPr txBox="1"/>
                <p:nvPr/>
              </p:nvSpPr>
              <p:spPr>
                <a:xfrm>
                  <a:off x="2590800" y="4267200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37</a:t>
                  </a:r>
                </a:p>
              </p:txBody>
            </p:sp>
            <p:sp>
              <p:nvSpPr>
                <p:cNvPr id="55" name="TextBox 54"/>
                <p:cNvSpPr txBox="1"/>
                <p:nvPr/>
              </p:nvSpPr>
              <p:spPr>
                <a:xfrm>
                  <a:off x="3315096" y="4267200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23</a:t>
                  </a:r>
                </a:p>
              </p:txBody>
            </p:sp>
            <p:sp>
              <p:nvSpPr>
                <p:cNvPr id="56" name="TextBox 55"/>
                <p:cNvSpPr txBox="1"/>
                <p:nvPr/>
              </p:nvSpPr>
              <p:spPr>
                <a:xfrm>
                  <a:off x="4000896" y="4267200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88</a:t>
                  </a:r>
                </a:p>
              </p:txBody>
            </p:sp>
            <p:sp>
              <p:nvSpPr>
                <p:cNvPr id="113" name="TextBox 112"/>
                <p:cNvSpPr txBox="1"/>
                <p:nvPr/>
              </p:nvSpPr>
              <p:spPr>
                <a:xfrm>
                  <a:off x="4724400" y="4202668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41</a:t>
                  </a:r>
                </a:p>
              </p:txBody>
            </p:sp>
            <p:sp>
              <p:nvSpPr>
                <p:cNvPr id="123" name="TextBox 122"/>
                <p:cNvSpPr txBox="1"/>
                <p:nvPr/>
              </p:nvSpPr>
              <p:spPr>
                <a:xfrm>
                  <a:off x="5524896" y="4191000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52</a:t>
                  </a:r>
                </a:p>
              </p:txBody>
            </p:sp>
            <p:sp>
              <p:nvSpPr>
                <p:cNvPr id="124" name="TextBox 123"/>
                <p:cNvSpPr txBox="1"/>
                <p:nvPr/>
              </p:nvSpPr>
              <p:spPr>
                <a:xfrm>
                  <a:off x="6058296" y="4267200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32</a:t>
                  </a:r>
                </a:p>
              </p:txBody>
            </p:sp>
            <p:sp>
              <p:nvSpPr>
                <p:cNvPr id="125" name="TextBox 124"/>
                <p:cNvSpPr txBox="1"/>
                <p:nvPr/>
              </p:nvSpPr>
              <p:spPr>
                <a:xfrm>
                  <a:off x="6896496" y="4191000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76</a:t>
                  </a:r>
                </a:p>
              </p:txBody>
            </p:sp>
            <p:sp>
              <p:nvSpPr>
                <p:cNvPr id="127" name="TextBox 126"/>
                <p:cNvSpPr txBox="1"/>
                <p:nvPr/>
              </p:nvSpPr>
              <p:spPr>
                <a:xfrm>
                  <a:off x="1562496" y="5334000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98</a:t>
                  </a:r>
                </a:p>
              </p:txBody>
            </p:sp>
            <p:sp>
              <p:nvSpPr>
                <p:cNvPr id="128" name="TextBox 127"/>
                <p:cNvSpPr txBox="1"/>
                <p:nvPr/>
              </p:nvSpPr>
              <p:spPr>
                <a:xfrm>
                  <a:off x="1943496" y="5334000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85</a:t>
                  </a:r>
                </a:p>
              </p:txBody>
            </p:sp>
            <p:sp>
              <p:nvSpPr>
                <p:cNvPr id="129" name="TextBox 128"/>
                <p:cNvSpPr txBox="1"/>
                <p:nvPr/>
              </p:nvSpPr>
              <p:spPr>
                <a:xfrm>
                  <a:off x="2400696" y="5334000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47</a:t>
                  </a:r>
                </a:p>
              </p:txBody>
            </p:sp>
            <p:sp>
              <p:nvSpPr>
                <p:cNvPr id="130" name="TextBox 129"/>
                <p:cNvSpPr txBox="1"/>
                <p:nvPr/>
              </p:nvSpPr>
              <p:spPr>
                <a:xfrm>
                  <a:off x="2781696" y="5334000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57</a:t>
                  </a:r>
                </a:p>
              </p:txBody>
            </p:sp>
          </p:grpSp>
          <p:sp>
            <p:nvSpPr>
              <p:cNvPr id="131" name="TextBox 130"/>
              <p:cNvSpPr txBox="1"/>
              <p:nvPr/>
            </p:nvSpPr>
            <p:spPr>
              <a:xfrm>
                <a:off x="3162696" y="53340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25</a:t>
                </a:r>
              </a:p>
            </p:txBody>
          </p:sp>
        </p:grpSp>
      </p:grpSp>
      <p:grpSp>
        <p:nvGrpSpPr>
          <p:cNvPr id="32" name="Group 31"/>
          <p:cNvGrpSpPr/>
          <p:nvPr/>
        </p:nvGrpSpPr>
        <p:grpSpPr>
          <a:xfrm>
            <a:off x="381000" y="5791200"/>
            <a:ext cx="8103845" cy="523220"/>
            <a:chOff x="381000" y="5791200"/>
            <a:chExt cx="8103845" cy="523220"/>
          </a:xfrm>
        </p:grpSpPr>
        <p:grpSp>
          <p:nvGrpSpPr>
            <p:cNvPr id="157" name="Group 156"/>
            <p:cNvGrpSpPr/>
            <p:nvPr/>
          </p:nvGrpSpPr>
          <p:grpSpPr>
            <a:xfrm>
              <a:off x="762000" y="5867400"/>
              <a:ext cx="7722845" cy="381000"/>
              <a:chOff x="762000" y="5867400"/>
              <a:chExt cx="7722845" cy="381000"/>
            </a:xfrm>
          </p:grpSpPr>
          <p:sp>
            <p:nvSpPr>
              <p:cNvPr id="136" name="Rectangle 135"/>
              <p:cNvSpPr/>
              <p:nvPr/>
            </p:nvSpPr>
            <p:spPr>
              <a:xfrm>
                <a:off x="762000" y="5867400"/>
                <a:ext cx="7620000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37" name="Straight Connector 136"/>
              <p:cNvCxnSpPr/>
              <p:nvPr/>
            </p:nvCxnSpPr>
            <p:spPr>
              <a:xfrm>
                <a:off x="1143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>
              <a:xfrm>
                <a:off x="1524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>
              <a:xfrm>
                <a:off x="1905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>
              <a:xfrm>
                <a:off x="2286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>
              <a:xfrm>
                <a:off x="2667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/>
              <p:cNvCxnSpPr/>
              <p:nvPr/>
            </p:nvCxnSpPr>
            <p:spPr>
              <a:xfrm>
                <a:off x="3048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/>
              <p:cNvCxnSpPr/>
              <p:nvPr/>
            </p:nvCxnSpPr>
            <p:spPr>
              <a:xfrm>
                <a:off x="3429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/>
              <p:cNvCxnSpPr/>
              <p:nvPr/>
            </p:nvCxnSpPr>
            <p:spPr>
              <a:xfrm>
                <a:off x="4572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/>
              <p:cNvCxnSpPr/>
              <p:nvPr/>
            </p:nvCxnSpPr>
            <p:spPr>
              <a:xfrm>
                <a:off x="4953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/>
              <p:cNvCxnSpPr/>
              <p:nvPr/>
            </p:nvCxnSpPr>
            <p:spPr>
              <a:xfrm>
                <a:off x="5334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/>
              <p:cNvCxnSpPr/>
              <p:nvPr/>
            </p:nvCxnSpPr>
            <p:spPr>
              <a:xfrm>
                <a:off x="5715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>
                <a:off x="6096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>
                <a:off x="6477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>
                <a:off x="6858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TextBox 134"/>
              <p:cNvSpPr txBox="1"/>
              <p:nvPr/>
            </p:nvSpPr>
            <p:spPr>
              <a:xfrm>
                <a:off x="838200" y="5867400"/>
                <a:ext cx="76466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 9   11  21   17   14   33   29  71   37   23   88   41  52   32   76   98   85   47  57      </a:t>
                </a:r>
              </a:p>
            </p:txBody>
          </p:sp>
          <p:cxnSp>
            <p:nvCxnSpPr>
              <p:cNvPr id="151" name="Straight Connector 150"/>
              <p:cNvCxnSpPr/>
              <p:nvPr/>
            </p:nvCxnSpPr>
            <p:spPr>
              <a:xfrm>
                <a:off x="3810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>
                <a:off x="4191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7239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>
                <a:off x="7620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/>
              <p:cNvCxnSpPr/>
              <p:nvPr/>
            </p:nvCxnSpPr>
            <p:spPr>
              <a:xfrm>
                <a:off x="8001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>
                <a:off x="8382000" y="5867400"/>
                <a:ext cx="0" cy="381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8" name="TextBox 157"/>
            <p:cNvSpPr txBox="1"/>
            <p:nvPr/>
          </p:nvSpPr>
          <p:spPr>
            <a:xfrm>
              <a:off x="7963296" y="58790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25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381000" y="5791200"/>
              <a:ext cx="4106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H</a:t>
              </a:r>
              <a:endParaRPr 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2963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3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839200" cy="1143000"/>
          </a:xfrm>
        </p:spPr>
        <p:txBody>
          <a:bodyPr/>
          <a:lstStyle/>
          <a:p>
            <a:r>
              <a:rPr lang="en-US" sz="2800" b="1" dirty="0">
                <a:solidFill>
                  <a:srgbClr val="7030A0"/>
                </a:solidFill>
              </a:rPr>
              <a:t>Time complexity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0"/>
                <a:ext cx="8610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Theorem</a:t>
                </a:r>
                <a:r>
                  <a:rPr lang="en-US" sz="2000" b="1" dirty="0"/>
                  <a:t>: </a:t>
                </a:r>
                <a:r>
                  <a:rPr lang="en-US" sz="2000" dirty="0"/>
                  <a:t>Time complexity of building a binary heap 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incrementally</a:t>
                </a:r>
                <a:r>
                  <a:rPr lang="en-US" sz="2000" dirty="0">
                    <a:solidFill>
                      <a:srgbClr val="002060"/>
                    </a:solidFill>
                  </a:rPr>
                  <a:t> </a:t>
                </a:r>
                <a:r>
                  <a:rPr lang="en-US" sz="2000" dirty="0"/>
                  <a:t>is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log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0"/>
                <a:ext cx="8610600" cy="4525963"/>
              </a:xfrm>
              <a:blipFill rotWithShape="1">
                <a:blip r:embed="rId2"/>
                <a:stretch>
                  <a:fillRect l="-708" t="-674" r="-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Down Ribbon 4"/>
              <p:cNvSpPr/>
              <p:nvPr/>
            </p:nvSpPr>
            <p:spPr>
              <a:xfrm>
                <a:off x="1524000" y="3810000"/>
                <a:ext cx="5029200" cy="917448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2060"/>
                    </a:solidFill>
                  </a:rPr>
                  <a:t>A binary heap can be built in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>
                    <a:solidFill>
                      <a:srgbClr val="00206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).</a:t>
                </a:r>
              </a:p>
            </p:txBody>
          </p:sp>
        </mc:Choice>
        <mc:Fallback xmlns="">
          <p:sp>
            <p:nvSpPr>
              <p:cNvPr id="5" name="Down Ribbon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810000"/>
                <a:ext cx="5029200" cy="917448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7097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 </a:t>
            </a:r>
            <a:r>
              <a:rPr lang="en-US" sz="3600" b="1" dirty="0">
                <a:solidFill>
                  <a:srgbClr val="7030A0"/>
                </a:solidFill>
              </a:rPr>
              <a:t>complete </a:t>
            </a:r>
            <a:r>
              <a:rPr lang="en-US" sz="3600" b="1" dirty="0"/>
              <a:t>binary tree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/>
          <a:lstStyle/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600200" y="1752600"/>
            <a:ext cx="5638800" cy="4343400"/>
            <a:chOff x="1600200" y="1295400"/>
            <a:chExt cx="5638800" cy="4343400"/>
          </a:xfrm>
        </p:grpSpPr>
        <p:grpSp>
          <p:nvGrpSpPr>
            <p:cNvPr id="6" name="Group 5"/>
            <p:cNvGrpSpPr/>
            <p:nvPr/>
          </p:nvGrpSpPr>
          <p:grpSpPr>
            <a:xfrm>
              <a:off x="1600200" y="1295400"/>
              <a:ext cx="5638800" cy="4343400"/>
              <a:chOff x="1600200" y="1295400"/>
              <a:chExt cx="5638800" cy="4343400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4419600" y="1295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" name="Group 8"/>
              <p:cNvGrpSpPr/>
              <p:nvPr/>
            </p:nvGrpSpPr>
            <p:grpSpPr>
              <a:xfrm>
                <a:off x="2971800" y="1524000"/>
                <a:ext cx="1447800" cy="1066800"/>
                <a:chOff x="2971800" y="2209800"/>
                <a:chExt cx="1447800" cy="1066800"/>
              </a:xfrm>
            </p:grpSpPr>
            <p:cxnSp>
              <p:nvCxnSpPr>
                <p:cNvPr id="64" name="Straight Arrow Connector 63"/>
                <p:cNvCxnSpPr/>
                <p:nvPr/>
              </p:nvCxnSpPr>
              <p:spPr>
                <a:xfrm flipH="1">
                  <a:off x="3155796" y="2209800"/>
                  <a:ext cx="1263804" cy="76200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" name="Oval 64"/>
                <p:cNvSpPr/>
                <p:nvPr/>
              </p:nvSpPr>
              <p:spPr>
                <a:xfrm>
                  <a:off x="2971800" y="2971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" name="Group 9"/>
              <p:cNvGrpSpPr/>
              <p:nvPr/>
            </p:nvGrpSpPr>
            <p:grpSpPr>
              <a:xfrm>
                <a:off x="4715107" y="1524000"/>
                <a:ext cx="1457093" cy="1016652"/>
                <a:chOff x="4715107" y="2209800"/>
                <a:chExt cx="1457093" cy="1016652"/>
              </a:xfrm>
            </p:grpSpPr>
            <p:cxnSp>
              <p:nvCxnSpPr>
                <p:cNvPr id="62" name="Straight Arrow Connector 61"/>
                <p:cNvCxnSpPr/>
                <p:nvPr/>
              </p:nvCxnSpPr>
              <p:spPr>
                <a:xfrm>
                  <a:off x="4715107" y="2209800"/>
                  <a:ext cx="1304693" cy="711852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" name="Oval 62"/>
                <p:cNvSpPr/>
                <p:nvPr/>
              </p:nvSpPr>
              <p:spPr>
                <a:xfrm>
                  <a:off x="5867400" y="2921652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" name="Group 10"/>
              <p:cNvGrpSpPr/>
              <p:nvPr/>
            </p:nvGrpSpPr>
            <p:grpSpPr>
              <a:xfrm>
                <a:off x="2286000" y="2546163"/>
                <a:ext cx="730437" cy="1035237"/>
                <a:chOff x="2286000" y="3231963"/>
                <a:chExt cx="730437" cy="1035237"/>
              </a:xfrm>
            </p:grpSpPr>
            <p:sp>
              <p:nvSpPr>
                <p:cNvPr id="60" name="Oval 59"/>
                <p:cNvSpPr/>
                <p:nvPr/>
              </p:nvSpPr>
              <p:spPr>
                <a:xfrm>
                  <a:off x="2286000" y="39624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1" name="Straight Arrow Connector 60"/>
                <p:cNvCxnSpPr>
                  <a:stCxn id="65" idx="3"/>
                  <a:endCxn id="60" idx="0"/>
                </p:cNvCxnSpPr>
                <p:nvPr/>
              </p:nvCxnSpPr>
              <p:spPr>
                <a:xfrm flipH="1">
                  <a:off x="2438400" y="3231963"/>
                  <a:ext cx="578037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Group 11"/>
              <p:cNvGrpSpPr/>
              <p:nvPr/>
            </p:nvGrpSpPr>
            <p:grpSpPr>
              <a:xfrm>
                <a:off x="3231963" y="2546163"/>
                <a:ext cx="719285" cy="1035237"/>
                <a:chOff x="3231963" y="3231963"/>
                <a:chExt cx="719285" cy="1035237"/>
              </a:xfrm>
            </p:grpSpPr>
            <p:sp>
              <p:nvSpPr>
                <p:cNvPr id="58" name="Oval 57"/>
                <p:cNvSpPr/>
                <p:nvPr/>
              </p:nvSpPr>
              <p:spPr>
                <a:xfrm>
                  <a:off x="3646448" y="39624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9" name="Straight Arrow Connector 58"/>
                <p:cNvCxnSpPr>
                  <a:stCxn id="65" idx="5"/>
                </p:cNvCxnSpPr>
                <p:nvPr/>
              </p:nvCxnSpPr>
              <p:spPr>
                <a:xfrm>
                  <a:off x="3231963" y="3231963"/>
                  <a:ext cx="566885" cy="730437"/>
                </a:xfrm>
                <a:prstGeom prst="straightConnector1">
                  <a:avLst/>
                </a:prstGeom>
                <a:ln w="28575">
                  <a:solidFill>
                    <a:srgbClr val="0070C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Group 12"/>
              <p:cNvGrpSpPr/>
              <p:nvPr/>
            </p:nvGrpSpPr>
            <p:grpSpPr>
              <a:xfrm>
                <a:off x="5192752" y="2514600"/>
                <a:ext cx="730437" cy="1035237"/>
                <a:chOff x="5192752" y="3200400"/>
                <a:chExt cx="730437" cy="1035237"/>
              </a:xfrm>
            </p:grpSpPr>
            <p:sp>
              <p:nvSpPr>
                <p:cNvPr id="56" name="Oval 55"/>
                <p:cNvSpPr/>
                <p:nvPr/>
              </p:nvSpPr>
              <p:spPr>
                <a:xfrm>
                  <a:off x="5192752" y="3930837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7" name="Straight Arrow Connector 56"/>
                <p:cNvCxnSpPr>
                  <a:endCxn id="56" idx="0"/>
                </p:cNvCxnSpPr>
                <p:nvPr/>
              </p:nvCxnSpPr>
              <p:spPr>
                <a:xfrm flipH="1">
                  <a:off x="5345152" y="3200400"/>
                  <a:ext cx="578037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" name="Group 13"/>
              <p:cNvGrpSpPr/>
              <p:nvPr/>
            </p:nvGrpSpPr>
            <p:grpSpPr>
              <a:xfrm>
                <a:off x="6138715" y="2514600"/>
                <a:ext cx="719285" cy="1035237"/>
                <a:chOff x="6138715" y="3200400"/>
                <a:chExt cx="719285" cy="1035237"/>
              </a:xfrm>
            </p:grpSpPr>
            <p:sp>
              <p:nvSpPr>
                <p:cNvPr id="54" name="Oval 53"/>
                <p:cNvSpPr/>
                <p:nvPr/>
              </p:nvSpPr>
              <p:spPr>
                <a:xfrm>
                  <a:off x="6553200" y="3930837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5" name="Straight Arrow Connector 54"/>
                <p:cNvCxnSpPr/>
                <p:nvPr/>
              </p:nvCxnSpPr>
              <p:spPr>
                <a:xfrm>
                  <a:off x="6138715" y="3200400"/>
                  <a:ext cx="566885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" name="Group 14"/>
              <p:cNvGrpSpPr/>
              <p:nvPr/>
            </p:nvGrpSpPr>
            <p:grpSpPr>
              <a:xfrm>
                <a:off x="1828800" y="3536763"/>
                <a:ext cx="501837" cy="1035237"/>
                <a:chOff x="1828800" y="4222563"/>
                <a:chExt cx="501837" cy="1035237"/>
              </a:xfrm>
            </p:grpSpPr>
            <p:sp>
              <p:nvSpPr>
                <p:cNvPr id="52" name="Oval 51"/>
                <p:cNvSpPr/>
                <p:nvPr/>
              </p:nvSpPr>
              <p:spPr>
                <a:xfrm>
                  <a:off x="1828800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3" name="Straight Arrow Connector 52"/>
                <p:cNvCxnSpPr>
                  <a:stCxn id="60" idx="3"/>
                </p:cNvCxnSpPr>
                <p:nvPr/>
              </p:nvCxnSpPr>
              <p:spPr>
                <a:xfrm flipH="1">
                  <a:off x="2012764" y="4222563"/>
                  <a:ext cx="317873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" name="Group 15"/>
              <p:cNvGrpSpPr/>
              <p:nvPr/>
            </p:nvGrpSpPr>
            <p:grpSpPr>
              <a:xfrm>
                <a:off x="2557315" y="3536763"/>
                <a:ext cx="414485" cy="1035237"/>
                <a:chOff x="2557315" y="4222563"/>
                <a:chExt cx="414485" cy="1035237"/>
              </a:xfrm>
            </p:grpSpPr>
            <p:sp>
              <p:nvSpPr>
                <p:cNvPr id="50" name="Oval 49"/>
                <p:cNvSpPr/>
                <p:nvPr/>
              </p:nvSpPr>
              <p:spPr>
                <a:xfrm>
                  <a:off x="2667000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1" name="Straight Arrow Connector 50"/>
                <p:cNvCxnSpPr>
                  <a:endCxn id="50" idx="0"/>
                </p:cNvCxnSpPr>
                <p:nvPr/>
              </p:nvCxnSpPr>
              <p:spPr>
                <a:xfrm>
                  <a:off x="2557315" y="4222563"/>
                  <a:ext cx="262085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" name="Group 16"/>
              <p:cNvGrpSpPr/>
              <p:nvPr/>
            </p:nvGrpSpPr>
            <p:grpSpPr>
              <a:xfrm>
                <a:off x="3352800" y="3549837"/>
                <a:ext cx="381000" cy="1022163"/>
                <a:chOff x="3245037" y="4235637"/>
                <a:chExt cx="381000" cy="1022163"/>
              </a:xfrm>
            </p:grpSpPr>
            <p:sp>
              <p:nvSpPr>
                <p:cNvPr id="48" name="Oval 47"/>
                <p:cNvSpPr/>
                <p:nvPr/>
              </p:nvSpPr>
              <p:spPr>
                <a:xfrm>
                  <a:off x="3245037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9" name="Straight Arrow Connector 48"/>
                <p:cNvCxnSpPr/>
                <p:nvPr/>
              </p:nvCxnSpPr>
              <p:spPr>
                <a:xfrm flipH="1">
                  <a:off x="3384365" y="4235637"/>
                  <a:ext cx="241672" cy="717363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" name="Group 17"/>
              <p:cNvGrpSpPr/>
              <p:nvPr/>
            </p:nvGrpSpPr>
            <p:grpSpPr>
              <a:xfrm>
                <a:off x="3928915" y="3536763"/>
                <a:ext cx="414485" cy="1035237"/>
                <a:chOff x="3928915" y="4222563"/>
                <a:chExt cx="414485" cy="1035237"/>
              </a:xfrm>
            </p:grpSpPr>
            <p:sp>
              <p:nvSpPr>
                <p:cNvPr id="46" name="Oval 45"/>
                <p:cNvSpPr/>
                <p:nvPr/>
              </p:nvSpPr>
              <p:spPr>
                <a:xfrm>
                  <a:off x="4038600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7" name="Straight Arrow Connector 46"/>
                <p:cNvCxnSpPr>
                  <a:endCxn id="46" idx="0"/>
                </p:cNvCxnSpPr>
                <p:nvPr/>
              </p:nvCxnSpPr>
              <p:spPr>
                <a:xfrm>
                  <a:off x="3928915" y="4222563"/>
                  <a:ext cx="262085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 18"/>
              <p:cNvGrpSpPr/>
              <p:nvPr/>
            </p:nvGrpSpPr>
            <p:grpSpPr>
              <a:xfrm>
                <a:off x="4755963" y="3536763"/>
                <a:ext cx="501837" cy="1035237"/>
                <a:chOff x="3200400" y="4222563"/>
                <a:chExt cx="501837" cy="1035237"/>
              </a:xfrm>
            </p:grpSpPr>
            <p:sp>
              <p:nvSpPr>
                <p:cNvPr id="44" name="Oval 43"/>
                <p:cNvSpPr/>
                <p:nvPr/>
              </p:nvSpPr>
              <p:spPr>
                <a:xfrm>
                  <a:off x="3200400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5" name="Straight Arrow Connector 44"/>
                <p:cNvCxnSpPr/>
                <p:nvPr/>
              </p:nvCxnSpPr>
              <p:spPr>
                <a:xfrm flipH="1">
                  <a:off x="3384364" y="4222563"/>
                  <a:ext cx="317873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oup 19"/>
              <p:cNvGrpSpPr/>
              <p:nvPr/>
            </p:nvGrpSpPr>
            <p:grpSpPr>
              <a:xfrm>
                <a:off x="6127563" y="3536763"/>
                <a:ext cx="501837" cy="1035237"/>
                <a:chOff x="3200400" y="4222563"/>
                <a:chExt cx="501837" cy="1035237"/>
              </a:xfrm>
            </p:grpSpPr>
            <p:sp>
              <p:nvSpPr>
                <p:cNvPr id="42" name="Oval 41"/>
                <p:cNvSpPr/>
                <p:nvPr/>
              </p:nvSpPr>
              <p:spPr>
                <a:xfrm>
                  <a:off x="3200400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3" name="Straight Arrow Connector 42"/>
                <p:cNvCxnSpPr/>
                <p:nvPr/>
              </p:nvCxnSpPr>
              <p:spPr>
                <a:xfrm flipH="1">
                  <a:off x="3384364" y="4222563"/>
                  <a:ext cx="317873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" name="Group 20"/>
              <p:cNvGrpSpPr/>
              <p:nvPr/>
            </p:nvGrpSpPr>
            <p:grpSpPr>
              <a:xfrm>
                <a:off x="5452915" y="3505200"/>
                <a:ext cx="414485" cy="1035237"/>
                <a:chOff x="3928915" y="4222563"/>
                <a:chExt cx="414485" cy="1035237"/>
              </a:xfrm>
            </p:grpSpPr>
            <p:sp>
              <p:nvSpPr>
                <p:cNvPr id="40" name="Oval 39"/>
                <p:cNvSpPr/>
                <p:nvPr/>
              </p:nvSpPr>
              <p:spPr>
                <a:xfrm>
                  <a:off x="4038600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1" name="Straight Arrow Connector 40"/>
                <p:cNvCxnSpPr>
                  <a:endCxn id="40" idx="0"/>
                </p:cNvCxnSpPr>
                <p:nvPr/>
              </p:nvCxnSpPr>
              <p:spPr>
                <a:xfrm>
                  <a:off x="3928915" y="4222563"/>
                  <a:ext cx="262085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Group 21"/>
              <p:cNvGrpSpPr/>
              <p:nvPr/>
            </p:nvGrpSpPr>
            <p:grpSpPr>
              <a:xfrm>
                <a:off x="6824515" y="3505200"/>
                <a:ext cx="414485" cy="1035237"/>
                <a:chOff x="3928915" y="4222563"/>
                <a:chExt cx="414485" cy="1035237"/>
              </a:xfrm>
            </p:grpSpPr>
            <p:sp>
              <p:nvSpPr>
                <p:cNvPr id="38" name="Oval 37"/>
                <p:cNvSpPr/>
                <p:nvPr/>
              </p:nvSpPr>
              <p:spPr>
                <a:xfrm>
                  <a:off x="4038600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9" name="Straight Arrow Connector 38"/>
                <p:cNvCxnSpPr>
                  <a:endCxn id="38" idx="0"/>
                </p:cNvCxnSpPr>
                <p:nvPr/>
              </p:nvCxnSpPr>
              <p:spPr>
                <a:xfrm>
                  <a:off x="3928915" y="4222563"/>
                  <a:ext cx="262085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oup 22"/>
              <p:cNvGrpSpPr/>
              <p:nvPr/>
            </p:nvGrpSpPr>
            <p:grpSpPr>
              <a:xfrm>
                <a:off x="1600200" y="4540437"/>
                <a:ext cx="685800" cy="1098363"/>
                <a:chOff x="1600200" y="4540437"/>
                <a:chExt cx="685800" cy="1098363"/>
              </a:xfrm>
            </p:grpSpPr>
            <p:grpSp>
              <p:nvGrpSpPr>
                <p:cNvPr id="32" name="Group 31"/>
                <p:cNvGrpSpPr/>
                <p:nvPr/>
              </p:nvGrpSpPr>
              <p:grpSpPr>
                <a:xfrm>
                  <a:off x="1981200" y="4572000"/>
                  <a:ext cx="304800" cy="1066800"/>
                  <a:chOff x="3852715" y="4222563"/>
                  <a:chExt cx="304800" cy="1066800"/>
                </a:xfrm>
              </p:grpSpPr>
              <p:sp>
                <p:nvSpPr>
                  <p:cNvPr id="36" name="Oval 35"/>
                  <p:cNvSpPr/>
                  <p:nvPr/>
                </p:nvSpPr>
                <p:spPr>
                  <a:xfrm>
                    <a:off x="3852715" y="4984563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7" name="Straight Arrow Connector 36"/>
                  <p:cNvCxnSpPr/>
                  <p:nvPr/>
                </p:nvCxnSpPr>
                <p:spPr>
                  <a:xfrm>
                    <a:off x="3884279" y="4222563"/>
                    <a:ext cx="120836" cy="762000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3" name="Group 32"/>
                <p:cNvGrpSpPr/>
                <p:nvPr/>
              </p:nvGrpSpPr>
              <p:grpSpPr>
                <a:xfrm>
                  <a:off x="1600200" y="4540437"/>
                  <a:ext cx="304800" cy="1098363"/>
                  <a:chOff x="3429000" y="4235637"/>
                  <a:chExt cx="304800" cy="1098363"/>
                </a:xfrm>
              </p:grpSpPr>
              <p:sp>
                <p:nvSpPr>
                  <p:cNvPr id="34" name="Oval 33"/>
                  <p:cNvSpPr/>
                  <p:nvPr/>
                </p:nvSpPr>
                <p:spPr>
                  <a:xfrm>
                    <a:off x="3429000" y="50292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5" name="Straight Arrow Connector 34"/>
                  <p:cNvCxnSpPr/>
                  <p:nvPr/>
                </p:nvCxnSpPr>
                <p:spPr>
                  <a:xfrm flipH="1">
                    <a:off x="3600647" y="4235637"/>
                    <a:ext cx="133153" cy="805934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4" name="Group 23"/>
              <p:cNvGrpSpPr/>
              <p:nvPr/>
            </p:nvGrpSpPr>
            <p:grpSpPr>
              <a:xfrm>
                <a:off x="2438400" y="4540437"/>
                <a:ext cx="685800" cy="1098363"/>
                <a:chOff x="1600200" y="4540437"/>
                <a:chExt cx="685800" cy="1098363"/>
              </a:xfrm>
            </p:grpSpPr>
            <p:grpSp>
              <p:nvGrpSpPr>
                <p:cNvPr id="26" name="Group 25"/>
                <p:cNvGrpSpPr/>
                <p:nvPr/>
              </p:nvGrpSpPr>
              <p:grpSpPr>
                <a:xfrm>
                  <a:off x="1981200" y="4572000"/>
                  <a:ext cx="304800" cy="1066800"/>
                  <a:chOff x="3852715" y="4222563"/>
                  <a:chExt cx="304800" cy="1066800"/>
                </a:xfrm>
              </p:grpSpPr>
              <p:sp>
                <p:nvSpPr>
                  <p:cNvPr id="30" name="Oval 29"/>
                  <p:cNvSpPr/>
                  <p:nvPr/>
                </p:nvSpPr>
                <p:spPr>
                  <a:xfrm>
                    <a:off x="3852715" y="4984563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1" name="Straight Arrow Connector 30"/>
                  <p:cNvCxnSpPr/>
                  <p:nvPr/>
                </p:nvCxnSpPr>
                <p:spPr>
                  <a:xfrm>
                    <a:off x="3884279" y="4222563"/>
                    <a:ext cx="120836" cy="762000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" name="Group 26"/>
                <p:cNvGrpSpPr/>
                <p:nvPr/>
              </p:nvGrpSpPr>
              <p:grpSpPr>
                <a:xfrm>
                  <a:off x="1600200" y="4540437"/>
                  <a:ext cx="304800" cy="1098363"/>
                  <a:chOff x="3429000" y="4235637"/>
                  <a:chExt cx="304800" cy="1098363"/>
                </a:xfrm>
              </p:grpSpPr>
              <p:sp>
                <p:nvSpPr>
                  <p:cNvPr id="28" name="Oval 27"/>
                  <p:cNvSpPr/>
                  <p:nvPr/>
                </p:nvSpPr>
                <p:spPr>
                  <a:xfrm>
                    <a:off x="3429000" y="50292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9" name="Straight Arrow Connector 28"/>
                  <p:cNvCxnSpPr/>
                  <p:nvPr/>
                </p:nvCxnSpPr>
                <p:spPr>
                  <a:xfrm flipH="1">
                    <a:off x="3600647" y="4235637"/>
                    <a:ext cx="133153" cy="805934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25" name="Straight Arrow Connector 24"/>
              <p:cNvCxnSpPr/>
              <p:nvPr/>
            </p:nvCxnSpPr>
            <p:spPr>
              <a:xfrm flipH="1">
                <a:off x="3314304" y="4572703"/>
                <a:ext cx="210144" cy="76129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Oval 6"/>
            <p:cNvSpPr/>
            <p:nvPr/>
          </p:nvSpPr>
          <p:spPr>
            <a:xfrm>
              <a:off x="3200400" y="5334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4785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 </a:t>
            </a:r>
            <a:r>
              <a:rPr lang="en-US" sz="3600" b="1" dirty="0">
                <a:solidFill>
                  <a:srgbClr val="7030A0"/>
                </a:solidFill>
              </a:rPr>
              <a:t>complete </a:t>
            </a:r>
            <a:r>
              <a:rPr lang="en-US" sz="3600" b="1" dirty="0"/>
              <a:t>binary tree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828800" y="1752600"/>
            <a:ext cx="5410200" cy="3276600"/>
            <a:chOff x="1828800" y="1295400"/>
            <a:chExt cx="5410200" cy="3276600"/>
          </a:xfrm>
        </p:grpSpPr>
        <p:sp>
          <p:nvSpPr>
            <p:cNvPr id="8" name="Oval 7"/>
            <p:cNvSpPr/>
            <p:nvPr/>
          </p:nvSpPr>
          <p:spPr>
            <a:xfrm>
              <a:off x="4419600" y="1295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2971800" y="1524000"/>
              <a:ext cx="1447800" cy="1066800"/>
              <a:chOff x="2971800" y="2209800"/>
              <a:chExt cx="1447800" cy="1066800"/>
            </a:xfrm>
          </p:grpSpPr>
          <p:cxnSp>
            <p:nvCxnSpPr>
              <p:cNvPr id="64" name="Straight Arrow Connector 63"/>
              <p:cNvCxnSpPr/>
              <p:nvPr/>
            </p:nvCxnSpPr>
            <p:spPr>
              <a:xfrm flipH="1">
                <a:off x="3155796" y="2209800"/>
                <a:ext cx="1263804" cy="7620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Oval 64"/>
              <p:cNvSpPr/>
              <p:nvPr/>
            </p:nvSpPr>
            <p:spPr>
              <a:xfrm>
                <a:off x="2971800" y="2971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4715107" y="1524000"/>
              <a:ext cx="1457093" cy="1016652"/>
              <a:chOff x="4715107" y="2209800"/>
              <a:chExt cx="1457093" cy="1016652"/>
            </a:xfrm>
          </p:grpSpPr>
          <p:cxnSp>
            <p:nvCxnSpPr>
              <p:cNvPr id="62" name="Straight Arrow Connector 61"/>
              <p:cNvCxnSpPr/>
              <p:nvPr/>
            </p:nvCxnSpPr>
            <p:spPr>
              <a:xfrm>
                <a:off x="4715107" y="2209800"/>
                <a:ext cx="1304693" cy="711852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/>
              <p:cNvSpPr/>
              <p:nvPr/>
            </p:nvSpPr>
            <p:spPr>
              <a:xfrm>
                <a:off x="5867400" y="2921652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2286000" y="2546163"/>
              <a:ext cx="730437" cy="1035237"/>
              <a:chOff x="2286000" y="3231963"/>
              <a:chExt cx="730437" cy="1035237"/>
            </a:xfrm>
          </p:grpSpPr>
          <p:sp>
            <p:nvSpPr>
              <p:cNvPr id="60" name="Oval 59"/>
              <p:cNvSpPr/>
              <p:nvPr/>
            </p:nvSpPr>
            <p:spPr>
              <a:xfrm>
                <a:off x="2286000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Arrow Connector 60"/>
              <p:cNvCxnSpPr>
                <a:stCxn id="65" idx="3"/>
                <a:endCxn id="60" idx="0"/>
              </p:cNvCxnSpPr>
              <p:nvPr/>
            </p:nvCxnSpPr>
            <p:spPr>
              <a:xfrm flipH="1">
                <a:off x="2438400" y="3231963"/>
                <a:ext cx="578037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/>
            <p:cNvGrpSpPr/>
            <p:nvPr/>
          </p:nvGrpSpPr>
          <p:grpSpPr>
            <a:xfrm>
              <a:off x="3231963" y="2546163"/>
              <a:ext cx="719285" cy="1035237"/>
              <a:chOff x="3231963" y="3231963"/>
              <a:chExt cx="719285" cy="1035237"/>
            </a:xfrm>
          </p:grpSpPr>
          <p:sp>
            <p:nvSpPr>
              <p:cNvPr id="58" name="Oval 57"/>
              <p:cNvSpPr/>
              <p:nvPr/>
            </p:nvSpPr>
            <p:spPr>
              <a:xfrm>
                <a:off x="3646448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9" name="Straight Arrow Connector 58"/>
              <p:cNvCxnSpPr>
                <a:stCxn id="65" idx="5"/>
              </p:cNvCxnSpPr>
              <p:nvPr/>
            </p:nvCxnSpPr>
            <p:spPr>
              <a:xfrm>
                <a:off x="3231963" y="3231963"/>
                <a:ext cx="566885" cy="730437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/>
            <p:cNvGrpSpPr/>
            <p:nvPr/>
          </p:nvGrpSpPr>
          <p:grpSpPr>
            <a:xfrm>
              <a:off x="5192752" y="2514600"/>
              <a:ext cx="730437" cy="1035237"/>
              <a:chOff x="5192752" y="3200400"/>
              <a:chExt cx="730437" cy="1035237"/>
            </a:xfrm>
          </p:grpSpPr>
          <p:sp>
            <p:nvSpPr>
              <p:cNvPr id="56" name="Oval 55"/>
              <p:cNvSpPr/>
              <p:nvPr/>
            </p:nvSpPr>
            <p:spPr>
              <a:xfrm>
                <a:off x="5192752" y="3930837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7" name="Straight Arrow Connector 56"/>
              <p:cNvCxnSpPr>
                <a:endCxn id="56" idx="0"/>
              </p:cNvCxnSpPr>
              <p:nvPr/>
            </p:nvCxnSpPr>
            <p:spPr>
              <a:xfrm flipH="1">
                <a:off x="5345152" y="3200400"/>
                <a:ext cx="578037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/>
            <p:cNvGrpSpPr/>
            <p:nvPr/>
          </p:nvGrpSpPr>
          <p:grpSpPr>
            <a:xfrm>
              <a:off x="6138715" y="2514600"/>
              <a:ext cx="719285" cy="1035237"/>
              <a:chOff x="6138715" y="3200400"/>
              <a:chExt cx="719285" cy="1035237"/>
            </a:xfrm>
          </p:grpSpPr>
          <p:sp>
            <p:nvSpPr>
              <p:cNvPr id="54" name="Oval 53"/>
              <p:cNvSpPr/>
              <p:nvPr/>
            </p:nvSpPr>
            <p:spPr>
              <a:xfrm>
                <a:off x="6553200" y="3930837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5" name="Straight Arrow Connector 54"/>
              <p:cNvCxnSpPr/>
              <p:nvPr/>
            </p:nvCxnSpPr>
            <p:spPr>
              <a:xfrm>
                <a:off x="6138715" y="3200400"/>
                <a:ext cx="566885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/>
            <p:cNvGrpSpPr/>
            <p:nvPr/>
          </p:nvGrpSpPr>
          <p:grpSpPr>
            <a:xfrm>
              <a:off x="1828800" y="3536763"/>
              <a:ext cx="501837" cy="1035237"/>
              <a:chOff x="1828800" y="4222563"/>
              <a:chExt cx="501837" cy="1035237"/>
            </a:xfrm>
          </p:grpSpPr>
          <p:sp>
            <p:nvSpPr>
              <p:cNvPr id="52" name="Oval 51"/>
              <p:cNvSpPr/>
              <p:nvPr/>
            </p:nvSpPr>
            <p:spPr>
              <a:xfrm>
                <a:off x="18288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3" name="Straight Arrow Connector 52"/>
              <p:cNvCxnSpPr>
                <a:stCxn id="60" idx="3"/>
              </p:cNvCxnSpPr>
              <p:nvPr/>
            </p:nvCxnSpPr>
            <p:spPr>
              <a:xfrm flipH="1">
                <a:off x="2012764" y="4222563"/>
                <a:ext cx="317873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>
            <a:xfrm>
              <a:off x="2557315" y="3536763"/>
              <a:ext cx="414485" cy="1035237"/>
              <a:chOff x="2557315" y="4222563"/>
              <a:chExt cx="414485" cy="1035237"/>
            </a:xfrm>
          </p:grpSpPr>
          <p:sp>
            <p:nvSpPr>
              <p:cNvPr id="50" name="Oval 49"/>
              <p:cNvSpPr/>
              <p:nvPr/>
            </p:nvSpPr>
            <p:spPr>
              <a:xfrm>
                <a:off x="26670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1" name="Straight Arrow Connector 50"/>
              <p:cNvCxnSpPr>
                <a:endCxn id="50" idx="0"/>
              </p:cNvCxnSpPr>
              <p:nvPr/>
            </p:nvCxnSpPr>
            <p:spPr>
              <a:xfrm>
                <a:off x="2557315" y="4222563"/>
                <a:ext cx="262085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>
            <a:xfrm>
              <a:off x="3352800" y="3549837"/>
              <a:ext cx="381000" cy="1022163"/>
              <a:chOff x="3245037" y="4235637"/>
              <a:chExt cx="381000" cy="1022163"/>
            </a:xfrm>
          </p:grpSpPr>
          <p:sp>
            <p:nvSpPr>
              <p:cNvPr id="48" name="Oval 47"/>
              <p:cNvSpPr/>
              <p:nvPr/>
            </p:nvSpPr>
            <p:spPr>
              <a:xfrm>
                <a:off x="3245037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9" name="Straight Arrow Connector 48"/>
              <p:cNvCxnSpPr/>
              <p:nvPr/>
            </p:nvCxnSpPr>
            <p:spPr>
              <a:xfrm flipH="1">
                <a:off x="3384365" y="4235637"/>
                <a:ext cx="241672" cy="717363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>
            <a:xfrm>
              <a:off x="3928915" y="3536763"/>
              <a:ext cx="414485" cy="1035237"/>
              <a:chOff x="3928915" y="4222563"/>
              <a:chExt cx="414485" cy="1035237"/>
            </a:xfrm>
          </p:grpSpPr>
          <p:sp>
            <p:nvSpPr>
              <p:cNvPr id="46" name="Oval 45"/>
              <p:cNvSpPr/>
              <p:nvPr/>
            </p:nvSpPr>
            <p:spPr>
              <a:xfrm>
                <a:off x="40386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" name="Straight Arrow Connector 46"/>
              <p:cNvCxnSpPr>
                <a:endCxn id="46" idx="0"/>
              </p:cNvCxnSpPr>
              <p:nvPr/>
            </p:nvCxnSpPr>
            <p:spPr>
              <a:xfrm>
                <a:off x="3928915" y="4222563"/>
                <a:ext cx="262085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/>
            <p:cNvGrpSpPr/>
            <p:nvPr/>
          </p:nvGrpSpPr>
          <p:grpSpPr>
            <a:xfrm>
              <a:off x="4755963" y="3536763"/>
              <a:ext cx="501837" cy="1035237"/>
              <a:chOff x="3200400" y="4222563"/>
              <a:chExt cx="501837" cy="1035237"/>
            </a:xfrm>
          </p:grpSpPr>
          <p:sp>
            <p:nvSpPr>
              <p:cNvPr id="44" name="Oval 43"/>
              <p:cNvSpPr/>
              <p:nvPr/>
            </p:nvSpPr>
            <p:spPr>
              <a:xfrm>
                <a:off x="32004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5" name="Straight Arrow Connector 44"/>
              <p:cNvCxnSpPr/>
              <p:nvPr/>
            </p:nvCxnSpPr>
            <p:spPr>
              <a:xfrm flipH="1">
                <a:off x="3384364" y="4222563"/>
                <a:ext cx="317873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/>
            <p:cNvGrpSpPr/>
            <p:nvPr/>
          </p:nvGrpSpPr>
          <p:grpSpPr>
            <a:xfrm>
              <a:off x="6127563" y="3536763"/>
              <a:ext cx="501837" cy="1035237"/>
              <a:chOff x="3200400" y="4222563"/>
              <a:chExt cx="501837" cy="1035237"/>
            </a:xfrm>
          </p:grpSpPr>
          <p:sp>
            <p:nvSpPr>
              <p:cNvPr id="42" name="Oval 41"/>
              <p:cNvSpPr/>
              <p:nvPr/>
            </p:nvSpPr>
            <p:spPr>
              <a:xfrm>
                <a:off x="32004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Arrow Connector 42"/>
              <p:cNvCxnSpPr/>
              <p:nvPr/>
            </p:nvCxnSpPr>
            <p:spPr>
              <a:xfrm flipH="1">
                <a:off x="3384364" y="4222563"/>
                <a:ext cx="317873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/>
            <p:cNvGrpSpPr/>
            <p:nvPr/>
          </p:nvGrpSpPr>
          <p:grpSpPr>
            <a:xfrm>
              <a:off x="5452915" y="3505200"/>
              <a:ext cx="414485" cy="1035237"/>
              <a:chOff x="3928915" y="4222563"/>
              <a:chExt cx="414485" cy="1035237"/>
            </a:xfrm>
          </p:grpSpPr>
          <p:sp>
            <p:nvSpPr>
              <p:cNvPr id="40" name="Oval 39"/>
              <p:cNvSpPr/>
              <p:nvPr/>
            </p:nvSpPr>
            <p:spPr>
              <a:xfrm>
                <a:off x="40386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1" name="Straight Arrow Connector 40"/>
              <p:cNvCxnSpPr>
                <a:endCxn id="40" idx="0"/>
              </p:cNvCxnSpPr>
              <p:nvPr/>
            </p:nvCxnSpPr>
            <p:spPr>
              <a:xfrm>
                <a:off x="3928915" y="4222563"/>
                <a:ext cx="262085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/>
            <p:cNvGrpSpPr/>
            <p:nvPr/>
          </p:nvGrpSpPr>
          <p:grpSpPr>
            <a:xfrm>
              <a:off x="6824515" y="3505200"/>
              <a:ext cx="414485" cy="1035237"/>
              <a:chOff x="3928915" y="4222563"/>
              <a:chExt cx="414485" cy="1035237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40386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9" name="Straight Arrow Connector 38"/>
              <p:cNvCxnSpPr>
                <a:endCxn id="38" idx="0"/>
              </p:cNvCxnSpPr>
              <p:nvPr/>
            </p:nvCxnSpPr>
            <p:spPr>
              <a:xfrm>
                <a:off x="3928915" y="4222563"/>
                <a:ext cx="262085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Cloud Callout 65"/>
              <p:cNvSpPr/>
              <p:nvPr/>
            </p:nvSpPr>
            <p:spPr>
              <a:xfrm>
                <a:off x="76200" y="1520952"/>
                <a:ext cx="3505200" cy="1146048"/>
              </a:xfrm>
              <a:prstGeom prst="cloudCallout">
                <a:avLst>
                  <a:gd name="adj1" fmla="val -24332"/>
                  <a:gd name="adj2" fmla="val 80014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How many </a:t>
                </a:r>
                <a:r>
                  <a:rPr lang="en-US" b="1" dirty="0">
                    <a:solidFill>
                      <a:schemeClr val="tx1"/>
                    </a:solidFill>
                  </a:rPr>
                  <a:t>leaves</a:t>
                </a:r>
                <a:r>
                  <a:rPr lang="en-US" dirty="0">
                    <a:solidFill>
                      <a:schemeClr val="tx1"/>
                    </a:solidFill>
                  </a:rPr>
                  <a:t> are there in a complete Binary tree of size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IN" b="1" dirty="0">
                    <a:solidFill>
                      <a:schemeClr val="tx1"/>
                    </a:solidFill>
                  </a:rPr>
                  <a:t> </a:t>
                </a:r>
                <a:r>
                  <a:rPr lang="en-IN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66" name="Cloud Callout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1520952"/>
                <a:ext cx="3505200" cy="1146048"/>
              </a:xfrm>
              <a:prstGeom prst="cloudCallout">
                <a:avLst>
                  <a:gd name="adj1" fmla="val -24332"/>
                  <a:gd name="adj2" fmla="val 80014"/>
                </a:avLst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Group 76"/>
          <p:cNvGrpSpPr/>
          <p:nvPr/>
        </p:nvGrpSpPr>
        <p:grpSpPr>
          <a:xfrm>
            <a:off x="1600200" y="4997637"/>
            <a:ext cx="1924248" cy="1098363"/>
            <a:chOff x="1600200" y="4997637"/>
            <a:chExt cx="1924248" cy="1098363"/>
          </a:xfrm>
        </p:grpSpPr>
        <p:sp>
          <p:nvSpPr>
            <p:cNvPr id="67" name="Oval 66"/>
            <p:cNvSpPr/>
            <p:nvPr/>
          </p:nvSpPr>
          <p:spPr>
            <a:xfrm>
              <a:off x="1981200" y="57912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8" name="Straight Arrow Connector 67"/>
            <p:cNvCxnSpPr/>
            <p:nvPr/>
          </p:nvCxnSpPr>
          <p:spPr>
            <a:xfrm>
              <a:off x="2012764" y="5029200"/>
              <a:ext cx="120836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Oval 68"/>
            <p:cNvSpPr/>
            <p:nvPr/>
          </p:nvSpPr>
          <p:spPr>
            <a:xfrm>
              <a:off x="1600200" y="57912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0" name="Straight Arrow Connector 69"/>
            <p:cNvCxnSpPr/>
            <p:nvPr/>
          </p:nvCxnSpPr>
          <p:spPr>
            <a:xfrm flipH="1">
              <a:off x="1771847" y="4997637"/>
              <a:ext cx="133153" cy="80593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/>
            <p:cNvSpPr/>
            <p:nvPr/>
          </p:nvSpPr>
          <p:spPr>
            <a:xfrm>
              <a:off x="2819400" y="57912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Straight Arrow Connector 71"/>
            <p:cNvCxnSpPr/>
            <p:nvPr/>
          </p:nvCxnSpPr>
          <p:spPr>
            <a:xfrm>
              <a:off x="2850964" y="5029200"/>
              <a:ext cx="120836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/>
            <p:cNvSpPr/>
            <p:nvPr/>
          </p:nvSpPr>
          <p:spPr>
            <a:xfrm>
              <a:off x="2438400" y="57912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Straight Arrow Connector 73"/>
            <p:cNvCxnSpPr/>
            <p:nvPr/>
          </p:nvCxnSpPr>
          <p:spPr>
            <a:xfrm flipH="1">
              <a:off x="2610047" y="4997637"/>
              <a:ext cx="133153" cy="80593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/>
            <p:nvPr/>
          </p:nvCxnSpPr>
          <p:spPr>
            <a:xfrm flipH="1">
              <a:off x="3314304" y="5029903"/>
              <a:ext cx="210144" cy="76129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Oval 75"/>
            <p:cNvSpPr/>
            <p:nvPr/>
          </p:nvSpPr>
          <p:spPr>
            <a:xfrm>
              <a:off x="3200400" y="57912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4191000" y="5498068"/>
            <a:ext cx="4423455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No. of </a:t>
            </a:r>
            <a:r>
              <a:rPr lang="en-US" b="1" dirty="0"/>
              <a:t>Leaf nodes  </a:t>
            </a:r>
            <a:r>
              <a:rPr lang="en-US" dirty="0"/>
              <a:t>= No. of </a:t>
            </a:r>
            <a:r>
              <a:rPr lang="en-US" b="1" dirty="0"/>
              <a:t>Internal nodes </a:t>
            </a:r>
            <a:r>
              <a:rPr lang="en-US" dirty="0"/>
              <a:t>+ </a:t>
            </a:r>
            <a:r>
              <a:rPr lang="en-US" b="1" dirty="0">
                <a:solidFill>
                  <a:srgbClr val="0070C0"/>
                </a:solidFill>
              </a:rPr>
              <a:t>1</a:t>
            </a:r>
            <a:endParaRPr lang="en-IN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8103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 </a:t>
            </a:r>
            <a:r>
              <a:rPr lang="en-US" sz="3600" b="1" dirty="0">
                <a:solidFill>
                  <a:srgbClr val="7030A0"/>
                </a:solidFill>
              </a:rPr>
              <a:t>complete </a:t>
            </a:r>
            <a:r>
              <a:rPr lang="en-US" sz="3600" b="1" dirty="0"/>
              <a:t>binary tree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828800" y="1752600"/>
            <a:ext cx="5410200" cy="3276600"/>
            <a:chOff x="1828800" y="1295400"/>
            <a:chExt cx="5410200" cy="3276600"/>
          </a:xfrm>
        </p:grpSpPr>
        <p:sp>
          <p:nvSpPr>
            <p:cNvPr id="8" name="Oval 7"/>
            <p:cNvSpPr/>
            <p:nvPr/>
          </p:nvSpPr>
          <p:spPr>
            <a:xfrm>
              <a:off x="4419600" y="1295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2971800" y="1524000"/>
              <a:ext cx="1447800" cy="1066800"/>
              <a:chOff x="2971800" y="2209800"/>
              <a:chExt cx="1447800" cy="1066800"/>
            </a:xfrm>
          </p:grpSpPr>
          <p:cxnSp>
            <p:nvCxnSpPr>
              <p:cNvPr id="64" name="Straight Arrow Connector 63"/>
              <p:cNvCxnSpPr/>
              <p:nvPr/>
            </p:nvCxnSpPr>
            <p:spPr>
              <a:xfrm flipH="1">
                <a:off x="3155796" y="2209800"/>
                <a:ext cx="1263804" cy="7620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Oval 64"/>
              <p:cNvSpPr/>
              <p:nvPr/>
            </p:nvSpPr>
            <p:spPr>
              <a:xfrm>
                <a:off x="2971800" y="2971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4715107" y="1524000"/>
              <a:ext cx="1457093" cy="1016652"/>
              <a:chOff x="4715107" y="2209800"/>
              <a:chExt cx="1457093" cy="1016652"/>
            </a:xfrm>
          </p:grpSpPr>
          <p:cxnSp>
            <p:nvCxnSpPr>
              <p:cNvPr id="62" name="Straight Arrow Connector 61"/>
              <p:cNvCxnSpPr/>
              <p:nvPr/>
            </p:nvCxnSpPr>
            <p:spPr>
              <a:xfrm>
                <a:off x="4715107" y="2209800"/>
                <a:ext cx="1304693" cy="711852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/>
              <p:cNvSpPr/>
              <p:nvPr/>
            </p:nvSpPr>
            <p:spPr>
              <a:xfrm>
                <a:off x="5867400" y="2921652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2286000" y="2546163"/>
              <a:ext cx="730437" cy="1035237"/>
              <a:chOff x="2286000" y="3231963"/>
              <a:chExt cx="730437" cy="1035237"/>
            </a:xfrm>
          </p:grpSpPr>
          <p:sp>
            <p:nvSpPr>
              <p:cNvPr id="60" name="Oval 59"/>
              <p:cNvSpPr/>
              <p:nvPr/>
            </p:nvSpPr>
            <p:spPr>
              <a:xfrm>
                <a:off x="2286000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Arrow Connector 60"/>
              <p:cNvCxnSpPr>
                <a:stCxn id="65" idx="3"/>
                <a:endCxn id="60" idx="0"/>
              </p:cNvCxnSpPr>
              <p:nvPr/>
            </p:nvCxnSpPr>
            <p:spPr>
              <a:xfrm flipH="1">
                <a:off x="2438400" y="3231963"/>
                <a:ext cx="578037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/>
            <p:cNvGrpSpPr/>
            <p:nvPr/>
          </p:nvGrpSpPr>
          <p:grpSpPr>
            <a:xfrm>
              <a:off x="3231963" y="2546163"/>
              <a:ext cx="719285" cy="1035237"/>
              <a:chOff x="3231963" y="3231963"/>
              <a:chExt cx="719285" cy="1035237"/>
            </a:xfrm>
          </p:grpSpPr>
          <p:sp>
            <p:nvSpPr>
              <p:cNvPr id="58" name="Oval 57"/>
              <p:cNvSpPr/>
              <p:nvPr/>
            </p:nvSpPr>
            <p:spPr>
              <a:xfrm>
                <a:off x="3646448" y="3962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9" name="Straight Arrow Connector 58"/>
              <p:cNvCxnSpPr>
                <a:stCxn id="65" idx="5"/>
              </p:cNvCxnSpPr>
              <p:nvPr/>
            </p:nvCxnSpPr>
            <p:spPr>
              <a:xfrm>
                <a:off x="3231963" y="3231963"/>
                <a:ext cx="566885" cy="730437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/>
            <p:cNvGrpSpPr/>
            <p:nvPr/>
          </p:nvGrpSpPr>
          <p:grpSpPr>
            <a:xfrm>
              <a:off x="5192752" y="2514600"/>
              <a:ext cx="730437" cy="1035237"/>
              <a:chOff x="5192752" y="3200400"/>
              <a:chExt cx="730437" cy="1035237"/>
            </a:xfrm>
          </p:grpSpPr>
          <p:sp>
            <p:nvSpPr>
              <p:cNvPr id="56" name="Oval 55"/>
              <p:cNvSpPr/>
              <p:nvPr/>
            </p:nvSpPr>
            <p:spPr>
              <a:xfrm>
                <a:off x="5192752" y="3930837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7" name="Straight Arrow Connector 56"/>
              <p:cNvCxnSpPr>
                <a:endCxn id="56" idx="0"/>
              </p:cNvCxnSpPr>
              <p:nvPr/>
            </p:nvCxnSpPr>
            <p:spPr>
              <a:xfrm flipH="1">
                <a:off x="5345152" y="3200400"/>
                <a:ext cx="578037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/>
            <p:cNvGrpSpPr/>
            <p:nvPr/>
          </p:nvGrpSpPr>
          <p:grpSpPr>
            <a:xfrm>
              <a:off x="6138715" y="2514600"/>
              <a:ext cx="719285" cy="1035237"/>
              <a:chOff x="6138715" y="3200400"/>
              <a:chExt cx="719285" cy="1035237"/>
            </a:xfrm>
          </p:grpSpPr>
          <p:sp>
            <p:nvSpPr>
              <p:cNvPr id="54" name="Oval 53"/>
              <p:cNvSpPr/>
              <p:nvPr/>
            </p:nvSpPr>
            <p:spPr>
              <a:xfrm>
                <a:off x="6553200" y="3930837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5" name="Straight Arrow Connector 54"/>
              <p:cNvCxnSpPr/>
              <p:nvPr/>
            </p:nvCxnSpPr>
            <p:spPr>
              <a:xfrm>
                <a:off x="6138715" y="3200400"/>
                <a:ext cx="566885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/>
            <p:cNvGrpSpPr/>
            <p:nvPr/>
          </p:nvGrpSpPr>
          <p:grpSpPr>
            <a:xfrm>
              <a:off x="1828800" y="3536763"/>
              <a:ext cx="501837" cy="1035237"/>
              <a:chOff x="1828800" y="4222563"/>
              <a:chExt cx="501837" cy="1035237"/>
            </a:xfrm>
          </p:grpSpPr>
          <p:sp>
            <p:nvSpPr>
              <p:cNvPr id="52" name="Oval 51"/>
              <p:cNvSpPr/>
              <p:nvPr/>
            </p:nvSpPr>
            <p:spPr>
              <a:xfrm>
                <a:off x="18288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3" name="Straight Arrow Connector 52"/>
              <p:cNvCxnSpPr>
                <a:stCxn id="60" idx="3"/>
              </p:cNvCxnSpPr>
              <p:nvPr/>
            </p:nvCxnSpPr>
            <p:spPr>
              <a:xfrm flipH="1">
                <a:off x="2012764" y="4222563"/>
                <a:ext cx="317873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>
            <a:xfrm>
              <a:off x="2557315" y="3536763"/>
              <a:ext cx="414485" cy="1035237"/>
              <a:chOff x="2557315" y="4222563"/>
              <a:chExt cx="414485" cy="1035237"/>
            </a:xfrm>
          </p:grpSpPr>
          <p:sp>
            <p:nvSpPr>
              <p:cNvPr id="50" name="Oval 49"/>
              <p:cNvSpPr/>
              <p:nvPr/>
            </p:nvSpPr>
            <p:spPr>
              <a:xfrm>
                <a:off x="26670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1" name="Straight Arrow Connector 50"/>
              <p:cNvCxnSpPr>
                <a:endCxn id="50" idx="0"/>
              </p:cNvCxnSpPr>
              <p:nvPr/>
            </p:nvCxnSpPr>
            <p:spPr>
              <a:xfrm>
                <a:off x="2557315" y="4222563"/>
                <a:ext cx="262085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>
            <a:xfrm>
              <a:off x="3352800" y="3549837"/>
              <a:ext cx="381000" cy="1022163"/>
              <a:chOff x="3245037" y="4235637"/>
              <a:chExt cx="381000" cy="1022163"/>
            </a:xfrm>
          </p:grpSpPr>
          <p:sp>
            <p:nvSpPr>
              <p:cNvPr id="48" name="Oval 47"/>
              <p:cNvSpPr/>
              <p:nvPr/>
            </p:nvSpPr>
            <p:spPr>
              <a:xfrm>
                <a:off x="3245037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9" name="Straight Arrow Connector 48"/>
              <p:cNvCxnSpPr/>
              <p:nvPr/>
            </p:nvCxnSpPr>
            <p:spPr>
              <a:xfrm flipH="1">
                <a:off x="3384365" y="4235637"/>
                <a:ext cx="241672" cy="717363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>
            <a:xfrm>
              <a:off x="3928915" y="3536763"/>
              <a:ext cx="414485" cy="1035237"/>
              <a:chOff x="3928915" y="4222563"/>
              <a:chExt cx="414485" cy="1035237"/>
            </a:xfrm>
          </p:grpSpPr>
          <p:sp>
            <p:nvSpPr>
              <p:cNvPr id="46" name="Oval 45"/>
              <p:cNvSpPr/>
              <p:nvPr/>
            </p:nvSpPr>
            <p:spPr>
              <a:xfrm>
                <a:off x="40386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" name="Straight Arrow Connector 46"/>
              <p:cNvCxnSpPr>
                <a:endCxn id="46" idx="0"/>
              </p:cNvCxnSpPr>
              <p:nvPr/>
            </p:nvCxnSpPr>
            <p:spPr>
              <a:xfrm>
                <a:off x="3928915" y="4222563"/>
                <a:ext cx="262085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/>
            <p:cNvGrpSpPr/>
            <p:nvPr/>
          </p:nvGrpSpPr>
          <p:grpSpPr>
            <a:xfrm>
              <a:off x="4755963" y="3536763"/>
              <a:ext cx="501837" cy="1035237"/>
              <a:chOff x="3200400" y="4222563"/>
              <a:chExt cx="501837" cy="1035237"/>
            </a:xfrm>
          </p:grpSpPr>
          <p:sp>
            <p:nvSpPr>
              <p:cNvPr id="44" name="Oval 43"/>
              <p:cNvSpPr/>
              <p:nvPr/>
            </p:nvSpPr>
            <p:spPr>
              <a:xfrm>
                <a:off x="32004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5" name="Straight Arrow Connector 44"/>
              <p:cNvCxnSpPr/>
              <p:nvPr/>
            </p:nvCxnSpPr>
            <p:spPr>
              <a:xfrm flipH="1">
                <a:off x="3384364" y="4222563"/>
                <a:ext cx="317873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/>
            <p:cNvGrpSpPr/>
            <p:nvPr/>
          </p:nvGrpSpPr>
          <p:grpSpPr>
            <a:xfrm>
              <a:off x="6127563" y="3536763"/>
              <a:ext cx="501837" cy="1035237"/>
              <a:chOff x="3200400" y="4222563"/>
              <a:chExt cx="501837" cy="1035237"/>
            </a:xfrm>
          </p:grpSpPr>
          <p:sp>
            <p:nvSpPr>
              <p:cNvPr id="42" name="Oval 41"/>
              <p:cNvSpPr/>
              <p:nvPr/>
            </p:nvSpPr>
            <p:spPr>
              <a:xfrm>
                <a:off x="32004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Arrow Connector 42"/>
              <p:cNvCxnSpPr/>
              <p:nvPr/>
            </p:nvCxnSpPr>
            <p:spPr>
              <a:xfrm flipH="1">
                <a:off x="3384364" y="4222563"/>
                <a:ext cx="317873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/>
            <p:cNvGrpSpPr/>
            <p:nvPr/>
          </p:nvGrpSpPr>
          <p:grpSpPr>
            <a:xfrm>
              <a:off x="5452915" y="3505200"/>
              <a:ext cx="414485" cy="1035237"/>
              <a:chOff x="3928915" y="4222563"/>
              <a:chExt cx="414485" cy="1035237"/>
            </a:xfrm>
          </p:grpSpPr>
          <p:sp>
            <p:nvSpPr>
              <p:cNvPr id="40" name="Oval 39"/>
              <p:cNvSpPr/>
              <p:nvPr/>
            </p:nvSpPr>
            <p:spPr>
              <a:xfrm>
                <a:off x="40386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1" name="Straight Arrow Connector 40"/>
              <p:cNvCxnSpPr>
                <a:endCxn id="40" idx="0"/>
              </p:cNvCxnSpPr>
              <p:nvPr/>
            </p:nvCxnSpPr>
            <p:spPr>
              <a:xfrm>
                <a:off x="3928915" y="4222563"/>
                <a:ext cx="262085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/>
            <p:cNvGrpSpPr/>
            <p:nvPr/>
          </p:nvGrpSpPr>
          <p:grpSpPr>
            <a:xfrm>
              <a:off x="6824515" y="3505200"/>
              <a:ext cx="414485" cy="1035237"/>
              <a:chOff x="3928915" y="4222563"/>
              <a:chExt cx="414485" cy="1035237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4038600" y="49530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9" name="Straight Arrow Connector 38"/>
              <p:cNvCxnSpPr>
                <a:endCxn id="38" idx="0"/>
              </p:cNvCxnSpPr>
              <p:nvPr/>
            </p:nvCxnSpPr>
            <p:spPr>
              <a:xfrm>
                <a:off x="3928915" y="4222563"/>
                <a:ext cx="262085" cy="7304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Cloud Callout 65"/>
              <p:cNvSpPr/>
              <p:nvPr/>
            </p:nvSpPr>
            <p:spPr>
              <a:xfrm>
                <a:off x="76200" y="1520952"/>
                <a:ext cx="3505200" cy="1146048"/>
              </a:xfrm>
              <a:prstGeom prst="cloudCallout">
                <a:avLst>
                  <a:gd name="adj1" fmla="val -24332"/>
                  <a:gd name="adj2" fmla="val 80014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How many leaves are there in a Complete Binary tree of size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IN" b="1" dirty="0">
                    <a:solidFill>
                      <a:schemeClr val="tx1"/>
                    </a:solidFill>
                  </a:rPr>
                  <a:t> </a:t>
                </a:r>
                <a:r>
                  <a:rPr lang="en-IN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66" name="Cloud Callout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1520952"/>
                <a:ext cx="3505200" cy="1146048"/>
              </a:xfrm>
              <a:prstGeom prst="cloudCallout">
                <a:avLst>
                  <a:gd name="adj1" fmla="val -24332"/>
                  <a:gd name="adj2" fmla="val 80014"/>
                </a:avLst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1981200" y="5029200"/>
            <a:ext cx="304800" cy="1066800"/>
            <a:chOff x="1981200" y="5029200"/>
            <a:chExt cx="304800" cy="1066800"/>
          </a:xfrm>
        </p:grpSpPr>
        <p:sp>
          <p:nvSpPr>
            <p:cNvPr id="67" name="Oval 66"/>
            <p:cNvSpPr/>
            <p:nvPr/>
          </p:nvSpPr>
          <p:spPr>
            <a:xfrm>
              <a:off x="1981200" y="57912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8" name="Straight Arrow Connector 67"/>
            <p:cNvCxnSpPr/>
            <p:nvPr/>
          </p:nvCxnSpPr>
          <p:spPr>
            <a:xfrm>
              <a:off x="2012764" y="5029200"/>
              <a:ext cx="120836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/>
          <p:cNvGrpSpPr/>
          <p:nvPr/>
        </p:nvGrpSpPr>
        <p:grpSpPr>
          <a:xfrm>
            <a:off x="1600200" y="4997637"/>
            <a:ext cx="304800" cy="1098363"/>
            <a:chOff x="1600200" y="4997637"/>
            <a:chExt cx="304800" cy="1098363"/>
          </a:xfrm>
        </p:grpSpPr>
        <p:sp>
          <p:nvSpPr>
            <p:cNvPr id="69" name="Oval 68"/>
            <p:cNvSpPr/>
            <p:nvPr/>
          </p:nvSpPr>
          <p:spPr>
            <a:xfrm>
              <a:off x="1600200" y="57912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0" name="Straight Arrow Connector 69"/>
            <p:cNvCxnSpPr/>
            <p:nvPr/>
          </p:nvCxnSpPr>
          <p:spPr>
            <a:xfrm flipH="1">
              <a:off x="1771847" y="4997637"/>
              <a:ext cx="133153" cy="80593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2438400" y="4997637"/>
            <a:ext cx="1086048" cy="1098363"/>
            <a:chOff x="2438400" y="4997637"/>
            <a:chExt cx="1086048" cy="1098363"/>
          </a:xfrm>
        </p:grpSpPr>
        <p:sp>
          <p:nvSpPr>
            <p:cNvPr id="71" name="Oval 70"/>
            <p:cNvSpPr/>
            <p:nvPr/>
          </p:nvSpPr>
          <p:spPr>
            <a:xfrm>
              <a:off x="2819400" y="57912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Straight Arrow Connector 71"/>
            <p:cNvCxnSpPr/>
            <p:nvPr/>
          </p:nvCxnSpPr>
          <p:spPr>
            <a:xfrm>
              <a:off x="2850964" y="5029200"/>
              <a:ext cx="120836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/>
            <p:cNvSpPr/>
            <p:nvPr/>
          </p:nvSpPr>
          <p:spPr>
            <a:xfrm>
              <a:off x="2438400" y="57912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Straight Arrow Connector 73"/>
            <p:cNvCxnSpPr/>
            <p:nvPr/>
          </p:nvCxnSpPr>
          <p:spPr>
            <a:xfrm flipH="1">
              <a:off x="2610047" y="4997637"/>
              <a:ext cx="133153" cy="80593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/>
            <p:nvPr/>
          </p:nvCxnSpPr>
          <p:spPr>
            <a:xfrm flipH="1">
              <a:off x="3314304" y="5029903"/>
              <a:ext cx="210144" cy="76129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Oval 75"/>
            <p:cNvSpPr/>
            <p:nvPr/>
          </p:nvSpPr>
          <p:spPr>
            <a:xfrm>
              <a:off x="3200400" y="57912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Down Ribbon 23"/>
              <p:cNvSpPr/>
              <p:nvPr/>
            </p:nvSpPr>
            <p:spPr>
              <a:xfrm>
                <a:off x="765048" y="3200400"/>
                <a:ext cx="1216152" cy="612648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/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Down Ribbon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48" y="3200400"/>
                <a:ext cx="1216152" cy="612648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4"/>
                <a:stretch>
                  <a:fillRect b="-19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Box 76"/>
          <p:cNvSpPr txBox="1"/>
          <p:nvPr/>
        </p:nvSpPr>
        <p:spPr>
          <a:xfrm>
            <a:off x="4267200" y="5486400"/>
            <a:ext cx="4174797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No. of </a:t>
            </a:r>
            <a:r>
              <a:rPr lang="en-US" b="1" dirty="0"/>
              <a:t>Leaf nodes  </a:t>
            </a:r>
            <a:r>
              <a:rPr lang="en-US" dirty="0"/>
              <a:t>= No. of </a:t>
            </a:r>
            <a:r>
              <a:rPr lang="en-US" b="1" dirty="0"/>
              <a:t>Internal nodes 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191000" y="5498068"/>
            <a:ext cx="4423455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No. of </a:t>
            </a:r>
            <a:r>
              <a:rPr lang="en-US" b="1" dirty="0"/>
              <a:t>Leaf nodes  </a:t>
            </a:r>
            <a:r>
              <a:rPr lang="en-US" dirty="0"/>
              <a:t>= No. of </a:t>
            </a:r>
            <a:r>
              <a:rPr lang="en-US" b="1" dirty="0"/>
              <a:t>Internal nodes </a:t>
            </a:r>
            <a:r>
              <a:rPr lang="en-US" dirty="0"/>
              <a:t>+ </a:t>
            </a:r>
            <a:r>
              <a:rPr lang="en-US" b="1" dirty="0">
                <a:solidFill>
                  <a:srgbClr val="0070C0"/>
                </a:solidFill>
              </a:rPr>
              <a:t>1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191000" y="5486400"/>
            <a:ext cx="4174797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No. of </a:t>
            </a:r>
            <a:r>
              <a:rPr lang="en-US" b="1" dirty="0"/>
              <a:t>Leaf nodes  </a:t>
            </a:r>
            <a:r>
              <a:rPr lang="en-US" dirty="0"/>
              <a:t>= No. of </a:t>
            </a:r>
            <a:r>
              <a:rPr lang="en-US" b="1" dirty="0"/>
              <a:t>Internal nodes </a:t>
            </a:r>
            <a:endParaRPr lang="en-IN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090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77" grpId="0" animBg="1"/>
      <p:bldP spid="77" grpId="1" animBg="1"/>
      <p:bldP spid="79" grpId="0" animBg="1"/>
      <p:bldP spid="79" grpId="1" animBg="1"/>
      <p:bldP spid="80" grpId="0" animBg="1"/>
      <p:bldP spid="80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2060"/>
                </a:solidFill>
              </a:rPr>
              <a:t>Building a</a:t>
            </a:r>
            <a:r>
              <a:rPr lang="en-US" sz="3200" b="1" dirty="0">
                <a:solidFill>
                  <a:srgbClr val="7030A0"/>
                </a:solidFill>
              </a:rPr>
              <a:t> Binary heap </a:t>
            </a:r>
            <a:r>
              <a:rPr lang="en-US" sz="3200" b="1" dirty="0">
                <a:solidFill>
                  <a:srgbClr val="0070C0"/>
                </a:solidFill>
              </a:rPr>
              <a:t>incrementally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56388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18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1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dirty="0"/>
                  <a:t>The time complexity for inserting a leaf node =  ?</a:t>
                </a:r>
              </a:p>
              <a:p>
                <a:pPr marL="0" indent="0">
                  <a:buNone/>
                </a:pPr>
                <a:r>
                  <a:rPr lang="en-US" sz="1800" dirty="0"/>
                  <a:t># leaf nodes =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sz="1800" i="1">
                            <a:latin typeface="Cambria Math"/>
                          </a:rPr>
                          <m:t>/</m:t>
                        </m:r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sz="1800" dirty="0"/>
                  <a:t>, 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  <a:sym typeface="Wingdings" pitchFamily="2" charset="2"/>
                  </a:rPr>
                  <a:t>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Theorem</a:t>
                </a:r>
                <a:r>
                  <a:rPr lang="en-US" sz="1800" b="1" dirty="0"/>
                  <a:t>: </a:t>
                </a:r>
                <a:r>
                  <a:rPr lang="en-US" sz="1800" dirty="0"/>
                  <a:t>Time complexity of building a binary heap incrementally is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b="1" dirty="0"/>
                  <a:t> </a:t>
                </a:r>
                <a:r>
                  <a:rPr lang="en-US" sz="1800" dirty="0"/>
                  <a:t>log</a:t>
                </a:r>
                <a:r>
                  <a:rPr lang="en-US" sz="1800" b="1" dirty="0"/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).</a:t>
                </a:r>
                <a:endParaRPr lang="en-US" sz="1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5638800"/>
              </a:xfrm>
              <a:blipFill rotWithShape="1">
                <a:blip r:embed="rId2"/>
                <a:stretch>
                  <a:fillRect l="-593" t="-5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grpSp>
        <p:nvGrpSpPr>
          <p:cNvPr id="27" name="Group 26"/>
          <p:cNvGrpSpPr/>
          <p:nvPr/>
        </p:nvGrpSpPr>
        <p:grpSpPr>
          <a:xfrm>
            <a:off x="1600200" y="1295400"/>
            <a:ext cx="5638800" cy="4343400"/>
            <a:chOff x="1600200" y="1295400"/>
            <a:chExt cx="5638800" cy="4343400"/>
          </a:xfrm>
        </p:grpSpPr>
        <p:grpSp>
          <p:nvGrpSpPr>
            <p:cNvPr id="26" name="Group 25"/>
            <p:cNvGrpSpPr/>
            <p:nvPr/>
          </p:nvGrpSpPr>
          <p:grpSpPr>
            <a:xfrm>
              <a:off x="1600200" y="1295400"/>
              <a:ext cx="5638800" cy="4343400"/>
              <a:chOff x="1600200" y="1295400"/>
              <a:chExt cx="5638800" cy="4343400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4419600" y="1295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" name="Group 4"/>
              <p:cNvGrpSpPr/>
              <p:nvPr/>
            </p:nvGrpSpPr>
            <p:grpSpPr>
              <a:xfrm>
                <a:off x="2971800" y="1524000"/>
                <a:ext cx="1447800" cy="1066800"/>
                <a:chOff x="2971800" y="2209800"/>
                <a:chExt cx="1447800" cy="1066800"/>
              </a:xfrm>
            </p:grpSpPr>
            <p:cxnSp>
              <p:nvCxnSpPr>
                <p:cNvPr id="12" name="Straight Arrow Connector 11"/>
                <p:cNvCxnSpPr/>
                <p:nvPr/>
              </p:nvCxnSpPr>
              <p:spPr>
                <a:xfrm flipH="1">
                  <a:off x="3155796" y="2209800"/>
                  <a:ext cx="1263804" cy="76200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Oval 13"/>
                <p:cNvSpPr/>
                <p:nvPr/>
              </p:nvSpPr>
              <p:spPr>
                <a:xfrm>
                  <a:off x="2971800" y="2971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" name="Group 6"/>
              <p:cNvGrpSpPr/>
              <p:nvPr/>
            </p:nvGrpSpPr>
            <p:grpSpPr>
              <a:xfrm>
                <a:off x="4715107" y="1524000"/>
                <a:ext cx="1457093" cy="1016652"/>
                <a:chOff x="4715107" y="2209800"/>
                <a:chExt cx="1457093" cy="1016652"/>
              </a:xfrm>
            </p:grpSpPr>
            <p:cxnSp>
              <p:nvCxnSpPr>
                <p:cNvPr id="8" name="Straight Arrow Connector 7"/>
                <p:cNvCxnSpPr/>
                <p:nvPr/>
              </p:nvCxnSpPr>
              <p:spPr>
                <a:xfrm>
                  <a:off x="4715107" y="2209800"/>
                  <a:ext cx="1304693" cy="711852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Oval 14"/>
                <p:cNvSpPr/>
                <p:nvPr/>
              </p:nvSpPr>
              <p:spPr>
                <a:xfrm>
                  <a:off x="5867400" y="2921652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" name="Group 8"/>
              <p:cNvGrpSpPr/>
              <p:nvPr/>
            </p:nvGrpSpPr>
            <p:grpSpPr>
              <a:xfrm>
                <a:off x="2286000" y="2546163"/>
                <a:ext cx="730437" cy="1035237"/>
                <a:chOff x="2286000" y="3231963"/>
                <a:chExt cx="730437" cy="1035237"/>
              </a:xfrm>
            </p:grpSpPr>
            <p:sp>
              <p:nvSpPr>
                <p:cNvPr id="16" name="Oval 15"/>
                <p:cNvSpPr/>
                <p:nvPr/>
              </p:nvSpPr>
              <p:spPr>
                <a:xfrm>
                  <a:off x="2286000" y="39624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8" name="Straight Arrow Connector 17"/>
                <p:cNvCxnSpPr>
                  <a:stCxn id="14" idx="3"/>
                  <a:endCxn id="16" idx="0"/>
                </p:cNvCxnSpPr>
                <p:nvPr/>
              </p:nvCxnSpPr>
              <p:spPr>
                <a:xfrm flipH="1">
                  <a:off x="2438400" y="3231963"/>
                  <a:ext cx="578037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Group 9"/>
              <p:cNvGrpSpPr/>
              <p:nvPr/>
            </p:nvGrpSpPr>
            <p:grpSpPr>
              <a:xfrm>
                <a:off x="3231963" y="2546163"/>
                <a:ext cx="719285" cy="1035237"/>
                <a:chOff x="3231963" y="3231963"/>
                <a:chExt cx="719285" cy="1035237"/>
              </a:xfrm>
            </p:grpSpPr>
            <p:sp>
              <p:nvSpPr>
                <p:cNvPr id="17" name="Oval 16"/>
                <p:cNvSpPr/>
                <p:nvPr/>
              </p:nvSpPr>
              <p:spPr>
                <a:xfrm>
                  <a:off x="3646448" y="39624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1" name="Straight Arrow Connector 20"/>
                <p:cNvCxnSpPr>
                  <a:stCxn id="14" idx="5"/>
                </p:cNvCxnSpPr>
                <p:nvPr/>
              </p:nvCxnSpPr>
              <p:spPr>
                <a:xfrm>
                  <a:off x="3231963" y="3231963"/>
                  <a:ext cx="566885" cy="730437"/>
                </a:xfrm>
                <a:prstGeom prst="straightConnector1">
                  <a:avLst/>
                </a:prstGeom>
                <a:ln w="28575">
                  <a:solidFill>
                    <a:srgbClr val="0070C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Group 10"/>
              <p:cNvGrpSpPr/>
              <p:nvPr/>
            </p:nvGrpSpPr>
            <p:grpSpPr>
              <a:xfrm>
                <a:off x="5192752" y="2514600"/>
                <a:ext cx="730437" cy="1035237"/>
                <a:chOff x="5192752" y="3200400"/>
                <a:chExt cx="730437" cy="1035237"/>
              </a:xfrm>
            </p:grpSpPr>
            <p:sp>
              <p:nvSpPr>
                <p:cNvPr id="28" name="Oval 27"/>
                <p:cNvSpPr/>
                <p:nvPr/>
              </p:nvSpPr>
              <p:spPr>
                <a:xfrm>
                  <a:off x="5192752" y="3930837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0" name="Straight Arrow Connector 29"/>
                <p:cNvCxnSpPr>
                  <a:endCxn id="28" idx="0"/>
                </p:cNvCxnSpPr>
                <p:nvPr/>
              </p:nvCxnSpPr>
              <p:spPr>
                <a:xfrm flipH="1">
                  <a:off x="5345152" y="3200400"/>
                  <a:ext cx="578037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Group 12"/>
              <p:cNvGrpSpPr/>
              <p:nvPr/>
            </p:nvGrpSpPr>
            <p:grpSpPr>
              <a:xfrm>
                <a:off x="6138715" y="2514600"/>
                <a:ext cx="719285" cy="1035237"/>
                <a:chOff x="6138715" y="3200400"/>
                <a:chExt cx="719285" cy="1035237"/>
              </a:xfrm>
            </p:grpSpPr>
            <p:sp>
              <p:nvSpPr>
                <p:cNvPr id="29" name="Oval 28"/>
                <p:cNvSpPr/>
                <p:nvPr/>
              </p:nvSpPr>
              <p:spPr>
                <a:xfrm>
                  <a:off x="6553200" y="3930837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1" name="Straight Arrow Connector 30"/>
                <p:cNvCxnSpPr/>
                <p:nvPr/>
              </p:nvCxnSpPr>
              <p:spPr>
                <a:xfrm>
                  <a:off x="6138715" y="3200400"/>
                  <a:ext cx="566885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 18"/>
              <p:cNvGrpSpPr/>
              <p:nvPr/>
            </p:nvGrpSpPr>
            <p:grpSpPr>
              <a:xfrm>
                <a:off x="1828800" y="3536763"/>
                <a:ext cx="501837" cy="1035237"/>
                <a:chOff x="1828800" y="4222563"/>
                <a:chExt cx="501837" cy="1035237"/>
              </a:xfrm>
            </p:grpSpPr>
            <p:sp>
              <p:nvSpPr>
                <p:cNvPr id="33" name="Oval 32"/>
                <p:cNvSpPr/>
                <p:nvPr/>
              </p:nvSpPr>
              <p:spPr>
                <a:xfrm>
                  <a:off x="1828800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5" name="Straight Arrow Connector 34"/>
                <p:cNvCxnSpPr>
                  <a:stCxn id="16" idx="3"/>
                </p:cNvCxnSpPr>
                <p:nvPr/>
              </p:nvCxnSpPr>
              <p:spPr>
                <a:xfrm flipH="1">
                  <a:off x="2012764" y="4222563"/>
                  <a:ext cx="317873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oup 19"/>
              <p:cNvGrpSpPr/>
              <p:nvPr/>
            </p:nvGrpSpPr>
            <p:grpSpPr>
              <a:xfrm>
                <a:off x="2557315" y="3536763"/>
                <a:ext cx="414485" cy="1035237"/>
                <a:chOff x="2557315" y="4222563"/>
                <a:chExt cx="414485" cy="1035237"/>
              </a:xfrm>
            </p:grpSpPr>
            <p:sp>
              <p:nvSpPr>
                <p:cNvPr id="34" name="Oval 33"/>
                <p:cNvSpPr/>
                <p:nvPr/>
              </p:nvSpPr>
              <p:spPr>
                <a:xfrm>
                  <a:off x="2667000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6" name="Straight Arrow Connector 35"/>
                <p:cNvCxnSpPr>
                  <a:endCxn id="34" idx="0"/>
                </p:cNvCxnSpPr>
                <p:nvPr/>
              </p:nvCxnSpPr>
              <p:spPr>
                <a:xfrm>
                  <a:off x="2557315" y="4222563"/>
                  <a:ext cx="262085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Group 21"/>
              <p:cNvGrpSpPr/>
              <p:nvPr/>
            </p:nvGrpSpPr>
            <p:grpSpPr>
              <a:xfrm>
                <a:off x="3352800" y="3549837"/>
                <a:ext cx="381000" cy="1022163"/>
                <a:chOff x="3245037" y="4235637"/>
                <a:chExt cx="381000" cy="1022163"/>
              </a:xfrm>
            </p:grpSpPr>
            <p:sp>
              <p:nvSpPr>
                <p:cNvPr id="48" name="Oval 47"/>
                <p:cNvSpPr/>
                <p:nvPr/>
              </p:nvSpPr>
              <p:spPr>
                <a:xfrm>
                  <a:off x="3245037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0" name="Straight Arrow Connector 49"/>
                <p:cNvCxnSpPr/>
                <p:nvPr/>
              </p:nvCxnSpPr>
              <p:spPr>
                <a:xfrm flipH="1">
                  <a:off x="3384365" y="4235637"/>
                  <a:ext cx="241672" cy="717363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oup 22"/>
              <p:cNvGrpSpPr/>
              <p:nvPr/>
            </p:nvGrpSpPr>
            <p:grpSpPr>
              <a:xfrm>
                <a:off x="3928915" y="3536763"/>
                <a:ext cx="414485" cy="1035237"/>
                <a:chOff x="3928915" y="4222563"/>
                <a:chExt cx="414485" cy="1035237"/>
              </a:xfrm>
            </p:grpSpPr>
            <p:sp>
              <p:nvSpPr>
                <p:cNvPr id="49" name="Oval 48"/>
                <p:cNvSpPr/>
                <p:nvPr/>
              </p:nvSpPr>
              <p:spPr>
                <a:xfrm>
                  <a:off x="4038600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1" name="Straight Arrow Connector 50"/>
                <p:cNvCxnSpPr>
                  <a:endCxn id="49" idx="0"/>
                </p:cNvCxnSpPr>
                <p:nvPr/>
              </p:nvCxnSpPr>
              <p:spPr>
                <a:xfrm>
                  <a:off x="3928915" y="4222563"/>
                  <a:ext cx="262085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4" name="Group 73"/>
              <p:cNvGrpSpPr/>
              <p:nvPr/>
            </p:nvGrpSpPr>
            <p:grpSpPr>
              <a:xfrm>
                <a:off x="4755963" y="3536763"/>
                <a:ext cx="501837" cy="1035237"/>
                <a:chOff x="3200400" y="4222563"/>
                <a:chExt cx="501837" cy="1035237"/>
              </a:xfrm>
            </p:grpSpPr>
            <p:sp>
              <p:nvSpPr>
                <p:cNvPr id="75" name="Oval 74"/>
                <p:cNvSpPr/>
                <p:nvPr/>
              </p:nvSpPr>
              <p:spPr>
                <a:xfrm>
                  <a:off x="3200400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6" name="Straight Arrow Connector 75"/>
                <p:cNvCxnSpPr/>
                <p:nvPr/>
              </p:nvCxnSpPr>
              <p:spPr>
                <a:xfrm flipH="1">
                  <a:off x="3384364" y="4222563"/>
                  <a:ext cx="317873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Group 76"/>
              <p:cNvGrpSpPr/>
              <p:nvPr/>
            </p:nvGrpSpPr>
            <p:grpSpPr>
              <a:xfrm>
                <a:off x="6127563" y="3536763"/>
                <a:ext cx="501837" cy="1035237"/>
                <a:chOff x="3200400" y="4222563"/>
                <a:chExt cx="501837" cy="1035237"/>
              </a:xfrm>
            </p:grpSpPr>
            <p:sp>
              <p:nvSpPr>
                <p:cNvPr id="78" name="Oval 77"/>
                <p:cNvSpPr/>
                <p:nvPr/>
              </p:nvSpPr>
              <p:spPr>
                <a:xfrm>
                  <a:off x="3200400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9" name="Straight Arrow Connector 78"/>
                <p:cNvCxnSpPr/>
                <p:nvPr/>
              </p:nvCxnSpPr>
              <p:spPr>
                <a:xfrm flipH="1">
                  <a:off x="3384364" y="4222563"/>
                  <a:ext cx="317873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0" name="Group 79"/>
              <p:cNvGrpSpPr/>
              <p:nvPr/>
            </p:nvGrpSpPr>
            <p:grpSpPr>
              <a:xfrm>
                <a:off x="5452915" y="3505200"/>
                <a:ext cx="414485" cy="1035237"/>
                <a:chOff x="3928915" y="4222563"/>
                <a:chExt cx="414485" cy="1035237"/>
              </a:xfrm>
            </p:grpSpPr>
            <p:sp>
              <p:nvSpPr>
                <p:cNvPr id="81" name="Oval 80"/>
                <p:cNvSpPr/>
                <p:nvPr/>
              </p:nvSpPr>
              <p:spPr>
                <a:xfrm>
                  <a:off x="4038600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2" name="Straight Arrow Connector 81"/>
                <p:cNvCxnSpPr>
                  <a:endCxn id="81" idx="0"/>
                </p:cNvCxnSpPr>
                <p:nvPr/>
              </p:nvCxnSpPr>
              <p:spPr>
                <a:xfrm>
                  <a:off x="3928915" y="4222563"/>
                  <a:ext cx="262085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3" name="Group 82"/>
              <p:cNvGrpSpPr/>
              <p:nvPr/>
            </p:nvGrpSpPr>
            <p:grpSpPr>
              <a:xfrm>
                <a:off x="6824515" y="3505200"/>
                <a:ext cx="414485" cy="1035237"/>
                <a:chOff x="3928915" y="4222563"/>
                <a:chExt cx="414485" cy="1035237"/>
              </a:xfrm>
            </p:grpSpPr>
            <p:sp>
              <p:nvSpPr>
                <p:cNvPr id="84" name="Oval 83"/>
                <p:cNvSpPr/>
                <p:nvPr/>
              </p:nvSpPr>
              <p:spPr>
                <a:xfrm>
                  <a:off x="4038600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5" name="Straight Arrow Connector 84"/>
                <p:cNvCxnSpPr>
                  <a:endCxn id="84" idx="0"/>
                </p:cNvCxnSpPr>
                <p:nvPr/>
              </p:nvCxnSpPr>
              <p:spPr>
                <a:xfrm>
                  <a:off x="3928915" y="4222563"/>
                  <a:ext cx="262085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8" name="Group 97"/>
              <p:cNvGrpSpPr/>
              <p:nvPr/>
            </p:nvGrpSpPr>
            <p:grpSpPr>
              <a:xfrm>
                <a:off x="1600200" y="4540437"/>
                <a:ext cx="685800" cy="1098363"/>
                <a:chOff x="1600200" y="4540437"/>
                <a:chExt cx="685800" cy="1098363"/>
              </a:xfrm>
            </p:grpSpPr>
            <p:grpSp>
              <p:nvGrpSpPr>
                <p:cNvPr id="86" name="Group 85"/>
                <p:cNvGrpSpPr/>
                <p:nvPr/>
              </p:nvGrpSpPr>
              <p:grpSpPr>
                <a:xfrm>
                  <a:off x="1981200" y="4572000"/>
                  <a:ext cx="304800" cy="1066800"/>
                  <a:chOff x="3852715" y="4222563"/>
                  <a:chExt cx="304800" cy="1066800"/>
                </a:xfrm>
              </p:grpSpPr>
              <p:sp>
                <p:nvSpPr>
                  <p:cNvPr id="87" name="Oval 86"/>
                  <p:cNvSpPr/>
                  <p:nvPr/>
                </p:nvSpPr>
                <p:spPr>
                  <a:xfrm>
                    <a:off x="3852715" y="4984563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88" name="Straight Arrow Connector 87"/>
                  <p:cNvCxnSpPr/>
                  <p:nvPr/>
                </p:nvCxnSpPr>
                <p:spPr>
                  <a:xfrm>
                    <a:off x="3884279" y="4222563"/>
                    <a:ext cx="120836" cy="762000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9" name="Group 88"/>
                <p:cNvGrpSpPr/>
                <p:nvPr/>
              </p:nvGrpSpPr>
              <p:grpSpPr>
                <a:xfrm>
                  <a:off x="1600200" y="4540437"/>
                  <a:ext cx="304800" cy="1098363"/>
                  <a:chOff x="3429000" y="4235637"/>
                  <a:chExt cx="304800" cy="1098363"/>
                </a:xfrm>
              </p:grpSpPr>
              <p:sp>
                <p:nvSpPr>
                  <p:cNvPr id="90" name="Oval 89"/>
                  <p:cNvSpPr/>
                  <p:nvPr/>
                </p:nvSpPr>
                <p:spPr>
                  <a:xfrm>
                    <a:off x="3429000" y="50292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91" name="Straight Arrow Connector 90"/>
                  <p:cNvCxnSpPr/>
                  <p:nvPr/>
                </p:nvCxnSpPr>
                <p:spPr>
                  <a:xfrm flipH="1">
                    <a:off x="3600647" y="4235637"/>
                    <a:ext cx="133153" cy="805934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99" name="Group 98"/>
              <p:cNvGrpSpPr/>
              <p:nvPr/>
            </p:nvGrpSpPr>
            <p:grpSpPr>
              <a:xfrm>
                <a:off x="2438400" y="4540437"/>
                <a:ext cx="685800" cy="1098363"/>
                <a:chOff x="1600200" y="4540437"/>
                <a:chExt cx="685800" cy="1098363"/>
              </a:xfrm>
            </p:grpSpPr>
            <p:grpSp>
              <p:nvGrpSpPr>
                <p:cNvPr id="100" name="Group 99"/>
                <p:cNvGrpSpPr/>
                <p:nvPr/>
              </p:nvGrpSpPr>
              <p:grpSpPr>
                <a:xfrm>
                  <a:off x="1981200" y="4572000"/>
                  <a:ext cx="304800" cy="1066800"/>
                  <a:chOff x="3852715" y="4222563"/>
                  <a:chExt cx="304800" cy="1066800"/>
                </a:xfrm>
              </p:grpSpPr>
              <p:sp>
                <p:nvSpPr>
                  <p:cNvPr id="104" name="Oval 103"/>
                  <p:cNvSpPr/>
                  <p:nvPr/>
                </p:nvSpPr>
                <p:spPr>
                  <a:xfrm>
                    <a:off x="3852715" y="4984563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05" name="Straight Arrow Connector 104"/>
                  <p:cNvCxnSpPr/>
                  <p:nvPr/>
                </p:nvCxnSpPr>
                <p:spPr>
                  <a:xfrm>
                    <a:off x="3884279" y="4222563"/>
                    <a:ext cx="120836" cy="762000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1" name="Group 100"/>
                <p:cNvGrpSpPr/>
                <p:nvPr/>
              </p:nvGrpSpPr>
              <p:grpSpPr>
                <a:xfrm>
                  <a:off x="1600200" y="4540437"/>
                  <a:ext cx="304800" cy="1098363"/>
                  <a:chOff x="3429000" y="4235637"/>
                  <a:chExt cx="304800" cy="1098363"/>
                </a:xfrm>
              </p:grpSpPr>
              <p:sp>
                <p:nvSpPr>
                  <p:cNvPr id="102" name="Oval 101"/>
                  <p:cNvSpPr/>
                  <p:nvPr/>
                </p:nvSpPr>
                <p:spPr>
                  <a:xfrm>
                    <a:off x="3429000" y="50292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03" name="Straight Arrow Connector 102"/>
                  <p:cNvCxnSpPr/>
                  <p:nvPr/>
                </p:nvCxnSpPr>
                <p:spPr>
                  <a:xfrm flipH="1">
                    <a:off x="3600647" y="4235637"/>
                    <a:ext cx="133153" cy="805934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15" name="Straight Arrow Connector 114"/>
              <p:cNvCxnSpPr/>
              <p:nvPr/>
            </p:nvCxnSpPr>
            <p:spPr>
              <a:xfrm flipH="1">
                <a:off x="3314304" y="4572703"/>
                <a:ext cx="210144" cy="76129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6" name="Oval 115"/>
            <p:cNvSpPr/>
            <p:nvPr/>
          </p:nvSpPr>
          <p:spPr>
            <a:xfrm>
              <a:off x="3200400" y="5334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2362200" y="1752600"/>
            <a:ext cx="2209800" cy="3581401"/>
            <a:chOff x="2362200" y="1752600"/>
            <a:chExt cx="2209800" cy="3581401"/>
          </a:xfrm>
        </p:grpSpPr>
        <p:cxnSp>
          <p:nvCxnSpPr>
            <p:cNvPr id="39" name="Straight Connector 38"/>
            <p:cNvCxnSpPr/>
            <p:nvPr/>
          </p:nvCxnSpPr>
          <p:spPr>
            <a:xfrm flipV="1">
              <a:off x="3276600" y="1752600"/>
              <a:ext cx="1295400" cy="838200"/>
            </a:xfrm>
            <a:prstGeom prst="line">
              <a:avLst/>
            </a:prstGeom>
            <a:ln w="28575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H="1">
              <a:off x="2362200" y="2590800"/>
              <a:ext cx="869763" cy="1234981"/>
            </a:xfrm>
            <a:prstGeom prst="line">
              <a:avLst/>
            </a:prstGeom>
            <a:ln w="28575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2362200" y="3825781"/>
              <a:ext cx="228600" cy="593819"/>
            </a:xfrm>
            <a:prstGeom prst="line">
              <a:avLst/>
            </a:prstGeom>
            <a:ln w="28575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2438400" y="4451866"/>
              <a:ext cx="152400" cy="882135"/>
            </a:xfrm>
            <a:prstGeom prst="line">
              <a:avLst/>
            </a:prstGeom>
            <a:ln w="28575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Oval 66"/>
          <p:cNvSpPr/>
          <p:nvPr/>
        </p:nvSpPr>
        <p:spPr>
          <a:xfrm>
            <a:off x="2330636" y="5181600"/>
            <a:ext cx="488763" cy="533400"/>
          </a:xfrm>
          <a:prstGeom prst="ellipse">
            <a:avLst/>
          </a:prstGeom>
          <a:noFill/>
          <a:ln w="38100"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3" name="Group 72"/>
          <p:cNvGrpSpPr/>
          <p:nvPr/>
        </p:nvGrpSpPr>
        <p:grpSpPr>
          <a:xfrm>
            <a:off x="4572000" y="1752600"/>
            <a:ext cx="1143000" cy="1455690"/>
            <a:chOff x="4572000" y="1752600"/>
            <a:chExt cx="1143000" cy="1455690"/>
          </a:xfrm>
        </p:grpSpPr>
        <p:cxnSp>
          <p:nvCxnSpPr>
            <p:cNvPr id="160" name="Straight Connector 159"/>
            <p:cNvCxnSpPr/>
            <p:nvPr/>
          </p:nvCxnSpPr>
          <p:spPr>
            <a:xfrm flipH="1">
              <a:off x="5098863" y="2438400"/>
              <a:ext cx="616137" cy="769890"/>
            </a:xfrm>
            <a:prstGeom prst="line">
              <a:avLst/>
            </a:prstGeom>
            <a:ln w="28575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/>
          </p:nvCxnSpPr>
          <p:spPr>
            <a:xfrm flipH="1" flipV="1">
              <a:off x="4572000" y="1752600"/>
              <a:ext cx="1143000" cy="635652"/>
            </a:xfrm>
            <a:prstGeom prst="line">
              <a:avLst/>
            </a:prstGeom>
            <a:ln w="28575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3" name="Oval 162"/>
          <p:cNvSpPr/>
          <p:nvPr/>
        </p:nvSpPr>
        <p:spPr>
          <a:xfrm>
            <a:off x="5073837" y="3124200"/>
            <a:ext cx="488763" cy="533400"/>
          </a:xfrm>
          <a:prstGeom prst="ellipse">
            <a:avLst/>
          </a:prstGeom>
          <a:noFill/>
          <a:ln w="38100"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4953000" y="5715000"/>
                <a:ext cx="1018227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/>
                  <a:t>(log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5715000"/>
                <a:ext cx="1018227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5389" t="-8333" r="-9581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Rounded Rectangle 92"/>
          <p:cNvSpPr/>
          <p:nvPr/>
        </p:nvSpPr>
        <p:spPr>
          <a:xfrm>
            <a:off x="1447800" y="5257800"/>
            <a:ext cx="2209800" cy="457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4" name="Rounded Rectangle 163"/>
          <p:cNvSpPr/>
          <p:nvPr/>
        </p:nvSpPr>
        <p:spPr>
          <a:xfrm>
            <a:off x="3886200" y="4122690"/>
            <a:ext cx="3581400" cy="52551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5" name="Up Arrow 164"/>
          <p:cNvSpPr/>
          <p:nvPr/>
        </p:nvSpPr>
        <p:spPr>
          <a:xfrm rot="10800000">
            <a:off x="8077200" y="2576940"/>
            <a:ext cx="685800" cy="1842660"/>
          </a:xfrm>
          <a:prstGeom prst="up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4" name="Cloud Callout 93"/>
          <p:cNvSpPr/>
          <p:nvPr/>
        </p:nvSpPr>
        <p:spPr>
          <a:xfrm>
            <a:off x="76200" y="1520952"/>
            <a:ext cx="3505200" cy="1146048"/>
          </a:xfrm>
          <a:prstGeom prst="cloudCallout">
            <a:avLst>
              <a:gd name="adj1" fmla="val -24332"/>
              <a:gd name="adj2" fmla="val 8001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useful inference can you draw from this </a:t>
            </a:r>
            <a:r>
              <a:rPr lang="en-US" b="1" dirty="0">
                <a:solidFill>
                  <a:srgbClr val="7030A0"/>
                </a:solidFill>
              </a:rPr>
              <a:t>Theorem</a:t>
            </a:r>
            <a:r>
              <a:rPr lang="en-US" dirty="0">
                <a:solidFill>
                  <a:schemeClr val="tx1"/>
                </a:solidFill>
              </a:rPr>
              <a:t> ?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848600" y="1868269"/>
            <a:ext cx="11202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Top-down</a:t>
            </a:r>
          </a:p>
          <a:p>
            <a:r>
              <a:rPr lang="en-US" dirty="0"/>
              <a:t>approach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4773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4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7" grpId="0" animBg="1"/>
      <p:bldP spid="67" grpId="1" animBg="1"/>
      <p:bldP spid="163" grpId="0" animBg="1"/>
      <p:bldP spid="163" grpId="1" animBg="1"/>
      <p:bldP spid="92" grpId="0" animBg="1"/>
      <p:bldP spid="93" grpId="0" animBg="1"/>
      <p:bldP spid="164" grpId="0" animBg="1"/>
      <p:bldP spid="165" grpId="0" animBg="1"/>
      <p:bldP spid="94" grpId="0" animBg="1"/>
      <p:bldP spid="2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2060"/>
                </a:solidFill>
              </a:rPr>
              <a:t>Building a</a:t>
            </a:r>
            <a:r>
              <a:rPr lang="en-US" sz="3200" b="1" dirty="0">
                <a:solidFill>
                  <a:srgbClr val="7030A0"/>
                </a:solidFill>
              </a:rPr>
              <a:t> Binary heap </a:t>
            </a:r>
            <a:r>
              <a:rPr lang="en-US" sz="3200" b="1" dirty="0">
                <a:solidFill>
                  <a:srgbClr val="0070C0"/>
                </a:solidFill>
              </a:rPr>
              <a:t>incrementally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638800"/>
          </a:xfrm>
        </p:spPr>
        <p:txBody>
          <a:bodyPr/>
          <a:lstStyle/>
          <a:p>
            <a:pPr marL="0" indent="0">
              <a:buNone/>
            </a:pPr>
            <a:endParaRPr lang="en-US" sz="18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grpSp>
        <p:nvGrpSpPr>
          <p:cNvPr id="27" name="Group 26"/>
          <p:cNvGrpSpPr/>
          <p:nvPr/>
        </p:nvGrpSpPr>
        <p:grpSpPr>
          <a:xfrm>
            <a:off x="1600200" y="1295400"/>
            <a:ext cx="5638800" cy="4343400"/>
            <a:chOff x="1600200" y="1295400"/>
            <a:chExt cx="5638800" cy="4343400"/>
          </a:xfrm>
        </p:grpSpPr>
        <p:grpSp>
          <p:nvGrpSpPr>
            <p:cNvPr id="26" name="Group 25"/>
            <p:cNvGrpSpPr/>
            <p:nvPr/>
          </p:nvGrpSpPr>
          <p:grpSpPr>
            <a:xfrm>
              <a:off x="1600200" y="1295400"/>
              <a:ext cx="5638800" cy="4343400"/>
              <a:chOff x="1600200" y="1295400"/>
              <a:chExt cx="5638800" cy="4343400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4419600" y="1295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" name="Group 4"/>
              <p:cNvGrpSpPr/>
              <p:nvPr/>
            </p:nvGrpSpPr>
            <p:grpSpPr>
              <a:xfrm>
                <a:off x="2971800" y="1524000"/>
                <a:ext cx="1447800" cy="1066800"/>
                <a:chOff x="2971800" y="2209800"/>
                <a:chExt cx="1447800" cy="1066800"/>
              </a:xfrm>
            </p:grpSpPr>
            <p:cxnSp>
              <p:nvCxnSpPr>
                <p:cNvPr id="12" name="Straight Arrow Connector 11"/>
                <p:cNvCxnSpPr/>
                <p:nvPr/>
              </p:nvCxnSpPr>
              <p:spPr>
                <a:xfrm flipH="1">
                  <a:off x="3155796" y="2209800"/>
                  <a:ext cx="1263804" cy="76200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Oval 13"/>
                <p:cNvSpPr/>
                <p:nvPr/>
              </p:nvSpPr>
              <p:spPr>
                <a:xfrm>
                  <a:off x="2971800" y="2971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" name="Group 6"/>
              <p:cNvGrpSpPr/>
              <p:nvPr/>
            </p:nvGrpSpPr>
            <p:grpSpPr>
              <a:xfrm>
                <a:off x="4715107" y="1524000"/>
                <a:ext cx="1457093" cy="1016652"/>
                <a:chOff x="4715107" y="2209800"/>
                <a:chExt cx="1457093" cy="1016652"/>
              </a:xfrm>
            </p:grpSpPr>
            <p:cxnSp>
              <p:nvCxnSpPr>
                <p:cNvPr id="8" name="Straight Arrow Connector 7"/>
                <p:cNvCxnSpPr/>
                <p:nvPr/>
              </p:nvCxnSpPr>
              <p:spPr>
                <a:xfrm>
                  <a:off x="4715107" y="2209800"/>
                  <a:ext cx="1304693" cy="711852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Oval 14"/>
                <p:cNvSpPr/>
                <p:nvPr/>
              </p:nvSpPr>
              <p:spPr>
                <a:xfrm>
                  <a:off x="5867400" y="2921652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" name="Group 8"/>
              <p:cNvGrpSpPr/>
              <p:nvPr/>
            </p:nvGrpSpPr>
            <p:grpSpPr>
              <a:xfrm>
                <a:off x="2286000" y="2546163"/>
                <a:ext cx="730437" cy="1035237"/>
                <a:chOff x="2286000" y="3231963"/>
                <a:chExt cx="730437" cy="1035237"/>
              </a:xfrm>
            </p:grpSpPr>
            <p:sp>
              <p:nvSpPr>
                <p:cNvPr id="16" name="Oval 15"/>
                <p:cNvSpPr/>
                <p:nvPr/>
              </p:nvSpPr>
              <p:spPr>
                <a:xfrm>
                  <a:off x="2286000" y="39624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8" name="Straight Arrow Connector 17"/>
                <p:cNvCxnSpPr>
                  <a:stCxn id="14" idx="3"/>
                  <a:endCxn id="16" idx="0"/>
                </p:cNvCxnSpPr>
                <p:nvPr/>
              </p:nvCxnSpPr>
              <p:spPr>
                <a:xfrm flipH="1">
                  <a:off x="2438400" y="3231963"/>
                  <a:ext cx="578037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Group 9"/>
              <p:cNvGrpSpPr/>
              <p:nvPr/>
            </p:nvGrpSpPr>
            <p:grpSpPr>
              <a:xfrm>
                <a:off x="3231963" y="2546163"/>
                <a:ext cx="719285" cy="1035237"/>
                <a:chOff x="3231963" y="3231963"/>
                <a:chExt cx="719285" cy="1035237"/>
              </a:xfrm>
            </p:grpSpPr>
            <p:sp>
              <p:nvSpPr>
                <p:cNvPr id="17" name="Oval 16"/>
                <p:cNvSpPr/>
                <p:nvPr/>
              </p:nvSpPr>
              <p:spPr>
                <a:xfrm>
                  <a:off x="3646448" y="39624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1" name="Straight Arrow Connector 20"/>
                <p:cNvCxnSpPr>
                  <a:stCxn id="14" idx="5"/>
                </p:cNvCxnSpPr>
                <p:nvPr/>
              </p:nvCxnSpPr>
              <p:spPr>
                <a:xfrm>
                  <a:off x="3231963" y="3231963"/>
                  <a:ext cx="566885" cy="730437"/>
                </a:xfrm>
                <a:prstGeom prst="straightConnector1">
                  <a:avLst/>
                </a:prstGeom>
                <a:ln w="28575">
                  <a:solidFill>
                    <a:srgbClr val="0070C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Group 10"/>
              <p:cNvGrpSpPr/>
              <p:nvPr/>
            </p:nvGrpSpPr>
            <p:grpSpPr>
              <a:xfrm>
                <a:off x="5192752" y="2514600"/>
                <a:ext cx="730437" cy="1035237"/>
                <a:chOff x="5192752" y="3200400"/>
                <a:chExt cx="730437" cy="1035237"/>
              </a:xfrm>
            </p:grpSpPr>
            <p:sp>
              <p:nvSpPr>
                <p:cNvPr id="28" name="Oval 27"/>
                <p:cNvSpPr/>
                <p:nvPr/>
              </p:nvSpPr>
              <p:spPr>
                <a:xfrm>
                  <a:off x="5192752" y="3930837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0" name="Straight Arrow Connector 29"/>
                <p:cNvCxnSpPr>
                  <a:endCxn id="28" idx="0"/>
                </p:cNvCxnSpPr>
                <p:nvPr/>
              </p:nvCxnSpPr>
              <p:spPr>
                <a:xfrm flipH="1">
                  <a:off x="5345152" y="3200400"/>
                  <a:ext cx="578037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Group 12"/>
              <p:cNvGrpSpPr/>
              <p:nvPr/>
            </p:nvGrpSpPr>
            <p:grpSpPr>
              <a:xfrm>
                <a:off x="6138715" y="2514600"/>
                <a:ext cx="719285" cy="1035237"/>
                <a:chOff x="6138715" y="3200400"/>
                <a:chExt cx="719285" cy="1035237"/>
              </a:xfrm>
            </p:grpSpPr>
            <p:sp>
              <p:nvSpPr>
                <p:cNvPr id="29" name="Oval 28"/>
                <p:cNvSpPr/>
                <p:nvPr/>
              </p:nvSpPr>
              <p:spPr>
                <a:xfrm>
                  <a:off x="6553200" y="3930837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1" name="Straight Arrow Connector 30"/>
                <p:cNvCxnSpPr/>
                <p:nvPr/>
              </p:nvCxnSpPr>
              <p:spPr>
                <a:xfrm>
                  <a:off x="6138715" y="3200400"/>
                  <a:ext cx="566885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 18"/>
              <p:cNvGrpSpPr/>
              <p:nvPr/>
            </p:nvGrpSpPr>
            <p:grpSpPr>
              <a:xfrm>
                <a:off x="1828800" y="3536763"/>
                <a:ext cx="501837" cy="1035237"/>
                <a:chOff x="1828800" y="4222563"/>
                <a:chExt cx="501837" cy="1035237"/>
              </a:xfrm>
            </p:grpSpPr>
            <p:sp>
              <p:nvSpPr>
                <p:cNvPr id="33" name="Oval 32"/>
                <p:cNvSpPr/>
                <p:nvPr/>
              </p:nvSpPr>
              <p:spPr>
                <a:xfrm>
                  <a:off x="1828800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5" name="Straight Arrow Connector 34"/>
                <p:cNvCxnSpPr>
                  <a:stCxn id="16" idx="3"/>
                </p:cNvCxnSpPr>
                <p:nvPr/>
              </p:nvCxnSpPr>
              <p:spPr>
                <a:xfrm flipH="1">
                  <a:off x="2012764" y="4222563"/>
                  <a:ext cx="317873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oup 19"/>
              <p:cNvGrpSpPr/>
              <p:nvPr/>
            </p:nvGrpSpPr>
            <p:grpSpPr>
              <a:xfrm>
                <a:off x="2557315" y="3536763"/>
                <a:ext cx="414485" cy="1035237"/>
                <a:chOff x="2557315" y="4222563"/>
                <a:chExt cx="414485" cy="1035237"/>
              </a:xfrm>
            </p:grpSpPr>
            <p:sp>
              <p:nvSpPr>
                <p:cNvPr id="34" name="Oval 33"/>
                <p:cNvSpPr/>
                <p:nvPr/>
              </p:nvSpPr>
              <p:spPr>
                <a:xfrm>
                  <a:off x="2667000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6" name="Straight Arrow Connector 35"/>
                <p:cNvCxnSpPr>
                  <a:endCxn id="34" idx="0"/>
                </p:cNvCxnSpPr>
                <p:nvPr/>
              </p:nvCxnSpPr>
              <p:spPr>
                <a:xfrm>
                  <a:off x="2557315" y="4222563"/>
                  <a:ext cx="262085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Group 21"/>
              <p:cNvGrpSpPr/>
              <p:nvPr/>
            </p:nvGrpSpPr>
            <p:grpSpPr>
              <a:xfrm>
                <a:off x="3352800" y="3549837"/>
                <a:ext cx="381000" cy="1022163"/>
                <a:chOff x="3245037" y="4235637"/>
                <a:chExt cx="381000" cy="1022163"/>
              </a:xfrm>
            </p:grpSpPr>
            <p:sp>
              <p:nvSpPr>
                <p:cNvPr id="48" name="Oval 47"/>
                <p:cNvSpPr/>
                <p:nvPr/>
              </p:nvSpPr>
              <p:spPr>
                <a:xfrm>
                  <a:off x="3245037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0" name="Straight Arrow Connector 49"/>
                <p:cNvCxnSpPr/>
                <p:nvPr/>
              </p:nvCxnSpPr>
              <p:spPr>
                <a:xfrm flipH="1">
                  <a:off x="3384365" y="4235637"/>
                  <a:ext cx="241672" cy="717363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oup 22"/>
              <p:cNvGrpSpPr/>
              <p:nvPr/>
            </p:nvGrpSpPr>
            <p:grpSpPr>
              <a:xfrm>
                <a:off x="3928915" y="3536763"/>
                <a:ext cx="414485" cy="1035237"/>
                <a:chOff x="3928915" y="4222563"/>
                <a:chExt cx="414485" cy="1035237"/>
              </a:xfrm>
            </p:grpSpPr>
            <p:sp>
              <p:nvSpPr>
                <p:cNvPr id="49" name="Oval 48"/>
                <p:cNvSpPr/>
                <p:nvPr/>
              </p:nvSpPr>
              <p:spPr>
                <a:xfrm>
                  <a:off x="4038600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1" name="Straight Arrow Connector 50"/>
                <p:cNvCxnSpPr>
                  <a:endCxn id="49" idx="0"/>
                </p:cNvCxnSpPr>
                <p:nvPr/>
              </p:nvCxnSpPr>
              <p:spPr>
                <a:xfrm>
                  <a:off x="3928915" y="4222563"/>
                  <a:ext cx="262085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4" name="Group 73"/>
              <p:cNvGrpSpPr/>
              <p:nvPr/>
            </p:nvGrpSpPr>
            <p:grpSpPr>
              <a:xfrm>
                <a:off x="4755963" y="3536763"/>
                <a:ext cx="501837" cy="1035237"/>
                <a:chOff x="3200400" y="4222563"/>
                <a:chExt cx="501837" cy="1035237"/>
              </a:xfrm>
            </p:grpSpPr>
            <p:sp>
              <p:nvSpPr>
                <p:cNvPr id="75" name="Oval 74"/>
                <p:cNvSpPr/>
                <p:nvPr/>
              </p:nvSpPr>
              <p:spPr>
                <a:xfrm>
                  <a:off x="3200400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6" name="Straight Arrow Connector 75"/>
                <p:cNvCxnSpPr/>
                <p:nvPr/>
              </p:nvCxnSpPr>
              <p:spPr>
                <a:xfrm flipH="1">
                  <a:off x="3384364" y="4222563"/>
                  <a:ext cx="317873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Group 76"/>
              <p:cNvGrpSpPr/>
              <p:nvPr/>
            </p:nvGrpSpPr>
            <p:grpSpPr>
              <a:xfrm>
                <a:off x="6127563" y="3536763"/>
                <a:ext cx="501837" cy="1035237"/>
                <a:chOff x="3200400" y="4222563"/>
                <a:chExt cx="501837" cy="1035237"/>
              </a:xfrm>
            </p:grpSpPr>
            <p:sp>
              <p:nvSpPr>
                <p:cNvPr id="78" name="Oval 77"/>
                <p:cNvSpPr/>
                <p:nvPr/>
              </p:nvSpPr>
              <p:spPr>
                <a:xfrm>
                  <a:off x="3200400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9" name="Straight Arrow Connector 78"/>
                <p:cNvCxnSpPr/>
                <p:nvPr/>
              </p:nvCxnSpPr>
              <p:spPr>
                <a:xfrm flipH="1">
                  <a:off x="3384364" y="4222563"/>
                  <a:ext cx="317873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0" name="Group 79"/>
              <p:cNvGrpSpPr/>
              <p:nvPr/>
            </p:nvGrpSpPr>
            <p:grpSpPr>
              <a:xfrm>
                <a:off x="5452915" y="3505200"/>
                <a:ext cx="414485" cy="1035237"/>
                <a:chOff x="3928915" y="4222563"/>
                <a:chExt cx="414485" cy="1035237"/>
              </a:xfrm>
            </p:grpSpPr>
            <p:sp>
              <p:nvSpPr>
                <p:cNvPr id="81" name="Oval 80"/>
                <p:cNvSpPr/>
                <p:nvPr/>
              </p:nvSpPr>
              <p:spPr>
                <a:xfrm>
                  <a:off x="4038600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2" name="Straight Arrow Connector 81"/>
                <p:cNvCxnSpPr>
                  <a:endCxn id="81" idx="0"/>
                </p:cNvCxnSpPr>
                <p:nvPr/>
              </p:nvCxnSpPr>
              <p:spPr>
                <a:xfrm>
                  <a:off x="3928915" y="4222563"/>
                  <a:ext cx="262085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3" name="Group 82"/>
              <p:cNvGrpSpPr/>
              <p:nvPr/>
            </p:nvGrpSpPr>
            <p:grpSpPr>
              <a:xfrm>
                <a:off x="6824515" y="3505200"/>
                <a:ext cx="414485" cy="1035237"/>
                <a:chOff x="3928915" y="4222563"/>
                <a:chExt cx="414485" cy="1035237"/>
              </a:xfrm>
            </p:grpSpPr>
            <p:sp>
              <p:nvSpPr>
                <p:cNvPr id="84" name="Oval 83"/>
                <p:cNvSpPr/>
                <p:nvPr/>
              </p:nvSpPr>
              <p:spPr>
                <a:xfrm>
                  <a:off x="4038600" y="49530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5" name="Straight Arrow Connector 84"/>
                <p:cNvCxnSpPr>
                  <a:endCxn id="84" idx="0"/>
                </p:cNvCxnSpPr>
                <p:nvPr/>
              </p:nvCxnSpPr>
              <p:spPr>
                <a:xfrm>
                  <a:off x="3928915" y="4222563"/>
                  <a:ext cx="262085" cy="7304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8" name="Group 97"/>
              <p:cNvGrpSpPr/>
              <p:nvPr/>
            </p:nvGrpSpPr>
            <p:grpSpPr>
              <a:xfrm>
                <a:off x="1600200" y="4540437"/>
                <a:ext cx="685800" cy="1098363"/>
                <a:chOff x="1600200" y="4540437"/>
                <a:chExt cx="685800" cy="1098363"/>
              </a:xfrm>
            </p:grpSpPr>
            <p:grpSp>
              <p:nvGrpSpPr>
                <p:cNvPr id="86" name="Group 85"/>
                <p:cNvGrpSpPr/>
                <p:nvPr/>
              </p:nvGrpSpPr>
              <p:grpSpPr>
                <a:xfrm>
                  <a:off x="1981200" y="4572000"/>
                  <a:ext cx="304800" cy="1066800"/>
                  <a:chOff x="3852715" y="4222563"/>
                  <a:chExt cx="304800" cy="1066800"/>
                </a:xfrm>
              </p:grpSpPr>
              <p:sp>
                <p:nvSpPr>
                  <p:cNvPr id="87" name="Oval 86"/>
                  <p:cNvSpPr/>
                  <p:nvPr/>
                </p:nvSpPr>
                <p:spPr>
                  <a:xfrm>
                    <a:off x="3852715" y="4984563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88" name="Straight Arrow Connector 87"/>
                  <p:cNvCxnSpPr/>
                  <p:nvPr/>
                </p:nvCxnSpPr>
                <p:spPr>
                  <a:xfrm>
                    <a:off x="3884279" y="4222563"/>
                    <a:ext cx="120836" cy="762000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9" name="Group 88"/>
                <p:cNvGrpSpPr/>
                <p:nvPr/>
              </p:nvGrpSpPr>
              <p:grpSpPr>
                <a:xfrm>
                  <a:off x="1600200" y="4540437"/>
                  <a:ext cx="304800" cy="1098363"/>
                  <a:chOff x="3429000" y="4235637"/>
                  <a:chExt cx="304800" cy="1098363"/>
                </a:xfrm>
              </p:grpSpPr>
              <p:sp>
                <p:nvSpPr>
                  <p:cNvPr id="90" name="Oval 89"/>
                  <p:cNvSpPr/>
                  <p:nvPr/>
                </p:nvSpPr>
                <p:spPr>
                  <a:xfrm>
                    <a:off x="3429000" y="50292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91" name="Straight Arrow Connector 90"/>
                  <p:cNvCxnSpPr/>
                  <p:nvPr/>
                </p:nvCxnSpPr>
                <p:spPr>
                  <a:xfrm flipH="1">
                    <a:off x="3600647" y="4235637"/>
                    <a:ext cx="133153" cy="805934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99" name="Group 98"/>
              <p:cNvGrpSpPr/>
              <p:nvPr/>
            </p:nvGrpSpPr>
            <p:grpSpPr>
              <a:xfrm>
                <a:off x="2438400" y="4540437"/>
                <a:ext cx="685800" cy="1098363"/>
                <a:chOff x="1600200" y="4540437"/>
                <a:chExt cx="685800" cy="1098363"/>
              </a:xfrm>
            </p:grpSpPr>
            <p:grpSp>
              <p:nvGrpSpPr>
                <p:cNvPr id="100" name="Group 99"/>
                <p:cNvGrpSpPr/>
                <p:nvPr/>
              </p:nvGrpSpPr>
              <p:grpSpPr>
                <a:xfrm>
                  <a:off x="1981200" y="4572000"/>
                  <a:ext cx="304800" cy="1066800"/>
                  <a:chOff x="3852715" y="4222563"/>
                  <a:chExt cx="304800" cy="1066800"/>
                </a:xfrm>
              </p:grpSpPr>
              <p:sp>
                <p:nvSpPr>
                  <p:cNvPr id="104" name="Oval 103"/>
                  <p:cNvSpPr/>
                  <p:nvPr/>
                </p:nvSpPr>
                <p:spPr>
                  <a:xfrm>
                    <a:off x="3852715" y="4984563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05" name="Straight Arrow Connector 104"/>
                  <p:cNvCxnSpPr/>
                  <p:nvPr/>
                </p:nvCxnSpPr>
                <p:spPr>
                  <a:xfrm>
                    <a:off x="3884279" y="4222563"/>
                    <a:ext cx="120836" cy="762000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1" name="Group 100"/>
                <p:cNvGrpSpPr/>
                <p:nvPr/>
              </p:nvGrpSpPr>
              <p:grpSpPr>
                <a:xfrm>
                  <a:off x="1600200" y="4540437"/>
                  <a:ext cx="304800" cy="1098363"/>
                  <a:chOff x="3429000" y="4235637"/>
                  <a:chExt cx="304800" cy="1098363"/>
                </a:xfrm>
              </p:grpSpPr>
              <p:sp>
                <p:nvSpPr>
                  <p:cNvPr id="102" name="Oval 101"/>
                  <p:cNvSpPr/>
                  <p:nvPr/>
                </p:nvSpPr>
                <p:spPr>
                  <a:xfrm>
                    <a:off x="3429000" y="50292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03" name="Straight Arrow Connector 102"/>
                  <p:cNvCxnSpPr/>
                  <p:nvPr/>
                </p:nvCxnSpPr>
                <p:spPr>
                  <a:xfrm flipH="1">
                    <a:off x="3600647" y="4235637"/>
                    <a:ext cx="133153" cy="805934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15" name="Straight Arrow Connector 114"/>
              <p:cNvCxnSpPr/>
              <p:nvPr/>
            </p:nvCxnSpPr>
            <p:spPr>
              <a:xfrm flipH="1">
                <a:off x="3314304" y="4572703"/>
                <a:ext cx="210144" cy="76129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6" name="Oval 115"/>
            <p:cNvSpPr/>
            <p:nvPr/>
          </p:nvSpPr>
          <p:spPr>
            <a:xfrm>
              <a:off x="3200400" y="5334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3" name="Rounded Rectangle 92"/>
          <p:cNvSpPr/>
          <p:nvPr/>
        </p:nvSpPr>
        <p:spPr>
          <a:xfrm>
            <a:off x="1447800" y="5257800"/>
            <a:ext cx="2209800" cy="457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4" name="Rounded Rectangle 163"/>
          <p:cNvSpPr/>
          <p:nvPr/>
        </p:nvSpPr>
        <p:spPr>
          <a:xfrm>
            <a:off x="3886200" y="4122690"/>
            <a:ext cx="3581400" cy="52551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5" name="Up Arrow 164"/>
          <p:cNvSpPr/>
          <p:nvPr/>
        </p:nvSpPr>
        <p:spPr>
          <a:xfrm rot="10800000">
            <a:off x="8077200" y="2576940"/>
            <a:ext cx="685800" cy="1842660"/>
          </a:xfrm>
          <a:prstGeom prst="up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Down Ribbon 23"/>
              <p:cNvSpPr/>
              <p:nvPr/>
            </p:nvSpPr>
            <p:spPr>
              <a:xfrm>
                <a:off x="2133600" y="5880485"/>
                <a:ext cx="5943600" cy="748915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The </a:t>
                </a:r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time algorithm must take </a:t>
                </a:r>
                <a:r>
                  <a:rPr lang="en-US" b="1" dirty="0">
                    <a:solidFill>
                      <a:schemeClr val="tx1"/>
                    </a:solidFill>
                  </a:rPr>
                  <a:t>O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:r>
                  <a:rPr lang="en-US" b="1" dirty="0">
                    <a:solidFill>
                      <a:srgbClr val="0070C0"/>
                    </a:solidFill>
                  </a:rPr>
                  <a:t>1</a:t>
                </a:r>
                <a:r>
                  <a:rPr lang="en-US" dirty="0">
                    <a:solidFill>
                      <a:schemeClr val="tx1"/>
                    </a:solidFill>
                  </a:rPr>
                  <a:t>) time for each of the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/</m:t>
                        </m:r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leaves.  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Down Ribbon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5880485"/>
                <a:ext cx="5943600" cy="748915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2"/>
                <a:stretch>
                  <a:fillRect b="-118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/>
          <p:cNvSpPr txBox="1"/>
          <p:nvPr/>
        </p:nvSpPr>
        <p:spPr>
          <a:xfrm>
            <a:off x="7848600" y="1868269"/>
            <a:ext cx="11202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Top-down</a:t>
            </a:r>
          </a:p>
          <a:p>
            <a:r>
              <a:rPr lang="en-US" dirty="0"/>
              <a:t>approach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Cloud Callout 94"/>
              <p:cNvSpPr/>
              <p:nvPr/>
            </p:nvSpPr>
            <p:spPr>
              <a:xfrm>
                <a:off x="0" y="1093521"/>
                <a:ext cx="4083237" cy="1146048"/>
              </a:xfrm>
              <a:prstGeom prst="cloudCallout">
                <a:avLst>
                  <a:gd name="adj1" fmla="val -24332"/>
                  <a:gd name="adj2" fmla="val 80014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Ponder over the design of the  </a:t>
                </a:r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algorithm based on this insight.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Cloud Callout 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93521"/>
                <a:ext cx="4083237" cy="1146048"/>
              </a:xfrm>
              <a:prstGeom prst="cloudCallout">
                <a:avLst>
                  <a:gd name="adj1" fmla="val -24332"/>
                  <a:gd name="adj2" fmla="val 80014"/>
                </a:avLst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1553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11383</TotalTime>
  <Words>1715</Words>
  <Application>Microsoft Macintosh PowerPoint</Application>
  <PresentationFormat>On-screen Show (4:3)</PresentationFormat>
  <Paragraphs>574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Cambria Math</vt:lpstr>
      <vt:lpstr>Wingdings</vt:lpstr>
      <vt:lpstr>Office Theme</vt:lpstr>
      <vt:lpstr>Data Structures and Algorithms (ESO207) </vt:lpstr>
      <vt:lpstr>Heap </vt:lpstr>
      <vt:lpstr>Operations on a heap</vt:lpstr>
      <vt:lpstr>Can  we implement  a binary tree using an array ?</vt:lpstr>
      <vt:lpstr>A complete binary tree</vt:lpstr>
      <vt:lpstr>A complete binary tree</vt:lpstr>
      <vt:lpstr>A complete binary tree</vt:lpstr>
      <vt:lpstr>A complete binary tree and array </vt:lpstr>
      <vt:lpstr>Binary heap</vt:lpstr>
      <vt:lpstr>Binary heap</vt:lpstr>
      <vt:lpstr>Implementation of a Binary heap</vt:lpstr>
      <vt:lpstr>Find_min(H)</vt:lpstr>
      <vt:lpstr>Extract_min(H)</vt:lpstr>
      <vt:lpstr>Extract_min(H)</vt:lpstr>
      <vt:lpstr>Extract_min(H)</vt:lpstr>
      <vt:lpstr>Extract_min(H)</vt:lpstr>
      <vt:lpstr>Extract_min(H)</vt:lpstr>
      <vt:lpstr>Insert(x,H)</vt:lpstr>
      <vt:lpstr>Insert(x,H)</vt:lpstr>
      <vt:lpstr>Insert(x,H)</vt:lpstr>
      <vt:lpstr>Insert(x,H)</vt:lpstr>
      <vt:lpstr>Insert(x,H)</vt:lpstr>
      <vt:lpstr>Insert(x,H)</vt:lpstr>
      <vt:lpstr>The remaining operations on Binary heap</vt:lpstr>
      <vt:lpstr>Other heaps</vt:lpstr>
      <vt:lpstr>Building a Binary heap</vt:lpstr>
      <vt:lpstr>Building a Binary heap</vt:lpstr>
      <vt:lpstr>Building a Binary heap incrementally</vt:lpstr>
      <vt:lpstr>Time complexity</vt:lpstr>
      <vt:lpstr>A complete binary tree</vt:lpstr>
      <vt:lpstr>A complete binary tree</vt:lpstr>
      <vt:lpstr>A complete binary tree</vt:lpstr>
      <vt:lpstr>Building a Binary heap incrementally</vt:lpstr>
      <vt:lpstr>Building a Binary heap incrementally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1119</cp:revision>
  <dcterms:created xsi:type="dcterms:W3CDTF">2011-12-03T04:13:03Z</dcterms:created>
  <dcterms:modified xsi:type="dcterms:W3CDTF">2025-10-17T05:31:22Z</dcterms:modified>
</cp:coreProperties>
</file>