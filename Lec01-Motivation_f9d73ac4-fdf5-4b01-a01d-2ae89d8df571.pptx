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2"/>
  </p:notesMasterIdLst>
  <p:sldIdLst>
    <p:sldId id="274" r:id="rId2"/>
    <p:sldId id="408" r:id="rId3"/>
    <p:sldId id="563" r:id="rId4"/>
    <p:sldId id="392" r:id="rId5"/>
    <p:sldId id="410" r:id="rId6"/>
    <p:sldId id="376" r:id="rId7"/>
    <p:sldId id="394" r:id="rId8"/>
    <p:sldId id="319" r:id="rId9"/>
    <p:sldId id="382" r:id="rId10"/>
    <p:sldId id="393" r:id="rId11"/>
    <p:sldId id="406" r:id="rId12"/>
    <p:sldId id="403" r:id="rId13"/>
    <p:sldId id="404" r:id="rId14"/>
    <p:sldId id="405" r:id="rId15"/>
    <p:sldId id="407" r:id="rId16"/>
    <p:sldId id="386" r:id="rId17"/>
    <p:sldId id="390" r:id="rId18"/>
    <p:sldId id="396" r:id="rId19"/>
    <p:sldId id="391" r:id="rId20"/>
    <p:sldId id="381" r:id="rId21"/>
    <p:sldId id="389" r:id="rId22"/>
    <p:sldId id="387" r:id="rId23"/>
    <p:sldId id="397" r:id="rId24"/>
    <p:sldId id="398" r:id="rId25"/>
    <p:sldId id="399" r:id="rId26"/>
    <p:sldId id="400" r:id="rId27"/>
    <p:sldId id="401" r:id="rId28"/>
    <p:sldId id="380" r:id="rId29"/>
    <p:sldId id="375" r:id="rId30"/>
    <p:sldId id="413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A2C006-1005-534C-8655-7811A10776E2}" v="174" dt="2023-08-01T05:25:10.3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2571" autoAdjust="0"/>
  </p:normalViewPr>
  <p:slideViewPr>
    <p:cSldViewPr>
      <p:cViewPr varScale="1">
        <p:scale>
          <a:sx n="112" d="100"/>
          <a:sy n="112" d="100"/>
        </p:scale>
        <p:origin x="183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C2A2C006-1005-534C-8655-7811A10776E2}"/>
    <pc:docChg chg="custSel modSld sldOrd">
      <pc:chgData name="Raghunath Tewari" userId="2638bdda-d406-4938-a2a6-e4e967acb772" providerId="ADAL" clId="{C2A2C006-1005-534C-8655-7811A10776E2}" dt="2023-08-01T05:25:10.394" v="178" actId="20577"/>
      <pc:docMkLst>
        <pc:docMk/>
      </pc:docMkLst>
      <pc:sldChg chg="addSp modSp">
        <pc:chgData name="Raghunath Tewari" userId="2638bdda-d406-4938-a2a6-e4e967acb772" providerId="ADAL" clId="{C2A2C006-1005-534C-8655-7811A10776E2}" dt="2023-07-31T04:25:57.619" v="163" actId="767"/>
        <pc:sldMkLst>
          <pc:docMk/>
          <pc:sldMk cId="1872097685" sldId="274"/>
        </pc:sldMkLst>
        <pc:spChg chg="add mod">
          <ac:chgData name="Raghunath Tewari" userId="2638bdda-d406-4938-a2a6-e4e967acb772" providerId="ADAL" clId="{C2A2C006-1005-534C-8655-7811A10776E2}" dt="2023-07-31T04:25:57.619" v="163" actId="767"/>
          <ac:spMkLst>
            <pc:docMk/>
            <pc:sldMk cId="1872097685" sldId="274"/>
            <ac:spMk id="5" creationId="{44C9BDE4-8883-7059-1BFD-8060D518955B}"/>
          </ac:spMkLst>
        </pc:spChg>
      </pc:sldChg>
      <pc:sldChg chg="modSp modAnim">
        <pc:chgData name="Raghunath Tewari" userId="2638bdda-d406-4938-a2a6-e4e967acb772" providerId="ADAL" clId="{C2A2C006-1005-534C-8655-7811A10776E2}" dt="2023-07-31T03:16:16.073" v="161" actId="20577"/>
        <pc:sldMkLst>
          <pc:docMk/>
          <pc:sldMk cId="3808777167" sldId="399"/>
        </pc:sldMkLst>
        <pc:spChg chg="mod">
          <ac:chgData name="Raghunath Tewari" userId="2638bdda-d406-4938-a2a6-e4e967acb772" providerId="ADAL" clId="{C2A2C006-1005-534C-8655-7811A10776E2}" dt="2023-07-31T03:16:16.073" v="161" actId="20577"/>
          <ac:spMkLst>
            <pc:docMk/>
            <pc:sldMk cId="3808777167" sldId="399"/>
            <ac:spMk id="3" creationId="{00000000-0000-0000-0000-000000000000}"/>
          </ac:spMkLst>
        </pc:spChg>
      </pc:sldChg>
      <pc:sldChg chg="modSp modAnim">
        <pc:chgData name="Raghunath Tewari" userId="2638bdda-d406-4938-a2a6-e4e967acb772" providerId="ADAL" clId="{C2A2C006-1005-534C-8655-7811A10776E2}" dt="2023-07-31T03:08:02.002" v="159" actId="20577"/>
        <pc:sldMkLst>
          <pc:docMk/>
          <pc:sldMk cId="2890245858" sldId="407"/>
        </pc:sldMkLst>
        <pc:spChg chg="mod">
          <ac:chgData name="Raghunath Tewari" userId="2638bdda-d406-4938-a2a6-e4e967acb772" providerId="ADAL" clId="{C2A2C006-1005-534C-8655-7811A10776E2}" dt="2023-07-31T03:08:02.002" v="159" actId="20577"/>
          <ac:spMkLst>
            <pc:docMk/>
            <pc:sldMk cId="2890245858" sldId="407"/>
            <ac:spMk id="3" creationId="{00000000-0000-0000-0000-000000000000}"/>
          </ac:spMkLst>
        </pc:spChg>
      </pc:sldChg>
      <pc:sldChg chg="delSp modSp mod modAnim">
        <pc:chgData name="Raghunath Tewari" userId="2638bdda-d406-4938-a2a6-e4e967acb772" providerId="ADAL" clId="{C2A2C006-1005-534C-8655-7811A10776E2}" dt="2023-08-01T05:25:10.394" v="178" actId="20577"/>
        <pc:sldMkLst>
          <pc:docMk/>
          <pc:sldMk cId="2869769066" sldId="408"/>
        </pc:sldMkLst>
        <pc:spChg chg="mod">
          <ac:chgData name="Raghunath Tewari" userId="2638bdda-d406-4938-a2a6-e4e967acb772" providerId="ADAL" clId="{C2A2C006-1005-534C-8655-7811A10776E2}" dt="2023-07-31T03:01:23.391" v="150" actId="1076"/>
          <ac:spMkLst>
            <pc:docMk/>
            <pc:sldMk cId="2869769066" sldId="408"/>
            <ac:spMk id="2" creationId="{00000000-0000-0000-0000-000000000000}"/>
          </ac:spMkLst>
        </pc:spChg>
        <pc:spChg chg="mod">
          <ac:chgData name="Raghunath Tewari" userId="2638bdda-d406-4938-a2a6-e4e967acb772" providerId="ADAL" clId="{C2A2C006-1005-534C-8655-7811A10776E2}" dt="2023-08-01T05:25:10.394" v="178" actId="20577"/>
          <ac:spMkLst>
            <pc:docMk/>
            <pc:sldMk cId="2869769066" sldId="408"/>
            <ac:spMk id="3" creationId="{00000000-0000-0000-0000-000000000000}"/>
          </ac:spMkLst>
        </pc:spChg>
        <pc:spChg chg="del">
          <ac:chgData name="Raghunath Tewari" userId="2638bdda-d406-4938-a2a6-e4e967acb772" providerId="ADAL" clId="{C2A2C006-1005-534C-8655-7811A10776E2}" dt="2023-07-30T11:25:38.567" v="5" actId="478"/>
          <ac:spMkLst>
            <pc:docMk/>
            <pc:sldMk cId="2869769066" sldId="408"/>
            <ac:spMk id="5" creationId="{00000000-0000-0000-0000-000000000000}"/>
          </ac:spMkLst>
        </pc:spChg>
      </pc:sldChg>
      <pc:sldChg chg="ord">
        <pc:chgData name="Raghunath Tewari" userId="2638bdda-d406-4938-a2a6-e4e967acb772" providerId="ADAL" clId="{C2A2C006-1005-534C-8655-7811A10776E2}" dt="2023-07-31T03:18:54.699" v="162" actId="20578"/>
        <pc:sldMkLst>
          <pc:docMk/>
          <pc:sldMk cId="2109080457" sldId="563"/>
        </pc:sldMkLst>
      </pc:sldChg>
    </pc:docChg>
  </pc:docChgLst>
  <pc:docChgLst>
    <pc:chgData name="Raghunath Tewari" userId="2638bdda-d406-4938-a2a6-e4e967acb772" providerId="ADAL" clId="{D9E5CB21-56DE-0942-B28D-6586C1C4315D}"/>
    <pc:docChg chg="undo custSel addSld delSld modSld">
      <pc:chgData name="Raghunath Tewari" userId="2638bdda-d406-4938-a2a6-e4e967acb772" providerId="ADAL" clId="{D9E5CB21-56DE-0942-B28D-6586C1C4315D}" dt="2021-01-13T09:13:05.984" v="62" actId="2696"/>
      <pc:docMkLst>
        <pc:docMk/>
      </pc:docMkLst>
      <pc:sldChg chg="addSp delSp modSp mod">
        <pc:chgData name="Raghunath Tewari" userId="2638bdda-d406-4938-a2a6-e4e967acb772" providerId="ADAL" clId="{D9E5CB21-56DE-0942-B28D-6586C1C4315D}" dt="2021-01-13T06:04:40.414" v="61" actId="20577"/>
        <pc:sldMkLst>
          <pc:docMk/>
          <pc:sldMk cId="1872097685" sldId="274"/>
        </pc:sldMkLst>
        <pc:spChg chg="add del mod">
          <ac:chgData name="Raghunath Tewari" userId="2638bdda-d406-4938-a2a6-e4e967acb772" providerId="ADAL" clId="{D9E5CB21-56DE-0942-B28D-6586C1C4315D}" dt="2021-01-13T06:04:40.414" v="61" actId="20577"/>
          <ac:spMkLst>
            <pc:docMk/>
            <pc:sldMk cId="1872097685" sldId="274"/>
            <ac:spMk id="2" creationId="{00000000-0000-0000-0000-000000000000}"/>
          </ac:spMkLst>
        </pc:spChg>
        <pc:spChg chg="add del mod">
          <ac:chgData name="Raghunath Tewari" userId="2638bdda-d406-4938-a2a6-e4e967acb772" providerId="ADAL" clId="{D9E5CB21-56DE-0942-B28D-6586C1C4315D}" dt="2021-01-13T06:04:14.815" v="57" actId="478"/>
          <ac:spMkLst>
            <pc:docMk/>
            <pc:sldMk cId="1872097685" sldId="274"/>
            <ac:spMk id="6" creationId="{D3A42710-0A8B-7340-ABCB-52C88E96DBBB}"/>
          </ac:spMkLst>
        </pc:spChg>
      </pc:sldChg>
      <pc:sldChg chg="del">
        <pc:chgData name="Raghunath Tewari" userId="2638bdda-d406-4938-a2a6-e4e967acb772" providerId="ADAL" clId="{D9E5CB21-56DE-0942-B28D-6586C1C4315D}" dt="2021-01-13T04:03:55.812" v="54" actId="2696"/>
        <pc:sldMkLst>
          <pc:docMk/>
          <pc:sldMk cId="3474525439" sldId="384"/>
        </pc:sldMkLst>
      </pc:sldChg>
      <pc:sldChg chg="delSp modSp mod delAnim modAnim">
        <pc:chgData name="Raghunath Tewari" userId="2638bdda-d406-4938-a2a6-e4e967acb772" providerId="ADAL" clId="{D9E5CB21-56DE-0942-B28D-6586C1C4315D}" dt="2021-01-13T04:01:05.261" v="49" actId="20577"/>
        <pc:sldMkLst>
          <pc:docMk/>
          <pc:sldMk cId="2869769066" sldId="408"/>
        </pc:sldMkLst>
        <pc:spChg chg="mod">
          <ac:chgData name="Raghunath Tewari" userId="2638bdda-d406-4938-a2a6-e4e967acb772" providerId="ADAL" clId="{D9E5CB21-56DE-0942-B28D-6586C1C4315D}" dt="2021-01-13T04:01:05.261" v="49" actId="20577"/>
          <ac:spMkLst>
            <pc:docMk/>
            <pc:sldMk cId="2869769066" sldId="408"/>
            <ac:spMk id="3" creationId="{00000000-0000-0000-0000-000000000000}"/>
          </ac:spMkLst>
        </pc:spChg>
        <pc:spChg chg="del mod">
          <ac:chgData name="Raghunath Tewari" userId="2638bdda-d406-4938-a2a6-e4e967acb772" providerId="ADAL" clId="{D9E5CB21-56DE-0942-B28D-6586C1C4315D}" dt="2021-01-13T04:00:33.668" v="20" actId="478"/>
          <ac:spMkLst>
            <pc:docMk/>
            <pc:sldMk cId="2869769066" sldId="408"/>
            <ac:spMk id="6" creationId="{00000000-0000-0000-0000-000000000000}"/>
          </ac:spMkLst>
        </pc:spChg>
      </pc:sldChg>
      <pc:sldChg chg="del">
        <pc:chgData name="Raghunath Tewari" userId="2638bdda-d406-4938-a2a6-e4e967acb772" providerId="ADAL" clId="{D9E5CB21-56DE-0942-B28D-6586C1C4315D}" dt="2021-01-13T04:01:29.574" v="50" actId="2696"/>
        <pc:sldMkLst>
          <pc:docMk/>
          <pc:sldMk cId="2391693795" sldId="411"/>
        </pc:sldMkLst>
      </pc:sldChg>
      <pc:sldChg chg="del">
        <pc:chgData name="Raghunath Tewari" userId="2638bdda-d406-4938-a2a6-e4e967acb772" providerId="ADAL" clId="{D9E5CB21-56DE-0942-B28D-6586C1C4315D}" dt="2021-01-13T09:13:05.984" v="62" actId="2696"/>
        <pc:sldMkLst>
          <pc:docMk/>
          <pc:sldMk cId="1769552121" sldId="412"/>
        </pc:sldMkLst>
      </pc:sldChg>
      <pc:sldChg chg="new del">
        <pc:chgData name="Raghunath Tewari" userId="2638bdda-d406-4938-a2a6-e4e967acb772" providerId="ADAL" clId="{D9E5CB21-56DE-0942-B28D-6586C1C4315D}" dt="2021-01-13T04:03:31.356" v="53" actId="2696"/>
        <pc:sldMkLst>
          <pc:docMk/>
          <pc:sldMk cId="1135596541" sldId="414"/>
        </pc:sldMkLst>
      </pc:sldChg>
      <pc:sldChg chg="add">
        <pc:chgData name="Raghunath Tewari" userId="2638bdda-d406-4938-a2a6-e4e967acb772" providerId="ADAL" clId="{D9E5CB21-56DE-0942-B28D-6586C1C4315D}" dt="2021-01-13T04:03:29.456" v="52"/>
        <pc:sldMkLst>
          <pc:docMk/>
          <pc:sldMk cId="2109080457" sldId="5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E4F05-5415-44CC-8939-3236CFC6FFD0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1B789-A2E1-4F16-AE55-D9160ED5D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42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7950-CEBC-4D31-9B19-82E7E5455EAF}" type="datetime1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1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6095-4887-435D-A31D-C2CAE87D93F3}" type="datetime1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2AD39-D0C6-40FF-9B87-0004A223D45B}" type="datetime1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8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A40E6-8D9B-4C54-AB72-59C904E69E1A}" type="datetime1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487FB-D3B5-4D92-AC51-86553364AD06}" type="datetime1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5389-FFAF-458D-944F-1279BEDA3683}" type="datetime1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7FF6-B902-4EE4-8D5F-3ED914F7A0EC}" type="datetime1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EA702-43E5-4A0D-BB36-707BBBDD729A}" type="datetime1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6DF00-047B-4830-AA93-A29BBFE4F52A}" type="datetime1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4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4582-9047-48FC-8151-920739470CC7}" type="datetime1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76085-A27D-419D-99B4-E5652E14C965}" type="datetime1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F791B-D819-46D4-BCD6-0F88CB3B9EBD}" type="datetime1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2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rtewari@cse.iitk.ac.i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b="1" dirty="0">
                <a:solidFill>
                  <a:srgbClr val="7030A0"/>
                </a:solidFill>
              </a:rPr>
              <a:t>(ESO207)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00800" cy="11430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Lecture 1: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An </a:t>
            </a:r>
            <a:r>
              <a:rPr lang="en-US" sz="2400" b="1" dirty="0">
                <a:solidFill>
                  <a:srgbClr val="002060"/>
                </a:solidFill>
              </a:rPr>
              <a:t>overview</a:t>
            </a:r>
            <a:r>
              <a:rPr lang="en-US" sz="2400" dirty="0">
                <a:solidFill>
                  <a:srgbClr val="002060"/>
                </a:solidFill>
              </a:rPr>
              <a:t> and </a:t>
            </a:r>
            <a:r>
              <a:rPr lang="en-US" sz="2400" b="1" dirty="0">
                <a:solidFill>
                  <a:srgbClr val="002060"/>
                </a:solidFill>
              </a:rPr>
              <a:t>motivation</a:t>
            </a:r>
            <a:r>
              <a:rPr lang="en-US" sz="2400" dirty="0">
                <a:solidFill>
                  <a:srgbClr val="002060"/>
                </a:solidFill>
              </a:rPr>
              <a:t> for the course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some </a:t>
            </a:r>
            <a:r>
              <a:rPr lang="en-US" sz="2400" b="1" dirty="0">
                <a:solidFill>
                  <a:srgbClr val="002060"/>
                </a:solidFill>
              </a:rPr>
              <a:t>concrete</a:t>
            </a:r>
            <a:r>
              <a:rPr lang="en-US" sz="2400" dirty="0">
                <a:solidFill>
                  <a:srgbClr val="002060"/>
                </a:solidFill>
              </a:rPr>
              <a:t> examples.</a:t>
            </a:r>
          </a:p>
          <a:p>
            <a:pPr algn="l"/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9BDE4-8883-7059-1BFD-8060D518955B}"/>
              </a:ext>
            </a:extLst>
          </p:cNvPr>
          <p:cNvSpPr txBox="1"/>
          <p:nvPr/>
        </p:nvSpPr>
        <p:spPr>
          <a:xfrm>
            <a:off x="10011508" y="55098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09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Some Information</a:t>
            </a:r>
            <a:br>
              <a:rPr lang="en-US" sz="4000" b="1" dirty="0">
                <a:solidFill>
                  <a:srgbClr val="7030A0"/>
                </a:solidFill>
              </a:rPr>
            </a:br>
            <a:r>
              <a:rPr lang="en-US" sz="4000" dirty="0">
                <a:sym typeface="Wingdings" pitchFamily="2" charset="2"/>
              </a:rPr>
              <a:t>ESO207: Data Structures and Algorithms</a:t>
            </a:r>
            <a:br>
              <a:rPr lang="en-US" sz="4000" dirty="0">
                <a:sym typeface="Wingdings" pitchFamily="2" charset="2"/>
              </a:rPr>
            </a:b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330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C00000"/>
                </a:solidFill>
              </a:rPr>
              <a:t>Course Website:</a:t>
            </a:r>
            <a:r>
              <a:rPr lang="en-US" sz="3000" dirty="0"/>
              <a:t> </a:t>
            </a:r>
            <a:r>
              <a:rPr lang="en-US" sz="3000" dirty="0" err="1"/>
              <a:t>hello.iitk.ac.in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C00000"/>
                </a:solidFill>
                <a:sym typeface="Wingdings" pitchFamily="2" charset="2"/>
              </a:rPr>
              <a:t>Instructor email:</a:t>
            </a:r>
            <a:r>
              <a:rPr lang="en-US" sz="3000" dirty="0">
                <a:sym typeface="Wingdings" pitchFamily="2" charset="2"/>
              </a:rPr>
              <a:t> </a:t>
            </a:r>
            <a:r>
              <a:rPr lang="en-US" sz="3000" dirty="0">
                <a:sym typeface="Wingdings" pitchFamily="2" charset="2"/>
                <a:hlinkClick r:id="rId2"/>
              </a:rPr>
              <a:t>rtewari@cse.iitk.ac.in</a:t>
            </a: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                   </a:t>
            </a:r>
            <a:endParaRPr lang="en-US" sz="2800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6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E523-1C9E-1C43-B35A-C1D5FF44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Acknowledgment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97AD2-6784-0F46-BCFC-087107F2A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Thanks to Prof Surender </a:t>
            </a:r>
            <a:r>
              <a:rPr lang="en-US" dirty="0" err="1"/>
              <a:t>Baswana</a:t>
            </a:r>
            <a:r>
              <a:rPr lang="en-US" dirty="0"/>
              <a:t> for allowing me to use </a:t>
            </a:r>
            <a:r>
              <a:rPr lang="en-US"/>
              <a:t>and modify </a:t>
            </a:r>
            <a:r>
              <a:rPr lang="en-US" dirty="0"/>
              <a:t>his lecture slides.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1A049-0ADC-294A-AF43-4445CCF43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80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Prerequisite </a:t>
            </a:r>
            <a:r>
              <a:rPr lang="en-US" sz="3600" b="1" dirty="0"/>
              <a:t>of this course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r>
              <a:rPr lang="en-US" sz="2400" dirty="0"/>
              <a:t>A good command on Programming in C</a:t>
            </a:r>
          </a:p>
          <a:p>
            <a:pPr lvl="1"/>
            <a:r>
              <a:rPr lang="en-US" sz="2000" dirty="0"/>
              <a:t>Programs involving arrays</a:t>
            </a:r>
          </a:p>
          <a:p>
            <a:pPr lvl="1"/>
            <a:r>
              <a:rPr lang="en-US" sz="2000" dirty="0"/>
              <a:t>Recursion</a:t>
            </a:r>
          </a:p>
          <a:p>
            <a:pPr lvl="1"/>
            <a:r>
              <a:rPr lang="en-US" sz="2000" dirty="0"/>
              <a:t>Linked lists </a:t>
            </a:r>
            <a:r>
              <a:rPr lang="en-US" sz="2000" dirty="0">
                <a:solidFill>
                  <a:srgbClr val="7030A0"/>
                </a:solidFill>
              </a:rPr>
              <a:t>(preferred)</a:t>
            </a:r>
          </a:p>
          <a:p>
            <a:pPr lvl="1"/>
            <a:endParaRPr lang="en-US" sz="2000" dirty="0">
              <a:solidFill>
                <a:srgbClr val="7030A0"/>
              </a:solidFill>
            </a:endParaRPr>
          </a:p>
          <a:p>
            <a:pPr lvl="1"/>
            <a:endParaRPr lang="en-US" sz="2000" dirty="0">
              <a:solidFill>
                <a:srgbClr val="7030A0"/>
              </a:solidFill>
            </a:endParaRPr>
          </a:p>
          <a:p>
            <a:pPr marL="514350" indent="-457200"/>
            <a:r>
              <a:rPr lang="en-US" sz="2800" b="1" dirty="0">
                <a:solidFill>
                  <a:srgbClr val="002060"/>
                </a:solidFill>
              </a:rPr>
              <a:t>Fascination for solving </a:t>
            </a:r>
            <a:r>
              <a:rPr lang="en-US" sz="2800" b="1" dirty="0">
                <a:solidFill>
                  <a:srgbClr val="FF0000"/>
                </a:solidFill>
              </a:rPr>
              <a:t>Puzzles</a:t>
            </a:r>
          </a:p>
          <a:p>
            <a:pPr marL="514350" indent="-457200"/>
            <a:endParaRPr lang="en-US" sz="2800" b="1" dirty="0">
              <a:solidFill>
                <a:srgbClr val="002060"/>
              </a:solidFill>
            </a:endParaRPr>
          </a:p>
          <a:p>
            <a:pPr marL="57150" indent="0">
              <a:buNone/>
            </a:pPr>
            <a:endParaRPr lang="en-US" sz="2800" b="1" dirty="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 sz="2000" dirty="0"/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3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Salient features </a:t>
            </a:r>
            <a:r>
              <a:rPr lang="en-US" sz="3600" b="1" dirty="0"/>
              <a:t>of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u="sng" dirty="0"/>
          </a:p>
          <a:p>
            <a:r>
              <a:rPr lang="en-US" sz="2400" b="1" dirty="0">
                <a:solidFill>
                  <a:srgbClr val="0070C0"/>
                </a:solidFill>
              </a:rPr>
              <a:t>Every concept</a:t>
            </a:r>
          </a:p>
          <a:p>
            <a:pPr marL="0" indent="0">
              <a:buNone/>
            </a:pPr>
            <a:r>
              <a:rPr lang="en-US" sz="2400" dirty="0"/>
              <a:t>                      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Solving each problem </a:t>
            </a:r>
          </a:p>
          <a:p>
            <a:pPr marL="0" indent="0">
              <a:buNone/>
            </a:pPr>
            <a:r>
              <a:rPr lang="en-US" sz="1800" dirty="0"/>
              <a:t>      </a:t>
            </a:r>
          </a:p>
          <a:p>
            <a:pPr marL="0" indent="0">
              <a:buNone/>
            </a:pPr>
            <a:r>
              <a:rPr lang="en-US" sz="1800" dirty="0"/>
              <a:t>      solution will emerge naturally if we ask </a:t>
            </a:r>
          </a:p>
          <a:p>
            <a:pPr marL="0" indent="0">
              <a:buNone/>
            </a:pPr>
            <a:r>
              <a:rPr lang="en-US" sz="1800" b="1" dirty="0"/>
              <a:t>                     right set of questions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                     and then try to find their </a:t>
            </a:r>
            <a:r>
              <a:rPr lang="en-US" sz="1800" b="1" dirty="0"/>
              <a:t>answers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… so that finally it is a concept/solution derived by </a:t>
            </a:r>
            <a:r>
              <a:rPr lang="en-US" sz="1800" u="sng" dirty="0"/>
              <a:t>you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and not a concept from some scientist/book/teacher.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200400" y="2209800"/>
            <a:ext cx="3543021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u="sng" dirty="0"/>
              <a:t>We</a:t>
            </a:r>
            <a:r>
              <a:rPr lang="en-US" dirty="0"/>
              <a:t> shall </a:t>
            </a:r>
            <a:r>
              <a:rPr lang="en-US" b="1" u="sng" dirty="0"/>
              <a:t>re-invent</a:t>
            </a:r>
            <a:r>
              <a:rPr lang="en-US" dirty="0"/>
              <a:t> in the class itself.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3124200"/>
            <a:ext cx="314650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Through discussion</a:t>
            </a:r>
            <a:r>
              <a:rPr lang="en-US" b="1" dirty="0"/>
              <a:t> in the class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989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Let us open a desktop/laptop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6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828800"/>
            <a:ext cx="1172645" cy="1061244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505200"/>
            <a:ext cx="1476695" cy="977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1" y="5075569"/>
            <a:ext cx="1371600" cy="1249031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3659197" y="1515147"/>
            <a:ext cx="5332403" cy="1524000"/>
            <a:chOff x="3659197" y="2927350"/>
            <a:chExt cx="5332403" cy="1524000"/>
          </a:xfrm>
        </p:grpSpPr>
        <p:sp>
          <p:nvSpPr>
            <p:cNvPr id="13" name="Left Arrow 12"/>
            <p:cNvSpPr/>
            <p:nvPr/>
          </p:nvSpPr>
          <p:spPr>
            <a:xfrm>
              <a:off x="3659197" y="2927350"/>
              <a:ext cx="5332403" cy="1524000"/>
            </a:xfrm>
            <a:prstGeom prst="leftArrow">
              <a:avLst>
                <a:gd name="adj1" fmla="val 69440"/>
                <a:gd name="adj2" fmla="val 3768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82425" y="3303639"/>
              <a:ext cx="2054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70C0"/>
                  </a:solidFill>
                </a:rPr>
                <a:t>A processor (CPU)   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581400" y="4953000"/>
            <a:ext cx="5410200" cy="1524000"/>
            <a:chOff x="2057400" y="4572000"/>
            <a:chExt cx="5410200" cy="1524000"/>
          </a:xfrm>
        </p:grpSpPr>
        <p:sp>
          <p:nvSpPr>
            <p:cNvPr id="19" name="Left Arrow 18"/>
            <p:cNvSpPr/>
            <p:nvPr/>
          </p:nvSpPr>
          <p:spPr>
            <a:xfrm>
              <a:off x="2057400" y="4572000"/>
              <a:ext cx="5410200" cy="1524000"/>
            </a:xfrm>
            <a:prstGeom prst="leftArrow">
              <a:avLst>
                <a:gd name="adj1" fmla="val 69440"/>
                <a:gd name="adj2" fmla="val 3768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88124" y="4804827"/>
              <a:ext cx="46294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                     </a:t>
              </a:r>
              <a:r>
                <a:rPr lang="en-US" b="1" dirty="0">
                  <a:solidFill>
                    <a:srgbClr val="002060"/>
                  </a:solidFill>
                </a:rPr>
                <a:t>External Memory </a:t>
              </a:r>
              <a:r>
                <a:rPr lang="en-US" b="1" dirty="0">
                  <a:solidFill>
                    <a:srgbClr val="0070C0"/>
                  </a:solidFill>
                </a:rPr>
                <a:t>(Hard Disk Drive)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659197" y="3276600"/>
            <a:ext cx="5332403" cy="1447800"/>
            <a:chOff x="3659197" y="3276600"/>
            <a:chExt cx="5332403" cy="1447800"/>
          </a:xfrm>
        </p:grpSpPr>
        <p:sp>
          <p:nvSpPr>
            <p:cNvPr id="17" name="Left Arrow 16"/>
            <p:cNvSpPr/>
            <p:nvPr/>
          </p:nvSpPr>
          <p:spPr>
            <a:xfrm>
              <a:off x="3659197" y="3276600"/>
              <a:ext cx="5332403" cy="1447800"/>
            </a:xfrm>
            <a:prstGeom prst="leftArrow">
              <a:avLst>
                <a:gd name="adj1" fmla="val 69440"/>
                <a:gd name="adj2" fmla="val 3768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21879" y="3505200"/>
              <a:ext cx="4101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                           Internal memory (</a:t>
              </a:r>
              <a:r>
                <a:rPr lang="en-US" b="1" dirty="0">
                  <a:solidFill>
                    <a:srgbClr val="0070C0"/>
                  </a:solidFill>
                </a:rPr>
                <a:t>RAM)</a:t>
              </a:r>
              <a:r>
                <a:rPr lang="en-US" dirty="0">
                  <a:solidFill>
                    <a:srgbClr val="0070C0"/>
                  </a:solidFill>
                </a:rPr>
                <a:t>   </a:t>
              </a:r>
              <a:r>
                <a:rPr lang="en-US" dirty="0"/>
                <a:t> </a:t>
              </a:r>
            </a:p>
          </p:txBody>
        </p:sp>
      </p:grpSp>
      <p:sp>
        <p:nvSpPr>
          <p:cNvPr id="3" name="Up-Down Arrow 2"/>
          <p:cNvSpPr/>
          <p:nvPr/>
        </p:nvSpPr>
        <p:spPr>
          <a:xfrm>
            <a:off x="1981201" y="2895600"/>
            <a:ext cx="304800" cy="608076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-Down Arrow 20"/>
          <p:cNvSpPr/>
          <p:nvPr/>
        </p:nvSpPr>
        <p:spPr>
          <a:xfrm>
            <a:off x="1905000" y="4497324"/>
            <a:ext cx="304800" cy="608076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191000" y="2233422"/>
            <a:ext cx="4516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speed</a:t>
            </a:r>
            <a:r>
              <a:rPr lang="en-US" dirty="0"/>
              <a:t> = few GHz</a:t>
            </a:r>
          </a:p>
          <a:p>
            <a:r>
              <a:rPr lang="en-US" dirty="0"/>
              <a:t>(a few </a:t>
            </a:r>
            <a:r>
              <a:rPr lang="en-US" b="1" dirty="0">
                <a:solidFill>
                  <a:srgbClr val="7030A0"/>
                </a:solidFill>
              </a:rPr>
              <a:t>nanoseconds</a:t>
            </a:r>
            <a:r>
              <a:rPr lang="en-US" dirty="0"/>
              <a:t> to execute an instruction)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9169" y="3877270"/>
            <a:ext cx="523483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size</a:t>
            </a:r>
            <a:r>
              <a:rPr lang="en-US" sz="1600" dirty="0"/>
              <a:t> = a few GB  (Stores a billion bytes/words)</a:t>
            </a:r>
          </a:p>
          <a:p>
            <a:r>
              <a:rPr lang="en-US" sz="1600" b="1" dirty="0"/>
              <a:t>speed</a:t>
            </a:r>
            <a:r>
              <a:rPr lang="en-US" sz="1600" dirty="0"/>
              <a:t> = a few GHz( a few </a:t>
            </a:r>
            <a:r>
              <a:rPr lang="en-US" sz="1600" b="1" dirty="0">
                <a:solidFill>
                  <a:srgbClr val="7030A0"/>
                </a:solidFill>
              </a:rPr>
              <a:t>nanoseconds </a:t>
            </a:r>
            <a:r>
              <a:rPr lang="en-US" sz="1600" dirty="0"/>
              <a:t>to read a byte/word</a:t>
            </a:r>
            <a:r>
              <a:rPr lang="en-US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5386626"/>
            <a:ext cx="46467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sz="1600" b="1" dirty="0"/>
              <a:t>size</a:t>
            </a:r>
            <a:r>
              <a:rPr lang="en-US" sz="1600" dirty="0"/>
              <a:t> = a few </a:t>
            </a:r>
            <a:r>
              <a:rPr lang="en-US" sz="1600" dirty="0" err="1"/>
              <a:t>tera</a:t>
            </a:r>
            <a:r>
              <a:rPr lang="en-US" sz="1600" dirty="0"/>
              <a:t> bytes</a:t>
            </a:r>
          </a:p>
          <a:p>
            <a:r>
              <a:rPr lang="en-US" sz="1600" dirty="0"/>
              <a:t> </a:t>
            </a:r>
            <a:r>
              <a:rPr lang="en-US" sz="1600" b="1" dirty="0"/>
              <a:t>speed</a:t>
            </a:r>
            <a:r>
              <a:rPr lang="en-US" sz="1600" dirty="0"/>
              <a:t>  :  seek time =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b="1" dirty="0" err="1">
                <a:solidFill>
                  <a:srgbClr val="7030A0"/>
                </a:solidFill>
              </a:rPr>
              <a:t>miliseconds</a:t>
            </a:r>
            <a:r>
              <a:rPr lang="en-US" sz="1600" dirty="0"/>
              <a:t> </a:t>
            </a:r>
          </a:p>
          <a:p>
            <a:r>
              <a:rPr lang="en-US" sz="1600" dirty="0"/>
              <a:t>                 transfer rate= around </a:t>
            </a:r>
            <a:r>
              <a:rPr lang="en-US" sz="1600" b="1" dirty="0"/>
              <a:t>billion</a:t>
            </a:r>
            <a:r>
              <a:rPr lang="en-US" sz="1600" dirty="0"/>
              <a:t> bits per second</a:t>
            </a:r>
          </a:p>
        </p:txBody>
      </p:sp>
    </p:spTree>
    <p:extLst>
      <p:ext uri="{BB962C8B-B14F-4D97-AF65-F5344CB8AC3E}">
        <p14:creationId xmlns:p14="http://schemas.microsoft.com/office/powerpoint/2010/main" val="396916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21" grpId="0" animBg="1"/>
      <p:bldP spid="5" grpId="0" uiExpand="1" build="p"/>
      <p:bldP spid="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A simplifying assumption </a:t>
            </a:r>
            <a:br>
              <a:rPr lang="en-US" sz="3200" b="1" dirty="0">
                <a:solidFill>
                  <a:srgbClr val="C00000"/>
                </a:solidFill>
              </a:rPr>
            </a:br>
            <a:r>
              <a:rPr lang="en-US" sz="3200" b="1" dirty="0"/>
              <a:t>(for the rest of the lecture)</a:t>
            </a:r>
            <a:endParaRPr lang="en-US" sz="3200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It  takes around a few </a:t>
            </a:r>
            <a:r>
              <a:rPr lang="en-US" sz="2400" b="1" dirty="0">
                <a:solidFill>
                  <a:srgbClr val="7030A0"/>
                </a:solidFill>
              </a:rPr>
              <a:t>nanoseconds</a:t>
            </a:r>
            <a:r>
              <a:rPr lang="en-US" sz="2400" dirty="0"/>
              <a:t> to execute an instruction.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000" i="1" dirty="0"/>
              <a:t>(This assumption is </a:t>
            </a:r>
            <a:r>
              <a:rPr lang="en-US" sz="2000" b="1" i="1" u="sng" dirty="0"/>
              <a:t>well supported </a:t>
            </a:r>
            <a:r>
              <a:rPr lang="en-US" sz="2000" i="1" dirty="0"/>
              <a:t>by the modern day computers)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4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1" y="2133600"/>
            <a:ext cx="77724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Efficient Algorithms</a:t>
            </a:r>
            <a:endParaRPr lang="en-U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8</a:t>
            </a:fld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3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What is an algorithm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</a:rPr>
              <a:t>Definition</a:t>
            </a:r>
            <a:r>
              <a:rPr lang="en-US" sz="2800" dirty="0"/>
              <a:t>:</a:t>
            </a:r>
          </a:p>
          <a:p>
            <a:pPr marL="0" indent="0">
              <a:buNone/>
            </a:pPr>
            <a:r>
              <a:rPr lang="en-US" sz="2400" dirty="0"/>
              <a:t>A </a:t>
            </a:r>
            <a:r>
              <a:rPr lang="en-US" sz="2400" b="1" dirty="0"/>
              <a:t>finite sequence</a:t>
            </a:r>
            <a:r>
              <a:rPr lang="en-US" sz="2400" dirty="0"/>
              <a:t> of </a:t>
            </a:r>
            <a:r>
              <a:rPr lang="en-US" sz="2400" b="1" dirty="0"/>
              <a:t>well defined instructions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required to </a:t>
            </a:r>
            <a:r>
              <a:rPr lang="en-US" sz="2400" u="sng" dirty="0"/>
              <a:t>solve</a:t>
            </a:r>
            <a:r>
              <a:rPr lang="en-US" sz="2400" dirty="0"/>
              <a:t> a given computational problem.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 prime objective of the course: </a:t>
            </a:r>
          </a:p>
          <a:p>
            <a:pPr marL="0" indent="0" algn="ctr">
              <a:buNone/>
            </a:pPr>
            <a:r>
              <a:rPr lang="en-US" sz="2400" dirty="0"/>
              <a:t>Design of </a:t>
            </a:r>
            <a:r>
              <a:rPr lang="en-US" sz="2400" b="1" dirty="0">
                <a:solidFill>
                  <a:srgbClr val="7030A0"/>
                </a:solidFill>
              </a:rPr>
              <a:t>efficient</a:t>
            </a:r>
            <a:r>
              <a:rPr lang="en-US" sz="2400" b="1" dirty="0"/>
              <a:t> </a:t>
            </a:r>
            <a:r>
              <a:rPr lang="en-US" sz="2400" dirty="0"/>
              <a:t>algorithms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8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90600" y="3886200"/>
            <a:ext cx="7543800" cy="1752600"/>
          </a:xfrm>
        </p:spPr>
        <p:txBody>
          <a:bodyPr/>
          <a:lstStyle/>
          <a:p>
            <a:r>
              <a:rPr lang="en-US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we have Processors running at </a:t>
            </a:r>
            <a:r>
              <a:rPr lang="en-US" sz="2800" b="1" u="sng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gigahertz</a:t>
            </a:r>
            <a:r>
              <a:rPr lang="en-US" sz="28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1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10</a:t>
            </a:fld>
            <a:endParaRPr lang="en-US"/>
          </a:p>
        </p:txBody>
      </p:sp>
      <p:sp>
        <p:nvSpPr>
          <p:cNvPr id="6" name="Cloud Callout 5"/>
          <p:cNvSpPr/>
          <p:nvPr/>
        </p:nvSpPr>
        <p:spPr>
          <a:xfrm>
            <a:off x="838200" y="1143000"/>
            <a:ext cx="7620000" cy="2133600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Why should we care for </a:t>
            </a:r>
            <a:r>
              <a:rPr lang="en-US" sz="2400" b="1" u="sng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Efficient</a:t>
            </a:r>
            <a:r>
              <a:rPr lang="en-US" sz="2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7030A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 Algorithms  </a:t>
            </a:r>
          </a:p>
        </p:txBody>
      </p:sp>
    </p:spTree>
    <p:extLst>
      <p:ext uri="{BB962C8B-B14F-4D97-AF65-F5344CB8AC3E}">
        <p14:creationId xmlns:p14="http://schemas.microsoft.com/office/powerpoint/2010/main" val="224339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Revisiting problems from ESC111</a:t>
            </a:r>
            <a:endParaRPr lang="en-US" sz="40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3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Problem 1:</a:t>
            </a:r>
            <a:br>
              <a:rPr lang="en-US" sz="2800" b="1" dirty="0">
                <a:solidFill>
                  <a:srgbClr val="7030A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Fibonacci numbers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Fibonacci numbers</a:t>
                </a:r>
              </a:p>
              <a:p>
                <a:pPr marL="0" indent="0">
                  <a:buNone/>
                </a:pPr>
                <a:r>
                  <a:rPr lang="en-US" sz="2000" dirty="0"/>
                  <a:t>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𝑭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  <m:r>
                      <a:rPr lang="en-US" sz="2000" i="1" dirty="0" smtClean="0">
                        <a:latin typeface="Cambria Math"/>
                      </a:rPr>
                      <m:t>) = 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𝑭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2000" i="1" dirty="0" smtClean="0">
                        <a:latin typeface="Cambria Math"/>
                      </a:rPr>
                      <m:t>) = 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𝑭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latin typeface="Cambria Math"/>
                      </a:rPr>
                      <m:t>) = 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𝑭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−1) + </m:t>
                    </m:r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𝑭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−2)  </m:t>
                    </m:r>
                  </m:oMath>
                </a14:m>
                <a:r>
                  <a:rPr lang="en-US" sz="2000" dirty="0"/>
                  <a:t>for all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latin typeface="Cambria Math"/>
                      </a:rPr>
                      <m:t> &gt;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;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𝑭</m:t>
                    </m:r>
                    <m:d>
                      <m:dPr>
                        <m:ctrlP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2000" i="1" dirty="0" smtClean="0">
                        <a:latin typeface="Cambria Math"/>
                      </a:rPr>
                      <m:t>≈</m:t>
                    </m:r>
                    <m:r>
                      <a:rPr lang="en-US" sz="2000" b="0" i="1" dirty="0" smtClean="0">
                        <a:latin typeface="Cambria Math"/>
                      </a:rPr>
                      <m:t>𝑎</m:t>
                    </m:r>
                    <m:r>
                      <a:rPr lang="en-US" sz="2000" b="0" i="1" dirty="0" smtClean="0">
                        <a:latin typeface="Cambria Math"/>
                      </a:rPr>
                      <m:t>⋅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</a:p>
              <a:p>
                <a:pPr marL="0" indent="0" algn="ctr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An easy exercise : </a:t>
                </a:r>
                <a:r>
                  <a:rPr lang="en-US" sz="2000" dirty="0"/>
                  <a:t>Using induction or otherwise, show that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𝑭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sz="28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−2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000" b="1" dirty="0"/>
                  <a:t>Algorithms you must have implemented </a:t>
                </a:r>
                <a:r>
                  <a:rPr lang="en-US" sz="2000" dirty="0"/>
                  <a:t>for computing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𝑭</m:t>
                    </m:r>
                  </m:oMath>
                </a14:m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n</a:t>
                </a:r>
                <a:r>
                  <a:rPr lang="en-US" sz="2000" dirty="0"/>
                  <a:t>) :</a:t>
                </a:r>
              </a:p>
              <a:p>
                <a:r>
                  <a:rPr lang="en-US" sz="2400" b="1" dirty="0">
                    <a:solidFill>
                      <a:srgbClr val="7030A0"/>
                    </a:solidFill>
                  </a:rPr>
                  <a:t>Iterative</a:t>
                </a:r>
              </a:p>
              <a:p>
                <a:r>
                  <a:rPr lang="en-US" sz="2400" b="1" dirty="0">
                    <a:solidFill>
                      <a:srgbClr val="7030A0"/>
                    </a:solidFill>
                  </a:rPr>
                  <a:t>recursive 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2022" b="-24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1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600" b="1" dirty="0"/>
                  <a:t>Iterative Algorithm for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𝑭</m:t>
                    </m:r>
                  </m:oMath>
                </a14:m>
                <a:r>
                  <a:rPr lang="en-US" sz="3600" b="1" dirty="0">
                    <a:solidFill>
                      <a:srgbClr val="7030A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3600" b="1" dirty="0">
                    <a:solidFill>
                      <a:srgbClr val="7030A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rgbClr val="7030A0"/>
                </a:solidFill>
              </a:rPr>
              <a:t>IFib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n</a:t>
            </a:r>
            <a:r>
              <a:rPr lang="en-US" sz="2000" dirty="0"/>
              <a:t>=</a:t>
            </a:r>
            <a:r>
              <a:rPr lang="en-US" sz="2000" dirty="0">
                <a:solidFill>
                  <a:srgbClr val="0070C0"/>
                </a:solidFill>
              </a:rPr>
              <a:t>0</a:t>
            </a:r>
            <a:r>
              <a:rPr lang="en-US" sz="2000" dirty="0"/>
              <a:t> </a:t>
            </a:r>
            <a:r>
              <a:rPr lang="en-US" sz="2000" b="1" dirty="0"/>
              <a:t>return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0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2000" b="1" dirty="0"/>
              <a:t>else</a:t>
            </a:r>
            <a:r>
              <a:rPr lang="en-US" sz="2000" dirty="0"/>
              <a:t> </a:t>
            </a:r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n</a:t>
            </a:r>
            <a:r>
              <a:rPr lang="en-US" sz="2000" dirty="0"/>
              <a:t>=</a:t>
            </a:r>
            <a:r>
              <a:rPr lang="en-US" sz="2000" dirty="0">
                <a:solidFill>
                  <a:srgbClr val="0070C0"/>
                </a:solidFill>
              </a:rPr>
              <a:t>1</a:t>
            </a:r>
            <a:r>
              <a:rPr lang="en-US" sz="2000" dirty="0"/>
              <a:t> </a:t>
            </a:r>
            <a:r>
              <a:rPr lang="en-US" sz="2000" b="1" dirty="0"/>
              <a:t>return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1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             </a:t>
            </a:r>
            <a:r>
              <a:rPr lang="en-US" sz="2000" b="1" dirty="0"/>
              <a:t>else</a:t>
            </a:r>
            <a:r>
              <a:rPr lang="en-US" sz="2000" dirty="0"/>
              <a:t> {       </a:t>
            </a:r>
          </a:p>
          <a:p>
            <a:pPr marL="0" indent="0">
              <a:buNone/>
            </a:pPr>
            <a:r>
              <a:rPr lang="en-US" sz="2000" dirty="0"/>
              <a:t>                                  </a:t>
            </a:r>
            <a:r>
              <a:rPr lang="en-US" sz="2000" dirty="0">
                <a:solidFill>
                  <a:srgbClr val="0070C0"/>
                </a:solidFill>
              </a:rPr>
              <a:t>a</a:t>
            </a:r>
            <a:r>
              <a:rPr lang="en-US" sz="2000" dirty="0"/>
              <a:t> </a:t>
            </a:r>
            <a:r>
              <a:rPr lang="en-US" sz="2000" dirty="0">
                <a:sym typeface="Wingdings" pitchFamily="2" charset="2"/>
              </a:rPr>
              <a:t>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0</a:t>
            </a:r>
            <a:r>
              <a:rPr lang="en-US" sz="2000" dirty="0">
                <a:sym typeface="Wingdings" pitchFamily="2" charset="2"/>
              </a:rPr>
              <a:t>;  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b</a:t>
            </a:r>
            <a:r>
              <a:rPr lang="en-US" sz="2000" dirty="0">
                <a:sym typeface="Wingdings" pitchFamily="2" charset="2"/>
              </a:rPr>
              <a:t>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1</a:t>
            </a:r>
            <a:r>
              <a:rPr lang="en-US" sz="20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                               </a:t>
            </a:r>
            <a:r>
              <a:rPr lang="en-US" sz="2000" b="1" dirty="0">
                <a:sym typeface="Wingdings" pitchFamily="2" charset="2"/>
              </a:rPr>
              <a:t>For</a:t>
            </a:r>
            <a:r>
              <a:rPr lang="en-US" sz="2000" dirty="0">
                <a:sym typeface="Wingdings" pitchFamily="2" charset="2"/>
              </a:rPr>
              <a:t>(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i</a:t>
            </a:r>
            <a:r>
              <a:rPr lang="en-US" sz="2000" dirty="0">
                <a:sym typeface="Wingdings" pitchFamily="2" charset="2"/>
              </a:rPr>
              <a:t>=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2</a:t>
            </a:r>
            <a:r>
              <a:rPr lang="en-US" sz="2000" dirty="0">
                <a:sym typeface="Wingdings" pitchFamily="2" charset="2"/>
              </a:rPr>
              <a:t> to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n</a:t>
            </a:r>
            <a:r>
              <a:rPr lang="en-US" sz="2000" dirty="0">
                <a:sym typeface="Wingdings" pitchFamily="2" charset="2"/>
              </a:rPr>
              <a:t>) </a:t>
            </a:r>
            <a:r>
              <a:rPr lang="en-US" sz="2000" b="1" dirty="0">
                <a:sym typeface="Wingdings" pitchFamily="2" charset="2"/>
              </a:rPr>
              <a:t>do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                               {     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temp</a:t>
            </a:r>
            <a:r>
              <a:rPr lang="en-US" sz="2000" dirty="0">
                <a:sym typeface="Wingdings" pitchFamily="2" charset="2"/>
              </a:rPr>
              <a:t> 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b</a:t>
            </a:r>
            <a:r>
              <a:rPr lang="en-US" sz="20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                                      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b</a:t>
            </a:r>
            <a:r>
              <a:rPr lang="en-US" sz="2000" dirty="0">
                <a:sym typeface="Wingdings" pitchFamily="2" charset="2"/>
              </a:rPr>
              <a:t> </a:t>
            </a:r>
            <a:r>
              <a:rPr lang="en-US" sz="2000" dirty="0" err="1">
                <a:solidFill>
                  <a:srgbClr val="0070C0"/>
                </a:solidFill>
                <a:sym typeface="Wingdings" pitchFamily="2" charset="2"/>
              </a:rPr>
              <a:t>a+b</a:t>
            </a:r>
            <a:r>
              <a:rPr lang="en-US" sz="20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                                      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a</a:t>
            </a:r>
            <a:r>
              <a:rPr lang="en-US" sz="2000" dirty="0">
                <a:sym typeface="Wingdings" pitchFamily="2" charset="2"/>
              </a:rPr>
              <a:t>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temp</a:t>
            </a:r>
            <a:r>
              <a:rPr lang="en-US" sz="2000" dirty="0"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                                }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                    }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   return </a:t>
            </a:r>
            <a:r>
              <a:rPr lang="en-US" sz="2000" dirty="0">
                <a:solidFill>
                  <a:srgbClr val="0070C0"/>
                </a:solidFill>
                <a:sym typeface="Wingdings" pitchFamily="2" charset="2"/>
              </a:rPr>
              <a:t>b</a:t>
            </a:r>
            <a:r>
              <a:rPr lang="en-US" sz="2000" dirty="0">
                <a:sym typeface="Wingdings" pitchFamily="2" charset="2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8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600" b="1" dirty="0"/>
                  <a:t>Recursive algorithm for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𝑭</m:t>
                    </m:r>
                  </m:oMath>
                </a14:m>
                <a:r>
                  <a:rPr lang="en-US" sz="3600" b="1" dirty="0">
                    <a:solidFill>
                      <a:srgbClr val="7030A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3600" b="1" dirty="0">
                    <a:solidFill>
                      <a:srgbClr val="7030A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marL="0" indent="0">
              <a:buNone/>
            </a:pPr>
            <a:endParaRPr lang="en-US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7030A0"/>
                </a:solidFill>
              </a:rPr>
              <a:t>Rfib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sz="2000" dirty="0"/>
              <a:t>{    if </a:t>
            </a:r>
            <a:r>
              <a:rPr lang="en-US" sz="2000" dirty="0">
                <a:solidFill>
                  <a:srgbClr val="0070C0"/>
                </a:solidFill>
              </a:rPr>
              <a:t>n</a:t>
            </a:r>
            <a:r>
              <a:rPr lang="en-US" sz="2000" dirty="0"/>
              <a:t>=</a:t>
            </a:r>
            <a:r>
              <a:rPr lang="en-US" sz="2000" dirty="0">
                <a:solidFill>
                  <a:srgbClr val="0070C0"/>
                </a:solidFill>
              </a:rPr>
              <a:t>0</a:t>
            </a:r>
            <a:r>
              <a:rPr lang="en-US" sz="2000" dirty="0"/>
              <a:t> return </a:t>
            </a:r>
            <a:r>
              <a:rPr lang="en-US" sz="2000" dirty="0">
                <a:solidFill>
                  <a:srgbClr val="0070C0"/>
                </a:solidFill>
              </a:rPr>
              <a:t>0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        else if </a:t>
            </a:r>
            <a:r>
              <a:rPr lang="en-US" sz="2000" dirty="0">
                <a:solidFill>
                  <a:srgbClr val="0070C0"/>
                </a:solidFill>
              </a:rPr>
              <a:t>n</a:t>
            </a:r>
            <a:r>
              <a:rPr lang="en-US" sz="2000" dirty="0"/>
              <a:t>=</a:t>
            </a:r>
            <a:r>
              <a:rPr lang="en-US" sz="2000" dirty="0">
                <a:solidFill>
                  <a:srgbClr val="0070C0"/>
                </a:solidFill>
              </a:rPr>
              <a:t>1</a:t>
            </a:r>
            <a:r>
              <a:rPr lang="en-US" sz="2000" dirty="0"/>
              <a:t> return </a:t>
            </a:r>
            <a:r>
              <a:rPr lang="en-US" sz="2000" dirty="0">
                <a:solidFill>
                  <a:srgbClr val="0070C0"/>
                </a:solidFill>
              </a:rPr>
              <a:t>1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                else return(</a:t>
            </a:r>
            <a:r>
              <a:rPr lang="en-US" sz="2000" b="1" dirty="0" err="1">
                <a:solidFill>
                  <a:srgbClr val="7030A0"/>
                </a:solidFill>
              </a:rPr>
              <a:t>Rfib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70C0"/>
                </a:solidFill>
              </a:rPr>
              <a:t>n-1</a:t>
            </a:r>
            <a:r>
              <a:rPr lang="en-US" sz="2000" dirty="0"/>
              <a:t>) + </a:t>
            </a:r>
            <a:r>
              <a:rPr lang="en-US" sz="2000" b="1" dirty="0" err="1">
                <a:solidFill>
                  <a:srgbClr val="7030A0"/>
                </a:solidFill>
              </a:rPr>
              <a:t>Rfib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70C0"/>
                </a:solidFill>
              </a:rPr>
              <a:t>n-2</a:t>
            </a:r>
            <a:r>
              <a:rPr lang="en-US" sz="2000" dirty="0"/>
              <a:t>))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9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Homework 1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400" b="1" u="sng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Write a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</a:t>
                </a:r>
                <a:r>
                  <a:rPr lang="en-US" sz="2000" dirty="0"/>
                  <a:t> program for the following problem: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Input</a:t>
                </a:r>
                <a:r>
                  <a:rPr lang="en-US" sz="2000" dirty="0"/>
                  <a:t>:     a number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: 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long </a:t>
                </a:r>
                <a:r>
                  <a:rPr lang="en-US" sz="2000" b="1" dirty="0" err="1">
                    <a:solidFill>
                      <a:srgbClr val="002060"/>
                    </a:solidFill>
                  </a:rPr>
                  <a:t>long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000" b="1" dirty="0" err="1">
                    <a:solidFill>
                      <a:srgbClr val="002060"/>
                    </a:solidFill>
                  </a:rPr>
                  <a:t>int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000" dirty="0"/>
                  <a:t>(64 bit integer).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Output</a:t>
                </a:r>
                <a:r>
                  <a:rPr lang="en-US" sz="2000" dirty="0"/>
                  <a:t>: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F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b="1" dirty="0"/>
                  <a:t>mod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𝟐𝟎𝟐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6060815"/>
                  </p:ext>
                </p:extLst>
              </p:nvPr>
            </p:nvGraphicFramePr>
            <p:xfrm>
              <a:off x="1371600" y="4038136"/>
              <a:ext cx="6096000" cy="1753064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3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Time </a:t>
                          </a:r>
                          <a:r>
                            <a:rPr lang="en-US" baseline="0" dirty="0"/>
                            <a:t> </a:t>
                          </a:r>
                          <a:r>
                            <a:rPr lang="en-US" dirty="0"/>
                            <a:t>Taken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Largest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800" b="1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for</a:t>
                          </a:r>
                          <a:r>
                            <a:rPr lang="en-US" dirty="0">
                              <a:solidFill>
                                <a:srgbClr val="7030A0"/>
                              </a:solidFill>
                            </a:rPr>
                            <a:t> Rfib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Largest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8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for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dirty="0">
                              <a:solidFill>
                                <a:srgbClr val="7030A0"/>
                              </a:solidFill>
                            </a:rPr>
                            <a:t>IFib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6060815"/>
                  </p:ext>
                </p:extLst>
              </p:nvPr>
            </p:nvGraphicFramePr>
            <p:xfrm>
              <a:off x="1371600" y="4038136"/>
              <a:ext cx="6096000" cy="1753064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032000"/>
                    <a:gridCol w="2032000"/>
                    <a:gridCol w="2032000"/>
                  </a:tblGrid>
                  <a:tr h="633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Time 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smtClean="0"/>
                            <a:t>Taken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701" t="-4808" r="-99701" b="-17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300" t="-4808" b="-176923"/>
                          </a:stretch>
                        </a:blipFill>
                      </a:tcPr>
                    </a:tc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1815868" y="4724400"/>
            <a:ext cx="1025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</a:t>
            </a:r>
            <a:r>
              <a:rPr lang="en-US" dirty="0"/>
              <a:t> minute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5868" y="5029200"/>
            <a:ext cx="1232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10</a:t>
            </a:r>
            <a:r>
              <a:rPr lang="en-US" dirty="0"/>
              <a:t>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5868" y="5410200"/>
            <a:ext cx="1232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60</a:t>
            </a:r>
            <a:r>
              <a:rPr lang="en-US" dirty="0"/>
              <a:t> minutes</a:t>
            </a:r>
          </a:p>
        </p:txBody>
      </p:sp>
    </p:spTree>
    <p:extLst>
      <p:ext uri="{BB962C8B-B14F-4D97-AF65-F5344CB8AC3E}">
        <p14:creationId xmlns:p14="http://schemas.microsoft.com/office/powerpoint/2010/main" val="289024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Problem 2:   </a:t>
            </a:r>
            <a:br>
              <a:rPr lang="en-US" sz="2800" b="1" dirty="0"/>
            </a:br>
            <a:r>
              <a:rPr lang="en-US" sz="2800" b="1" dirty="0">
                <a:solidFill>
                  <a:srgbClr val="7030A0"/>
                </a:solidFill>
              </a:rPr>
              <a:t>Subset-sum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2060"/>
                    </a:solidFill>
                  </a:rPr>
                  <a:t>Input:</a:t>
                </a:r>
                <a:r>
                  <a:rPr lang="en-US" sz="2400" dirty="0"/>
                  <a:t> </a:t>
                </a:r>
                <a:r>
                  <a:rPr lang="en-US" sz="2000" dirty="0"/>
                  <a:t>An array </a:t>
                </a:r>
                <a:r>
                  <a:rPr lang="en-US" sz="2400" b="1" dirty="0"/>
                  <a:t>A</a:t>
                </a:r>
                <a:r>
                  <a:rPr lang="en-US" sz="2000" dirty="0"/>
                  <a:t> storing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numbers, and a number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2060"/>
                    </a:solidFill>
                  </a:rPr>
                  <a:t>Output: </a:t>
                </a:r>
                <a:r>
                  <a:rPr lang="en-US" sz="2000" dirty="0"/>
                  <a:t>Determine if there is a subset of numbers from </a:t>
                </a:r>
                <a:r>
                  <a:rPr lang="en-US" sz="2400" b="1" dirty="0"/>
                  <a:t>A</a:t>
                </a:r>
                <a:r>
                  <a:rPr lang="en-US" sz="2000" dirty="0"/>
                  <a:t> whose sum is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.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000" dirty="0"/>
                  <a:t>The fastest existing algorithm till date : </a:t>
                </a:r>
              </a:p>
              <a:p>
                <a:endParaRPr lang="en-US" sz="2400" b="1" dirty="0">
                  <a:solidFill>
                    <a:srgbClr val="C00000"/>
                  </a:solidFill>
                </a:endParaRPr>
              </a:p>
              <a:p>
                <a:r>
                  <a:rPr lang="en-US" sz="2000" dirty="0"/>
                  <a:t>Time for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𝟏𝟎𝟎</m:t>
                    </m:r>
                  </m:oMath>
                </a14:m>
                <a:endParaRPr lang="en-US" sz="2000" b="1" dirty="0">
                  <a:solidFill>
                    <a:srgbClr val="C00000"/>
                  </a:solidFill>
                </a:endParaRPr>
              </a:p>
              <a:p>
                <a:r>
                  <a:rPr lang="en-US" sz="2000" dirty="0"/>
                  <a:t>Time for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𝟏𝟐𝟎</m:t>
                    </m:r>
                  </m:oMath>
                </a14:m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</a:t>
                </a:r>
                <a:r>
                  <a:rPr lang="en-US" sz="2000" dirty="0"/>
                  <a:t>on the </a:t>
                </a:r>
                <a:r>
                  <a:rPr lang="en-US" sz="2000" u="sng" dirty="0"/>
                  <a:t>fastest existing </a:t>
                </a:r>
                <a:r>
                  <a:rPr lang="en-US" sz="2000" dirty="0"/>
                  <a:t>computer.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 rotWithShape="1">
                <a:blip r:embed="rId2"/>
                <a:stretch>
                  <a:fillRect l="-1111" t="-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647665"/>
                  </p:ext>
                </p:extLst>
              </p:nvPr>
            </p:nvGraphicFramePr>
            <p:xfrm>
              <a:off x="1219200" y="2362200"/>
              <a:ext cx="6096000" cy="381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  <m:r>
                                  <a:rPr lang="en-US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34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19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101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208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120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0070C0"/>
                              </a:solidFill>
                            </a:rPr>
                            <a:t>21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9</m:t>
                              </m:r>
                            </m:oMath>
                          </a14:m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647665"/>
                  </p:ext>
                </p:extLst>
              </p:nvPr>
            </p:nvGraphicFramePr>
            <p:xfrm>
              <a:off x="1219200" y="2362200"/>
              <a:ext cx="6096000" cy="381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8065" r="-900000" b="-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8065" r="-800000" b="-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000" t="-8065" r="-700000" b="-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0000" t="-8065" r="-600000" b="-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00000" t="-8065" r="-500000" b="-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500000" t="-8065" r="-400000" b="-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600000" t="-8065" r="-300000" b="-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700000" t="-8065" r="-200000" b="-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0000" t="-8065" r="-100000" b="-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00000" t="-8065" b="-2096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TextBox 5"/>
          <p:cNvSpPr txBox="1"/>
          <p:nvPr/>
        </p:nvSpPr>
        <p:spPr>
          <a:xfrm>
            <a:off x="685800" y="228600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772400" y="2373868"/>
                <a:ext cx="622286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123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0" y="2373868"/>
                <a:ext cx="622286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6349" r="-11538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505200" y="4888468"/>
            <a:ext cx="166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At least </a:t>
            </a:r>
            <a:r>
              <a:rPr lang="en-US" b="1" dirty="0">
                <a:solidFill>
                  <a:srgbClr val="C00000"/>
                </a:solidFill>
              </a:rPr>
              <a:t>an year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34937" y="5263376"/>
            <a:ext cx="1984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At least </a:t>
            </a:r>
            <a:r>
              <a:rPr lang="en-US" b="1" dirty="0">
                <a:solidFill>
                  <a:srgbClr val="C00000"/>
                </a:solidFill>
              </a:rPr>
              <a:t>1000 years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740805" y="2373868"/>
                <a:ext cx="622286" cy="369332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2</m:t>
                      </m:r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20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805" y="2373868"/>
                <a:ext cx="62228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6349" r="-11538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629019" y="4038600"/>
                <a:ext cx="1780231" cy="37965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/>
                  <a:t> instructions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019" y="4038600"/>
                <a:ext cx="1780231" cy="379656"/>
              </a:xfrm>
              <a:prstGeom prst="rect">
                <a:avLst/>
              </a:prstGeom>
              <a:blipFill rotWithShape="1">
                <a:blip r:embed="rId6"/>
                <a:stretch>
                  <a:fillRect t="-3125" r="-6122" b="-218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45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/>
      <p:bldP spid="7" grpId="0" animBg="1"/>
      <p:bldP spid="7" grpId="1" animBg="1"/>
      <p:bldP spid="8" grpId="0"/>
      <p:bldP spid="9" grpId="0"/>
      <p:bldP spid="10" grpId="0" animBg="1"/>
      <p:bldP spid="10" grpId="1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Problem 3:   </a:t>
            </a:r>
            <a:br>
              <a:rPr lang="en-US" sz="2800" b="1" dirty="0"/>
            </a:br>
            <a:r>
              <a:rPr lang="en-US" sz="2800" b="1" dirty="0">
                <a:solidFill>
                  <a:srgbClr val="7030A0"/>
                </a:solidFill>
              </a:rPr>
              <a:t>Sorting</a:t>
            </a:r>
            <a:r>
              <a:rPr lang="en-US" sz="2800" b="1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Input:</a:t>
            </a:r>
            <a:r>
              <a:rPr lang="en-US" sz="2400" dirty="0"/>
              <a:t> </a:t>
            </a:r>
            <a:r>
              <a:rPr lang="en-US" sz="2000" dirty="0"/>
              <a:t>An array </a:t>
            </a:r>
            <a:r>
              <a:rPr lang="en-US" sz="2400" b="1" dirty="0"/>
              <a:t>A</a:t>
            </a:r>
            <a:r>
              <a:rPr lang="en-US" sz="2000" dirty="0"/>
              <a:t> storing  </a:t>
            </a:r>
            <a:r>
              <a:rPr lang="en-US" sz="2000" b="1" dirty="0">
                <a:solidFill>
                  <a:srgbClr val="0070C0"/>
                </a:solidFill>
              </a:rPr>
              <a:t>n</a:t>
            </a:r>
            <a:r>
              <a:rPr lang="en-US" sz="2000" dirty="0"/>
              <a:t> numbers.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Output:</a:t>
            </a:r>
            <a:r>
              <a:rPr lang="en-US" sz="2400" dirty="0"/>
              <a:t> </a:t>
            </a:r>
            <a:r>
              <a:rPr lang="en-US" sz="2000" dirty="0"/>
              <a:t>Sorted </a:t>
            </a:r>
            <a:r>
              <a:rPr lang="en-US" sz="2400" b="1" dirty="0"/>
              <a:t>A</a:t>
            </a:r>
            <a:endParaRPr lang="en-US" sz="2000" b="1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A fact: </a:t>
            </a:r>
          </a:p>
          <a:p>
            <a:pPr marL="0" indent="0">
              <a:buNone/>
            </a:pPr>
            <a:r>
              <a:rPr lang="en-US" sz="1800" dirty="0"/>
              <a:t>A </a:t>
            </a:r>
            <a:r>
              <a:rPr lang="en-US" sz="1800" u="sng" dirty="0"/>
              <a:t>significant fraction</a:t>
            </a:r>
            <a:r>
              <a:rPr lang="en-US" sz="1800" dirty="0"/>
              <a:t> of the code of all the software is for </a:t>
            </a:r>
            <a:r>
              <a:rPr lang="en-US" sz="1800" u="sng" dirty="0"/>
              <a:t>sorting or searching only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000" dirty="0"/>
              <a:t>To sort </a:t>
            </a:r>
            <a:r>
              <a:rPr lang="en-US" sz="2000" b="1" dirty="0">
                <a:solidFill>
                  <a:srgbClr val="0070C0"/>
                </a:solidFill>
              </a:rPr>
              <a:t>10 million </a:t>
            </a:r>
            <a:r>
              <a:rPr lang="en-US" sz="2000" dirty="0"/>
              <a:t>numbers on the present day computers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Selection sort </a:t>
            </a:r>
            <a:r>
              <a:rPr lang="en-US" sz="2000" dirty="0"/>
              <a:t>will take at least </a:t>
            </a:r>
            <a:r>
              <a:rPr lang="en-US" sz="2000" u="sng" dirty="0"/>
              <a:t>a few hours.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Merge sort </a:t>
            </a:r>
            <a:r>
              <a:rPr lang="en-US" sz="2000" dirty="0"/>
              <a:t>will take only </a:t>
            </a:r>
            <a:r>
              <a:rPr lang="en-US" sz="2000" u="sng" dirty="0"/>
              <a:t>a few seconds</a:t>
            </a:r>
            <a:r>
              <a:rPr lang="en-US" sz="2000" dirty="0"/>
              <a:t>.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Quick sort </a:t>
            </a:r>
            <a:r>
              <a:rPr lang="en-US" sz="2000" dirty="0"/>
              <a:t>will take  ???   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4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How to design efficient algorithm for a problem ?</a:t>
            </a:r>
            <a:br>
              <a:rPr lang="en-US" sz="3200" b="1" dirty="0">
                <a:solidFill>
                  <a:srgbClr val="002060"/>
                </a:solidFill>
              </a:rPr>
            </a:b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18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400" b="1" dirty="0"/>
              <a:t>Design of </a:t>
            </a:r>
            <a:r>
              <a:rPr lang="en-US" sz="2400" b="1" dirty="0">
                <a:solidFill>
                  <a:srgbClr val="7030A0"/>
                </a:solidFill>
                <a:latin typeface="Century Gothic" pitchFamily="34" charset="0"/>
              </a:rPr>
              <a:t>algorithms</a:t>
            </a:r>
            <a:r>
              <a:rPr lang="en-US" sz="2400" b="1" dirty="0"/>
              <a:t> and </a:t>
            </a:r>
            <a:r>
              <a:rPr lang="en-US" sz="2400" b="1" dirty="0">
                <a:solidFill>
                  <a:srgbClr val="7030A0"/>
                </a:solidFill>
              </a:rPr>
              <a:t>data structures </a:t>
            </a:r>
            <a:r>
              <a:rPr lang="en-US" sz="2400" b="1" dirty="0"/>
              <a:t>is also</a:t>
            </a:r>
          </a:p>
          <a:p>
            <a:pPr marL="0" indent="0">
              <a:buNone/>
            </a:pPr>
            <a:r>
              <a:rPr lang="en-US" sz="2400" b="1" dirty="0"/>
              <a:t>				an Art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Requires:</a:t>
            </a:r>
          </a:p>
          <a:p>
            <a:r>
              <a:rPr lang="en-US" sz="2200" b="1" dirty="0">
                <a:solidFill>
                  <a:srgbClr val="0070C0"/>
                </a:solidFill>
              </a:rPr>
              <a:t>Creativity</a:t>
            </a:r>
          </a:p>
          <a:p>
            <a:r>
              <a:rPr lang="en-US" sz="2200" b="1" dirty="0">
                <a:solidFill>
                  <a:srgbClr val="0070C0"/>
                </a:solidFill>
              </a:rPr>
              <a:t>Hard work</a:t>
            </a:r>
          </a:p>
          <a:p>
            <a:r>
              <a:rPr lang="en-US" sz="2200" b="1" dirty="0">
                <a:solidFill>
                  <a:srgbClr val="0070C0"/>
                </a:solidFill>
              </a:rPr>
              <a:t>Practice</a:t>
            </a:r>
          </a:p>
          <a:p>
            <a:r>
              <a:rPr lang="en-US" sz="2200" b="1" dirty="0">
                <a:solidFill>
                  <a:srgbClr val="0070C0"/>
                </a:solidFill>
              </a:rPr>
              <a:t>Perseverance  </a:t>
            </a:r>
            <a:r>
              <a:rPr lang="en-US" sz="2200" dirty="0"/>
              <a:t>(most important)</a:t>
            </a:r>
            <a:endParaRPr lang="en-US" sz="24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288" y="1676400"/>
            <a:ext cx="3563471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2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 of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There are many practically relevant problems for which there does not exist any efficient algorithm till date </a:t>
            </a:r>
            <a:r>
              <a:rPr lang="en-US" sz="2000" dirty="0">
                <a:sym typeface="Wingdings" pitchFamily="2" charset="2"/>
              </a:rPr>
              <a:t></a:t>
            </a:r>
            <a:r>
              <a:rPr lang="en-US" sz="2000" dirty="0"/>
              <a:t>. (How to deal with them ?)</a:t>
            </a:r>
          </a:p>
          <a:p>
            <a:endParaRPr lang="en-US" sz="2000" dirty="0"/>
          </a:p>
          <a:p>
            <a:r>
              <a:rPr lang="en-US" sz="2000" dirty="0"/>
              <a:t>Efficient algorithms are </a:t>
            </a:r>
            <a:r>
              <a:rPr lang="en-US" sz="2000" u="sng" dirty="0"/>
              <a:t>important for theoretical as well as practical </a:t>
            </a:r>
            <a:r>
              <a:rPr lang="en-US" sz="2000" dirty="0"/>
              <a:t>purposes.</a:t>
            </a:r>
          </a:p>
          <a:p>
            <a:endParaRPr lang="en-US" sz="2000" dirty="0"/>
          </a:p>
          <a:p>
            <a:r>
              <a:rPr lang="en-US" sz="2000" u="sng" dirty="0"/>
              <a:t>Algorithm design is an art </a:t>
            </a:r>
            <a:r>
              <a:rPr lang="en-US" sz="2000" dirty="0"/>
              <a:t>which demands a lot of creativity, intuition, and perseverance.</a:t>
            </a:r>
          </a:p>
          <a:p>
            <a:endParaRPr lang="en-US" sz="2000" dirty="0"/>
          </a:p>
          <a:p>
            <a:r>
              <a:rPr lang="en-US" sz="2000" dirty="0"/>
              <a:t> More and more applications in real life require efficient algorithms 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Search engines like </a:t>
            </a:r>
            <a:r>
              <a:rPr lang="en-US" sz="2000" b="1" dirty="0">
                <a:solidFill>
                  <a:srgbClr val="7030A0"/>
                </a:solidFill>
              </a:rPr>
              <a:t>Google </a:t>
            </a:r>
            <a:r>
              <a:rPr lang="en-US" sz="2000" dirty="0">
                <a:solidFill>
                  <a:srgbClr val="002060"/>
                </a:solidFill>
              </a:rPr>
              <a:t>exploits many clever algorithms.</a:t>
            </a:r>
          </a:p>
          <a:p>
            <a:pPr lvl="1"/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1" y="2133600"/>
            <a:ext cx="77724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The Data Structures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37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An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Given</a:t>
            </a:r>
            <a:r>
              <a:rPr lang="en-US" sz="2000" dirty="0"/>
              <a:t>: a telephone directory storing telephone no. of  </a:t>
            </a:r>
            <a:r>
              <a:rPr lang="en-US" sz="2000" b="1" dirty="0">
                <a:solidFill>
                  <a:srgbClr val="0070C0"/>
                </a:solidFill>
              </a:rPr>
              <a:t>hundred million </a:t>
            </a:r>
            <a:r>
              <a:rPr lang="en-US" sz="2000" dirty="0"/>
              <a:t>persons.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Aim:</a:t>
            </a:r>
            <a:r>
              <a:rPr lang="en-US" sz="2000" dirty="0"/>
              <a:t> to answer a sequence of </a:t>
            </a:r>
            <a:r>
              <a:rPr lang="en-US" sz="2000" b="1" dirty="0"/>
              <a:t>queries</a:t>
            </a:r>
            <a:r>
              <a:rPr lang="en-US" sz="2000" dirty="0"/>
              <a:t> of the form</a:t>
            </a:r>
          </a:p>
          <a:p>
            <a:pPr marL="0" indent="0">
              <a:buNone/>
            </a:pPr>
            <a:r>
              <a:rPr lang="en-US" sz="2000" dirty="0"/>
              <a:t>                         </a:t>
            </a:r>
            <a:r>
              <a:rPr lang="en-US" sz="2000" i="1" dirty="0"/>
              <a:t>“what is the phone number of a given person ?”.</a:t>
            </a: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Solution 1 :</a:t>
            </a:r>
            <a:r>
              <a:rPr lang="en-US" sz="1600" b="1" dirty="0">
                <a:solidFill>
                  <a:srgbClr val="C00000"/>
                </a:solidFill>
              </a:rPr>
              <a:t> </a:t>
            </a: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1800" dirty="0"/>
              <a:t>Keep the directory in an array. </a:t>
            </a:r>
          </a:p>
          <a:p>
            <a:pPr marL="0" indent="0">
              <a:buNone/>
            </a:pPr>
            <a:r>
              <a:rPr lang="en-US" sz="1800" dirty="0"/>
              <a:t>do </a:t>
            </a:r>
            <a:r>
              <a:rPr lang="en-US" sz="1800" b="1" u="sng" dirty="0">
                <a:solidFill>
                  <a:srgbClr val="7030A0"/>
                </a:solidFill>
              </a:rPr>
              <a:t>sequential search </a:t>
            </a:r>
            <a:r>
              <a:rPr lang="en-US" sz="1800" dirty="0"/>
              <a:t>for each query.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Solution 2:  </a:t>
            </a:r>
            <a:endParaRPr lang="en-US" sz="28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1800" dirty="0"/>
              <a:t>Keep the directory in an array, and </a:t>
            </a:r>
            <a:r>
              <a:rPr lang="en-US" sz="1800" b="1" u="sng" dirty="0">
                <a:solidFill>
                  <a:srgbClr val="7030A0"/>
                </a:solidFill>
              </a:rPr>
              <a:t>sort it </a:t>
            </a:r>
            <a:r>
              <a:rPr lang="en-US" sz="1800" dirty="0"/>
              <a:t>according to names, </a:t>
            </a:r>
          </a:p>
          <a:p>
            <a:pPr marL="0" indent="0">
              <a:buNone/>
            </a:pPr>
            <a:r>
              <a:rPr lang="en-US" sz="1800" dirty="0"/>
              <a:t>do </a:t>
            </a:r>
            <a:r>
              <a:rPr lang="en-US" sz="1800" b="1" u="sng" dirty="0">
                <a:solidFill>
                  <a:srgbClr val="7030A0"/>
                </a:solidFill>
              </a:rPr>
              <a:t>binary search</a:t>
            </a:r>
            <a:r>
              <a:rPr lang="en-US" sz="1800" u="sng" dirty="0">
                <a:solidFill>
                  <a:srgbClr val="7030A0"/>
                </a:solidFill>
              </a:rPr>
              <a:t> </a:t>
            </a:r>
            <a:r>
              <a:rPr lang="en-US" sz="1800" dirty="0"/>
              <a:t>for each query.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88305" y="4126468"/>
            <a:ext cx="420275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Time </a:t>
            </a:r>
            <a:r>
              <a:rPr lang="en-US" b="1" dirty="0"/>
              <a:t>per query:</a:t>
            </a:r>
            <a:r>
              <a:rPr lang="en-US" dirty="0"/>
              <a:t> around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1/10</a:t>
            </a:r>
            <a:r>
              <a:rPr lang="en-US" b="1" baseline="30000" dirty="0"/>
              <a:t>th</a:t>
            </a:r>
            <a:r>
              <a:rPr lang="en-US" b="1" dirty="0"/>
              <a:t> </a:t>
            </a:r>
            <a:r>
              <a:rPr lang="en-US" dirty="0"/>
              <a:t>of a</a:t>
            </a:r>
            <a:r>
              <a:rPr lang="en-US" b="1" dirty="0"/>
              <a:t> </a:t>
            </a:r>
            <a:r>
              <a:rPr lang="en-US" b="1" dirty="0">
                <a:solidFill>
                  <a:srgbClr val="7030A0"/>
                </a:solidFill>
              </a:rPr>
              <a:t>second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14600" y="5867400"/>
            <a:ext cx="437959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Time </a:t>
            </a:r>
            <a:r>
              <a:rPr lang="en-US" b="1" dirty="0"/>
              <a:t>per query: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less than </a:t>
            </a:r>
            <a:r>
              <a:rPr lang="en-US" b="1" dirty="0">
                <a:solidFill>
                  <a:srgbClr val="0070C0"/>
                </a:solidFill>
              </a:rPr>
              <a:t>100</a:t>
            </a:r>
            <a:r>
              <a:rPr lang="en-US" b="1" dirty="0"/>
              <a:t> </a:t>
            </a:r>
            <a:r>
              <a:rPr lang="en-US" b="1" dirty="0">
                <a:solidFill>
                  <a:srgbClr val="7030A0"/>
                </a:solidFill>
              </a:rPr>
              <a:t>nanoseconds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68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Aim</a:t>
            </a:r>
            <a:r>
              <a:rPr lang="en-US" sz="3600" b="1" dirty="0"/>
              <a:t> of a data structure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000" dirty="0"/>
              <a:t>To </a:t>
            </a:r>
            <a:r>
              <a:rPr lang="en-US" sz="2000" u="sng" dirty="0"/>
              <a:t>store/organize</a:t>
            </a:r>
            <a:r>
              <a:rPr lang="en-US" sz="2000" dirty="0"/>
              <a:t> a given data in the memory of computer so that </a:t>
            </a:r>
          </a:p>
          <a:p>
            <a:pPr marL="0" indent="0">
              <a:buNone/>
            </a:pPr>
            <a:r>
              <a:rPr lang="en-US" sz="2000" dirty="0"/>
              <a:t>each subsequent operation (query/update) can be performed quickly ?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16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Range-Minima </a:t>
            </a:r>
            <a:r>
              <a:rPr lang="en-US" dirty="0"/>
              <a:t>Problem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C00000"/>
                </a:solidFill>
              </a:rPr>
              <a:t>A Motivating example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to realize the </a:t>
            </a:r>
            <a:r>
              <a:rPr lang="en-US" sz="2400" b="1" u="sng" dirty="0">
                <a:solidFill>
                  <a:srgbClr val="002060"/>
                </a:solidFill>
              </a:rPr>
              <a:t>importance</a:t>
            </a:r>
            <a:r>
              <a:rPr lang="en-US" sz="2400" b="1" dirty="0">
                <a:solidFill>
                  <a:srgbClr val="002060"/>
                </a:solidFill>
              </a:rPr>
              <a:t> of  data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3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276600" y="5181600"/>
            <a:ext cx="748218" cy="978932"/>
            <a:chOff x="3276600" y="4495800"/>
            <a:chExt cx="748218" cy="978932"/>
          </a:xfrm>
        </p:grpSpPr>
        <p:sp>
          <p:nvSpPr>
            <p:cNvPr id="28" name="Up Arrow 27"/>
            <p:cNvSpPr/>
            <p:nvPr/>
          </p:nvSpPr>
          <p:spPr>
            <a:xfrm>
              <a:off x="3415284" y="4495800"/>
              <a:ext cx="242316" cy="48920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3276600" y="5105400"/>
                  <a:ext cx="7482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  <m:r>
                          <a:rPr lang="en-US" i="1" dirty="0" smtClean="0">
                            <a:latin typeface="Cambria Math"/>
                          </a:rPr>
                          <m:t>=4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600" y="5105400"/>
                  <a:ext cx="748218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06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/>
          <p:cNvGrpSpPr/>
          <p:nvPr/>
        </p:nvGrpSpPr>
        <p:grpSpPr>
          <a:xfrm>
            <a:off x="5334000" y="5181600"/>
            <a:ext cx="882742" cy="990600"/>
            <a:chOff x="5334000" y="4495800"/>
            <a:chExt cx="882742" cy="990600"/>
          </a:xfrm>
        </p:grpSpPr>
        <p:sp>
          <p:nvSpPr>
            <p:cNvPr id="29" name="Up Arrow 28"/>
            <p:cNvSpPr/>
            <p:nvPr/>
          </p:nvSpPr>
          <p:spPr>
            <a:xfrm>
              <a:off x="5548884" y="4495800"/>
              <a:ext cx="242316" cy="48920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5334000" y="5117068"/>
                  <a:ext cx="8827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𝑗</m:t>
                        </m:r>
                        <m:r>
                          <a:rPr lang="en-US" i="1" dirty="0" smtClean="0">
                            <a:latin typeface="Cambria Math"/>
                          </a:rPr>
                          <m:t>=11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5117068"/>
                  <a:ext cx="882742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827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Left Brace 31"/>
          <p:cNvSpPr/>
          <p:nvPr/>
        </p:nvSpPr>
        <p:spPr>
          <a:xfrm rot="5400000">
            <a:off x="4343398" y="3276598"/>
            <a:ext cx="472637" cy="2422967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548068" y="4724400"/>
            <a:ext cx="5676990" cy="584775"/>
            <a:chOff x="1548068" y="4038600"/>
            <a:chExt cx="5676990" cy="584775"/>
          </a:xfrm>
        </p:grpSpPr>
        <p:grpSp>
          <p:nvGrpSpPr>
            <p:cNvPr id="27" name="Group 26"/>
            <p:cNvGrpSpPr/>
            <p:nvPr/>
          </p:nvGrpSpPr>
          <p:grpSpPr>
            <a:xfrm>
              <a:off x="2133600" y="4114800"/>
              <a:ext cx="5091458" cy="381000"/>
              <a:chOff x="2651567" y="3886200"/>
              <a:chExt cx="5091458" cy="3810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667000" y="3886200"/>
                <a:ext cx="4876800" cy="3810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48006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8862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4958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41910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29718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32766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35814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72390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9342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1054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54102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57150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60198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63246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6629400" y="3886200"/>
                <a:ext cx="0" cy="38100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2651567" y="3897868"/>
                <a:ext cx="50914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   5    1    8  19   0   -1  30 99  -6  10   2  40  27 44  67</a:t>
                </a:r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1548068" y="4038600"/>
              <a:ext cx="43313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/>
                <a:t>A</a:t>
              </a:r>
            </a:p>
          </p:txBody>
        </p: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Range-Minima</a:t>
            </a:r>
            <a:r>
              <a:rPr lang="en-US" sz="3600" b="1" dirty="0"/>
              <a:t>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31242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Given</a:t>
                </a:r>
                <a:r>
                  <a:rPr lang="en-US" sz="2000" dirty="0"/>
                  <a:t>: an array </a:t>
                </a:r>
                <a:r>
                  <a:rPr lang="en-US" sz="2000" b="1" dirty="0"/>
                  <a:t>A</a:t>
                </a:r>
                <a:r>
                  <a:rPr lang="en-US" sz="2000" dirty="0"/>
                  <a:t> storing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numbers,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2000" dirty="0"/>
                  <a:t>:   a data structure to answer a sequence of queries of the following type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Range-minima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 : report the smallest element from </a:t>
                </a:r>
                <a:r>
                  <a:rPr lang="en-US" sz="2000" b="1" dirty="0"/>
                  <a:t>A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],…,</a:t>
                </a:r>
                <a:r>
                  <a:rPr lang="en-US" sz="2000" b="1" dirty="0"/>
                  <a:t>A</a:t>
                </a:r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=  one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million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No. of queries =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10 millions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3124200"/>
              </a:xfrm>
              <a:blipFill rotWithShape="1">
                <a:blip r:embed="rId4"/>
                <a:stretch>
                  <a:fillRect l="-741" t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413567" y="3897868"/>
                <a:ext cx="23879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Range-Minima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r>
                      <a:rPr lang="en-US" i="1" dirty="0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dirty="0"/>
                  <a:t>) = </a:t>
                </a:r>
                <a:r>
                  <a:rPr lang="en-US" b="1" dirty="0"/>
                  <a:t>-6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567" y="3897868"/>
                <a:ext cx="238796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296" t="-8197" r="-331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66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9" grpId="0" uiExpand="1" build="p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Range-Minima</a:t>
            </a:r>
            <a:r>
              <a:rPr lang="en-US" sz="3600" b="1" dirty="0"/>
              <a:t> Problem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</a:rPr>
              <a:t>Applications:</a:t>
            </a:r>
          </a:p>
          <a:p>
            <a:pPr marL="0" indent="0">
              <a:buNone/>
            </a:pPr>
            <a:endParaRPr lang="en-US" sz="2800" b="1" dirty="0">
              <a:solidFill>
                <a:srgbClr val="7030A0"/>
              </a:solidFill>
            </a:endParaRPr>
          </a:p>
          <a:p>
            <a:r>
              <a:rPr lang="en-US" sz="2400" b="1" dirty="0"/>
              <a:t>Computational geometry</a:t>
            </a:r>
          </a:p>
          <a:p>
            <a:endParaRPr lang="en-US" sz="2400" b="1" dirty="0"/>
          </a:p>
          <a:p>
            <a:r>
              <a:rPr lang="en-US" sz="2400" b="1" dirty="0"/>
              <a:t>String matching</a:t>
            </a:r>
          </a:p>
          <a:p>
            <a:endParaRPr lang="en-US" sz="2400" b="1" dirty="0"/>
          </a:p>
          <a:p>
            <a:r>
              <a:rPr lang="en-US" sz="2400" b="1" dirty="0"/>
              <a:t>As an efficient subroutine in a variety of algorithms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7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Range-Minima</a:t>
            </a:r>
            <a:r>
              <a:rPr lang="en-US" sz="3600" b="1" dirty="0"/>
              <a:t> Problem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Solution 1: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Answer each query in a brute force manner using </a:t>
            </a:r>
            <a:r>
              <a:rPr lang="en-US" sz="2000" b="1" dirty="0"/>
              <a:t>A</a:t>
            </a:r>
            <a:r>
              <a:rPr lang="en-US" sz="2000" dirty="0"/>
              <a:t> itself.</a:t>
            </a:r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r>
              <a:rPr lang="en-US" sz="1800" b="1" dirty="0"/>
              <a:t>Range-minima-trivial</a:t>
            </a:r>
            <a:r>
              <a:rPr lang="en-US" sz="1800" dirty="0"/>
              <a:t>(</a:t>
            </a:r>
            <a:r>
              <a:rPr lang="en-US" sz="1800" dirty="0" err="1">
                <a:solidFill>
                  <a:srgbClr val="0070C0"/>
                </a:solidFill>
              </a:rPr>
              <a:t>i</a:t>
            </a:r>
            <a:r>
              <a:rPr lang="en-US" sz="1800" dirty="0" err="1"/>
              <a:t>,</a:t>
            </a:r>
            <a:r>
              <a:rPr lang="en-US" sz="1800" dirty="0" err="1">
                <a:solidFill>
                  <a:srgbClr val="0070C0"/>
                </a:solidFill>
              </a:rPr>
              <a:t>j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{     temp </a:t>
            </a:r>
            <a:r>
              <a:rPr lang="en-US" sz="1800" dirty="0">
                <a:sym typeface="Wingdings" pitchFamily="2" charset="2"/>
              </a:rPr>
              <a:t> 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i</a:t>
            </a:r>
            <a:r>
              <a:rPr lang="en-US" sz="1800" dirty="0">
                <a:sym typeface="Wingdings" pitchFamily="2" charset="2"/>
              </a:rPr>
              <a:t>+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1</a:t>
            </a:r>
            <a:r>
              <a:rPr lang="en-US" sz="1800" dirty="0">
                <a:sym typeface="Wingdings" pitchFamily="2" charset="2"/>
              </a:rPr>
              <a:t>;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min </a:t>
            </a:r>
            <a:r>
              <a:rPr lang="en-US" sz="1800" dirty="0">
                <a:sym typeface="Wingdings" pitchFamily="2" charset="2"/>
              </a:rPr>
              <a:t> </a:t>
            </a:r>
            <a:r>
              <a:rPr lang="en-US" sz="1800" b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[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i</a:t>
            </a:r>
            <a:r>
              <a:rPr lang="en-US" sz="1800" dirty="0">
                <a:sym typeface="Wingdings" pitchFamily="2" charset="2"/>
              </a:rPr>
              <a:t>];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       </a:t>
            </a:r>
            <a:r>
              <a:rPr lang="en-US" sz="1800" b="1" dirty="0"/>
              <a:t>While</a:t>
            </a:r>
            <a:r>
              <a:rPr lang="en-US" sz="1800" dirty="0"/>
              <a:t>(temp &lt;= </a:t>
            </a:r>
            <a:r>
              <a:rPr lang="en-US" sz="1800" dirty="0">
                <a:solidFill>
                  <a:srgbClr val="0070C0"/>
                </a:solidFill>
              </a:rPr>
              <a:t>j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        {    </a:t>
            </a:r>
            <a:r>
              <a:rPr lang="en-US" sz="1800" b="1" dirty="0"/>
              <a:t>if</a:t>
            </a:r>
            <a:r>
              <a:rPr lang="en-US" sz="1800" dirty="0"/>
              <a:t> (min &gt; </a:t>
            </a:r>
            <a:r>
              <a:rPr lang="en-US" sz="1800" b="1" dirty="0"/>
              <a:t>A</a:t>
            </a:r>
            <a:r>
              <a:rPr lang="en-US" sz="1800" dirty="0"/>
              <a:t>[temp]) </a:t>
            </a:r>
          </a:p>
          <a:p>
            <a:pPr marL="0" indent="0">
              <a:buNone/>
            </a:pPr>
            <a:r>
              <a:rPr lang="en-US" sz="1800" dirty="0"/>
              <a:t>                  min </a:t>
            </a:r>
            <a:r>
              <a:rPr lang="en-US" sz="1800" dirty="0">
                <a:sym typeface="Wingdings" pitchFamily="2" charset="2"/>
              </a:rPr>
              <a:t> </a:t>
            </a:r>
            <a:r>
              <a:rPr lang="en-US" sz="1800" b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[temp];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          temp temp+1;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   }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   return min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sym typeface="Wingdings" pitchFamily="2" charset="2"/>
              </a:rPr>
              <a:t>Time </a:t>
            </a:r>
            <a:r>
              <a:rPr lang="en-US" sz="2000" b="1" dirty="0">
                <a:sym typeface="Wingdings" pitchFamily="2" charset="2"/>
              </a:rPr>
              <a:t>taken to answer a query:</a:t>
            </a: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26</a:t>
            </a:fld>
            <a:endParaRPr lang="en-US"/>
          </a:p>
        </p:txBody>
      </p:sp>
      <p:sp>
        <p:nvSpPr>
          <p:cNvPr id="5" name="Up Ribbon 4"/>
          <p:cNvSpPr/>
          <p:nvPr/>
        </p:nvSpPr>
        <p:spPr>
          <a:xfrm>
            <a:off x="4419600" y="2590800"/>
            <a:ext cx="4419600" cy="990600"/>
          </a:xfrm>
          <a:prstGeom prst="ribbon2">
            <a:avLst>
              <a:gd name="adj1" fmla="val 16667"/>
              <a:gd name="adj2" fmla="val 6925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Time for answering </a:t>
            </a:r>
            <a:r>
              <a:rPr lang="en-US" b="1" dirty="0">
                <a:solidFill>
                  <a:schemeClr val="tx1"/>
                </a:solidFill>
              </a:rPr>
              <a:t>all</a:t>
            </a:r>
            <a:r>
              <a:rPr lang="en-US" dirty="0">
                <a:solidFill>
                  <a:schemeClr val="tx1"/>
                </a:solidFill>
              </a:rPr>
              <a:t> queries:</a:t>
            </a:r>
          </a:p>
          <a:p>
            <a:pPr algn="ctr"/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86200" y="5650468"/>
            <a:ext cx="175714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few </a:t>
            </a:r>
            <a:r>
              <a:rPr lang="en-US" b="1" dirty="0">
                <a:solidFill>
                  <a:srgbClr val="0070C0"/>
                </a:solidFill>
                <a:sym typeface="Wingdings" pitchFamily="2" charset="2"/>
              </a:rPr>
              <a:t>milliseconds</a:t>
            </a:r>
            <a:endParaRPr lang="en-US" dirty="0"/>
          </a:p>
        </p:txBody>
      </p:sp>
      <p:sp>
        <p:nvSpPr>
          <p:cNvPr id="9" name="Smiley Face 8"/>
          <p:cNvSpPr/>
          <p:nvPr/>
        </p:nvSpPr>
        <p:spPr>
          <a:xfrm>
            <a:off x="6324600" y="3886200"/>
            <a:ext cx="685800" cy="647700"/>
          </a:xfrm>
          <a:prstGeom prst="smileyFace">
            <a:avLst>
              <a:gd name="adj" fmla="val -465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17322" y="297180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 few hours</a:t>
            </a:r>
          </a:p>
        </p:txBody>
      </p:sp>
    </p:spTree>
    <p:extLst>
      <p:ext uri="{BB962C8B-B14F-4D97-AF65-F5344CB8AC3E}">
        <p14:creationId xmlns:p14="http://schemas.microsoft.com/office/powerpoint/2010/main" val="138771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  <p:bldP spid="9" grpId="0" animBg="1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27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Range-Minima</a:t>
            </a:r>
            <a:r>
              <a:rPr lang="en-US" sz="3600" b="1" dirty="0"/>
              <a:t> Problem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1371600"/>
                <a:ext cx="8229600" cy="47545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Solution 2: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1800" dirty="0"/>
                  <a:t>Compute and store answer for each possible query in a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×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 matrix </a:t>
                </a:r>
                <a:r>
                  <a:rPr lang="en-US" sz="1800" b="1" dirty="0">
                    <a:solidFill>
                      <a:srgbClr val="002060"/>
                    </a:solidFill>
                  </a:rPr>
                  <a:t>B</a:t>
                </a:r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B</a:t>
                </a:r>
                <a:r>
                  <a:rPr lang="en-US" sz="2000" dirty="0">
                    <a:solidFill>
                      <a:srgbClr val="0070C0"/>
                    </a:solidFill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][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] </a:t>
                </a:r>
                <a:r>
                  <a:rPr lang="en-US" sz="2000" dirty="0"/>
                  <a:t>stores the smallest element from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A</a:t>
                </a:r>
                <a:r>
                  <a:rPr lang="en-US" sz="2000" dirty="0">
                    <a:solidFill>
                      <a:srgbClr val="0070C0"/>
                    </a:solidFill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],…,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A</a:t>
                </a:r>
                <a:r>
                  <a:rPr lang="en-US" sz="2000" dirty="0">
                    <a:solidFill>
                      <a:srgbClr val="0070C0"/>
                    </a:solidFill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]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Space :</a:t>
                </a:r>
                <a:r>
                  <a:rPr lang="en-US" sz="2000" dirty="0"/>
                  <a:t> </a:t>
                </a:r>
                <a:r>
                  <a:rPr lang="en-US" sz="2000" b="1" dirty="0"/>
                  <a:t>roughly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words.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1371600"/>
                <a:ext cx="8229600" cy="4754563"/>
              </a:xfrm>
              <a:blipFill rotWithShape="1">
                <a:blip r:embed="rId2"/>
                <a:stretch>
                  <a:fillRect l="-1111" t="-1795" b="-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533400" y="2490160"/>
            <a:ext cx="3733799" cy="2843841"/>
            <a:chOff x="533400" y="2490159"/>
            <a:chExt cx="3733799" cy="2843841"/>
          </a:xfrm>
        </p:grpSpPr>
        <p:grpSp>
          <p:nvGrpSpPr>
            <p:cNvPr id="42" name="Group 41"/>
            <p:cNvGrpSpPr/>
            <p:nvPr/>
          </p:nvGrpSpPr>
          <p:grpSpPr>
            <a:xfrm>
              <a:off x="1252939" y="2490159"/>
              <a:ext cx="3014260" cy="2843841"/>
              <a:chOff x="3733800" y="1728216"/>
              <a:chExt cx="4343400" cy="3910584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3733800" y="1752600"/>
                <a:ext cx="4343400" cy="3886200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4" name="Straight Connector 53"/>
              <p:cNvCxnSpPr/>
              <p:nvPr/>
            </p:nvCxnSpPr>
            <p:spPr>
              <a:xfrm>
                <a:off x="5334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5562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5791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6019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6248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6477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6705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6934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7162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>
                <a:off x="7391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7620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7848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733800" y="2895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3733800" y="3124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3733800" y="3352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3733800" y="3581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3733800" y="3810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733800" y="4038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>
                <a:off x="3733800" y="4267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51054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3733800" y="1981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3733800" y="2209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3733800" y="2438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3733800" y="2667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48768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46482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44196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4191000" y="1752600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>
                <a:off x="3962400" y="1728216"/>
                <a:ext cx="0" cy="388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3733800" y="44958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3733800" y="47244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3733800" y="49530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3733800" y="51816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3733800" y="5410200"/>
                <a:ext cx="4343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/>
            <p:cNvSpPr txBox="1"/>
            <p:nvPr/>
          </p:nvSpPr>
          <p:spPr>
            <a:xfrm>
              <a:off x="533400" y="4191000"/>
              <a:ext cx="357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002060"/>
                  </a:solidFill>
                </a:rPr>
                <a:t>B</a:t>
              </a:r>
            </a:p>
          </p:txBody>
        </p:sp>
      </p:grpSp>
      <p:sp>
        <p:nvSpPr>
          <p:cNvPr id="90" name="Up Ribbon 89"/>
          <p:cNvSpPr/>
          <p:nvPr/>
        </p:nvSpPr>
        <p:spPr>
          <a:xfrm>
            <a:off x="5105400" y="2698044"/>
            <a:ext cx="3505200" cy="99060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Solution 2</a:t>
            </a:r>
            <a:r>
              <a:rPr lang="en-US" b="1" dirty="0">
                <a:solidFill>
                  <a:schemeClr val="tx1"/>
                </a:solidFill>
              </a:rPr>
              <a:t> is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Theoretically </a:t>
            </a:r>
            <a:r>
              <a:rPr lang="en-US" b="1" dirty="0">
                <a:solidFill>
                  <a:srgbClr val="7030A0"/>
                </a:solidFill>
              </a:rPr>
              <a:t>efficient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but practically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impossible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88" name="Smiley Face 87"/>
          <p:cNvSpPr/>
          <p:nvPr/>
        </p:nvSpPr>
        <p:spPr>
          <a:xfrm>
            <a:off x="6553200" y="4419600"/>
            <a:ext cx="685800" cy="647700"/>
          </a:xfrm>
          <a:prstGeom prst="smileyFace">
            <a:avLst>
              <a:gd name="adj" fmla="val -4653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Cloud Callout 88"/>
          <p:cNvSpPr/>
          <p:nvPr/>
        </p:nvSpPr>
        <p:spPr>
          <a:xfrm>
            <a:off x="5105400" y="3657600"/>
            <a:ext cx="4038600" cy="2057400"/>
          </a:xfrm>
          <a:prstGeom prst="cloudCallout">
            <a:avLst>
              <a:gd name="adj1" fmla="val 45865"/>
              <a:gd name="adj2" fmla="val 62594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C00000"/>
              </a:solidFill>
            </a:endParaRP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Size of </a:t>
            </a:r>
            <a:r>
              <a:rPr lang="en-US" sz="1600" b="1" dirty="0">
                <a:solidFill>
                  <a:srgbClr val="0070C0"/>
                </a:solidFill>
              </a:rPr>
              <a:t>B</a:t>
            </a:r>
            <a:r>
              <a:rPr lang="en-US" sz="1600" dirty="0">
                <a:solidFill>
                  <a:srgbClr val="C00000"/>
                </a:solidFill>
              </a:rPr>
              <a:t> is </a:t>
            </a:r>
            <a:r>
              <a:rPr lang="en-US" sz="1600" b="1" dirty="0">
                <a:solidFill>
                  <a:srgbClr val="C00000"/>
                </a:solidFill>
              </a:rPr>
              <a:t>too large </a:t>
            </a:r>
            <a:r>
              <a:rPr lang="en-US" sz="1600" dirty="0">
                <a:solidFill>
                  <a:srgbClr val="C00000"/>
                </a:solidFill>
              </a:rPr>
              <a:t>to be kept in RAM. So we shall have to keep most of it in the </a:t>
            </a:r>
            <a:r>
              <a:rPr lang="en-US" sz="1600" b="1" dirty="0">
                <a:solidFill>
                  <a:srgbClr val="C00000"/>
                </a:solidFill>
              </a:rPr>
              <a:t>Hard disk drive. </a:t>
            </a:r>
            <a:r>
              <a:rPr lang="en-US" sz="1600" dirty="0">
                <a:solidFill>
                  <a:srgbClr val="C00000"/>
                </a:solidFill>
              </a:rPr>
              <a:t>Hence it will take a few </a:t>
            </a:r>
            <a:r>
              <a:rPr lang="en-US" sz="1600" b="1" dirty="0">
                <a:solidFill>
                  <a:srgbClr val="C00000"/>
                </a:solidFill>
              </a:rPr>
              <a:t>milliseconds per query</a:t>
            </a:r>
            <a:r>
              <a:rPr lang="en-US" sz="1600" dirty="0">
                <a:solidFill>
                  <a:srgbClr val="C00000"/>
                </a:solidFill>
              </a:rPr>
              <a:t>. 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98038" y="3172860"/>
            <a:ext cx="158644" cy="1662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69232" y="3048002"/>
            <a:ext cx="2528806" cy="369332"/>
            <a:chOff x="469232" y="3048002"/>
            <a:chExt cx="2528806" cy="369332"/>
          </a:xfrm>
        </p:grpSpPr>
        <p:cxnSp>
          <p:nvCxnSpPr>
            <p:cNvPr id="92" name="Straight Connector 91"/>
            <p:cNvCxnSpPr>
              <a:endCxn id="91" idx="1"/>
            </p:cNvCxnSpPr>
            <p:nvPr/>
          </p:nvCxnSpPr>
          <p:spPr>
            <a:xfrm>
              <a:off x="657181" y="3255981"/>
              <a:ext cx="234085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/>
                <p:cNvSpPr txBox="1"/>
                <p:nvPr/>
              </p:nvSpPr>
              <p:spPr>
                <a:xfrm>
                  <a:off x="469232" y="3048002"/>
                  <a:ext cx="3186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4" name="Text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232" y="3048002"/>
                  <a:ext cx="318613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307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/>
          <p:cNvGrpSpPr/>
          <p:nvPr/>
        </p:nvGrpSpPr>
        <p:grpSpPr>
          <a:xfrm>
            <a:off x="2971800" y="1981201"/>
            <a:ext cx="324897" cy="1191658"/>
            <a:chOff x="2971800" y="1981201"/>
            <a:chExt cx="324897" cy="1191658"/>
          </a:xfrm>
        </p:grpSpPr>
        <p:cxnSp>
          <p:nvCxnSpPr>
            <p:cNvPr id="93" name="Straight Connector 92"/>
            <p:cNvCxnSpPr>
              <a:endCxn id="91" idx="0"/>
            </p:cNvCxnSpPr>
            <p:nvPr/>
          </p:nvCxnSpPr>
          <p:spPr>
            <a:xfrm>
              <a:off x="3077361" y="2357048"/>
              <a:ext cx="0" cy="8158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/>
                <p:cNvSpPr txBox="1"/>
                <p:nvPr/>
              </p:nvSpPr>
              <p:spPr>
                <a:xfrm>
                  <a:off x="2971800" y="1981201"/>
                  <a:ext cx="324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5" name="TextBox 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00" y="1981201"/>
                  <a:ext cx="32489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4861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0" grpId="0" animBg="1"/>
      <p:bldP spid="88" grpId="0" animBg="1"/>
      <p:bldP spid="89" grpId="0" animBg="1"/>
      <p:bldP spid="89" grpId="1" animBg="1"/>
      <p:bldP spid="9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Range-Minima</a:t>
            </a:r>
            <a:r>
              <a:rPr lang="en-US" sz="3600" b="1" dirty="0"/>
              <a:t> Problem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</a:rPr>
              <a:t>Question:</a:t>
            </a:r>
            <a:r>
              <a:rPr lang="en-US" sz="2800" dirty="0"/>
              <a:t> </a:t>
            </a:r>
            <a:r>
              <a:rPr lang="en-US" sz="2000" dirty="0"/>
              <a:t>Does there exist a data structure for Range-minima which is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Compact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lang="en-US" sz="1800" dirty="0"/>
              <a:t>(nearly </a:t>
            </a:r>
            <a:r>
              <a:rPr lang="en-US" sz="1800" b="1" u="sng" dirty="0"/>
              <a:t>the same size </a:t>
            </a:r>
            <a:r>
              <a:rPr lang="en-US" sz="1800" dirty="0"/>
              <a:t>as the input array A)</a:t>
            </a:r>
          </a:p>
          <a:p>
            <a:r>
              <a:rPr lang="en-US" sz="2000" b="1" dirty="0">
                <a:solidFill>
                  <a:srgbClr val="7030A0"/>
                </a:solidFill>
              </a:rPr>
              <a:t>Can answer each query efficiently ?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       </a:t>
            </a:r>
            <a:r>
              <a:rPr lang="en-US" sz="1800" dirty="0"/>
              <a:t>(a few </a:t>
            </a:r>
            <a:r>
              <a:rPr lang="en-US" sz="1800" b="1" dirty="0">
                <a:solidFill>
                  <a:srgbClr val="0070C0"/>
                </a:solidFill>
              </a:rPr>
              <a:t>nanoseconds</a:t>
            </a:r>
            <a:r>
              <a:rPr lang="en-US" sz="1800" dirty="0"/>
              <a:t> per query)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Homework 2:</a:t>
            </a:r>
            <a:r>
              <a:rPr lang="en-US" sz="2800" dirty="0"/>
              <a:t> </a:t>
            </a:r>
            <a:r>
              <a:rPr lang="en-US" sz="2000" dirty="0"/>
              <a:t>Ponder over the above question. </a:t>
            </a:r>
          </a:p>
          <a:p>
            <a:pPr marL="0" indent="0" algn="ctr">
              <a:buNone/>
            </a:pPr>
            <a:r>
              <a:rPr lang="en-US" sz="2000" i="1" dirty="0"/>
              <a:t>(we shall solve it soon)</a:t>
            </a:r>
            <a:endParaRPr lang="en-US" sz="28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7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to be covered in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</a:rPr>
              <a:t>Elementary Data Structures</a:t>
            </a:r>
          </a:p>
          <a:p>
            <a:pPr lvl="1"/>
            <a:r>
              <a:rPr lang="en-US" sz="2000" dirty="0"/>
              <a:t>Array</a:t>
            </a:r>
            <a:endParaRPr lang="en-US" sz="1100" dirty="0"/>
          </a:p>
          <a:p>
            <a:pPr lvl="1"/>
            <a:r>
              <a:rPr lang="en-US" sz="2000" dirty="0"/>
              <a:t>List </a:t>
            </a:r>
          </a:p>
          <a:p>
            <a:pPr lvl="1"/>
            <a:r>
              <a:rPr lang="en-US" sz="2000" dirty="0"/>
              <a:t>Stack</a:t>
            </a:r>
          </a:p>
          <a:p>
            <a:pPr lvl="1"/>
            <a:r>
              <a:rPr lang="en-US" sz="2000" dirty="0"/>
              <a:t>Queue</a:t>
            </a:r>
          </a:p>
          <a:p>
            <a:pPr marL="0" indent="0">
              <a:buNone/>
            </a:pPr>
            <a:endParaRPr lang="en-US" sz="28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</a:rPr>
              <a:t>Hierarchical Data Structures</a:t>
            </a:r>
          </a:p>
          <a:p>
            <a:pPr lvl="1"/>
            <a:r>
              <a:rPr lang="en-US" sz="2000" dirty="0"/>
              <a:t>Binary Heap</a:t>
            </a:r>
          </a:p>
          <a:p>
            <a:pPr lvl="1"/>
            <a:r>
              <a:rPr lang="en-US" sz="2000" dirty="0"/>
              <a:t>Binary Search Trees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800" b="1" dirty="0">
                <a:solidFill>
                  <a:srgbClr val="7030A0"/>
                </a:solidFill>
              </a:rPr>
              <a:t>Augmented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29</a:t>
            </a:fld>
            <a:endParaRPr lang="en-US"/>
          </a:p>
        </p:txBody>
      </p:sp>
      <p:sp>
        <p:nvSpPr>
          <p:cNvPr id="4" name="Left Arrow 3"/>
          <p:cNvSpPr/>
          <p:nvPr/>
        </p:nvSpPr>
        <p:spPr>
          <a:xfrm>
            <a:off x="4953000" y="5029200"/>
            <a:ext cx="2971800" cy="1143000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Most fascinating and powerful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250474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Look forward to working with all of you to make this course enjoyable.</a:t>
            </a:r>
          </a:p>
          <a:p>
            <a:endParaRPr lang="en-US" sz="2400" dirty="0"/>
          </a:p>
          <a:p>
            <a:r>
              <a:rPr lang="en-US" sz="2400" dirty="0"/>
              <a:t>This course will be light in contents (no formulas)</a:t>
            </a:r>
          </a:p>
          <a:p>
            <a:pPr marL="0" indent="0">
              <a:buNone/>
            </a:pPr>
            <a:r>
              <a:rPr lang="en-US" sz="2400" dirty="0"/>
              <a:t>     But it will be very demanding too.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In case of any difficulty during the course,</a:t>
            </a:r>
          </a:p>
          <a:p>
            <a:pPr marL="0" indent="0">
              <a:buNone/>
            </a:pPr>
            <a:r>
              <a:rPr lang="en-US" sz="2400" dirty="0"/>
              <a:t>	just drop me an email without any delay.</a:t>
            </a:r>
          </a:p>
          <a:p>
            <a:pPr marL="0" indent="0">
              <a:buNone/>
            </a:pPr>
            <a:r>
              <a:rPr lang="en-US" sz="2400" dirty="0"/>
              <a:t>             I shall be happy to help </a:t>
            </a:r>
            <a:r>
              <a:rPr lang="en-US" sz="2400" dirty="0">
                <a:sym typeface="Wingdings" pitchFamily="2" charset="2"/>
              </a:rPr>
              <a:t>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2684</TotalTime>
  <Words>1495</Words>
  <Application>Microsoft Macintosh PowerPoint</Application>
  <PresentationFormat>On-screen Show (4:3)</PresentationFormat>
  <Paragraphs>326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Cambria Math</vt:lpstr>
      <vt:lpstr>Century Gothic</vt:lpstr>
      <vt:lpstr>Wingdings</vt:lpstr>
      <vt:lpstr>Office Theme</vt:lpstr>
      <vt:lpstr>Data Structures and Algorithms (ESO207) </vt:lpstr>
      <vt:lpstr>Some Information ESO207: Data Structures and Algorithms </vt:lpstr>
      <vt:lpstr>Acknowledgment</vt:lpstr>
      <vt:lpstr>Prerequisite of this course</vt:lpstr>
      <vt:lpstr>Salient features of the course</vt:lpstr>
      <vt:lpstr>Let us open a desktop/laptop</vt:lpstr>
      <vt:lpstr>A simplifying assumption  (for the rest of the lecture)</vt:lpstr>
      <vt:lpstr>PowerPoint Presentation</vt:lpstr>
      <vt:lpstr>What is an algorithm ?</vt:lpstr>
      <vt:lpstr>PowerPoint Presentation</vt:lpstr>
      <vt:lpstr>Revisiting problems from ESC111</vt:lpstr>
      <vt:lpstr>Problem 1: Fibonacci numbers </vt:lpstr>
      <vt:lpstr>Iterative Algorithm for F(n)</vt:lpstr>
      <vt:lpstr>Recursive algorithm for F(n)</vt:lpstr>
      <vt:lpstr>Homework 1</vt:lpstr>
      <vt:lpstr>Problem 2:    Subset-sum problem</vt:lpstr>
      <vt:lpstr>Problem 3:    Sorting </vt:lpstr>
      <vt:lpstr>How to design efficient algorithm for a problem ? </vt:lpstr>
      <vt:lpstr>Summary of Algorithms</vt:lpstr>
      <vt:lpstr>PowerPoint Presentation</vt:lpstr>
      <vt:lpstr>An Example </vt:lpstr>
      <vt:lpstr>Aim of a data structure ?</vt:lpstr>
      <vt:lpstr>Range-Minima Problem</vt:lpstr>
      <vt:lpstr>Range-Minima Problem</vt:lpstr>
      <vt:lpstr>Range-Minima Problem</vt:lpstr>
      <vt:lpstr>Range-Minima Problem</vt:lpstr>
      <vt:lpstr>Range-Minima Problem</vt:lpstr>
      <vt:lpstr>Range-Minima Problem</vt:lpstr>
      <vt:lpstr>Data structures to be covered in this course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381</cp:revision>
  <cp:lastPrinted>2025-08-06T02:55:29Z</cp:lastPrinted>
  <dcterms:created xsi:type="dcterms:W3CDTF">2011-12-03T04:13:03Z</dcterms:created>
  <dcterms:modified xsi:type="dcterms:W3CDTF">2025-08-06T03:12:58Z</dcterms:modified>
</cp:coreProperties>
</file>