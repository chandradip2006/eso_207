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6"/>
  </p:notesMasterIdLst>
  <p:sldIdLst>
    <p:sldId id="684" r:id="rId2"/>
    <p:sldId id="681" r:id="rId3"/>
    <p:sldId id="683" r:id="rId4"/>
    <p:sldId id="657" r:id="rId5"/>
    <p:sldId id="639" r:id="rId6"/>
    <p:sldId id="640" r:id="rId7"/>
    <p:sldId id="641" r:id="rId8"/>
    <p:sldId id="642" r:id="rId9"/>
    <p:sldId id="644" r:id="rId10"/>
    <p:sldId id="692" r:id="rId11"/>
    <p:sldId id="646" r:id="rId12"/>
    <p:sldId id="647" r:id="rId13"/>
    <p:sldId id="648" r:id="rId14"/>
    <p:sldId id="649" r:id="rId15"/>
    <p:sldId id="650" r:id="rId16"/>
    <p:sldId id="694" r:id="rId17"/>
    <p:sldId id="651" r:id="rId18"/>
    <p:sldId id="673" r:id="rId19"/>
    <p:sldId id="704" r:id="rId20"/>
    <p:sldId id="652" r:id="rId21"/>
    <p:sldId id="674" r:id="rId22"/>
    <p:sldId id="654" r:id="rId23"/>
    <p:sldId id="655" r:id="rId24"/>
    <p:sldId id="676" r:id="rId25"/>
    <p:sldId id="677" r:id="rId26"/>
    <p:sldId id="679" r:id="rId27"/>
    <p:sldId id="680" r:id="rId28"/>
    <p:sldId id="685" r:id="rId29"/>
    <p:sldId id="687" r:id="rId30"/>
    <p:sldId id="696" r:id="rId31"/>
    <p:sldId id="686" r:id="rId32"/>
    <p:sldId id="688" r:id="rId33"/>
    <p:sldId id="689" r:id="rId34"/>
    <p:sldId id="695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540770-3D5F-C241-BEF0-E8D7325EE905}" v="24" dt="2023-09-11T04:15:18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0" autoAdjust="0"/>
    <p:restoredTop sz="95786" autoAdjust="0"/>
  </p:normalViewPr>
  <p:slideViewPr>
    <p:cSldViewPr>
      <p:cViewPr varScale="1">
        <p:scale>
          <a:sx n="116" d="100"/>
          <a:sy n="116" d="100"/>
        </p:scale>
        <p:origin x="19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83540770-3D5F-C241-BEF0-E8D7325EE905}"/>
    <pc:docChg chg="undo custSel delSld modSld">
      <pc:chgData name="Raghunath Tewari" userId="2638bdda-d406-4938-a2a6-e4e967acb772" providerId="ADAL" clId="{83540770-3D5F-C241-BEF0-E8D7325EE905}" dt="2023-09-11T04:15:18.604" v="57"/>
      <pc:docMkLst>
        <pc:docMk/>
      </pc:docMkLst>
      <pc:sldChg chg="modSp mod modAnim">
        <pc:chgData name="Raghunath Tewari" userId="2638bdda-d406-4938-a2a6-e4e967acb772" providerId="ADAL" clId="{83540770-3D5F-C241-BEF0-E8D7325EE905}" dt="2023-09-11T04:15:18.604" v="57"/>
        <pc:sldMkLst>
          <pc:docMk/>
          <pc:sldMk cId="2671784009" sldId="655"/>
        </pc:sldMkLst>
        <pc:spChg chg="mod">
          <ac:chgData name="Raghunath Tewari" userId="2638bdda-d406-4938-a2a6-e4e967acb772" providerId="ADAL" clId="{83540770-3D5F-C241-BEF0-E8D7325EE905}" dt="2023-09-11T03:19:27.220" v="43" actId="20577"/>
          <ac:spMkLst>
            <pc:docMk/>
            <pc:sldMk cId="2671784009" sldId="655"/>
            <ac:spMk id="3" creationId="{00000000-0000-0000-0000-000000000000}"/>
          </ac:spMkLst>
        </pc:spChg>
        <pc:spChg chg="mod">
          <ac:chgData name="Raghunath Tewari" userId="2638bdda-d406-4938-a2a6-e4e967acb772" providerId="ADAL" clId="{83540770-3D5F-C241-BEF0-E8D7325EE905}" dt="2023-09-11T03:19:40.177" v="51" actId="1038"/>
          <ac:spMkLst>
            <pc:docMk/>
            <pc:sldMk cId="2671784009" sldId="655"/>
            <ac:spMk id="8" creationId="{00000000-0000-0000-0000-000000000000}"/>
          </ac:spMkLst>
        </pc:spChg>
        <pc:spChg chg="mod">
          <ac:chgData name="Raghunath Tewari" userId="2638bdda-d406-4938-a2a6-e4e967acb772" providerId="ADAL" clId="{83540770-3D5F-C241-BEF0-E8D7325EE905}" dt="2023-09-11T03:19:40.177" v="51" actId="1038"/>
          <ac:spMkLst>
            <pc:docMk/>
            <pc:sldMk cId="2671784009" sldId="655"/>
            <ac:spMk id="9" creationId="{00000000-0000-0000-0000-000000000000}"/>
          </ac:spMkLst>
        </pc:spChg>
      </pc:sldChg>
      <pc:sldChg chg="addSp delSp modSp mod addAnim delAnim modAnim">
        <pc:chgData name="Raghunath Tewari" userId="2638bdda-d406-4938-a2a6-e4e967acb772" providerId="ADAL" clId="{83540770-3D5F-C241-BEF0-E8D7325EE905}" dt="2023-09-11T02:59:45.029" v="20" actId="1035"/>
        <pc:sldMkLst>
          <pc:docMk/>
          <pc:sldMk cId="479504933" sldId="688"/>
        </pc:sldMkLst>
        <pc:spChg chg="mod">
          <ac:chgData name="Raghunath Tewari" userId="2638bdda-d406-4938-a2a6-e4e967acb772" providerId="ADAL" clId="{83540770-3D5F-C241-BEF0-E8D7325EE905}" dt="2023-09-11T02:59:19.106" v="14" actId="20577"/>
          <ac:spMkLst>
            <pc:docMk/>
            <pc:sldMk cId="479504933" sldId="688"/>
            <ac:spMk id="3" creationId="{00000000-0000-0000-0000-000000000000}"/>
          </ac:spMkLst>
        </pc:spChg>
        <pc:spChg chg="mod">
          <ac:chgData name="Raghunath Tewari" userId="2638bdda-d406-4938-a2a6-e4e967acb772" providerId="ADAL" clId="{83540770-3D5F-C241-BEF0-E8D7325EE905}" dt="2023-09-11T02:59:45.029" v="20" actId="1035"/>
          <ac:spMkLst>
            <pc:docMk/>
            <pc:sldMk cId="479504933" sldId="688"/>
            <ac:spMk id="22" creationId="{00000000-0000-0000-0000-000000000000}"/>
          </ac:spMkLst>
        </pc:spChg>
        <pc:spChg chg="mod">
          <ac:chgData name="Raghunath Tewari" userId="2638bdda-d406-4938-a2a6-e4e967acb772" providerId="ADAL" clId="{83540770-3D5F-C241-BEF0-E8D7325EE905}" dt="2023-09-11T02:59:00.831" v="9" actId="1076"/>
          <ac:spMkLst>
            <pc:docMk/>
            <pc:sldMk cId="479504933" sldId="688"/>
            <ac:spMk id="89" creationId="{00000000-0000-0000-0000-000000000000}"/>
          </ac:spMkLst>
        </pc:spChg>
        <pc:spChg chg="add del mod">
          <ac:chgData name="Raghunath Tewari" userId="2638bdda-d406-4938-a2a6-e4e967acb772" providerId="ADAL" clId="{83540770-3D5F-C241-BEF0-E8D7325EE905}" dt="2023-09-11T02:58:57.129" v="8" actId="478"/>
          <ac:spMkLst>
            <pc:docMk/>
            <pc:sldMk cId="479504933" sldId="688"/>
            <ac:spMk id="90" creationId="{00000000-0000-0000-0000-000000000000}"/>
          </ac:spMkLst>
        </pc:spChg>
      </pc:sldChg>
      <pc:sldChg chg="del">
        <pc:chgData name="Raghunath Tewari" userId="2638bdda-d406-4938-a2a6-e4e967acb772" providerId="ADAL" clId="{83540770-3D5F-C241-BEF0-E8D7325EE905}" dt="2023-09-11T03:13:45.798" v="21" actId="2696"/>
        <pc:sldMkLst>
          <pc:docMk/>
          <pc:sldMk cId="3918496181" sldId="702"/>
        </pc:sldMkLst>
      </pc:sldChg>
    </pc:docChg>
  </pc:docChgLst>
  <pc:docChgLst>
    <pc:chgData name="Raghunath Tewari" userId="2638bdda-d406-4938-a2a6-e4e967acb772" providerId="ADAL" clId="{9B1ECAF2-7409-4348-BDD3-BD0F267B61C5}"/>
    <pc:docChg chg="modSld">
      <pc:chgData name="Raghunath Tewari" userId="2638bdda-d406-4938-a2a6-e4e967acb772" providerId="ADAL" clId="{9B1ECAF2-7409-4348-BDD3-BD0F267B61C5}" dt="2021-02-09T16:38:10.800" v="6" actId="20577"/>
      <pc:docMkLst>
        <pc:docMk/>
      </pc:docMkLst>
      <pc:sldChg chg="modSp">
        <pc:chgData name="Raghunath Tewari" userId="2638bdda-d406-4938-a2a6-e4e967acb772" providerId="ADAL" clId="{9B1ECAF2-7409-4348-BDD3-BD0F267B61C5}" dt="2021-02-09T12:23:28.938" v="0" actId="20577"/>
        <pc:sldMkLst>
          <pc:docMk/>
          <pc:sldMk cId="951768088" sldId="674"/>
        </pc:sldMkLst>
        <pc:spChg chg="mod">
          <ac:chgData name="Raghunath Tewari" userId="2638bdda-d406-4938-a2a6-e4e967acb772" providerId="ADAL" clId="{9B1ECAF2-7409-4348-BDD3-BD0F267B61C5}" dt="2021-02-09T12:23:28.938" v="0" actId="20577"/>
          <ac:spMkLst>
            <pc:docMk/>
            <pc:sldMk cId="951768088" sldId="674"/>
            <ac:spMk id="3" creationId="{00000000-0000-0000-0000-000000000000}"/>
          </ac:spMkLst>
        </pc:spChg>
      </pc:sldChg>
      <pc:sldChg chg="modSp mod">
        <pc:chgData name="Raghunath Tewari" userId="2638bdda-d406-4938-a2a6-e4e967acb772" providerId="ADAL" clId="{9B1ECAF2-7409-4348-BDD3-BD0F267B61C5}" dt="2021-02-09T16:38:10.800" v="6" actId="20577"/>
        <pc:sldMkLst>
          <pc:docMk/>
          <pc:sldMk cId="3037387924" sldId="684"/>
        </pc:sldMkLst>
        <pc:spChg chg="mod">
          <ac:chgData name="Raghunath Tewari" userId="2638bdda-d406-4938-a2a6-e4e967acb772" providerId="ADAL" clId="{9B1ECAF2-7409-4348-BDD3-BD0F267B61C5}" dt="2021-02-09T16:38:10.800" v="6" actId="20577"/>
          <ac:spMkLst>
            <pc:docMk/>
            <pc:sldMk cId="3037387924" sldId="68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10.png"/><Relationship Id="rId7" Type="http://schemas.openxmlformats.org/officeDocument/2006/relationships/image" Target="../media/image4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10.png"/><Relationship Id="rId4" Type="http://schemas.openxmlformats.org/officeDocument/2006/relationships/image" Target="../media/image100.png"/><Relationship Id="rId9" Type="http://schemas.openxmlformats.org/officeDocument/2006/relationships/image" Target="../media/image1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5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60.png"/><Relationship Id="rId7" Type="http://schemas.openxmlformats.org/officeDocument/2006/relationships/image" Target="../media/image29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7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31.png"/><Relationship Id="rId7" Type="http://schemas.openxmlformats.org/officeDocument/2006/relationships/image" Target="../media/image230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image" Target="../media/image35.png"/><Relationship Id="rId5" Type="http://schemas.openxmlformats.org/officeDocument/2006/relationships/image" Target="../media/image211.png"/><Relationship Id="rId10" Type="http://schemas.openxmlformats.org/officeDocument/2006/relationships/image" Target="../media/image34.png"/><Relationship Id="rId4" Type="http://schemas.openxmlformats.org/officeDocument/2006/relationships/image" Target="../media/image311.png"/><Relationship Id="rId9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7" Type="http://schemas.openxmlformats.org/officeDocument/2006/relationships/image" Target="../media/image34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310.png"/><Relationship Id="rId4" Type="http://schemas.openxmlformats.org/officeDocument/2006/relationships/image" Target="../media/image35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81534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Lecture 19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200" b="1" dirty="0">
                <a:solidFill>
                  <a:srgbClr val="7030A0"/>
                </a:solidFill>
              </a:rPr>
              <a:t>Analysis of</a:t>
            </a:r>
            <a:endParaRPr lang="en-US" sz="2200" b="1" dirty="0">
              <a:solidFill>
                <a:schemeClr val="tx1"/>
              </a:solidFill>
            </a:endParaRPr>
          </a:p>
          <a:p>
            <a:pPr marL="800100" lvl="1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rgbClr val="C00000"/>
                </a:solidFill>
              </a:rPr>
              <a:t>Red </a:t>
            </a:r>
            <a:r>
              <a:rPr lang="en-US" sz="1800" b="1" dirty="0">
                <a:solidFill>
                  <a:schemeClr val="tx1"/>
                </a:solidFill>
              </a:rPr>
              <a:t>Black</a:t>
            </a:r>
            <a:r>
              <a:rPr lang="en-US" sz="1800" b="1" dirty="0">
                <a:solidFill>
                  <a:srgbClr val="006C31"/>
                </a:solidFill>
              </a:rPr>
              <a:t> trees </a:t>
            </a:r>
          </a:p>
          <a:p>
            <a:pPr marL="800100" lvl="1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rgbClr val="7030A0"/>
                </a:solidFill>
              </a:rPr>
              <a:t>Nearly Balanced </a:t>
            </a:r>
            <a:r>
              <a:rPr lang="en-US" sz="1800" b="1" dirty="0">
                <a:solidFill>
                  <a:srgbClr val="006C31"/>
                </a:solidFill>
              </a:rPr>
              <a:t>BST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8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 </a:t>
            </a:r>
            <a:r>
              <a:rPr lang="en-US" sz="3200" dirty="0"/>
              <a:t>A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Red </a:t>
            </a:r>
            <a:r>
              <a:rPr lang="en-US" sz="2800" b="1" dirty="0"/>
              <a:t>Black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dirty="0"/>
              <a:t>Tree is </a:t>
            </a:r>
            <a:r>
              <a:rPr lang="en-US" sz="2800" u="sng" dirty="0"/>
              <a:t>height balanced</a:t>
            </a:r>
            <a:br>
              <a:rPr lang="en-US" sz="2800" dirty="0"/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b="1" dirty="0">
                <a:solidFill>
                  <a:srgbClr val="7030A0"/>
                </a:solidFill>
              </a:rPr>
              <a:t> detailed proof </a:t>
            </a:r>
            <a:r>
              <a:rPr lang="en-US" dirty="0">
                <a:solidFill>
                  <a:schemeClr val="tx1"/>
                </a:solidFill>
              </a:rPr>
              <a:t>from</a:t>
            </a:r>
            <a:r>
              <a:rPr lang="en-US" b="1" dirty="0">
                <a:solidFill>
                  <a:srgbClr val="7030A0"/>
                </a:solidFill>
              </a:rPr>
              <a:t> scratch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30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 </a:t>
            </a:r>
            <a:r>
              <a:rPr lang="en-US" b="1" dirty="0"/>
              <a:t>Black</a:t>
            </a:r>
            <a:r>
              <a:rPr lang="en-US" dirty="0"/>
              <a:t>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Red</a:t>
            </a:r>
            <a:r>
              <a:rPr lang="en-US" sz="2000" dirty="0"/>
              <a:t> </a:t>
            </a:r>
            <a:r>
              <a:rPr lang="en-US" sz="2000" b="1" dirty="0"/>
              <a:t>Black</a:t>
            </a:r>
            <a:r>
              <a:rPr lang="en-US" sz="2000" dirty="0"/>
              <a:t> tree:  </a:t>
            </a:r>
          </a:p>
          <a:p>
            <a:pPr marL="0" indent="0">
              <a:buNone/>
            </a:pPr>
            <a:r>
              <a:rPr lang="en-US" sz="2000" dirty="0"/>
              <a:t>a </a:t>
            </a:r>
            <a:r>
              <a:rPr lang="en-US" sz="2000" b="1" dirty="0">
                <a:solidFill>
                  <a:srgbClr val="00B050"/>
                </a:solidFill>
              </a:rPr>
              <a:t>full</a:t>
            </a:r>
            <a:r>
              <a:rPr lang="en-US" sz="2000" dirty="0"/>
              <a:t> binary search tree</a:t>
            </a:r>
          </a:p>
          <a:p>
            <a:pPr marL="0" indent="0">
              <a:buNone/>
            </a:pPr>
            <a:r>
              <a:rPr lang="en-US" sz="2000" dirty="0"/>
              <a:t>and satisfying the following properties.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Each node is colored </a:t>
            </a:r>
            <a:r>
              <a:rPr lang="en-US" sz="2000" b="1" dirty="0">
                <a:solidFill>
                  <a:srgbClr val="FF0000"/>
                </a:solidFill>
              </a:rPr>
              <a:t>red</a:t>
            </a:r>
            <a:r>
              <a:rPr lang="en-US" sz="2000" dirty="0"/>
              <a:t> or </a:t>
            </a:r>
            <a:r>
              <a:rPr lang="en-US" sz="2000" b="1" dirty="0"/>
              <a:t>black.</a:t>
            </a:r>
          </a:p>
          <a:p>
            <a:endParaRPr lang="en-US" sz="2000" dirty="0"/>
          </a:p>
          <a:p>
            <a:r>
              <a:rPr lang="en-US" sz="2000" dirty="0"/>
              <a:t>Each leaf is colored </a:t>
            </a:r>
            <a:r>
              <a:rPr lang="en-US" sz="2000" b="1" dirty="0"/>
              <a:t>black </a:t>
            </a:r>
            <a:r>
              <a:rPr lang="en-US" sz="2000" dirty="0"/>
              <a:t>and so is the root.</a:t>
            </a:r>
          </a:p>
          <a:p>
            <a:endParaRPr lang="en-US" sz="2000" dirty="0"/>
          </a:p>
          <a:p>
            <a:r>
              <a:rPr lang="en-US" sz="2000" dirty="0"/>
              <a:t>Every </a:t>
            </a:r>
            <a:r>
              <a:rPr lang="en-US" sz="2000" b="1" dirty="0">
                <a:solidFill>
                  <a:srgbClr val="FF0000"/>
                </a:solidFill>
              </a:rPr>
              <a:t>red </a:t>
            </a:r>
            <a:r>
              <a:rPr lang="en-US" sz="2000" dirty="0"/>
              <a:t>node will have both its children </a:t>
            </a:r>
            <a:r>
              <a:rPr lang="en-US" sz="2000" b="1" dirty="0"/>
              <a:t>black.</a:t>
            </a:r>
          </a:p>
          <a:p>
            <a:endParaRPr lang="en-US" sz="2000" dirty="0"/>
          </a:p>
          <a:p>
            <a:r>
              <a:rPr lang="en-US" sz="2000" dirty="0"/>
              <a:t>No. of </a:t>
            </a:r>
            <a:r>
              <a:rPr lang="en-US" sz="2000" b="1" u="sng" dirty="0"/>
              <a:t>black</a:t>
            </a:r>
            <a:r>
              <a:rPr lang="en-US" sz="2000" u="sng" dirty="0"/>
              <a:t> nodes</a:t>
            </a:r>
            <a:r>
              <a:rPr lang="en-US" sz="2000" dirty="0"/>
              <a:t> on a path from root to each leaf node is same. 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71800" y="1962090"/>
            <a:ext cx="3158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with each leaf as a </a:t>
            </a:r>
            <a:r>
              <a:rPr lang="en-US" sz="2000" b="1" dirty="0"/>
              <a:t>null</a:t>
            </a:r>
            <a:r>
              <a:rPr lang="en-US" sz="2000" dirty="0"/>
              <a:t> node</a:t>
            </a:r>
            <a:endParaRPr lang="en-IN"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838200" y="5257800"/>
            <a:ext cx="5334000" cy="45720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7030A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181600" y="5715000"/>
            <a:ext cx="2209800" cy="609600"/>
            <a:chOff x="5181600" y="4953000"/>
            <a:chExt cx="2209800" cy="609600"/>
          </a:xfrm>
        </p:grpSpPr>
        <p:sp>
          <p:nvSpPr>
            <p:cNvPr id="8" name="TextBox 7"/>
            <p:cNvSpPr txBox="1"/>
            <p:nvPr/>
          </p:nvSpPr>
          <p:spPr>
            <a:xfrm>
              <a:off x="5929910" y="5162490"/>
              <a:ext cx="1461490" cy="4001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black</a:t>
              </a:r>
              <a:r>
                <a:rPr lang="en-US" sz="2000" dirty="0"/>
                <a:t> height</a:t>
              </a:r>
              <a:endParaRPr lang="en-IN" sz="2000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5181600" y="4953000"/>
              <a:ext cx="748310" cy="514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587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5" grpId="0" uiExpand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 </a:t>
            </a:r>
            <a:r>
              <a:rPr lang="en-US" sz="3600" b="1" dirty="0">
                <a:solidFill>
                  <a:srgbClr val="FF0000"/>
                </a:solidFill>
              </a:rPr>
              <a:t>red</a:t>
            </a:r>
            <a:r>
              <a:rPr lang="en-US" sz="3600" b="1" dirty="0">
                <a:solidFill>
                  <a:srgbClr val="7030A0"/>
                </a:solidFill>
              </a:rPr>
              <a:t>-</a:t>
            </a:r>
            <a:r>
              <a:rPr lang="en-US" sz="3600" b="1" dirty="0"/>
              <a:t>black</a:t>
            </a:r>
            <a:r>
              <a:rPr lang="en-US" sz="3600" b="1" dirty="0">
                <a:solidFill>
                  <a:srgbClr val="7030A0"/>
                </a:solidFill>
              </a:rPr>
              <a:t>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990601" y="4845369"/>
            <a:ext cx="225309" cy="564831"/>
            <a:chOff x="853448" y="1644969"/>
            <a:chExt cx="255680" cy="559397"/>
          </a:xfrm>
        </p:grpSpPr>
        <p:grpSp>
          <p:nvGrpSpPr>
            <p:cNvPr id="22" name="Group 21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6" name="Straight Connector 25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" name="Straight Arrow Connector 22"/>
            <p:cNvCxnSpPr>
              <a:endCxn id="24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349682" y="4845369"/>
            <a:ext cx="232681" cy="564831"/>
            <a:chOff x="780160" y="1648024"/>
            <a:chExt cx="274457" cy="556342"/>
          </a:xfrm>
        </p:grpSpPr>
        <p:grpSp>
          <p:nvGrpSpPr>
            <p:cNvPr id="80" name="Group 79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3" name="Group 82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84" name="Straight Connector 83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1" name="Straight Arrow Connector 80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/>
          <p:cNvGrpSpPr/>
          <p:nvPr/>
        </p:nvGrpSpPr>
        <p:grpSpPr>
          <a:xfrm>
            <a:off x="2057400" y="4845369"/>
            <a:ext cx="225309" cy="564831"/>
            <a:chOff x="853448" y="1644969"/>
            <a:chExt cx="255680" cy="559397"/>
          </a:xfrm>
        </p:grpSpPr>
        <p:grpSp>
          <p:nvGrpSpPr>
            <p:cNvPr id="131" name="Group 130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4" name="Group 13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35" name="Straight Connector 13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2" name="Straight Arrow Connector 131"/>
            <p:cNvCxnSpPr>
              <a:endCxn id="133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Group 123"/>
          <p:cNvGrpSpPr/>
          <p:nvPr/>
        </p:nvGrpSpPr>
        <p:grpSpPr>
          <a:xfrm>
            <a:off x="2416481" y="4845369"/>
            <a:ext cx="232681" cy="564831"/>
            <a:chOff x="780160" y="1648024"/>
            <a:chExt cx="274457" cy="556342"/>
          </a:xfrm>
        </p:grpSpPr>
        <p:grpSp>
          <p:nvGrpSpPr>
            <p:cNvPr id="125" name="Group 124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8" name="Group 127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29" name="Straight Connector 128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6" name="Straight Arrow Connector 125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/>
          <p:cNvGrpSpPr/>
          <p:nvPr/>
        </p:nvGrpSpPr>
        <p:grpSpPr>
          <a:xfrm>
            <a:off x="3124200" y="4845369"/>
            <a:ext cx="225309" cy="564831"/>
            <a:chOff x="853448" y="1644969"/>
            <a:chExt cx="255680" cy="559397"/>
          </a:xfrm>
        </p:grpSpPr>
        <p:grpSp>
          <p:nvGrpSpPr>
            <p:cNvPr id="147" name="Group 146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49" name="Rectangle 148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" name="Group 149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51" name="Straight Connector 150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8" name="Straight Arrow Connector 147"/>
            <p:cNvCxnSpPr>
              <a:endCxn id="149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Group 139"/>
          <p:cNvGrpSpPr/>
          <p:nvPr/>
        </p:nvGrpSpPr>
        <p:grpSpPr>
          <a:xfrm>
            <a:off x="3483281" y="4845369"/>
            <a:ext cx="232681" cy="564831"/>
            <a:chOff x="780160" y="1648024"/>
            <a:chExt cx="274457" cy="556342"/>
          </a:xfrm>
        </p:grpSpPr>
        <p:grpSp>
          <p:nvGrpSpPr>
            <p:cNvPr id="141" name="Group 140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" name="Group 14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45" name="Straight Connector 14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2" name="Straight Arrow Connector 141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/>
          <p:cNvGrpSpPr/>
          <p:nvPr/>
        </p:nvGrpSpPr>
        <p:grpSpPr>
          <a:xfrm>
            <a:off x="4038600" y="4845369"/>
            <a:ext cx="225309" cy="564831"/>
            <a:chOff x="853448" y="1644969"/>
            <a:chExt cx="255680" cy="559397"/>
          </a:xfrm>
        </p:grpSpPr>
        <p:grpSp>
          <p:nvGrpSpPr>
            <p:cNvPr id="163" name="Group 162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65" name="Rectangle 164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6" name="Group 165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67" name="Straight Connector 166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64" name="Straight Arrow Connector 163"/>
            <p:cNvCxnSpPr>
              <a:endCxn id="165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Group 155"/>
          <p:cNvGrpSpPr/>
          <p:nvPr/>
        </p:nvGrpSpPr>
        <p:grpSpPr>
          <a:xfrm>
            <a:off x="4397681" y="4845369"/>
            <a:ext cx="232681" cy="564831"/>
            <a:chOff x="780160" y="1648024"/>
            <a:chExt cx="274457" cy="556342"/>
          </a:xfrm>
        </p:grpSpPr>
        <p:grpSp>
          <p:nvGrpSpPr>
            <p:cNvPr id="157" name="Group 156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0" name="Group 159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61" name="Straight Connector 160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58" name="Straight Arrow Connector 157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5080527" y="4683435"/>
            <a:ext cx="177273" cy="225334"/>
            <a:chOff x="2447520" y="2514600"/>
            <a:chExt cx="201169" cy="223166"/>
          </a:xfrm>
        </p:grpSpPr>
        <p:sp>
          <p:nvSpPr>
            <p:cNvPr id="181" name="Rectangle 180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2" name="Group 181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183" name="Straight Connector 182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9" name="Group 188"/>
          <p:cNvGrpSpPr/>
          <p:nvPr/>
        </p:nvGrpSpPr>
        <p:grpSpPr>
          <a:xfrm>
            <a:off x="6113452" y="4682198"/>
            <a:ext cx="170548" cy="226571"/>
            <a:chOff x="2447520" y="2514600"/>
            <a:chExt cx="201169" cy="223166"/>
          </a:xfrm>
        </p:grpSpPr>
        <p:sp>
          <p:nvSpPr>
            <p:cNvPr id="191" name="Rectangle 190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2" name="Group 191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193" name="Straight Connector 192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1" name="Group 220"/>
          <p:cNvGrpSpPr/>
          <p:nvPr/>
        </p:nvGrpSpPr>
        <p:grpSpPr>
          <a:xfrm>
            <a:off x="7543800" y="3810000"/>
            <a:ext cx="170548" cy="226571"/>
            <a:chOff x="2447520" y="2514600"/>
            <a:chExt cx="201169" cy="223166"/>
          </a:xfrm>
        </p:grpSpPr>
        <p:sp>
          <p:nvSpPr>
            <p:cNvPr id="223" name="Rectangle 222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4" name="Group 223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225" name="Straight Connector 224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5" name="Oval 234"/>
          <p:cNvSpPr/>
          <p:nvPr/>
        </p:nvSpPr>
        <p:spPr>
          <a:xfrm>
            <a:off x="4514094" y="2252990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6419094" y="3046421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39" name="Oval 238"/>
          <p:cNvSpPr/>
          <p:nvPr/>
        </p:nvSpPr>
        <p:spPr>
          <a:xfrm>
            <a:off x="1770894" y="3841431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0" name="Oval 239"/>
          <p:cNvSpPr/>
          <p:nvPr/>
        </p:nvSpPr>
        <p:spPr>
          <a:xfrm>
            <a:off x="5504694" y="3816182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43" name="Oval 242"/>
          <p:cNvSpPr/>
          <p:nvPr/>
        </p:nvSpPr>
        <p:spPr>
          <a:xfrm>
            <a:off x="3752094" y="3853190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5" name="Oval 244"/>
          <p:cNvSpPr/>
          <p:nvPr/>
        </p:nvSpPr>
        <p:spPr>
          <a:xfrm>
            <a:off x="2819400" y="3046421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6" name="Oval 245"/>
          <p:cNvSpPr/>
          <p:nvPr/>
        </p:nvSpPr>
        <p:spPr>
          <a:xfrm>
            <a:off x="1161294" y="4691390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47" name="Oval 246"/>
          <p:cNvSpPr/>
          <p:nvPr/>
        </p:nvSpPr>
        <p:spPr>
          <a:xfrm>
            <a:off x="2228093" y="4691390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3294893" y="4691390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9" name="Oval 248"/>
          <p:cNvSpPr/>
          <p:nvPr/>
        </p:nvSpPr>
        <p:spPr>
          <a:xfrm>
            <a:off x="4209293" y="4691390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cxnSp>
        <p:nvCxnSpPr>
          <p:cNvPr id="255" name="Straight Arrow Connector 254"/>
          <p:cNvCxnSpPr/>
          <p:nvPr/>
        </p:nvCxnSpPr>
        <p:spPr>
          <a:xfrm flipH="1">
            <a:off x="2962653" y="2351575"/>
            <a:ext cx="1551441" cy="6948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/>
          <p:cNvCxnSpPr/>
          <p:nvPr/>
        </p:nvCxnSpPr>
        <p:spPr>
          <a:xfrm flipH="1">
            <a:off x="1953760" y="3221205"/>
            <a:ext cx="941840" cy="6319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stCxn id="243" idx="3"/>
          </p:cNvCxnSpPr>
          <p:nvPr/>
        </p:nvCxnSpPr>
        <p:spPr>
          <a:xfrm flipH="1">
            <a:off x="3438147" y="4021484"/>
            <a:ext cx="355905" cy="66990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/>
          <p:cNvCxnSpPr>
            <a:endCxn id="246" idx="7"/>
          </p:cNvCxnSpPr>
          <p:nvPr/>
        </p:nvCxnSpPr>
        <p:spPr>
          <a:xfrm flipH="1">
            <a:off x="1405842" y="4005590"/>
            <a:ext cx="422958" cy="7146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/>
          <p:nvPr/>
        </p:nvCxnSpPr>
        <p:spPr>
          <a:xfrm flipH="1">
            <a:off x="5181600" y="4021484"/>
            <a:ext cx="405136" cy="66990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/>
          <p:cNvCxnSpPr/>
          <p:nvPr/>
        </p:nvCxnSpPr>
        <p:spPr>
          <a:xfrm flipH="1">
            <a:off x="5647948" y="3243590"/>
            <a:ext cx="811214" cy="5725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/>
          <p:nvPr/>
        </p:nvCxnSpPr>
        <p:spPr>
          <a:xfrm>
            <a:off x="3048000" y="3221205"/>
            <a:ext cx="838200" cy="6319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/>
          <p:nvPr/>
        </p:nvCxnSpPr>
        <p:spPr>
          <a:xfrm>
            <a:off x="6705600" y="3221205"/>
            <a:ext cx="838200" cy="6319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/>
          <p:cNvCxnSpPr/>
          <p:nvPr/>
        </p:nvCxnSpPr>
        <p:spPr>
          <a:xfrm>
            <a:off x="2029959" y="4005590"/>
            <a:ext cx="341387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/>
          <p:nvPr/>
        </p:nvCxnSpPr>
        <p:spPr>
          <a:xfrm>
            <a:off x="3942770" y="4013351"/>
            <a:ext cx="368932" cy="67008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/>
          <p:cNvCxnSpPr/>
          <p:nvPr/>
        </p:nvCxnSpPr>
        <p:spPr>
          <a:xfrm>
            <a:off x="5763759" y="4005590"/>
            <a:ext cx="417587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/>
          <p:cNvCxnSpPr/>
          <p:nvPr/>
        </p:nvCxnSpPr>
        <p:spPr>
          <a:xfrm>
            <a:off x="4800600" y="2396344"/>
            <a:ext cx="1658562" cy="6948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" name="Group 275"/>
          <p:cNvGrpSpPr/>
          <p:nvPr/>
        </p:nvGrpSpPr>
        <p:grpSpPr>
          <a:xfrm>
            <a:off x="4419600" y="1643390"/>
            <a:ext cx="502924" cy="578167"/>
            <a:chOff x="1203952" y="3914001"/>
            <a:chExt cx="502924" cy="578167"/>
          </a:xfrm>
        </p:grpSpPr>
        <p:cxnSp>
          <p:nvCxnSpPr>
            <p:cNvPr id="313" name="Elbow Connector 312"/>
            <p:cNvCxnSpPr/>
            <p:nvPr/>
          </p:nvCxnSpPr>
          <p:spPr>
            <a:xfrm rot="16200000" flipH="1">
              <a:off x="1306996" y="4339420"/>
              <a:ext cx="301167" cy="433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TextBox 313"/>
            <p:cNvSpPr txBox="1"/>
            <p:nvPr/>
          </p:nvSpPr>
          <p:spPr>
            <a:xfrm>
              <a:off x="1203952" y="3914001"/>
              <a:ext cx="502924" cy="276999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root</a:t>
              </a:r>
            </a:p>
          </p:txBody>
        </p:sp>
      </p:grpSp>
      <p:sp>
        <p:nvSpPr>
          <p:cNvPr id="277" name="TextBox 276"/>
          <p:cNvSpPr txBox="1"/>
          <p:nvPr/>
        </p:nvSpPr>
        <p:spPr>
          <a:xfrm>
            <a:off x="1143000" y="46482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2819400" y="30149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28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4471664" y="22098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46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6400800" y="30149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67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209800" y="4648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25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770894" y="377699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6600" y="4648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31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4166864" y="4648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41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3733800" y="38100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35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486400" y="37769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99922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Terminologies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Full binary tree</a:t>
            </a:r>
            <a:r>
              <a:rPr lang="en-US" sz="2000" b="1" dirty="0"/>
              <a:t>: </a:t>
            </a:r>
          </a:p>
          <a:p>
            <a:pPr marL="0" indent="0">
              <a:buNone/>
            </a:pPr>
            <a:r>
              <a:rPr lang="en-US" sz="2000" dirty="0"/>
              <a:t>A binary tree where every internal node has </a:t>
            </a:r>
            <a:r>
              <a:rPr lang="en-US" sz="2000" b="1" u="sng" dirty="0"/>
              <a:t>exactly two children</a:t>
            </a:r>
            <a:r>
              <a:rPr lang="en-US" sz="2000" u="sng" dirty="0"/>
              <a:t>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2286000" y="3400125"/>
            <a:ext cx="457200" cy="683244"/>
            <a:chOff x="2286000" y="3400125"/>
            <a:chExt cx="457200" cy="683244"/>
          </a:xfrm>
        </p:grpSpPr>
        <p:sp>
          <p:nvSpPr>
            <p:cNvPr id="9" name="Oval 8"/>
            <p:cNvSpPr/>
            <p:nvPr/>
          </p:nvSpPr>
          <p:spPr>
            <a:xfrm>
              <a:off x="2456694" y="3886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2286000" y="3400125"/>
              <a:ext cx="221799" cy="48607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1371600" y="2667000"/>
            <a:ext cx="1810506" cy="2057400"/>
            <a:chOff x="1371600" y="2667000"/>
            <a:chExt cx="1810506" cy="2057400"/>
          </a:xfrm>
        </p:grpSpPr>
        <p:sp>
          <p:nvSpPr>
            <p:cNvPr id="5" name="Oval 4"/>
            <p:cNvSpPr/>
            <p:nvPr/>
          </p:nvSpPr>
          <p:spPr>
            <a:xfrm>
              <a:off x="2609094" y="2667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32004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371600" y="4527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95600" y="32318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676400" y="3886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2075694" y="44958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2819400" y="2819400"/>
              <a:ext cx="221799" cy="40987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5" idx="3"/>
              <a:endCxn id="6" idx="7"/>
            </p:cNvCxnSpPr>
            <p:nvPr/>
          </p:nvCxnSpPr>
          <p:spPr>
            <a:xfrm flipH="1">
              <a:off x="2301948" y="2835294"/>
              <a:ext cx="349104" cy="393981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1819654" y="3397569"/>
              <a:ext cx="282050" cy="488631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1470550" y="4083369"/>
              <a:ext cx="282050" cy="488631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05000" y="4038600"/>
              <a:ext cx="221799" cy="48607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Line Callout 2 25"/>
          <p:cNvSpPr/>
          <p:nvPr/>
        </p:nvSpPr>
        <p:spPr>
          <a:xfrm>
            <a:off x="4953000" y="4038600"/>
            <a:ext cx="2819400" cy="612648"/>
          </a:xfrm>
          <a:prstGeom prst="borderCallout2">
            <a:avLst>
              <a:gd name="adj1" fmla="val 16930"/>
              <a:gd name="adj2" fmla="val -138"/>
              <a:gd name="adj3" fmla="val 18750"/>
              <a:gd name="adj4" fmla="val -16667"/>
              <a:gd name="adj5" fmla="val -109560"/>
              <a:gd name="adj6" fmla="val -9312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This node has exactly one child. So the current tree is not a full binary tree.</a:t>
            </a:r>
          </a:p>
        </p:txBody>
      </p:sp>
      <p:sp>
        <p:nvSpPr>
          <p:cNvPr id="27" name="Up Ribbon 26"/>
          <p:cNvSpPr/>
          <p:nvPr/>
        </p:nvSpPr>
        <p:spPr>
          <a:xfrm>
            <a:off x="3016552" y="4898395"/>
            <a:ext cx="2927048" cy="1045205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is now a full binary tree.</a:t>
            </a:r>
          </a:p>
        </p:txBody>
      </p:sp>
    </p:spTree>
    <p:extLst>
      <p:ext uri="{BB962C8B-B14F-4D97-AF65-F5344CB8AC3E}">
        <p14:creationId xmlns:p14="http://schemas.microsoft.com/office/powerpoint/2010/main" val="178665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6" grpId="0" animBg="1"/>
      <p:bldP spid="26" grpId="1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Red-black tree: </a:t>
            </a:r>
            <a:r>
              <a:rPr lang="en-US" sz="3200" b="1" dirty="0"/>
              <a:t>as a Full Binary Tree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18864" y="1371600"/>
            <a:ext cx="5586736" cy="3309610"/>
            <a:chOff x="1143000" y="1600200"/>
            <a:chExt cx="5586736" cy="3309610"/>
          </a:xfrm>
        </p:grpSpPr>
        <p:sp>
          <p:nvSpPr>
            <p:cNvPr id="5" name="Oval 4"/>
            <p:cNvSpPr/>
            <p:nvPr/>
          </p:nvSpPr>
          <p:spPr>
            <a:xfrm>
              <a:off x="4514094" y="22098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6419094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770894" y="3809999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504694" y="3772992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752094" y="3810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2819400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61294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2" name="Oval 121"/>
            <p:cNvSpPr/>
            <p:nvPr/>
          </p:nvSpPr>
          <p:spPr>
            <a:xfrm>
              <a:off x="222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8" name="Oval 137"/>
            <p:cNvSpPr/>
            <p:nvPr/>
          </p:nvSpPr>
          <p:spPr>
            <a:xfrm>
              <a:off x="32948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42092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51236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34" name="Straight Arrow Connector 233"/>
            <p:cNvCxnSpPr/>
            <p:nvPr/>
          </p:nvCxnSpPr>
          <p:spPr>
            <a:xfrm flipH="1">
              <a:off x="2962653" y="230838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 flipH="1">
              <a:off x="1953760" y="317801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>
              <a:stCxn id="8" idx="3"/>
            </p:cNvCxnSpPr>
            <p:nvPr/>
          </p:nvCxnSpPr>
          <p:spPr>
            <a:xfrm flipH="1">
              <a:off x="3438147" y="397829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>
              <a:endCxn id="11" idx="7"/>
            </p:cNvCxnSpPr>
            <p:nvPr/>
          </p:nvCxnSpPr>
          <p:spPr>
            <a:xfrm flipH="1">
              <a:off x="1405842" y="396240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/>
            <p:nvPr/>
          </p:nvCxnSpPr>
          <p:spPr>
            <a:xfrm flipH="1">
              <a:off x="5181600" y="397829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/>
            <p:cNvCxnSpPr/>
            <p:nvPr/>
          </p:nvCxnSpPr>
          <p:spPr>
            <a:xfrm flipH="1">
              <a:off x="5647948" y="320040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/>
            <p:cNvCxnSpPr/>
            <p:nvPr/>
          </p:nvCxnSpPr>
          <p:spPr>
            <a:xfrm>
              <a:off x="3048000" y="317801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/>
            <p:cNvCxnSpPr/>
            <p:nvPr/>
          </p:nvCxnSpPr>
          <p:spPr>
            <a:xfrm>
              <a:off x="2029959" y="396240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/>
            <p:cNvCxnSpPr>
              <a:endCxn id="294" idx="0"/>
            </p:cNvCxnSpPr>
            <p:nvPr/>
          </p:nvCxnSpPr>
          <p:spPr>
            <a:xfrm>
              <a:off x="3962400" y="3978116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/>
            <p:cNvCxnSpPr/>
            <p:nvPr/>
          </p:nvCxnSpPr>
          <p:spPr>
            <a:xfrm>
              <a:off x="5763759" y="396240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/>
            <p:cNvCxnSpPr/>
            <p:nvPr/>
          </p:nvCxnSpPr>
          <p:spPr>
            <a:xfrm>
              <a:off x="4800600" y="235315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2" name="Group 281"/>
            <p:cNvGrpSpPr/>
            <p:nvPr/>
          </p:nvGrpSpPr>
          <p:grpSpPr>
            <a:xfrm>
              <a:off x="4419600" y="1600200"/>
              <a:ext cx="502924" cy="578167"/>
              <a:chOff x="1203952" y="3914001"/>
              <a:chExt cx="502924" cy="578167"/>
            </a:xfrm>
          </p:grpSpPr>
          <p:cxnSp>
            <p:nvCxnSpPr>
              <p:cNvPr id="283" name="Elbow Connector 28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" name="TextBox 283"/>
              <p:cNvSpPr txBox="1"/>
              <p:nvPr/>
            </p:nvSpPr>
            <p:spPr>
              <a:xfrm>
                <a:off x="1203952" y="3914001"/>
                <a:ext cx="502924" cy="27699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root</a:t>
                </a:r>
              </a:p>
            </p:txBody>
          </p:sp>
        </p:grpSp>
        <p:sp>
          <p:nvSpPr>
            <p:cNvPr id="286" name="TextBox 285"/>
            <p:cNvSpPr txBox="1"/>
            <p:nvPr/>
          </p:nvSpPr>
          <p:spPr>
            <a:xfrm>
              <a:off x="1143000" y="46151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28194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28</a:t>
              </a:r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46</a:t>
              </a: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64008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67</a:t>
              </a: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2209800" y="46151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25</a:t>
              </a: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1752600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31</a:t>
              </a:r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41</a:t>
              </a: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37338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35</a:t>
              </a: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5486400" y="3733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49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51054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48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90600" y="2949416"/>
            <a:ext cx="6324600" cy="2232184"/>
            <a:chOff x="990600" y="2949416"/>
            <a:chExt cx="6324600" cy="2232184"/>
          </a:xfrm>
        </p:grpSpPr>
        <p:grpSp>
          <p:nvGrpSpPr>
            <p:cNvPr id="54" name="Group 53"/>
            <p:cNvGrpSpPr/>
            <p:nvPr/>
          </p:nvGrpSpPr>
          <p:grpSpPr>
            <a:xfrm>
              <a:off x="20574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64" name="Group 6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66" name="Rectangle 6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68" name="Straight Connector 6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Straight Connector 68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65" name="Straight Arrow Connector 64"/>
                <p:cNvCxnSpPr>
                  <a:endCxn id="66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58" name="Group 5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60" name="Rectangle 5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1" name="Group 6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62" name="Straight Connector 6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Straight Connector 6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0" name="Group 69"/>
            <p:cNvGrpSpPr/>
            <p:nvPr/>
          </p:nvGrpSpPr>
          <p:grpSpPr>
            <a:xfrm>
              <a:off x="9906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79" name="Group 78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81" name="Rectangle 80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82" name="Group 81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83" name="Straight Connector 8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" name="Straight Connector 8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0" name="Straight Arrow Connector 79"/>
                <p:cNvCxnSpPr>
                  <a:endCxn id="81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Group 71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73" name="Group 72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75" name="Rectangle 74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76" name="Group 75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77" name="Straight Connector 76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Straight Connector 77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74" name="Straight Arrow Connector 73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Group 84"/>
            <p:cNvGrpSpPr/>
            <p:nvPr/>
          </p:nvGrpSpPr>
          <p:grpSpPr>
            <a:xfrm>
              <a:off x="31420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94" name="Group 9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96" name="Rectangle 9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97" name="Group 9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98" name="Straight Connector 9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Straight Connector 98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95" name="Straight Arrow Connector 94"/>
                <p:cNvCxnSpPr>
                  <a:endCxn id="96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88" name="Group 8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90" name="Rectangle 8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91" name="Group 9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92" name="Straight Connector 9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Straight Connector 9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9" name="Straight Arrow Connector 8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Group 99"/>
            <p:cNvGrpSpPr/>
            <p:nvPr/>
          </p:nvGrpSpPr>
          <p:grpSpPr>
            <a:xfrm>
              <a:off x="40386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101" name="Group 100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09" name="Group 108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11" name="Rectangle 110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2" name="Group 111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13" name="Straight Connector 11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Straight Connector 11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0" name="Straight Arrow Connector 109"/>
                <p:cNvCxnSpPr>
                  <a:endCxn id="111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Group 101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03" name="Group 102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05" name="Rectangle 104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6" name="Group 105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07" name="Straight Connector 106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Straight Connector 107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04" name="Straight Arrow Connector 103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49708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116" name="Group 11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7" name="Rectangle 12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29" name="Straight Connector 12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Straight Connector 12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6" name="Straight Arrow Connector 125"/>
                <p:cNvCxnSpPr>
                  <a:endCxn id="127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" name="Group 11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18" name="Group 11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0" name="Rectangle 11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1" name="Group 12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23" name="Straight Connector 12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9" name="Straight Arrow Connector 11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41" name="Group 140"/>
            <p:cNvGrpSpPr/>
            <p:nvPr/>
          </p:nvGrpSpPr>
          <p:grpSpPr>
            <a:xfrm>
              <a:off x="5994929" y="4419604"/>
              <a:ext cx="177279" cy="228601"/>
              <a:chOff x="2571986" y="1983095"/>
              <a:chExt cx="201175" cy="226401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2571986" y="1996607"/>
                <a:ext cx="201170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" name="Group 143"/>
              <p:cNvGrpSpPr/>
              <p:nvPr/>
            </p:nvGrpSpPr>
            <p:grpSpPr>
              <a:xfrm>
                <a:off x="2571989" y="1983095"/>
                <a:ext cx="201172" cy="226401"/>
                <a:chOff x="2571989" y="1993377"/>
                <a:chExt cx="201172" cy="226401"/>
              </a:xfrm>
            </p:grpSpPr>
            <p:cxnSp>
              <p:nvCxnSpPr>
                <p:cNvPr id="145" name="Straight Connector 144"/>
                <p:cNvCxnSpPr/>
                <p:nvPr/>
              </p:nvCxnSpPr>
              <p:spPr>
                <a:xfrm flipH="1">
                  <a:off x="2571989" y="1993377"/>
                  <a:ext cx="201170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>
                <a:xfrm>
                  <a:off x="2571992" y="2006894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49" name="Group 148"/>
            <p:cNvGrpSpPr/>
            <p:nvPr/>
          </p:nvGrpSpPr>
          <p:grpSpPr>
            <a:xfrm>
              <a:off x="6629400" y="2949416"/>
              <a:ext cx="685800" cy="675176"/>
              <a:chOff x="245687" y="1539338"/>
              <a:chExt cx="808930" cy="665028"/>
            </a:xfrm>
          </p:grpSpPr>
          <p:grpSp>
            <p:nvGrpSpPr>
              <p:cNvPr id="150" name="Group 14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2" name="Rectangle 15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3" name="Group 15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5" name="Straight Connector 15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/>
                  <p:cNvCxnSpPr/>
                  <p:nvPr/>
                </p:nvCxnSpPr>
                <p:spPr>
                  <a:xfrm>
                    <a:off x="2447521" y="2524882"/>
                    <a:ext cx="201168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1" name="Straight Arrow Connector 150"/>
              <p:cNvCxnSpPr/>
              <p:nvPr/>
            </p:nvCxnSpPr>
            <p:spPr>
              <a:xfrm>
                <a:off x="245687" y="1539338"/>
                <a:ext cx="719049" cy="4418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Down Ribbon 9"/>
          <p:cNvSpPr/>
          <p:nvPr/>
        </p:nvSpPr>
        <p:spPr>
          <a:xfrm>
            <a:off x="3124200" y="5638800"/>
            <a:ext cx="2667000" cy="9906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Ignore the values</a:t>
            </a:r>
          </a:p>
        </p:txBody>
      </p:sp>
    </p:spTree>
    <p:extLst>
      <p:ext uri="{BB962C8B-B14F-4D97-AF65-F5344CB8AC3E}">
        <p14:creationId xmlns:p14="http://schemas.microsoft.com/office/powerpoint/2010/main" val="253408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/>
          <p:cNvSpPr/>
          <p:nvPr/>
        </p:nvSpPr>
        <p:spPr>
          <a:xfrm>
            <a:off x="5994929" y="4433247"/>
            <a:ext cx="177275" cy="21495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Red-black tree: </a:t>
            </a:r>
            <a:r>
              <a:rPr lang="en-US" sz="3200" b="1" dirty="0"/>
              <a:t>as a Full Binary Tree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37158" y="1371600"/>
            <a:ext cx="5544306" cy="3245169"/>
            <a:chOff x="1161294" y="1600200"/>
            <a:chExt cx="5544306" cy="3245169"/>
          </a:xfrm>
        </p:grpSpPr>
        <p:sp>
          <p:nvSpPr>
            <p:cNvPr id="5" name="Oval 4"/>
            <p:cNvSpPr/>
            <p:nvPr/>
          </p:nvSpPr>
          <p:spPr>
            <a:xfrm>
              <a:off x="4514094" y="22098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6419094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770894" y="3809999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504694" y="3772992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752094" y="3810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2819400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61294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2" name="Oval 121"/>
            <p:cNvSpPr/>
            <p:nvPr/>
          </p:nvSpPr>
          <p:spPr>
            <a:xfrm>
              <a:off x="222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8" name="Oval 137"/>
            <p:cNvSpPr/>
            <p:nvPr/>
          </p:nvSpPr>
          <p:spPr>
            <a:xfrm>
              <a:off x="32948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42092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51236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34" name="Straight Arrow Connector 233"/>
            <p:cNvCxnSpPr/>
            <p:nvPr/>
          </p:nvCxnSpPr>
          <p:spPr>
            <a:xfrm flipH="1">
              <a:off x="2962653" y="230838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 flipH="1">
              <a:off x="1953760" y="317801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>
              <a:stCxn id="8" idx="3"/>
            </p:cNvCxnSpPr>
            <p:nvPr/>
          </p:nvCxnSpPr>
          <p:spPr>
            <a:xfrm flipH="1">
              <a:off x="3438147" y="397829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>
              <a:endCxn id="11" idx="7"/>
            </p:cNvCxnSpPr>
            <p:nvPr/>
          </p:nvCxnSpPr>
          <p:spPr>
            <a:xfrm flipH="1">
              <a:off x="1405842" y="396240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/>
            <p:nvPr/>
          </p:nvCxnSpPr>
          <p:spPr>
            <a:xfrm flipH="1">
              <a:off x="5181600" y="397829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/>
            <p:cNvCxnSpPr/>
            <p:nvPr/>
          </p:nvCxnSpPr>
          <p:spPr>
            <a:xfrm flipH="1">
              <a:off x="5647948" y="320040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/>
            <p:cNvCxnSpPr/>
            <p:nvPr/>
          </p:nvCxnSpPr>
          <p:spPr>
            <a:xfrm>
              <a:off x="3048000" y="317801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/>
            <p:cNvCxnSpPr/>
            <p:nvPr/>
          </p:nvCxnSpPr>
          <p:spPr>
            <a:xfrm>
              <a:off x="2029959" y="396240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/>
            <p:cNvCxnSpPr/>
            <p:nvPr/>
          </p:nvCxnSpPr>
          <p:spPr>
            <a:xfrm>
              <a:off x="3962400" y="3978116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/>
            <p:cNvCxnSpPr/>
            <p:nvPr/>
          </p:nvCxnSpPr>
          <p:spPr>
            <a:xfrm>
              <a:off x="5763759" y="396240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/>
            <p:cNvCxnSpPr/>
            <p:nvPr/>
          </p:nvCxnSpPr>
          <p:spPr>
            <a:xfrm>
              <a:off x="4800600" y="235315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2" name="Group 281"/>
            <p:cNvGrpSpPr/>
            <p:nvPr/>
          </p:nvGrpSpPr>
          <p:grpSpPr>
            <a:xfrm>
              <a:off x="4419600" y="1600200"/>
              <a:ext cx="502924" cy="578167"/>
              <a:chOff x="1203952" y="3914001"/>
              <a:chExt cx="502924" cy="578167"/>
            </a:xfrm>
          </p:grpSpPr>
          <p:cxnSp>
            <p:nvCxnSpPr>
              <p:cNvPr id="283" name="Elbow Connector 28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" name="TextBox 283"/>
              <p:cNvSpPr txBox="1"/>
              <p:nvPr/>
            </p:nvSpPr>
            <p:spPr>
              <a:xfrm>
                <a:off x="1203952" y="3914001"/>
                <a:ext cx="502924" cy="27699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root</a:t>
                </a:r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990600" y="2949416"/>
            <a:ext cx="6324600" cy="2232184"/>
            <a:chOff x="990600" y="2949416"/>
            <a:chExt cx="6324600" cy="2232184"/>
          </a:xfrm>
        </p:grpSpPr>
        <p:grpSp>
          <p:nvGrpSpPr>
            <p:cNvPr id="54" name="Group 53"/>
            <p:cNvGrpSpPr/>
            <p:nvPr/>
          </p:nvGrpSpPr>
          <p:grpSpPr>
            <a:xfrm>
              <a:off x="20574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64" name="Group 6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66" name="Rectangle 6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68" name="Straight Connector 6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Straight Connector 68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65" name="Straight Arrow Connector 64"/>
                <p:cNvCxnSpPr>
                  <a:endCxn id="66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58" name="Group 5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60" name="Rectangle 5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1" name="Group 6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62" name="Straight Connector 6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Straight Connector 6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0" name="Group 69"/>
            <p:cNvGrpSpPr/>
            <p:nvPr/>
          </p:nvGrpSpPr>
          <p:grpSpPr>
            <a:xfrm>
              <a:off x="9906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79" name="Group 78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81" name="Rectangle 80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82" name="Group 81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83" name="Straight Connector 8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" name="Straight Connector 8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0" name="Straight Arrow Connector 79"/>
                <p:cNvCxnSpPr>
                  <a:endCxn id="81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Group 71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73" name="Group 72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75" name="Rectangle 74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76" name="Group 75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77" name="Straight Connector 76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Straight Connector 77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74" name="Straight Arrow Connector 73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Group 84"/>
            <p:cNvGrpSpPr/>
            <p:nvPr/>
          </p:nvGrpSpPr>
          <p:grpSpPr>
            <a:xfrm>
              <a:off x="31420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94" name="Group 9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96" name="Rectangle 9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97" name="Group 9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98" name="Straight Connector 9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Straight Connector 98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95" name="Straight Arrow Connector 94"/>
                <p:cNvCxnSpPr>
                  <a:endCxn id="96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88" name="Group 8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90" name="Rectangle 8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91" name="Group 9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92" name="Straight Connector 9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Straight Connector 9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9" name="Straight Arrow Connector 8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Group 99"/>
            <p:cNvGrpSpPr/>
            <p:nvPr/>
          </p:nvGrpSpPr>
          <p:grpSpPr>
            <a:xfrm>
              <a:off x="40386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101" name="Group 100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09" name="Group 108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11" name="Rectangle 110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2" name="Group 111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13" name="Straight Connector 11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Straight Connector 11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0" name="Straight Arrow Connector 109"/>
                <p:cNvCxnSpPr>
                  <a:endCxn id="111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Group 101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03" name="Group 102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05" name="Rectangle 104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6" name="Group 105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07" name="Straight Connector 106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Straight Connector 107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04" name="Straight Arrow Connector 103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49708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116" name="Group 11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7" name="Rectangle 12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29" name="Straight Connector 12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Straight Connector 12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6" name="Straight Arrow Connector 125"/>
                <p:cNvCxnSpPr>
                  <a:endCxn id="127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" name="Group 11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18" name="Group 11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0" name="Rectangle 11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1" name="Group 12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23" name="Straight Connector 12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9" name="Straight Arrow Connector 11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49" name="Group 148"/>
            <p:cNvGrpSpPr/>
            <p:nvPr/>
          </p:nvGrpSpPr>
          <p:grpSpPr>
            <a:xfrm>
              <a:off x="6629400" y="2949416"/>
              <a:ext cx="685800" cy="675176"/>
              <a:chOff x="245687" y="1539338"/>
              <a:chExt cx="808930" cy="665028"/>
            </a:xfrm>
          </p:grpSpPr>
          <p:grpSp>
            <p:nvGrpSpPr>
              <p:cNvPr id="150" name="Group 14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2" name="Rectangle 15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3" name="Group 15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5" name="Straight Connector 15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/>
                  <p:cNvCxnSpPr/>
                  <p:nvPr/>
                </p:nvCxnSpPr>
                <p:spPr>
                  <a:xfrm>
                    <a:off x="2447521" y="2524882"/>
                    <a:ext cx="201168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1" name="Straight Arrow Connector 150"/>
              <p:cNvCxnSpPr/>
              <p:nvPr/>
            </p:nvCxnSpPr>
            <p:spPr>
              <a:xfrm>
                <a:off x="245687" y="1539338"/>
                <a:ext cx="719049" cy="4418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47" name="Straight Connector 146"/>
          <p:cNvCxnSpPr/>
          <p:nvPr/>
        </p:nvCxnSpPr>
        <p:spPr>
          <a:xfrm>
            <a:off x="5994935" y="4433252"/>
            <a:ext cx="177273" cy="2149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 flipH="1">
            <a:off x="5994932" y="4419604"/>
            <a:ext cx="177274" cy="2149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Down Ribbon 130"/>
          <p:cNvSpPr/>
          <p:nvPr/>
        </p:nvSpPr>
        <p:spPr>
          <a:xfrm>
            <a:off x="2743200" y="5638800"/>
            <a:ext cx="3663588" cy="10668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Ignore the distinction between internal nodes and leaf nodes</a:t>
            </a:r>
          </a:p>
        </p:txBody>
      </p:sp>
    </p:spTree>
    <p:extLst>
      <p:ext uri="{BB962C8B-B14F-4D97-AF65-F5344CB8AC3E}">
        <p14:creationId xmlns:p14="http://schemas.microsoft.com/office/powerpoint/2010/main" val="239809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Red-black tree: </a:t>
            </a:r>
            <a:r>
              <a:rPr lang="en-US" sz="3200" b="1" dirty="0"/>
              <a:t>as a Full Binary Tree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37158" y="1371600"/>
            <a:ext cx="5544306" cy="3245169"/>
            <a:chOff x="1161294" y="1600200"/>
            <a:chExt cx="5544306" cy="3245169"/>
          </a:xfrm>
        </p:grpSpPr>
        <p:sp>
          <p:nvSpPr>
            <p:cNvPr id="5" name="Oval 4"/>
            <p:cNvSpPr/>
            <p:nvPr/>
          </p:nvSpPr>
          <p:spPr>
            <a:xfrm>
              <a:off x="4514094" y="22098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6419094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770894" y="3809999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504694" y="3772992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752094" y="3810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2819400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61294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2" name="Oval 121"/>
            <p:cNvSpPr/>
            <p:nvPr/>
          </p:nvSpPr>
          <p:spPr>
            <a:xfrm>
              <a:off x="222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8" name="Oval 137"/>
            <p:cNvSpPr/>
            <p:nvPr/>
          </p:nvSpPr>
          <p:spPr>
            <a:xfrm>
              <a:off x="32948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42092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51236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34" name="Straight Arrow Connector 233"/>
            <p:cNvCxnSpPr/>
            <p:nvPr/>
          </p:nvCxnSpPr>
          <p:spPr>
            <a:xfrm flipH="1">
              <a:off x="2962653" y="230838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 flipH="1">
              <a:off x="1953760" y="317801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>
              <a:stCxn id="8" idx="3"/>
            </p:cNvCxnSpPr>
            <p:nvPr/>
          </p:nvCxnSpPr>
          <p:spPr>
            <a:xfrm flipH="1">
              <a:off x="3438147" y="397829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>
              <a:endCxn id="11" idx="7"/>
            </p:cNvCxnSpPr>
            <p:nvPr/>
          </p:nvCxnSpPr>
          <p:spPr>
            <a:xfrm flipH="1">
              <a:off x="1405842" y="396240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/>
            <p:nvPr/>
          </p:nvCxnSpPr>
          <p:spPr>
            <a:xfrm flipH="1">
              <a:off x="5181600" y="397829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/>
            <p:cNvCxnSpPr/>
            <p:nvPr/>
          </p:nvCxnSpPr>
          <p:spPr>
            <a:xfrm flipH="1">
              <a:off x="5647948" y="320040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/>
            <p:cNvCxnSpPr/>
            <p:nvPr/>
          </p:nvCxnSpPr>
          <p:spPr>
            <a:xfrm>
              <a:off x="3048000" y="317801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/>
            <p:cNvCxnSpPr/>
            <p:nvPr/>
          </p:nvCxnSpPr>
          <p:spPr>
            <a:xfrm>
              <a:off x="2029959" y="396240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/>
            <p:cNvCxnSpPr/>
            <p:nvPr/>
          </p:nvCxnSpPr>
          <p:spPr>
            <a:xfrm>
              <a:off x="3962400" y="3978116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/>
            <p:cNvCxnSpPr/>
            <p:nvPr/>
          </p:nvCxnSpPr>
          <p:spPr>
            <a:xfrm>
              <a:off x="5763759" y="396240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/>
            <p:cNvCxnSpPr/>
            <p:nvPr/>
          </p:nvCxnSpPr>
          <p:spPr>
            <a:xfrm>
              <a:off x="4800600" y="235315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2" name="Group 281"/>
            <p:cNvGrpSpPr/>
            <p:nvPr/>
          </p:nvGrpSpPr>
          <p:grpSpPr>
            <a:xfrm>
              <a:off x="4419600" y="1600200"/>
              <a:ext cx="502924" cy="578167"/>
              <a:chOff x="1203952" y="3914001"/>
              <a:chExt cx="502924" cy="578167"/>
            </a:xfrm>
          </p:grpSpPr>
          <p:cxnSp>
            <p:nvCxnSpPr>
              <p:cNvPr id="283" name="Elbow Connector 28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" name="TextBox 283"/>
              <p:cNvSpPr txBox="1"/>
              <p:nvPr/>
            </p:nvSpPr>
            <p:spPr>
              <a:xfrm>
                <a:off x="1203952" y="3914001"/>
                <a:ext cx="502924" cy="27699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root</a:t>
                </a:r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1079237" y="2949417"/>
            <a:ext cx="6159763" cy="2017231"/>
            <a:chOff x="1079237" y="2949417"/>
            <a:chExt cx="6159763" cy="2017231"/>
          </a:xfrm>
        </p:grpSpPr>
        <p:grpSp>
          <p:nvGrpSpPr>
            <p:cNvPr id="54" name="Group 53"/>
            <p:cNvGrpSpPr/>
            <p:nvPr/>
          </p:nvGrpSpPr>
          <p:grpSpPr>
            <a:xfrm>
              <a:off x="2146037" y="4616769"/>
              <a:ext cx="444762" cy="349879"/>
              <a:chOff x="1079238" y="4159569"/>
              <a:chExt cx="444762" cy="349879"/>
            </a:xfrm>
          </p:grpSpPr>
          <p:cxnSp>
            <p:nvCxnSpPr>
              <p:cNvPr id="65" name="Straight Arrow Connector 64"/>
              <p:cNvCxnSpPr/>
              <p:nvPr/>
            </p:nvCxnSpPr>
            <p:spPr>
              <a:xfrm flipH="1">
                <a:off x="1079238" y="4159569"/>
                <a:ext cx="136672" cy="34987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/>
              <p:cNvCxnSpPr/>
              <p:nvPr/>
            </p:nvCxnSpPr>
            <p:spPr>
              <a:xfrm>
                <a:off x="1349681" y="4159570"/>
                <a:ext cx="174319" cy="33826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>
              <a:off x="1079237" y="4616769"/>
              <a:ext cx="444762" cy="349879"/>
              <a:chOff x="1079238" y="4159569"/>
              <a:chExt cx="444762" cy="349879"/>
            </a:xfrm>
          </p:grpSpPr>
          <p:cxnSp>
            <p:nvCxnSpPr>
              <p:cNvPr id="80" name="Straight Arrow Connector 79"/>
              <p:cNvCxnSpPr/>
              <p:nvPr/>
            </p:nvCxnSpPr>
            <p:spPr>
              <a:xfrm flipH="1">
                <a:off x="1079238" y="4159569"/>
                <a:ext cx="136672" cy="34987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/>
              <p:nvPr/>
            </p:nvCxnSpPr>
            <p:spPr>
              <a:xfrm>
                <a:off x="1349681" y="4159570"/>
                <a:ext cx="174319" cy="33826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Group 84"/>
            <p:cNvGrpSpPr/>
            <p:nvPr/>
          </p:nvGrpSpPr>
          <p:grpSpPr>
            <a:xfrm>
              <a:off x="3230675" y="4616769"/>
              <a:ext cx="444762" cy="349879"/>
              <a:chOff x="1079238" y="4159569"/>
              <a:chExt cx="444762" cy="349879"/>
            </a:xfrm>
          </p:grpSpPr>
          <p:cxnSp>
            <p:nvCxnSpPr>
              <p:cNvPr id="95" name="Straight Arrow Connector 94"/>
              <p:cNvCxnSpPr/>
              <p:nvPr/>
            </p:nvCxnSpPr>
            <p:spPr>
              <a:xfrm flipH="1">
                <a:off x="1079238" y="4159569"/>
                <a:ext cx="136672" cy="34987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/>
              <p:nvPr/>
            </p:nvCxnSpPr>
            <p:spPr>
              <a:xfrm>
                <a:off x="1349681" y="4159570"/>
                <a:ext cx="174319" cy="33826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/>
            <p:cNvGrpSpPr/>
            <p:nvPr/>
          </p:nvGrpSpPr>
          <p:grpSpPr>
            <a:xfrm>
              <a:off x="4127237" y="4616769"/>
              <a:ext cx="444762" cy="349879"/>
              <a:chOff x="1079238" y="4159569"/>
              <a:chExt cx="444762" cy="349879"/>
            </a:xfrm>
          </p:grpSpPr>
          <p:cxnSp>
            <p:nvCxnSpPr>
              <p:cNvPr id="110" name="Straight Arrow Connector 109"/>
              <p:cNvCxnSpPr/>
              <p:nvPr/>
            </p:nvCxnSpPr>
            <p:spPr>
              <a:xfrm flipH="1">
                <a:off x="1079238" y="4159569"/>
                <a:ext cx="136672" cy="34987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/>
              <p:cNvCxnSpPr/>
              <p:nvPr/>
            </p:nvCxnSpPr>
            <p:spPr>
              <a:xfrm>
                <a:off x="1349681" y="4159570"/>
                <a:ext cx="174319" cy="33826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Group 114"/>
            <p:cNvGrpSpPr/>
            <p:nvPr/>
          </p:nvGrpSpPr>
          <p:grpSpPr>
            <a:xfrm>
              <a:off x="5059475" y="4616769"/>
              <a:ext cx="444762" cy="349879"/>
              <a:chOff x="1079238" y="4159569"/>
              <a:chExt cx="444762" cy="349879"/>
            </a:xfrm>
          </p:grpSpPr>
          <p:cxnSp>
            <p:nvCxnSpPr>
              <p:cNvPr id="126" name="Straight Arrow Connector 125"/>
              <p:cNvCxnSpPr/>
              <p:nvPr/>
            </p:nvCxnSpPr>
            <p:spPr>
              <a:xfrm flipH="1">
                <a:off x="1079238" y="4159569"/>
                <a:ext cx="136672" cy="34987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/>
              <p:cNvCxnSpPr/>
              <p:nvPr/>
            </p:nvCxnSpPr>
            <p:spPr>
              <a:xfrm>
                <a:off x="1349681" y="4159570"/>
                <a:ext cx="174319" cy="33826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1" name="Straight Arrow Connector 150"/>
            <p:cNvCxnSpPr/>
            <p:nvPr/>
          </p:nvCxnSpPr>
          <p:spPr>
            <a:xfrm>
              <a:off x="6629400" y="2949417"/>
              <a:ext cx="609600" cy="4486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Oval 146"/>
          <p:cNvSpPr/>
          <p:nvPr/>
        </p:nvSpPr>
        <p:spPr>
          <a:xfrm>
            <a:off x="914400" y="49844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1371600" y="49844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1999494" y="49844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2438400" y="49844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3124200" y="49844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3523494" y="49844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3962400" y="49844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4437894" y="4953000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4895094" y="4953000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5352294" y="4953000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6019800" y="44510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7086600" y="33842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923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 Properties of </a:t>
            </a:r>
            <a:br>
              <a:rPr lang="en-US" sz="3200" b="1" dirty="0"/>
            </a:br>
            <a:r>
              <a:rPr lang="en-US" sz="3200" b="1" dirty="0"/>
              <a:t>a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Red-</a:t>
            </a:r>
            <a:r>
              <a:rPr lang="en-US" sz="2800" b="1" dirty="0"/>
              <a:t>Black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Tree viewed as a full binary tree</a:t>
            </a:r>
            <a:r>
              <a:rPr lang="en-US" sz="2800" dirty="0"/>
              <a:t> 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990600" y="3886200"/>
            <a:ext cx="7010400" cy="175260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Relationship </a:t>
            </a:r>
            <a:r>
              <a:rPr lang="en-US" b="1" dirty="0">
                <a:solidFill>
                  <a:schemeClr val="tx1"/>
                </a:solidFill>
              </a:rPr>
              <a:t>between</a:t>
            </a:r>
            <a:r>
              <a:rPr lang="en-US" b="1" dirty="0">
                <a:solidFill>
                  <a:srgbClr val="7030A0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Number of </a:t>
            </a:r>
            <a:r>
              <a:rPr lang="en-US" sz="2400" b="1" dirty="0">
                <a:solidFill>
                  <a:srgbClr val="7030A0"/>
                </a:solidFill>
              </a:rPr>
              <a:t>leaf nodes </a:t>
            </a:r>
            <a:r>
              <a:rPr lang="en-US" sz="2400" b="1" dirty="0">
                <a:solidFill>
                  <a:schemeClr val="tx1"/>
                </a:solidFill>
              </a:rPr>
              <a:t>and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Number of </a:t>
            </a:r>
            <a:r>
              <a:rPr lang="en-US" sz="2400" b="1" dirty="0">
                <a:solidFill>
                  <a:srgbClr val="7030A0"/>
                </a:solidFill>
              </a:rPr>
              <a:t>internal nodes </a:t>
            </a:r>
          </a:p>
        </p:txBody>
      </p:sp>
    </p:spTree>
    <p:extLst>
      <p:ext uri="{BB962C8B-B14F-4D97-AF65-F5344CB8AC3E}">
        <p14:creationId xmlns:p14="http://schemas.microsoft.com/office/powerpoint/2010/main" val="348526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A full binary tree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286000" y="5715000"/>
            <a:ext cx="4343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648200" y="5486400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4285494" y="4832031"/>
            <a:ext cx="515106" cy="654369"/>
            <a:chOff x="4285494" y="4832031"/>
            <a:chExt cx="515106" cy="654369"/>
          </a:xfrm>
        </p:grpSpPr>
        <p:cxnSp>
          <p:nvCxnSpPr>
            <p:cNvPr id="26" name="Straight Arrow Connector 25"/>
            <p:cNvCxnSpPr/>
            <p:nvPr/>
          </p:nvCxnSpPr>
          <p:spPr>
            <a:xfrm>
              <a:off x="4468360" y="50292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285494" y="48320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</p:grpSp>
      <p:sp>
        <p:nvSpPr>
          <p:cNvPr id="28" name="Oval 27"/>
          <p:cNvSpPr/>
          <p:nvPr/>
        </p:nvSpPr>
        <p:spPr>
          <a:xfrm>
            <a:off x="3962400" y="5486400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4096506" y="5029200"/>
            <a:ext cx="246894" cy="44130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3486413" y="1676400"/>
            <a:ext cx="1999987" cy="2209800"/>
            <a:chOff x="3486413" y="1676400"/>
            <a:chExt cx="1999987" cy="2209800"/>
          </a:xfrm>
        </p:grpSpPr>
        <p:sp>
          <p:nvSpPr>
            <p:cNvPr id="5" name="Oval 4"/>
            <p:cNvSpPr/>
            <p:nvPr/>
          </p:nvSpPr>
          <p:spPr>
            <a:xfrm>
              <a:off x="4419600" y="16764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6" name="Straight Arrow Connector 5"/>
            <p:cNvCxnSpPr>
              <a:endCxn id="12" idx="0"/>
            </p:cNvCxnSpPr>
            <p:nvPr/>
          </p:nvCxnSpPr>
          <p:spPr>
            <a:xfrm>
              <a:off x="4687813" y="18288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0" idx="7"/>
            </p:cNvCxnSpPr>
            <p:nvPr/>
          </p:nvCxnSpPr>
          <p:spPr>
            <a:xfrm flipH="1">
              <a:off x="4054548" y="1828800"/>
              <a:ext cx="38918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810000" y="2241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876800" y="2286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3486413" y="2427762"/>
              <a:ext cx="38918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154160" y="24384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4706106" y="2454294"/>
              <a:ext cx="255082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4011160" y="2438400"/>
              <a:ext cx="237982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68360" y="3124200"/>
              <a:ext cx="0" cy="762000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029200" y="5410200"/>
            <a:ext cx="2642195" cy="369332"/>
            <a:chOff x="6781800" y="5334000"/>
            <a:chExt cx="2642195" cy="369332"/>
          </a:xfrm>
        </p:grpSpPr>
        <p:sp>
          <p:nvSpPr>
            <p:cNvPr id="8" name="Left Arrow 7"/>
            <p:cNvSpPr/>
            <p:nvPr/>
          </p:nvSpPr>
          <p:spPr>
            <a:xfrm>
              <a:off x="6781800" y="5410200"/>
              <a:ext cx="826008" cy="228600"/>
            </a:xfrm>
            <a:prstGeom prst="lef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543800" y="5334000"/>
              <a:ext cx="18801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Any deepest node</a:t>
              </a:r>
            </a:p>
          </p:txBody>
        </p:sp>
      </p:grpSp>
      <p:sp>
        <p:nvSpPr>
          <p:cNvPr id="13" name="Line Callout 1 12"/>
          <p:cNvSpPr/>
          <p:nvPr/>
        </p:nvSpPr>
        <p:spPr>
          <a:xfrm>
            <a:off x="152400" y="4495800"/>
            <a:ext cx="2133600" cy="688848"/>
          </a:xfrm>
          <a:prstGeom prst="borderCallout1">
            <a:avLst>
              <a:gd name="adj1" fmla="val 53333"/>
              <a:gd name="adj2" fmla="val 100204"/>
              <a:gd name="adj3" fmla="val 60706"/>
              <a:gd name="adj4" fmla="val 194245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This node must have a left child since the tree is a full binary tree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304800" y="5788152"/>
            <a:ext cx="2133600" cy="688848"/>
          </a:xfrm>
          <a:prstGeom prst="borderCallout1">
            <a:avLst>
              <a:gd name="adj1" fmla="val 53333"/>
              <a:gd name="adj2" fmla="val 100204"/>
              <a:gd name="adj3" fmla="val -18616"/>
              <a:gd name="adj4" fmla="val 172817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This node must be a leaf node. Give reason.</a:t>
            </a:r>
          </a:p>
        </p:txBody>
      </p:sp>
      <p:sp>
        <p:nvSpPr>
          <p:cNvPr id="32" name="Line Callout 1 31"/>
          <p:cNvSpPr/>
          <p:nvPr/>
        </p:nvSpPr>
        <p:spPr>
          <a:xfrm>
            <a:off x="4267200" y="5940552"/>
            <a:ext cx="2133600" cy="688848"/>
          </a:xfrm>
          <a:prstGeom prst="borderCallout1">
            <a:avLst>
              <a:gd name="adj1" fmla="val 1531"/>
              <a:gd name="adj2" fmla="val 22852"/>
              <a:gd name="adj3" fmla="val -38042"/>
              <a:gd name="adj4" fmla="val 22817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Otherwise this node won’t be the deepest node.</a:t>
            </a:r>
          </a:p>
        </p:txBody>
      </p:sp>
    </p:spTree>
    <p:extLst>
      <p:ext uri="{BB962C8B-B14F-4D97-AF65-F5344CB8AC3E}">
        <p14:creationId xmlns:p14="http://schemas.microsoft.com/office/powerpoint/2010/main" val="345331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  <p:bldP spid="13" grpId="0" animBg="1"/>
      <p:bldP spid="13" grpId="1" animBg="1"/>
      <p:bldP spid="30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A full binary tree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9530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What happened to the number of internal nodes ?</a:t>
            </a:r>
          </a:p>
          <a:p>
            <a:pPr marL="0" indent="0">
              <a:buNone/>
            </a:pPr>
            <a:r>
              <a:rPr lang="en-US" sz="2000" dirty="0"/>
              <a:t>What happened to the number of leaf nodes ?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286000" y="5715000"/>
            <a:ext cx="4343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285494" y="4832031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62400" y="5029200"/>
            <a:ext cx="972306" cy="654369"/>
            <a:chOff x="3962400" y="5029200"/>
            <a:chExt cx="972306" cy="654369"/>
          </a:xfrm>
        </p:grpSpPr>
        <p:sp>
          <p:nvSpPr>
            <p:cNvPr id="25" name="Oval 24"/>
            <p:cNvSpPr/>
            <p:nvPr/>
          </p:nvSpPr>
          <p:spPr>
            <a:xfrm>
              <a:off x="4648200" y="54864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4468360" y="50292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/>
            <p:cNvSpPr/>
            <p:nvPr/>
          </p:nvSpPr>
          <p:spPr>
            <a:xfrm>
              <a:off x="3962400" y="54864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4096506" y="5029200"/>
              <a:ext cx="246894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3486413" y="1676400"/>
            <a:ext cx="1999987" cy="2209800"/>
            <a:chOff x="3486413" y="1676400"/>
            <a:chExt cx="1999987" cy="2209800"/>
          </a:xfrm>
        </p:grpSpPr>
        <p:sp>
          <p:nvSpPr>
            <p:cNvPr id="5" name="Oval 4"/>
            <p:cNvSpPr/>
            <p:nvPr/>
          </p:nvSpPr>
          <p:spPr>
            <a:xfrm>
              <a:off x="4419600" y="16764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6" name="Straight Arrow Connector 5"/>
            <p:cNvCxnSpPr>
              <a:endCxn id="12" idx="0"/>
            </p:cNvCxnSpPr>
            <p:nvPr/>
          </p:nvCxnSpPr>
          <p:spPr>
            <a:xfrm>
              <a:off x="4687813" y="18288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0" idx="7"/>
            </p:cNvCxnSpPr>
            <p:nvPr/>
          </p:nvCxnSpPr>
          <p:spPr>
            <a:xfrm flipH="1">
              <a:off x="4054548" y="1828800"/>
              <a:ext cx="38918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810000" y="2241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876800" y="2286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3486413" y="2427762"/>
              <a:ext cx="38918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154160" y="24384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4706106" y="2454294"/>
              <a:ext cx="255082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4011160" y="2438400"/>
              <a:ext cx="237982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68360" y="3124200"/>
              <a:ext cx="0" cy="762000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loud Callout 8"/>
          <p:cNvSpPr/>
          <p:nvPr/>
        </p:nvSpPr>
        <p:spPr>
          <a:xfrm>
            <a:off x="6286500" y="2645367"/>
            <a:ext cx="2209800" cy="1088433"/>
          </a:xfrm>
          <a:prstGeom prst="cloudCallout">
            <a:avLst>
              <a:gd name="adj1" fmla="val 51568"/>
              <a:gd name="adj2" fmla="val 7139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it still a full binary tree ?</a:t>
            </a:r>
          </a:p>
        </p:txBody>
      </p:sp>
      <p:sp>
        <p:nvSpPr>
          <p:cNvPr id="11" name="Down Ribbon 10"/>
          <p:cNvSpPr/>
          <p:nvPr/>
        </p:nvSpPr>
        <p:spPr>
          <a:xfrm>
            <a:off x="6629400" y="2819400"/>
            <a:ext cx="1524000" cy="762000"/>
          </a:xfrm>
          <a:prstGeom prst="ribbon">
            <a:avLst>
              <a:gd name="adj1" fmla="val 16667"/>
              <a:gd name="adj2" fmla="val 72006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5791200"/>
            <a:ext cx="2286000" cy="30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Reduced by 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6172200"/>
            <a:ext cx="2286000" cy="304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Reduced by one</a:t>
            </a:r>
          </a:p>
        </p:txBody>
      </p:sp>
    </p:spTree>
    <p:extLst>
      <p:ext uri="{BB962C8B-B14F-4D97-AF65-F5344CB8AC3E}">
        <p14:creationId xmlns:p14="http://schemas.microsoft.com/office/powerpoint/2010/main" val="92982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9" grpId="1" animBg="1"/>
      <p:bldP spid="11" grpId="0" animBg="1"/>
      <p:bldP spid="11" grpId="1" animBg="1"/>
      <p:bldP spid="13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A full binary tree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4582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Analyze the process: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	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Repeat</a:t>
                </a:r>
                <a:r>
                  <a:rPr lang="en-US" sz="2000" dirty="0">
                    <a:solidFill>
                      <a:srgbClr val="0070C0"/>
                    </a:solidFill>
                  </a:rPr>
                  <a:t> 	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    </a:t>
                </a:r>
                <a:r>
                  <a:rPr lang="en-US" sz="2000" dirty="0"/>
                  <a:t>{            Delete the </a:t>
                </a:r>
                <a:r>
                  <a:rPr lang="en-US" sz="2000" b="1" u="sng" dirty="0">
                    <a:solidFill>
                      <a:srgbClr val="0070C0"/>
                    </a:solidFill>
                  </a:rPr>
                  <a:t>deepest node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and its </a:t>
                </a:r>
                <a:r>
                  <a:rPr lang="en-US" sz="2000" b="1" u="sng" dirty="0">
                    <a:solidFill>
                      <a:srgbClr val="0070C0"/>
                    </a:solidFill>
                  </a:rPr>
                  <a:t>sibling</a:t>
                </a:r>
                <a:r>
                  <a:rPr lang="en-US" sz="2000" dirty="0">
                    <a:solidFill>
                      <a:srgbClr val="0070C0"/>
                    </a:solidFill>
                  </a:rPr>
                  <a:t>   </a:t>
                </a:r>
                <a:r>
                  <a:rPr lang="en-US" sz="2000" dirty="0"/>
                  <a:t>}</a:t>
                </a:r>
                <a:r>
                  <a:rPr lang="en-US" sz="2000" dirty="0">
                    <a:solidFill>
                      <a:srgbClr val="0070C0"/>
                    </a:solidFill>
                  </a:rPr>
                  <a:t>	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	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until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only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root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remains</a:t>
                </a:r>
              </a:p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𝑻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800" dirty="0"/>
                  <a:t> be the full binary tree before the process starts.</a:t>
                </a:r>
              </a:p>
              <a:p>
                <a:pPr marL="0" indent="0">
                  <a:buNone/>
                </a:pPr>
                <a:r>
                  <a:rPr lang="en-US" sz="1800" dirty="0"/>
                  <a:t>Let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𝑻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6C3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𝑻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6C31"/>
                    </a:solidFill>
                  </a:rPr>
                  <a:t>,… </a:t>
                </a:r>
                <a:r>
                  <a:rPr lang="en-US" sz="1800" dirty="0"/>
                  <a:t>be the full binary trees after </a:t>
                </a:r>
                <a:r>
                  <a:rPr lang="en-US" sz="1800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baseline="30000" dirty="0">
                    <a:solidFill>
                      <a:srgbClr val="0070C0"/>
                    </a:solidFill>
                  </a:rPr>
                  <a:t>st</a:t>
                </a:r>
                <a:r>
                  <a:rPr lang="en-US" sz="1800" dirty="0"/>
                  <a:t>, </a:t>
                </a:r>
                <a:r>
                  <a:rPr lang="en-US" sz="1800" dirty="0">
                    <a:solidFill>
                      <a:srgbClr val="0070C0"/>
                    </a:solidFill>
                  </a:rPr>
                  <a:t>2</a:t>
                </a:r>
                <a:r>
                  <a:rPr lang="en-US" sz="1800" baseline="30000" dirty="0">
                    <a:solidFill>
                      <a:srgbClr val="0070C0"/>
                    </a:solidFill>
                  </a:rPr>
                  <a:t>nd</a:t>
                </a:r>
                <a:r>
                  <a:rPr lang="en-US" sz="1800" dirty="0"/>
                  <a:t>, </a:t>
                </a:r>
                <a:r>
                  <a:rPr lang="en-US" sz="1800" dirty="0">
                    <a:solidFill>
                      <a:srgbClr val="0070C0"/>
                    </a:solidFill>
                  </a:rPr>
                  <a:t>…</a:t>
                </a:r>
                <a:r>
                  <a:rPr lang="en-US" sz="1800" dirty="0"/>
                  <a:t> iterations of the process.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1800" b="1" dirty="0"/>
                  <a:t> </a:t>
                </a:r>
                <a:r>
                  <a:rPr lang="en-US" sz="1800" dirty="0"/>
                  <a:t>What might be the relation between leaf nodes and internal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𝑻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800" b="1" i="1" dirty="0"/>
                  <a:t> </a:t>
                </a:r>
                <a:r>
                  <a:rPr lang="en-US" sz="1800" dirty="0"/>
                  <a:t>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Answer: </a:t>
                </a:r>
                <a:r>
                  <a:rPr lang="en-US" sz="1800" dirty="0">
                    <a:solidFill>
                      <a:srgbClr val="002060"/>
                    </a:solidFill>
                  </a:rPr>
                  <a:t>No. of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leaf nodes </a:t>
                </a:r>
                <a:r>
                  <a:rPr lang="en-US" sz="1800" dirty="0">
                    <a:solidFill>
                      <a:srgbClr val="002060"/>
                    </a:solidFill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𝑻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800" b="1" i="1" dirty="0">
                    <a:solidFill>
                      <a:srgbClr val="C00000"/>
                    </a:solidFill>
                  </a:rPr>
                  <a:t> </a:t>
                </a:r>
                <a:r>
                  <a:rPr lang="en-US" sz="1800" dirty="0"/>
                  <a:t>= </a:t>
                </a:r>
                <a:r>
                  <a:rPr lang="en-US" sz="1800" dirty="0">
                    <a:solidFill>
                      <a:srgbClr val="002060"/>
                    </a:solidFill>
                  </a:rPr>
                  <a:t>No. of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internal nodes</a:t>
                </a:r>
                <a:r>
                  <a:rPr lang="en-US" sz="1800" dirty="0">
                    <a:solidFill>
                      <a:srgbClr val="002060"/>
                    </a:solidFill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𝑻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800" b="1" i="1" dirty="0">
                    <a:solidFill>
                      <a:srgbClr val="C00000"/>
                    </a:solidFill>
                  </a:rPr>
                  <a:t>  </a:t>
                </a:r>
                <a:r>
                  <a:rPr lang="en-US" sz="1800" dirty="0">
                    <a:solidFill>
                      <a:srgbClr val="002060"/>
                    </a:solidFill>
                  </a:rPr>
                  <a:t>+ 1. 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458200" cy="4876800"/>
              </a:xfrm>
              <a:blipFill rotWithShape="1">
                <a:blip r:embed="rId2"/>
                <a:stretch>
                  <a:fillRect l="-793" t="-625" b="-6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8600" y="4419600"/>
                <a:ext cx="593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419600"/>
                <a:ext cx="593368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10526" r="-20619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762000" y="4114800"/>
            <a:ext cx="2590800" cy="1020264"/>
          </a:xfrm>
          <a:prstGeom prst="rightArrow">
            <a:avLst>
              <a:gd name="adj1" fmla="val 50000"/>
              <a:gd name="adj2" fmla="val 32512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681661" y="4309646"/>
            <a:ext cx="2213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 </a:t>
            </a:r>
            <a:r>
              <a:rPr lang="en-US" sz="1600" b="1" dirty="0"/>
              <a:t>leaf nodes </a:t>
            </a:r>
            <a:r>
              <a:rPr lang="en-US" sz="1600" dirty="0"/>
              <a:t>reduce by </a:t>
            </a:r>
            <a:r>
              <a:rPr lang="en-US" sz="1600" b="1" dirty="0">
                <a:solidFill>
                  <a:srgbClr val="C00000"/>
                </a:solidFill>
              </a:rPr>
              <a:t>1</a:t>
            </a:r>
            <a:endParaRPr lang="en-IN" sz="1600" b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4538246"/>
            <a:ext cx="2579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 </a:t>
            </a:r>
            <a:r>
              <a:rPr lang="en-US" sz="1600" b="1" dirty="0"/>
              <a:t>internal nodes </a:t>
            </a:r>
            <a:r>
              <a:rPr lang="en-US" sz="1600" dirty="0"/>
              <a:t>reduce by </a:t>
            </a:r>
            <a:r>
              <a:rPr lang="en-US" sz="1600" b="1" dirty="0">
                <a:solidFill>
                  <a:srgbClr val="C00000"/>
                </a:solidFill>
              </a:rPr>
              <a:t>1</a:t>
            </a:r>
            <a:endParaRPr lang="en-IN" sz="16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52800" y="4415135"/>
                <a:ext cx="593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415135"/>
                <a:ext cx="593368" cy="461665"/>
              </a:xfrm>
              <a:prstGeom prst="rect">
                <a:avLst/>
              </a:prstGeom>
              <a:blipFill rotWithShape="1">
                <a:blip r:embed="rId4"/>
                <a:stretch>
                  <a:fillRect t="-10526" r="-20619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9"/>
          <p:cNvSpPr/>
          <p:nvPr/>
        </p:nvSpPr>
        <p:spPr>
          <a:xfrm>
            <a:off x="3890339" y="4114800"/>
            <a:ext cx="2590800" cy="1020264"/>
          </a:xfrm>
          <a:prstGeom prst="rightArrow">
            <a:avLst>
              <a:gd name="adj1" fmla="val 50000"/>
              <a:gd name="adj2" fmla="val 32512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810000" y="4309646"/>
            <a:ext cx="2213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 </a:t>
            </a:r>
            <a:r>
              <a:rPr lang="en-US" sz="1600" b="1" dirty="0"/>
              <a:t>leaf nodes </a:t>
            </a:r>
            <a:r>
              <a:rPr lang="en-US" sz="1600" dirty="0"/>
              <a:t>reduce by </a:t>
            </a:r>
            <a:r>
              <a:rPr lang="en-US" sz="1600" b="1" dirty="0">
                <a:solidFill>
                  <a:srgbClr val="C00000"/>
                </a:solidFill>
              </a:rPr>
              <a:t>1</a:t>
            </a:r>
            <a:endParaRPr lang="en-IN" sz="16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4139" y="4538246"/>
            <a:ext cx="2579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 </a:t>
            </a:r>
            <a:r>
              <a:rPr lang="en-US" sz="1600" b="1" dirty="0"/>
              <a:t>internal nodes </a:t>
            </a:r>
            <a:r>
              <a:rPr lang="en-US" sz="1600" dirty="0"/>
              <a:t>reduce by </a:t>
            </a:r>
            <a:r>
              <a:rPr lang="en-US" sz="1600" b="1" dirty="0">
                <a:solidFill>
                  <a:srgbClr val="C00000"/>
                </a:solidFill>
              </a:rPr>
              <a:t>1</a:t>
            </a:r>
            <a:endParaRPr lang="en-IN" sz="16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477000" y="4415135"/>
                <a:ext cx="593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4415135"/>
                <a:ext cx="593368" cy="461665"/>
              </a:xfrm>
              <a:prstGeom prst="rect">
                <a:avLst/>
              </a:prstGeom>
              <a:blipFill rotWithShape="1">
                <a:blip r:embed="rId5"/>
                <a:stretch>
                  <a:fillRect t="-10526" r="-20619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riped Right Arrow 13"/>
          <p:cNvSpPr/>
          <p:nvPr/>
        </p:nvSpPr>
        <p:spPr>
          <a:xfrm>
            <a:off x="7543800" y="4192858"/>
            <a:ext cx="914400" cy="916705"/>
          </a:xfrm>
          <a:prstGeom prst="striped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8534400" y="4570142"/>
            <a:ext cx="152400" cy="154258"/>
          </a:xfrm>
          <a:prstGeom prst="ellipse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/>
          <p:cNvGrpSpPr/>
          <p:nvPr/>
        </p:nvGrpSpPr>
        <p:grpSpPr>
          <a:xfrm>
            <a:off x="7416861" y="2895600"/>
            <a:ext cx="1727139" cy="1600200"/>
            <a:chOff x="7416861" y="2895600"/>
            <a:chExt cx="1727139" cy="1600200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8610600" y="3480375"/>
              <a:ext cx="0" cy="10154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416861" y="2895600"/>
              <a:ext cx="1727139" cy="584775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Finally only </a:t>
              </a:r>
            </a:p>
            <a:p>
              <a:r>
                <a:rPr lang="en-US" sz="1600" dirty="0"/>
                <a:t>root node remains</a:t>
              </a:r>
              <a:endParaRPr lang="en-IN" sz="16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162800" y="4645413"/>
            <a:ext cx="228600" cy="78987"/>
            <a:chOff x="7162800" y="4645413"/>
            <a:chExt cx="228600" cy="78987"/>
          </a:xfrm>
        </p:grpSpPr>
        <p:sp>
          <p:nvSpPr>
            <p:cNvPr id="20" name="Oval 19"/>
            <p:cNvSpPr/>
            <p:nvPr/>
          </p:nvSpPr>
          <p:spPr>
            <a:xfrm>
              <a:off x="7162800" y="4645413"/>
              <a:ext cx="76200" cy="7712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315200" y="4647271"/>
              <a:ext cx="76200" cy="7712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11540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animBg="1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A full binary tree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 </a:t>
                </a: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the number of internal nodes in a full binary tree </a:t>
                </a:r>
                <a:r>
                  <a:rPr lang="en-US" sz="2000" b="1" i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is the size (number of nodes) of the tree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    </a:t>
                </a:r>
                <a:r>
                  <a:rPr lang="en-US" sz="2000" dirty="0"/>
                  <a:t>??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 </a:t>
                </a:r>
                <a:r>
                  <a:rPr lang="en-US" sz="2000" dirty="0"/>
                  <a:t>What is the size of a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Red</a:t>
                </a:r>
                <a:r>
                  <a:rPr lang="en-US" sz="2000" b="1" dirty="0"/>
                  <a:t> Black</a:t>
                </a:r>
                <a:r>
                  <a:rPr lang="en-US" sz="2000" dirty="0"/>
                  <a:t> tree storing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i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keys 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    </a:t>
                </a:r>
                <a:r>
                  <a:rPr lang="en-US" sz="2000" dirty="0"/>
                  <a:t>??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1600200" y="3048000"/>
                <a:ext cx="2286000" cy="3048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3048000"/>
                <a:ext cx="2286000" cy="304800"/>
              </a:xfrm>
              <a:prstGeom prst="roundRect">
                <a:avLst/>
              </a:prstGeom>
              <a:blipFill rotWithShape="1">
                <a:blip r:embed="rId3"/>
                <a:stretch>
                  <a:fillRect t="-14815" b="-351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1676400" y="4495800"/>
                <a:ext cx="2286000" cy="3048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4495800"/>
                <a:ext cx="2286000" cy="304800"/>
              </a:xfrm>
              <a:prstGeom prst="roundRect">
                <a:avLst/>
              </a:prstGeom>
              <a:blipFill rotWithShape="1">
                <a:blip r:embed="rId4"/>
                <a:stretch>
                  <a:fillRect t="-14815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31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 A</a:t>
                </a:r>
                <a:r>
                  <a:rPr lang="en-US" sz="2800" b="1" dirty="0"/>
                  <a:t> 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complete </a:t>
                </a:r>
                <a:r>
                  <a:rPr lang="en-US" sz="2800" b="1" dirty="0"/>
                  <a:t>binary tree of height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800" b="1" dirty="0"/>
                  <a:t> and its 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Properties</a:t>
                </a:r>
                <a:br>
                  <a:rPr lang="en-US" sz="3200" b="1" dirty="0"/>
                </a:br>
                <a:endParaRPr lang="en-US" sz="3200" b="1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2"/>
                <a:stretch>
                  <a:fillRect t="-5785" b="-144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1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A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complete </a:t>
                </a:r>
                <a:r>
                  <a:rPr lang="en-US" sz="3200" b="1" dirty="0"/>
                  <a:t>binary tree of height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endParaRPr lang="en-US" sz="3200" b="1" i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6347" y="1594362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A full binary tree of height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000" dirty="0"/>
                  <a:t> is said to be </a:t>
                </a:r>
              </a:p>
              <a:p>
                <a:pPr marL="0" indent="0">
                  <a:buNone/>
                </a:pPr>
                <a:r>
                  <a:rPr lang="en-US" sz="2000" dirty="0"/>
                  <a:t>a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complete</a:t>
                </a:r>
                <a:r>
                  <a:rPr lang="en-US" sz="2000" dirty="0"/>
                  <a:t> binary tree of height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:r>
                  <a:rPr lang="en-US" sz="2000" u="sng" dirty="0"/>
                  <a:t>every leaf node</a:t>
                </a:r>
                <a:r>
                  <a:rPr lang="en-US" sz="2000" dirty="0"/>
                  <a:t> is at </a:t>
                </a:r>
                <a:r>
                  <a:rPr lang="en-US" sz="2000" u="sng" dirty="0"/>
                  <a:t>depth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How will any complete binary tree of height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000" dirty="0"/>
                  <a:t> look like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6347" y="1594362"/>
                <a:ext cx="8229600" cy="4525963"/>
              </a:xfrm>
              <a:blipFill rotWithShape="1">
                <a:blip r:embed="rId3"/>
                <a:stretch>
                  <a:fillRect l="-815" t="-674" b="-8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Down Ribbon 14"/>
              <p:cNvSpPr/>
              <p:nvPr/>
            </p:nvSpPr>
            <p:spPr>
              <a:xfrm>
                <a:off x="2133600" y="3657600"/>
                <a:ext cx="4419600" cy="1298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There is </a:t>
                </a:r>
                <a:r>
                  <a:rPr lang="en-US" dirty="0">
                    <a:solidFill>
                      <a:srgbClr val="C00000"/>
                    </a:solidFill>
                  </a:rPr>
                  <a:t>no reason to believe </a:t>
                </a:r>
                <a:r>
                  <a:rPr lang="en-US" b="1" dirty="0">
                    <a:solidFill>
                      <a:schemeClr val="tx1"/>
                    </a:solidFill>
                  </a:rPr>
                  <a:t>at this stage</a:t>
                </a:r>
                <a:r>
                  <a:rPr lang="en-US" dirty="0">
                    <a:solidFill>
                      <a:schemeClr val="tx1"/>
                    </a:solidFill>
                  </a:rPr>
                  <a:t> that there is a </a:t>
                </a:r>
                <a:r>
                  <a:rPr lang="en-US" u="sng" dirty="0">
                    <a:solidFill>
                      <a:schemeClr val="tx1"/>
                    </a:solidFill>
                  </a:rPr>
                  <a:t>unique</a:t>
                </a:r>
                <a:r>
                  <a:rPr lang="en-US" dirty="0">
                    <a:solidFill>
                      <a:schemeClr val="tx1"/>
                    </a:solidFill>
                  </a:rPr>
                  <a:t> complete binary tree of height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Down Ribbon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657600"/>
                <a:ext cx="4419600" cy="1298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11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A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complete </a:t>
                </a:r>
                <a:r>
                  <a:rPr lang="en-US" sz="3200" b="1" dirty="0"/>
                  <a:t>binary tree of height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endParaRPr lang="en-US" sz="3200" b="1" i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7" y="1594362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Complete</a:t>
            </a:r>
            <a:r>
              <a:rPr lang="en-US" sz="2000" b="1" dirty="0"/>
              <a:t> </a:t>
            </a:r>
            <a:r>
              <a:rPr lang="en-US" sz="2000" dirty="0"/>
              <a:t>binary tree of height </a:t>
            </a:r>
            <a:r>
              <a:rPr lang="en-US" sz="2000" b="1" dirty="0">
                <a:solidFill>
                  <a:srgbClr val="0070C0"/>
                </a:solidFill>
              </a:rPr>
              <a:t>1 </a:t>
            </a:r>
            <a:r>
              <a:rPr lang="en-US" sz="2000" b="1" dirty="0"/>
              <a:t>?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Complete </a:t>
            </a:r>
            <a:r>
              <a:rPr lang="en-US" sz="2000" dirty="0"/>
              <a:t>binary tree of height </a:t>
            </a:r>
            <a:r>
              <a:rPr lang="en-US" sz="2000" b="1" dirty="0">
                <a:solidFill>
                  <a:srgbClr val="0070C0"/>
                </a:solidFill>
              </a:rPr>
              <a:t>2 </a:t>
            </a:r>
            <a:r>
              <a:rPr lang="en-US" sz="2000" b="1" dirty="0"/>
              <a:t>?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Complete</a:t>
            </a:r>
            <a:r>
              <a:rPr lang="en-US" sz="2000" b="1" dirty="0"/>
              <a:t> </a:t>
            </a:r>
            <a:r>
              <a:rPr lang="en-US" sz="2000" dirty="0"/>
              <a:t>binary tree of height </a:t>
            </a:r>
            <a:r>
              <a:rPr lang="en-US" sz="2000" b="1" dirty="0">
                <a:solidFill>
                  <a:srgbClr val="0070C0"/>
                </a:solidFill>
              </a:rPr>
              <a:t>3 </a:t>
            </a:r>
            <a:r>
              <a:rPr lang="en-US" sz="2000" b="1" dirty="0"/>
              <a:t>?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4437894" y="4388169"/>
            <a:ext cx="2267706" cy="1416369"/>
            <a:chOff x="838200" y="4724400"/>
            <a:chExt cx="2267706" cy="1416369"/>
          </a:xfrm>
        </p:grpSpPr>
        <p:grpSp>
          <p:nvGrpSpPr>
            <p:cNvPr id="5" name="Group 4"/>
            <p:cNvGrpSpPr/>
            <p:nvPr/>
          </p:nvGrpSpPr>
          <p:grpSpPr>
            <a:xfrm>
              <a:off x="971813" y="4724400"/>
              <a:ext cx="1999987" cy="1219200"/>
              <a:chOff x="3486413" y="1676400"/>
              <a:chExt cx="1999987" cy="12192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419600" y="1676400"/>
                <a:ext cx="286506" cy="19716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7" name="Straight Arrow Connector 6"/>
              <p:cNvCxnSpPr>
                <a:endCxn id="10" idx="0"/>
              </p:cNvCxnSpPr>
              <p:nvPr/>
            </p:nvCxnSpPr>
            <p:spPr>
              <a:xfrm>
                <a:off x="4687813" y="1828800"/>
                <a:ext cx="332240" cy="4572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endCxn id="9" idx="7"/>
              </p:cNvCxnSpPr>
              <p:nvPr/>
            </p:nvCxnSpPr>
            <p:spPr>
              <a:xfrm flipH="1">
                <a:off x="4054548" y="1828800"/>
                <a:ext cx="389188" cy="44130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/>
              <p:cNvSpPr/>
              <p:nvPr/>
            </p:nvSpPr>
            <p:spPr>
              <a:xfrm>
                <a:off x="3810000" y="2241231"/>
                <a:ext cx="286506" cy="19716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4876800" y="2286000"/>
                <a:ext cx="286506" cy="19716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 flipH="1">
                <a:off x="3486413" y="2427762"/>
                <a:ext cx="389188" cy="44130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5154160" y="2438400"/>
                <a:ext cx="332240" cy="4572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flipH="1">
                <a:off x="4706106" y="2454294"/>
                <a:ext cx="255082" cy="44130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>
                <a:endCxn id="19" idx="0"/>
              </p:cNvCxnSpPr>
              <p:nvPr/>
            </p:nvCxnSpPr>
            <p:spPr>
              <a:xfrm>
                <a:off x="4011160" y="2438400"/>
                <a:ext cx="188987" cy="381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Oval 15"/>
            <p:cNvSpPr/>
            <p:nvPr/>
          </p:nvSpPr>
          <p:spPr>
            <a:xfrm>
              <a:off x="2819400" y="59436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057400" y="58988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838200" y="58988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1542294" y="58674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</p:grpSp>
      <p:sp>
        <p:nvSpPr>
          <p:cNvPr id="22" name="Oval 21"/>
          <p:cNvSpPr/>
          <p:nvPr/>
        </p:nvSpPr>
        <p:spPr>
          <a:xfrm>
            <a:off x="5428987" y="2286000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4876800" y="3124200"/>
            <a:ext cx="1353306" cy="806769"/>
            <a:chOff x="3810000" y="1676400"/>
            <a:chExt cx="1353306" cy="806769"/>
          </a:xfrm>
        </p:grpSpPr>
        <p:sp>
          <p:nvSpPr>
            <p:cNvPr id="32" name="Oval 31"/>
            <p:cNvSpPr/>
            <p:nvPr/>
          </p:nvSpPr>
          <p:spPr>
            <a:xfrm>
              <a:off x="4419600" y="16764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33" name="Straight Arrow Connector 32"/>
            <p:cNvCxnSpPr>
              <a:endCxn id="36" idx="0"/>
            </p:cNvCxnSpPr>
            <p:nvPr/>
          </p:nvCxnSpPr>
          <p:spPr>
            <a:xfrm>
              <a:off x="4687813" y="18288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endCxn id="35" idx="7"/>
            </p:cNvCxnSpPr>
            <p:nvPr/>
          </p:nvCxnSpPr>
          <p:spPr>
            <a:xfrm flipH="1">
              <a:off x="4054548" y="1828800"/>
              <a:ext cx="38918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3810000" y="2241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76800" y="2286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4267200" y="2133600"/>
            <a:ext cx="2590800" cy="388619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Line Callout 1 27"/>
              <p:cNvSpPr/>
              <p:nvPr/>
            </p:nvSpPr>
            <p:spPr>
              <a:xfrm>
                <a:off x="7239000" y="3321369"/>
                <a:ext cx="1752600" cy="1439854"/>
              </a:xfrm>
              <a:prstGeom prst="borderCallout1">
                <a:avLst>
                  <a:gd name="adj1" fmla="val 60493"/>
                  <a:gd name="adj2" fmla="val 524"/>
                  <a:gd name="adj3" fmla="val 60321"/>
                  <a:gd name="adj4" fmla="val -23552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Try to generalize the type of tree shown here to tree of height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28" name="Line Callout 1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321369"/>
                <a:ext cx="1752600" cy="1439854"/>
              </a:xfrm>
              <a:prstGeom prst="borderCallout1">
                <a:avLst>
                  <a:gd name="adj1" fmla="val 60493"/>
                  <a:gd name="adj2" fmla="val 524"/>
                  <a:gd name="adj3" fmla="val 60321"/>
                  <a:gd name="adj4" fmla="val -23552"/>
                </a:avLst>
              </a:prstGeom>
              <a:blipFill rotWithShape="1">
                <a:blip r:embed="rId3"/>
                <a:stretch>
                  <a:fillRect r="-2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53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 animBg="1"/>
      <p:bldP spid="24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itle 59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A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complete </a:t>
                </a:r>
                <a:r>
                  <a:rPr lang="en-US" sz="3200" b="1" dirty="0"/>
                  <a:t>binary tree of height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3200" b="1" dirty="0">
                    <a:solidFill>
                      <a:srgbClr val="C00000"/>
                    </a:solidFill>
                  </a:rPr>
                  <a:t>        </a:t>
                </a:r>
              </a:p>
            </p:txBody>
          </p:sp>
        </mc:Choice>
        <mc:Fallback xmlns="">
          <p:sp>
            <p:nvSpPr>
              <p:cNvPr id="60" name="Title 5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Content Placeholder 6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Total number of nodes 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3429000" y="1676400"/>
            <a:ext cx="1999987" cy="2209800"/>
            <a:chOff x="3486413" y="1676400"/>
            <a:chExt cx="1999987" cy="2209800"/>
          </a:xfrm>
        </p:grpSpPr>
        <p:sp>
          <p:nvSpPr>
            <p:cNvPr id="50" name="Oval 49"/>
            <p:cNvSpPr/>
            <p:nvPr/>
          </p:nvSpPr>
          <p:spPr>
            <a:xfrm>
              <a:off x="4419600" y="16764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51" name="Straight Arrow Connector 50"/>
            <p:cNvCxnSpPr>
              <a:endCxn id="54" idx="0"/>
            </p:cNvCxnSpPr>
            <p:nvPr/>
          </p:nvCxnSpPr>
          <p:spPr>
            <a:xfrm>
              <a:off x="4687813" y="18288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53" idx="7"/>
            </p:cNvCxnSpPr>
            <p:nvPr/>
          </p:nvCxnSpPr>
          <p:spPr>
            <a:xfrm flipH="1">
              <a:off x="4054548" y="1828800"/>
              <a:ext cx="38918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3810000" y="2241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4876800" y="2286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 flipH="1">
              <a:off x="3486413" y="2427762"/>
              <a:ext cx="38918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5154160" y="24384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>
              <a:off x="4706106" y="2454294"/>
              <a:ext cx="255082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4011160" y="2438400"/>
              <a:ext cx="237982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4468360" y="3124200"/>
              <a:ext cx="0" cy="762000"/>
            </a:xfrm>
            <a:prstGeom prst="line">
              <a:avLst/>
            </a:prstGeom>
            <a:ln w="762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5486893" y="2221468"/>
            <a:ext cx="2206193" cy="369332"/>
            <a:chOff x="5486893" y="2221468"/>
            <a:chExt cx="2206193" cy="369332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5486893" y="2362200"/>
              <a:ext cx="167590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7391400" y="2221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70C0"/>
                  </a:solidFill>
                </a:rPr>
                <a:t>2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5105893" y="1676400"/>
            <a:ext cx="2651221" cy="369332"/>
            <a:chOff x="5105893" y="1676400"/>
            <a:chExt cx="2651221" cy="369332"/>
          </a:xfrm>
        </p:grpSpPr>
        <p:cxnSp>
          <p:nvCxnSpPr>
            <p:cNvPr id="63" name="Straight Connector 62"/>
            <p:cNvCxnSpPr/>
            <p:nvPr/>
          </p:nvCxnSpPr>
          <p:spPr>
            <a:xfrm>
              <a:off x="5105893" y="1828800"/>
              <a:ext cx="205690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7455428" y="1676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70C0"/>
                  </a:solidFill>
                </a:rPr>
                <a:t>1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1676400" y="5269468"/>
            <a:ext cx="6022238" cy="369332"/>
            <a:chOff x="1828800" y="3810000"/>
            <a:chExt cx="6022238" cy="369332"/>
          </a:xfrm>
        </p:grpSpPr>
        <p:cxnSp>
          <p:nvCxnSpPr>
            <p:cNvPr id="81" name="Straight Connector 80"/>
            <p:cNvCxnSpPr/>
            <p:nvPr/>
          </p:nvCxnSpPr>
          <p:spPr>
            <a:xfrm>
              <a:off x="6819777" y="3962400"/>
              <a:ext cx="34277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81"/>
            <p:cNvSpPr/>
            <p:nvPr/>
          </p:nvSpPr>
          <p:spPr>
            <a:xfrm>
              <a:off x="6419094" y="3886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5885694" y="3886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1828800" y="3886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85" name="Straight Connector 84"/>
            <p:cNvCxnSpPr/>
            <p:nvPr/>
          </p:nvCxnSpPr>
          <p:spPr>
            <a:xfrm>
              <a:off x="3505446" y="3962400"/>
              <a:ext cx="990354" cy="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7467600" y="3810000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oMath>
                    </m:oMathPara>
                  </a14:m>
                  <a:endParaRPr lang="en-US" b="1" i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810000"/>
                  <a:ext cx="383438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ounded Rectangle 87"/>
              <p:cNvSpPr/>
              <p:nvPr/>
            </p:nvSpPr>
            <p:spPr>
              <a:xfrm>
                <a:off x="1371600" y="1981200"/>
                <a:ext cx="1066800" cy="52925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-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88" name="Rounded 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981200"/>
                <a:ext cx="1066800" cy="529253"/>
              </a:xfrm>
              <a:prstGeom prst="roundRect">
                <a:avLst/>
              </a:prstGeom>
              <a:blipFill rotWithShape="1">
                <a:blip r:embed="rId4"/>
                <a:stretch>
                  <a:fillRect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196025" y="5259016"/>
                <a:ext cx="713593" cy="379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𝒉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025" y="5259016"/>
                <a:ext cx="713593" cy="379784"/>
              </a:xfrm>
              <a:prstGeom prst="rect">
                <a:avLst/>
              </a:prstGeom>
              <a:blipFill rotWithShape="1">
                <a:blip r:embed="rId5"/>
                <a:stretch>
                  <a:fillRect t="-4839" r="-10169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201807" y="3810000"/>
                <a:ext cx="670312" cy="3763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807" y="3810000"/>
                <a:ext cx="670312" cy="376385"/>
              </a:xfrm>
              <a:prstGeom prst="rect">
                <a:avLst/>
              </a:prstGeom>
              <a:blipFill rotWithShape="1">
                <a:blip r:embed="rId6"/>
                <a:stretch>
                  <a:fillRect t="-4839" r="-11818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235177" y="22098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77" y="2209800"/>
                <a:ext cx="375423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935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8229600" y="16764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1676400"/>
                <a:ext cx="365805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1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7208754" y="990600"/>
            <a:ext cx="675121" cy="685800"/>
            <a:chOff x="7208754" y="990600"/>
            <a:chExt cx="675121" cy="685800"/>
          </a:xfrm>
        </p:grpSpPr>
        <p:sp>
          <p:nvSpPr>
            <p:cNvPr id="5" name="TextBox 4"/>
            <p:cNvSpPr txBox="1"/>
            <p:nvPr/>
          </p:nvSpPr>
          <p:spPr>
            <a:xfrm>
              <a:off x="7208754" y="990600"/>
              <a:ext cx="67512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Level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7524812" y="1371600"/>
              <a:ext cx="171388" cy="304800"/>
            </a:xfrm>
            <a:prstGeom prst="down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027759" y="725269"/>
            <a:ext cx="824265" cy="951131"/>
            <a:chOff x="8027759" y="725269"/>
            <a:chExt cx="824265" cy="951131"/>
          </a:xfrm>
        </p:grpSpPr>
        <p:sp>
          <p:nvSpPr>
            <p:cNvPr id="42" name="TextBox 41"/>
            <p:cNvSpPr txBox="1"/>
            <p:nvPr/>
          </p:nvSpPr>
          <p:spPr>
            <a:xfrm>
              <a:off x="8027759" y="725269"/>
              <a:ext cx="824265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No. of </a:t>
              </a:r>
            </a:p>
            <a:p>
              <a:r>
                <a:rPr lang="en-US" b="1" dirty="0"/>
                <a:t>nodes</a:t>
              </a:r>
            </a:p>
          </p:txBody>
        </p:sp>
        <p:sp>
          <p:nvSpPr>
            <p:cNvPr id="44" name="Down Arrow 43"/>
            <p:cNvSpPr/>
            <p:nvPr/>
          </p:nvSpPr>
          <p:spPr>
            <a:xfrm>
              <a:off x="8286812" y="1371600"/>
              <a:ext cx="171388" cy="304800"/>
            </a:xfrm>
            <a:prstGeom prst="down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Down Ribbon 8"/>
              <p:cNvSpPr/>
              <p:nvPr/>
            </p:nvSpPr>
            <p:spPr>
              <a:xfrm>
                <a:off x="533399" y="5791200"/>
                <a:ext cx="7494359" cy="917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Certainly this tree is a complete binary tree of height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We shall now show that this is </a:t>
                </a:r>
                <a:r>
                  <a:rPr lang="en-US" b="1" dirty="0">
                    <a:solidFill>
                      <a:srgbClr val="C00000"/>
                    </a:solidFill>
                  </a:rPr>
                  <a:t>the only possible </a:t>
                </a:r>
                <a:r>
                  <a:rPr lang="en-US" dirty="0">
                    <a:solidFill>
                      <a:schemeClr val="tx1"/>
                    </a:solidFill>
                  </a:rPr>
                  <a:t>complete binary tree of height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Down Ribbon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5791200"/>
                <a:ext cx="7494359" cy="917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9"/>
                <a:stretch>
                  <a:fillRect b="-16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2362200" y="3810000"/>
            <a:ext cx="5346172" cy="685800"/>
            <a:chOff x="2362200" y="3810000"/>
            <a:chExt cx="5346172" cy="685800"/>
          </a:xfrm>
        </p:grpSpPr>
        <p:grpSp>
          <p:nvGrpSpPr>
            <p:cNvPr id="79" name="Group 78"/>
            <p:cNvGrpSpPr/>
            <p:nvPr/>
          </p:nvGrpSpPr>
          <p:grpSpPr>
            <a:xfrm>
              <a:off x="2438400" y="3810000"/>
              <a:ext cx="5269972" cy="369332"/>
              <a:chOff x="2438400" y="3810000"/>
              <a:chExt cx="5269972" cy="369332"/>
            </a:xfrm>
          </p:grpSpPr>
          <p:cxnSp>
            <p:nvCxnSpPr>
              <p:cNvPr id="68" name="Straight Connector 67"/>
              <p:cNvCxnSpPr/>
              <p:nvPr/>
            </p:nvCxnSpPr>
            <p:spPr>
              <a:xfrm>
                <a:off x="6172200" y="3962400"/>
                <a:ext cx="990354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Oval 69"/>
              <p:cNvSpPr/>
              <p:nvPr/>
            </p:nvSpPr>
            <p:spPr>
              <a:xfrm>
                <a:off x="5809494" y="3886200"/>
                <a:ext cx="286506" cy="19716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5105400" y="3886200"/>
                <a:ext cx="286506" cy="19716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2438400" y="3886200"/>
                <a:ext cx="286506" cy="19716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73" name="Straight Connector 72"/>
              <p:cNvCxnSpPr/>
              <p:nvPr/>
            </p:nvCxnSpPr>
            <p:spPr>
              <a:xfrm>
                <a:off x="3505446" y="3962400"/>
                <a:ext cx="990354" cy="0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/>
              <p:cNvSpPr txBox="1"/>
              <p:nvPr/>
            </p:nvSpPr>
            <p:spPr>
              <a:xfrm>
                <a:off x="7467600" y="3810000"/>
                <a:ext cx="2407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0070C0"/>
                    </a:solidFill>
                  </a:rPr>
                  <a:t>i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5748526" y="4038600"/>
              <a:ext cx="438907" cy="457200"/>
              <a:chOff x="5748526" y="4038600"/>
              <a:chExt cx="438907" cy="457200"/>
            </a:xfrm>
          </p:grpSpPr>
          <p:cxnSp>
            <p:nvCxnSpPr>
              <p:cNvPr id="48" name="Straight Arrow Connector 47"/>
              <p:cNvCxnSpPr/>
              <p:nvPr/>
            </p:nvCxnSpPr>
            <p:spPr>
              <a:xfrm>
                <a:off x="6050266" y="4038600"/>
                <a:ext cx="137167" cy="4572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/>
              <p:nvPr/>
            </p:nvCxnSpPr>
            <p:spPr>
              <a:xfrm flipH="1">
                <a:off x="5748526" y="4083369"/>
                <a:ext cx="109728" cy="41243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Arrow Connector 63"/>
            <p:cNvCxnSpPr/>
            <p:nvPr/>
          </p:nvCxnSpPr>
          <p:spPr>
            <a:xfrm>
              <a:off x="5306066" y="4083369"/>
              <a:ext cx="180334" cy="41243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71" idx="3"/>
            </p:cNvCxnSpPr>
            <p:nvPr/>
          </p:nvCxnSpPr>
          <p:spPr>
            <a:xfrm flipH="1">
              <a:off x="4962640" y="4054494"/>
              <a:ext cx="18471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>
              <a:off x="2362200" y="4038600"/>
              <a:ext cx="438907" cy="457200"/>
              <a:chOff x="5748526" y="4038600"/>
              <a:chExt cx="438907" cy="457200"/>
            </a:xfrm>
          </p:grpSpPr>
          <p:cxnSp>
            <p:nvCxnSpPr>
              <p:cNvPr id="69" name="Straight Arrow Connector 68"/>
              <p:cNvCxnSpPr/>
              <p:nvPr/>
            </p:nvCxnSpPr>
            <p:spPr>
              <a:xfrm>
                <a:off x="6050266" y="4038600"/>
                <a:ext cx="137167" cy="4572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/>
              <p:cNvCxnSpPr/>
              <p:nvPr/>
            </p:nvCxnSpPr>
            <p:spPr>
              <a:xfrm flipH="1">
                <a:off x="5748526" y="4083369"/>
                <a:ext cx="109728" cy="41243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3019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uild="p"/>
      <p:bldP spid="88" grpId="0" animBg="1"/>
      <p:bldP spid="2" grpId="0"/>
      <p:bldP spid="38" grpId="0"/>
      <p:bldP spid="3" grpId="0"/>
      <p:bldP spid="40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Uniqueness</a:t>
                </a:r>
                <a:r>
                  <a:rPr lang="en-US" sz="3200" b="1" dirty="0"/>
                  <a:t> </a:t>
                </a:r>
                <a:br>
                  <a:rPr lang="en-US" sz="3200" b="1" dirty="0"/>
                </a:br>
                <a:r>
                  <a:rPr lang="en-US" sz="3200" b="1" dirty="0"/>
                  <a:t>of a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complete </a:t>
                </a:r>
                <a:r>
                  <a:rPr lang="en-US" sz="3200" b="1" dirty="0"/>
                  <a:t>binary tree of height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3200" b="1" dirty="0">
                    <a:solidFill>
                      <a:srgbClr val="C00000"/>
                    </a:solidFill>
                  </a:rPr>
                  <a:t> 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723" b="-143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600200"/>
                <a:ext cx="8991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Let </a:t>
                </a:r>
                <a:r>
                  <a:rPr lang="en-US" sz="2400" b="1" i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T*</a:t>
                </a:r>
                <a:r>
                  <a:rPr lang="en-US" sz="2400" dirty="0"/>
                  <a:t> be the </a:t>
                </a:r>
                <a:r>
                  <a:rPr lang="en-US" sz="2400" dirty="0">
                    <a:solidFill>
                      <a:srgbClr val="7030A0"/>
                    </a:solidFill>
                  </a:rPr>
                  <a:t>complete</a:t>
                </a:r>
                <a:r>
                  <a:rPr lang="en-US" sz="2400" dirty="0"/>
                  <a:t> binary tree of height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400" dirty="0"/>
                  <a:t> shown in previous slide. </a:t>
                </a:r>
              </a:p>
              <a:p>
                <a:pPr marL="0" indent="0">
                  <a:buNone/>
                </a:pPr>
                <a:r>
                  <a:rPr lang="en-US" sz="2400" dirty="0"/>
                  <a:t>Notice that this is </a:t>
                </a:r>
                <a:r>
                  <a:rPr lang="en-US" sz="2400" b="1" dirty="0"/>
                  <a:t>densest</a:t>
                </a:r>
                <a:r>
                  <a:rPr lang="en-US" sz="2400" dirty="0"/>
                  <a:t> possible tree of height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0" indent="0">
                  <a:buNone/>
                </a:pPr>
                <a:r>
                  <a:rPr lang="en-US" sz="2400" dirty="0"/>
                  <a:t>Let </a:t>
                </a:r>
                <a:r>
                  <a:rPr lang="en-US" sz="2400" b="1" i="1" dirty="0">
                    <a:solidFill>
                      <a:schemeClr val="accent5"/>
                    </a:solidFill>
                  </a:rPr>
                  <a:t>T</a:t>
                </a:r>
                <a:r>
                  <a:rPr lang="en-US" sz="2400" b="1" i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be </a:t>
                </a:r>
                <a:r>
                  <a:rPr lang="en-US" sz="2400" u="sng" dirty="0"/>
                  <a:t>any other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complete</a:t>
                </a:r>
                <a:r>
                  <a:rPr lang="en-US" sz="2400" dirty="0"/>
                  <a:t> binary tree of height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u="sng" dirty="0"/>
                  <a:t>different</a:t>
                </a:r>
                <a:r>
                  <a:rPr lang="en-US" sz="2400" dirty="0"/>
                  <a:t> from </a:t>
                </a:r>
                <a:r>
                  <a:rPr lang="en-US" sz="2400" b="1" i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T*</a:t>
                </a:r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400" dirty="0"/>
                  <a:t>: How to show that </a:t>
                </a:r>
                <a:r>
                  <a:rPr lang="en-US" sz="2400" b="1" i="1" dirty="0">
                    <a:solidFill>
                      <a:schemeClr val="accent5"/>
                    </a:solidFill>
                  </a:rPr>
                  <a:t>T </a:t>
                </a:r>
                <a:r>
                  <a:rPr lang="en-US" sz="2400" dirty="0"/>
                  <a:t>can not exist 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i="1" dirty="0"/>
                  <a:t>                     </a:t>
                </a:r>
                <a:r>
                  <a:rPr lang="en-US" sz="2400" i="1" dirty="0">
                    <a:solidFill>
                      <a:srgbClr val="7030A0"/>
                    </a:solidFill>
                  </a:rPr>
                  <a:t>Watch the following slide carefully.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600200"/>
                <a:ext cx="8991600" cy="4525963"/>
              </a:xfrm>
              <a:blipFill rotWithShape="1">
                <a:blip r:embed="rId3"/>
                <a:stretch>
                  <a:fillRect l="-1763" t="-1752" r="-17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2209800" y="4419600"/>
            <a:ext cx="4800600" cy="6888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Think over this question carefully.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76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Uniqueness</a:t>
                </a:r>
                <a:r>
                  <a:rPr lang="en-US" sz="3200" b="1" dirty="0"/>
                  <a:t> </a:t>
                </a:r>
                <a:br>
                  <a:rPr lang="en-US" sz="3200" b="1" dirty="0"/>
                </a:br>
                <a:r>
                  <a:rPr lang="en-US" sz="3200" b="1" dirty="0"/>
                  <a:t>of a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complete </a:t>
                </a:r>
                <a:r>
                  <a:rPr lang="en-US" sz="3200" b="1" dirty="0"/>
                  <a:t>binary tree of height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3200" b="1" dirty="0">
                    <a:solidFill>
                      <a:srgbClr val="C00000"/>
                    </a:solidFill>
                  </a:rPr>
                  <a:t> </a:t>
                </a:r>
                <a:endParaRPr lang="en-IN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723" b="-143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685800" y="2209800"/>
            <a:ext cx="2590800" cy="266700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719704" y="4953000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T*</a:t>
            </a:r>
            <a:endParaRPr lang="en-IN" dirty="0"/>
          </a:p>
        </p:txBody>
      </p:sp>
      <p:sp>
        <p:nvSpPr>
          <p:cNvPr id="7" name="Isosceles Triangle 6"/>
          <p:cNvSpPr/>
          <p:nvPr/>
        </p:nvSpPr>
        <p:spPr>
          <a:xfrm>
            <a:off x="5943600" y="2209800"/>
            <a:ext cx="2590800" cy="2667000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7169120" y="4916269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5"/>
                </a:solidFill>
              </a:rPr>
              <a:t>T</a:t>
            </a:r>
            <a:endParaRPr lang="en-IN" dirty="0"/>
          </a:p>
        </p:txBody>
      </p:sp>
      <p:grpSp>
        <p:nvGrpSpPr>
          <p:cNvPr id="12" name="Group 11"/>
          <p:cNvGrpSpPr/>
          <p:nvPr/>
        </p:nvGrpSpPr>
        <p:grpSpPr>
          <a:xfrm>
            <a:off x="5121559" y="4429780"/>
            <a:ext cx="3260441" cy="523220"/>
            <a:chOff x="4953000" y="4800600"/>
            <a:chExt cx="3260441" cy="523220"/>
          </a:xfrm>
        </p:grpSpPr>
        <p:sp>
          <p:nvSpPr>
            <p:cNvPr id="13" name="Left Arrow 12"/>
            <p:cNvSpPr/>
            <p:nvPr/>
          </p:nvSpPr>
          <p:spPr>
            <a:xfrm>
              <a:off x="4953000" y="4876800"/>
              <a:ext cx="743213" cy="233648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15000" y="4800600"/>
              <a:ext cx="2498441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At least one node present in </a:t>
              </a:r>
              <a:r>
                <a:rPr lang="en-US" sz="1400" b="1" i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T*</a:t>
              </a:r>
              <a:r>
                <a:rPr lang="en-US" sz="1400" dirty="0"/>
                <a:t> </a:t>
              </a:r>
            </a:p>
            <a:p>
              <a:r>
                <a:rPr lang="en-US" sz="1400" dirty="0"/>
                <a:t>but absent in </a:t>
              </a:r>
              <a:r>
                <a:rPr lang="en-US" sz="1400" b="1" i="1" dirty="0">
                  <a:solidFill>
                    <a:schemeClr val="accent5"/>
                  </a:solidFill>
                </a:rPr>
                <a:t>T</a:t>
              </a:r>
              <a:endParaRPr lang="en-US" sz="1400" b="1" i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15" name="Oval 14"/>
          <p:cNvSpPr/>
          <p:nvPr/>
        </p:nvSpPr>
        <p:spPr>
          <a:xfrm>
            <a:off x="4811730" y="4515563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solidFill>
                  <a:srgbClr val="0070C0"/>
                </a:solidFill>
              </a:rPr>
              <a:t>x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6" name="Down Ribbon 15"/>
          <p:cNvSpPr/>
          <p:nvPr/>
        </p:nvSpPr>
        <p:spPr>
          <a:xfrm>
            <a:off x="1828800" y="5285601"/>
            <a:ext cx="6781800" cy="810399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Just </a:t>
            </a:r>
            <a:r>
              <a:rPr lang="en-US" i="1" dirty="0">
                <a:solidFill>
                  <a:schemeClr val="tx1"/>
                </a:solidFill>
              </a:rPr>
              <a:t>place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i="1" dirty="0">
                <a:solidFill>
                  <a:schemeClr val="accent5"/>
                </a:solidFill>
              </a:rPr>
              <a:t>T  </a:t>
            </a:r>
            <a:r>
              <a:rPr lang="en-US" dirty="0">
                <a:solidFill>
                  <a:schemeClr val="tx1"/>
                </a:solidFill>
              </a:rPr>
              <a:t> symmetrically above </a:t>
            </a:r>
            <a:r>
              <a:rPr lang="en-US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T*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dirty="0"/>
              <a:t>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87473" y="5726668"/>
            <a:ext cx="4860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</a:t>
            </a:r>
            <a:r>
              <a:rPr lang="en-US" b="1" i="1" dirty="0">
                <a:solidFill>
                  <a:schemeClr val="accent5"/>
                </a:solidFill>
              </a:rPr>
              <a:t>T</a:t>
            </a:r>
            <a:r>
              <a:rPr lang="en-US" dirty="0"/>
              <a:t> is </a:t>
            </a:r>
            <a:r>
              <a:rPr lang="en-US" i="1" dirty="0">
                <a:solidFill>
                  <a:srgbClr val="0070C0"/>
                </a:solidFill>
              </a:rPr>
              <a:t>different </a:t>
            </a:r>
            <a:r>
              <a:rPr lang="en-US" dirty="0"/>
              <a:t>from </a:t>
            </a:r>
            <a:r>
              <a:rPr lang="en-US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T*</a:t>
            </a:r>
            <a:r>
              <a:rPr lang="en-US" i="1" dirty="0"/>
              <a:t>, then what will you see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31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0.28333 -0.0055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67" y="-27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29167 -0.0055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3" y="-27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07407E-6 L 0.28941 -0.0046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62" y="-23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022E-16 L -0.30035 0.00069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1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  <p:bldP spid="7" grpId="0" animBg="1"/>
      <p:bldP spid="7" grpId="1" animBg="1"/>
      <p:bldP spid="8" grpId="0"/>
      <p:bldP spid="8" grpId="1"/>
      <p:bldP spid="15" grpId="0" animBg="1"/>
      <p:bldP spid="16" grpId="0" animBg="1"/>
      <p:bldP spid="16" grpId="1" animBg="1"/>
      <p:bldP spid="17" grpId="0"/>
      <p:bldP spid="1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itle 59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Uniqueness</a:t>
                </a:r>
                <a:r>
                  <a:rPr lang="en-US" sz="3200" b="1" dirty="0"/>
                  <a:t> </a:t>
                </a:r>
                <a:br>
                  <a:rPr lang="en-US" sz="3200" b="1" dirty="0"/>
                </a:br>
                <a:r>
                  <a:rPr lang="en-US" sz="3200" b="1" dirty="0"/>
                  <a:t>of a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complete </a:t>
                </a:r>
                <a:r>
                  <a:rPr lang="en-US" sz="3200" b="1" dirty="0"/>
                  <a:t>binary tree of height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3200" b="1" dirty="0">
                    <a:solidFill>
                      <a:srgbClr val="C00000"/>
                    </a:solidFill>
                  </a:rPr>
                  <a:t> </a:t>
                </a:r>
                <a:endParaRPr lang="en-US" sz="3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0" name="Title 5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723" b="-143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Content Placeholder 60"/>
          <p:cNvSpPr>
            <a:spLocks noGrp="1"/>
          </p:cNvSpPr>
          <p:nvPr>
            <p:ph idx="1"/>
          </p:nvPr>
        </p:nvSpPr>
        <p:spPr>
          <a:xfrm>
            <a:off x="76200" y="1600200"/>
            <a:ext cx="8610600" cy="5105400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Since </a:t>
            </a:r>
            <a:r>
              <a:rPr lang="en-US" sz="1800" b="1" i="1" dirty="0">
                <a:solidFill>
                  <a:schemeClr val="accent5"/>
                </a:solidFill>
              </a:rPr>
              <a:t>T</a:t>
            </a:r>
            <a:r>
              <a:rPr lang="en-US" sz="1800" dirty="0"/>
              <a:t> is a full binary tree and </a:t>
            </a:r>
            <a:r>
              <a:rPr lang="en-US" sz="1800" b="1" dirty="0"/>
              <a:t>right child </a:t>
            </a:r>
            <a:r>
              <a:rPr lang="en-US" sz="1800" dirty="0"/>
              <a:t>of 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b="1" i="1" dirty="0">
                <a:solidFill>
                  <a:srgbClr val="7030A0"/>
                </a:solidFill>
              </a:rPr>
              <a:t> </a:t>
            </a:r>
            <a:r>
              <a:rPr lang="en-US" sz="1800" dirty="0"/>
              <a:t>is missing,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b="1" i="1" dirty="0">
                <a:solidFill>
                  <a:srgbClr val="7030A0"/>
                </a:solidFill>
              </a:rPr>
              <a:t> </a:t>
            </a:r>
            <a:r>
              <a:rPr lang="en-US" sz="1800" dirty="0"/>
              <a:t>can not be an internal node in </a:t>
            </a:r>
            <a:r>
              <a:rPr lang="en-US" sz="1800" b="1" i="1" dirty="0">
                <a:solidFill>
                  <a:schemeClr val="accent5"/>
                </a:solidFill>
              </a:rPr>
              <a:t>T</a:t>
            </a:r>
            <a:r>
              <a:rPr lang="en-US" sz="1800" b="1" i="1" dirty="0">
                <a:solidFill>
                  <a:srgbClr val="00B050"/>
                </a:solidFill>
              </a:rPr>
              <a:t> </a:t>
            </a:r>
            <a:r>
              <a:rPr lang="en-US" sz="1800" b="1" i="1" dirty="0"/>
              <a:t>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</a:t>
            </a:r>
            <a:r>
              <a:rPr lang="en-US" sz="1800" b="1" i="1" dirty="0">
                <a:solidFill>
                  <a:srgbClr val="0070C0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 </a:t>
            </a:r>
            <a:r>
              <a:rPr lang="en-US" sz="1800" b="1" dirty="0"/>
              <a:t>must be </a:t>
            </a:r>
            <a:r>
              <a:rPr lang="en-US" sz="1800" dirty="0"/>
              <a:t> leaf node.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3429000" y="1676400"/>
            <a:ext cx="1999987" cy="1219200"/>
            <a:chOff x="3486413" y="1676400"/>
            <a:chExt cx="1999987" cy="1219200"/>
          </a:xfrm>
        </p:grpSpPr>
        <p:sp>
          <p:nvSpPr>
            <p:cNvPr id="50" name="Oval 49"/>
            <p:cNvSpPr/>
            <p:nvPr/>
          </p:nvSpPr>
          <p:spPr>
            <a:xfrm>
              <a:off x="4419600" y="1676400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51" name="Straight Arrow Connector 50"/>
            <p:cNvCxnSpPr>
              <a:endCxn id="54" idx="0"/>
            </p:cNvCxnSpPr>
            <p:nvPr/>
          </p:nvCxnSpPr>
          <p:spPr>
            <a:xfrm>
              <a:off x="4687813" y="18288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53" idx="7"/>
            </p:cNvCxnSpPr>
            <p:nvPr/>
          </p:nvCxnSpPr>
          <p:spPr>
            <a:xfrm flipH="1">
              <a:off x="4054548" y="1828800"/>
              <a:ext cx="38918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3810000" y="2241231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4876800" y="2286000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 flipH="1">
              <a:off x="3486413" y="2427762"/>
              <a:ext cx="389188" cy="44130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5154160" y="2438400"/>
              <a:ext cx="332240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2438400" y="3810000"/>
            <a:ext cx="5269972" cy="369332"/>
            <a:chOff x="2438400" y="3810000"/>
            <a:chExt cx="5269972" cy="369332"/>
          </a:xfrm>
        </p:grpSpPr>
        <p:cxnSp>
          <p:nvCxnSpPr>
            <p:cNvPr id="68" name="Straight Connector 67"/>
            <p:cNvCxnSpPr/>
            <p:nvPr/>
          </p:nvCxnSpPr>
          <p:spPr>
            <a:xfrm>
              <a:off x="6172200" y="3962400"/>
              <a:ext cx="99035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5809494" y="3886200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5334000" y="3886200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2438400" y="3886200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67600" y="3810000"/>
              <a:ext cx="240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70C0"/>
                  </a:solidFill>
                </a:rPr>
                <a:t>i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486893" y="2221468"/>
            <a:ext cx="2206193" cy="369332"/>
            <a:chOff x="5486893" y="2221468"/>
            <a:chExt cx="2206193" cy="369332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5486893" y="2362200"/>
              <a:ext cx="167590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7391400" y="2221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70C0"/>
                  </a:solidFill>
                </a:rPr>
                <a:t>2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5105893" y="1676400"/>
            <a:ext cx="2651221" cy="369332"/>
            <a:chOff x="5105893" y="1676400"/>
            <a:chExt cx="2651221" cy="369332"/>
          </a:xfrm>
        </p:grpSpPr>
        <p:cxnSp>
          <p:nvCxnSpPr>
            <p:cNvPr id="63" name="Straight Connector 62"/>
            <p:cNvCxnSpPr/>
            <p:nvPr/>
          </p:nvCxnSpPr>
          <p:spPr>
            <a:xfrm>
              <a:off x="5105893" y="1828800"/>
              <a:ext cx="205690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7455428" y="1676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70C0"/>
                  </a:solidFill>
                </a:rPr>
                <a:t>1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1676400" y="5269468"/>
            <a:ext cx="5945294" cy="369332"/>
            <a:chOff x="1828800" y="3810000"/>
            <a:chExt cx="5945294" cy="369332"/>
          </a:xfrm>
        </p:grpSpPr>
        <p:cxnSp>
          <p:nvCxnSpPr>
            <p:cNvPr id="81" name="Straight Connector 80"/>
            <p:cNvCxnSpPr/>
            <p:nvPr/>
          </p:nvCxnSpPr>
          <p:spPr>
            <a:xfrm>
              <a:off x="6819777" y="3962400"/>
              <a:ext cx="34277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81"/>
            <p:cNvSpPr/>
            <p:nvPr/>
          </p:nvSpPr>
          <p:spPr>
            <a:xfrm>
              <a:off x="6419094" y="3886200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5885694" y="3886200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1828800" y="3886200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467600" y="3810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70C0"/>
                  </a:solidFill>
                </a:rPr>
                <a:t>h</a:t>
              </a:r>
            </a:p>
          </p:txBody>
        </p:sp>
      </p:grpSp>
      <p:cxnSp>
        <p:nvCxnSpPr>
          <p:cNvPr id="38" name="Straight Arrow Connector 37"/>
          <p:cNvCxnSpPr>
            <a:stCxn id="39" idx="5"/>
          </p:cNvCxnSpPr>
          <p:nvPr/>
        </p:nvCxnSpPr>
        <p:spPr>
          <a:xfrm>
            <a:off x="4675278" y="4119026"/>
            <a:ext cx="240092" cy="36510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430730" y="3950732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cxnSp>
        <p:nvCxnSpPr>
          <p:cNvPr id="40" name="Straight Arrow Connector 39"/>
          <p:cNvCxnSpPr>
            <a:stCxn id="43" idx="3"/>
          </p:cNvCxnSpPr>
          <p:nvPr/>
        </p:nvCxnSpPr>
        <p:spPr>
          <a:xfrm flipH="1">
            <a:off x="4583131" y="3661826"/>
            <a:ext cx="346757" cy="28890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887930" y="3493532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821370" y="3188732"/>
            <a:ext cx="218960" cy="30480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583130" y="2960132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cxnSp>
        <p:nvCxnSpPr>
          <p:cNvPr id="62" name="Straight Arrow Connector 61"/>
          <p:cNvCxnSpPr>
            <a:endCxn id="48" idx="1"/>
          </p:cNvCxnSpPr>
          <p:nvPr/>
        </p:nvCxnSpPr>
        <p:spPr>
          <a:xfrm>
            <a:off x="4464972" y="2747426"/>
            <a:ext cx="160116" cy="24158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897330" y="2883932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?</a:t>
            </a:r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4057918" y="2731532"/>
            <a:ext cx="220413" cy="288906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5105400" y="4419600"/>
            <a:ext cx="3759615" cy="309848"/>
            <a:chOff x="4953000" y="4800600"/>
            <a:chExt cx="3759615" cy="309848"/>
          </a:xfrm>
        </p:grpSpPr>
        <p:sp>
          <p:nvSpPr>
            <p:cNvPr id="2" name="Left Arrow 1"/>
            <p:cNvSpPr/>
            <p:nvPr/>
          </p:nvSpPr>
          <p:spPr>
            <a:xfrm>
              <a:off x="4953000" y="4876800"/>
              <a:ext cx="743213" cy="233648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715000" y="4800600"/>
              <a:ext cx="299761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Any node present in </a:t>
              </a:r>
              <a:r>
                <a:rPr lang="en-US" sz="1400" b="1" i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T*</a:t>
              </a:r>
              <a:r>
                <a:rPr lang="en-US" sz="1400" dirty="0"/>
                <a:t> but absent in </a:t>
              </a:r>
              <a:r>
                <a:rPr lang="en-US" sz="1400" b="1" i="1" dirty="0">
                  <a:solidFill>
                    <a:schemeClr val="accent5"/>
                  </a:solidFill>
                </a:rPr>
                <a:t>T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220424" y="2286000"/>
            <a:ext cx="351576" cy="490301"/>
            <a:chOff x="3980694" y="2678668"/>
            <a:chExt cx="351576" cy="490301"/>
          </a:xfrm>
        </p:grpSpPr>
        <p:sp>
          <p:nvSpPr>
            <p:cNvPr id="46" name="Oval 45"/>
            <p:cNvSpPr/>
            <p:nvPr/>
          </p:nvSpPr>
          <p:spPr>
            <a:xfrm>
              <a:off x="3980694" y="2971800"/>
              <a:ext cx="286506" cy="197169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38600" y="2678668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0070C0"/>
                  </a:solidFill>
                </a:rPr>
                <a:t>v</a:t>
              </a:r>
              <a:endParaRPr lang="en-US" b="1" i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37" name="Oval 36"/>
          <p:cNvSpPr/>
          <p:nvPr/>
        </p:nvSpPr>
        <p:spPr>
          <a:xfrm>
            <a:off x="4811730" y="4515563"/>
            <a:ext cx="286506" cy="1971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solidFill>
                  <a:srgbClr val="0070C0"/>
                </a:solidFill>
              </a:rPr>
              <a:t>x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0" name="Cloud Callout 9"/>
          <p:cNvSpPr/>
          <p:nvPr/>
        </p:nvSpPr>
        <p:spPr>
          <a:xfrm>
            <a:off x="0" y="1837420"/>
            <a:ext cx="3276600" cy="1820180"/>
          </a:xfrm>
          <a:prstGeom prst="cloudCallout">
            <a:avLst>
              <a:gd name="adj1" fmla="val 47460"/>
              <a:gd name="adj2" fmla="val 6432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Trace the path from </a:t>
            </a:r>
            <a:r>
              <a:rPr lang="en-US" b="1" i="1" dirty="0">
                <a:solidFill>
                  <a:srgbClr val="0070C0"/>
                </a:solidFill>
              </a:rPr>
              <a:t>x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root until we reach a node present in both </a:t>
            </a:r>
            <a:r>
              <a:rPr lang="en-US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T*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b="1" i="1" dirty="0">
                <a:solidFill>
                  <a:schemeClr val="accent5"/>
                </a:solidFill>
              </a:rPr>
              <a:t>T</a:t>
            </a:r>
            <a:r>
              <a:rPr lang="en-US" i="1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3" name="Cloud Callout 72"/>
          <p:cNvSpPr/>
          <p:nvPr/>
        </p:nvSpPr>
        <p:spPr>
          <a:xfrm>
            <a:off x="0" y="1837420"/>
            <a:ext cx="3276600" cy="1820180"/>
          </a:xfrm>
          <a:prstGeom prst="cloudCallout">
            <a:avLst>
              <a:gd name="adj1" fmla="val 47460"/>
              <a:gd name="adj2" fmla="val 6432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Such a node </a:t>
            </a:r>
            <a:r>
              <a:rPr lang="en-US" b="1" i="1" dirty="0">
                <a:solidFill>
                  <a:srgbClr val="0070C0"/>
                </a:solidFill>
              </a:rPr>
              <a:t>v</a:t>
            </a:r>
            <a:endParaRPr lang="en-US" b="1" i="1" dirty="0">
              <a:solidFill>
                <a:srgbClr val="7030A0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must exist since both </a:t>
            </a:r>
            <a:r>
              <a:rPr lang="en-US" dirty="0" err="1">
                <a:solidFill>
                  <a:schemeClr val="tx1"/>
                </a:solidFill>
              </a:rPr>
              <a:t>both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T*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b="1" i="1" dirty="0">
                <a:solidFill>
                  <a:schemeClr val="accent5"/>
                </a:solidFill>
              </a:rPr>
              <a:t>T</a:t>
            </a:r>
            <a:r>
              <a:rPr lang="en-US" i="1" dirty="0">
                <a:solidFill>
                  <a:schemeClr val="tx1"/>
                </a:solidFill>
              </a:rPr>
              <a:t> meet </a:t>
            </a:r>
            <a:r>
              <a:rPr lang="en-US" dirty="0">
                <a:solidFill>
                  <a:schemeClr val="tx1"/>
                </a:solidFill>
              </a:rPr>
              <a:t>at least at the root.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0" y="2057400"/>
            <a:ext cx="3429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 that one child (in this case the right child) of </a:t>
            </a:r>
            <a:r>
              <a:rPr lang="en-US" b="1" i="1" dirty="0">
                <a:solidFill>
                  <a:srgbClr val="0070C0"/>
                </a:solidFill>
              </a:rPr>
              <a:t>v  </a:t>
            </a:r>
            <a:r>
              <a:rPr lang="en-US" dirty="0"/>
              <a:t>is missing in </a:t>
            </a:r>
            <a:r>
              <a:rPr lang="en-US" b="1" i="1" dirty="0">
                <a:solidFill>
                  <a:schemeClr val="accent5"/>
                </a:solidFill>
              </a:rPr>
              <a:t>T</a:t>
            </a:r>
            <a:r>
              <a:rPr lang="en-US" dirty="0"/>
              <a:t>. </a:t>
            </a: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28600" y="2677717"/>
            <a:ext cx="3991824" cy="2158066"/>
            <a:chOff x="228600" y="2677717"/>
            <a:chExt cx="3991824" cy="2158066"/>
          </a:xfrm>
        </p:grpSpPr>
        <p:cxnSp>
          <p:nvCxnSpPr>
            <p:cNvPr id="13" name="Straight Connector 12"/>
            <p:cNvCxnSpPr>
              <a:stCxn id="46" idx="2"/>
            </p:cNvCxnSpPr>
            <p:nvPr/>
          </p:nvCxnSpPr>
          <p:spPr>
            <a:xfrm flipH="1">
              <a:off x="2209800" y="2677717"/>
              <a:ext cx="2010624" cy="13169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28600" y="3912453"/>
                  <a:ext cx="2045496" cy="92333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Depth</a:t>
                  </a:r>
                  <a:r>
                    <a:rPr lang="en-US" dirty="0"/>
                    <a:t> of </a:t>
                  </a:r>
                  <a:r>
                    <a:rPr lang="en-US" b="1" i="1" dirty="0">
                      <a:solidFill>
                        <a:srgbClr val="0070C0"/>
                      </a:solidFill>
                    </a:rPr>
                    <a:t>v</a:t>
                  </a:r>
                  <a:r>
                    <a:rPr lang="en-US" b="1" i="1" dirty="0">
                      <a:solidFill>
                        <a:srgbClr val="7030A0"/>
                      </a:solidFill>
                    </a:rPr>
                    <a:t> </a:t>
                  </a:r>
                  <a:r>
                    <a:rPr lang="en-US" dirty="0"/>
                    <a:t>must be </a:t>
                  </a:r>
                </a:p>
                <a:p>
                  <a:r>
                    <a:rPr lang="en-US" dirty="0"/>
                    <a:t>less than</a:t>
                  </a:r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𝒉</m:t>
                      </m:r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</m:oMath>
                  </a14:m>
                  <a:r>
                    <a:rPr lang="en-US" dirty="0"/>
                    <a:t>since </a:t>
                  </a:r>
                </a:p>
                <a:p>
                  <a:r>
                    <a:rPr lang="en-US" b="1" i="1" dirty="0">
                      <a:solidFill>
                        <a:srgbClr val="0070C0"/>
                      </a:solidFill>
                    </a:rPr>
                    <a:t>v </a:t>
                  </a:r>
                  <a:r>
                    <a:rPr lang="en-US" dirty="0"/>
                    <a:t>is ancestor of </a:t>
                  </a:r>
                  <a:r>
                    <a:rPr lang="en-US" b="1" i="1" dirty="0">
                      <a:solidFill>
                        <a:srgbClr val="0070C0"/>
                      </a:solidFill>
                    </a:rPr>
                    <a:t>x</a:t>
                  </a:r>
                  <a:r>
                    <a:rPr lang="en-US" dirty="0"/>
                    <a:t>.</a:t>
                  </a:r>
                  <a:endParaRPr lang="en-IN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" y="3912453"/>
                  <a:ext cx="2045496" cy="92333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374" t="-2614" r="-3858" b="-915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Down Ribbon 20"/>
              <p:cNvSpPr/>
              <p:nvPr/>
            </p:nvSpPr>
            <p:spPr>
              <a:xfrm>
                <a:off x="3581400" y="5943600"/>
                <a:ext cx="5543812" cy="914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Hence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v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is</a:t>
                </a:r>
                <a:r>
                  <a:rPr lang="en-US" b="1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 leaf node of </a:t>
                </a:r>
                <a:r>
                  <a:rPr lang="en-US" b="1" i="1" dirty="0">
                    <a:solidFill>
                      <a:schemeClr val="accent5"/>
                    </a:solidFill>
                  </a:rPr>
                  <a:t>T</a:t>
                </a:r>
                <a:r>
                  <a:rPr lang="en-US" dirty="0">
                    <a:solidFill>
                      <a:schemeClr val="tx1"/>
                    </a:solidFill>
                  </a:rPr>
                  <a:t>  at depth &lt;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endParaRPr lang="en-I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 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21" name="Down Ribbon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5943600"/>
                <a:ext cx="5543812" cy="914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 b="-168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5943600" y="6260068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Hence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370221" y="6488668"/>
                <a:ext cx="40879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5"/>
                    </a:solidFill>
                  </a:rPr>
                  <a:t>T </a:t>
                </a:r>
                <a:r>
                  <a:rPr lang="en-US" dirty="0">
                    <a:sym typeface="Wingdings" pitchFamily="2" charset="2"/>
                  </a:rPr>
                  <a:t>is not a compete binary tree of height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221" y="6488668"/>
                <a:ext cx="408797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341" t="-8197" r="-149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26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uild="p"/>
      <p:bldP spid="39" grpId="0" animBg="1"/>
      <p:bldP spid="43" grpId="0" animBg="1"/>
      <p:bldP spid="48" grpId="0" animBg="1"/>
      <p:bldP spid="64" grpId="0"/>
      <p:bldP spid="10" grpId="0" animBg="1"/>
      <p:bldP spid="10" grpId="1" animBg="1"/>
      <p:bldP spid="73" grpId="0" animBg="1"/>
      <p:bldP spid="73" grpId="1" animBg="1"/>
      <p:bldP spid="85" grpId="0" animBg="1"/>
      <p:bldP spid="85" grpId="1" animBg="1"/>
      <p:bldP spid="21" grpId="0" animBg="1"/>
      <p:bldP spid="22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000" dirty="0"/>
                  <a:t>Hence there is no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complete</a:t>
                </a:r>
                <a:r>
                  <a:rPr lang="en-US" sz="2000" dirty="0"/>
                  <a:t> binary tree of height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different</a:t>
                </a:r>
                <a:r>
                  <a:rPr lang="en-US" sz="2000" dirty="0"/>
                  <a:t> from  </a:t>
                </a:r>
                <a:r>
                  <a:rPr lang="en-US" sz="2000" b="1" i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T*</a:t>
                </a:r>
                <a:r>
                  <a:rPr lang="en-US" sz="2000" dirty="0">
                    <a:sym typeface="Wingdings" pitchFamily="2" charset="2"/>
                  </a:rPr>
                  <a:t>.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 There exists a </a:t>
                </a:r>
                <a:r>
                  <a:rPr lang="en-US" sz="2000" b="1">
                    <a:sym typeface="Wingdings" pitchFamily="2" charset="2"/>
                  </a:rPr>
                  <a:t>unique </a:t>
                </a:r>
                <a:r>
                  <a:rPr lang="en-US" sz="2000" b="1">
                    <a:solidFill>
                      <a:srgbClr val="7030A0"/>
                    </a:solidFill>
                  </a:rPr>
                  <a:t>complete</a:t>
                </a:r>
                <a:r>
                  <a:rPr lang="en-US" sz="2000"/>
                  <a:t> </a:t>
                </a:r>
                <a:r>
                  <a:rPr lang="en-US" sz="2000" dirty="0"/>
                  <a:t>binary tree of height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b="1" dirty="0"/>
                  <a:t>: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A complete binary tree of height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000" dirty="0"/>
                  <a:t> has exactly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sup>
                    </m:sSup>
                  </m:oMath>
                </a14:m>
                <a:r>
                  <a:rPr lang="en-US" sz="2000" dirty="0"/>
                  <a:t> -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 </a:t>
                </a:r>
                <a:r>
                  <a:rPr lang="en-US" sz="2000" dirty="0"/>
                  <a:t>nodes.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6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 </a:t>
            </a:r>
            <a:r>
              <a:rPr lang="en-US" sz="3200" dirty="0"/>
              <a:t>A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Red </a:t>
            </a:r>
            <a:r>
              <a:rPr lang="en-US" sz="2800" b="1" dirty="0"/>
              <a:t>Black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dirty="0"/>
              <a:t>Tree is </a:t>
            </a:r>
            <a:r>
              <a:rPr lang="en-US" sz="2800" u="sng" dirty="0"/>
              <a:t>height balanced</a:t>
            </a:r>
            <a:br>
              <a:rPr lang="en-US" sz="2800" dirty="0"/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The final proof 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550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 : a red black tree storing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keys.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Total number of nodes </a:t>
                </a:r>
                <a:r>
                  <a:rPr lang="en-US" sz="2000" dirty="0"/>
                  <a:t>=</a:t>
                </a: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2000" dirty="0"/>
                  <a:t> : the black </a:t>
                </a:r>
                <a:r>
                  <a:rPr lang="en-US" sz="2000" b="1" dirty="0"/>
                  <a:t>height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Every leaf node is at depth ≥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endParaRPr lang="en-US" sz="2000" b="1" i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Hence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i="1" dirty="0">
                        <a:latin typeface="Cambria Math"/>
                      </a:rPr>
                      <m:t>+ 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≥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 </m:t>
                        </m:r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sup>
                    </m:sSup>
                  </m:oMath>
                </a14:m>
                <a:r>
                  <a:rPr lang="en-US" sz="2000" dirty="0"/>
                  <a:t> ≤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i="1" dirty="0">
                        <a:latin typeface="Cambria Math"/>
                      </a:rPr>
                      <m:t>+ 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</a:t>
                </a:r>
                <a:r>
                  <a:rPr lang="en-US" sz="2000" b="1" dirty="0">
                    <a:sym typeface="Wingdings" pitchFamily="2" charset="2"/>
                  </a:rPr>
                  <a:t>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70C0"/>
                        </a:solidFill>
                        <a:latin typeface="Cambria Math"/>
                      </a:rPr>
                      <m:t>  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≤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latin typeface="Cambria Math"/>
                              </a:rPr>
                              <m:t>𝐥𝐨𝐠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So Height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 smtClean="0"/>
                      <m:t>say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loud Callout 4"/>
              <p:cNvSpPr/>
              <p:nvPr/>
            </p:nvSpPr>
            <p:spPr>
              <a:xfrm>
                <a:off x="4724400" y="2057400"/>
                <a:ext cx="4191000" cy="1222248"/>
              </a:xfrm>
              <a:prstGeom prst="cloudCallout">
                <a:avLst>
                  <a:gd name="adj1" fmla="val -21173"/>
                  <a:gd name="adj2" fmla="val 7983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does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>
                    <a:solidFill>
                      <a:schemeClr val="tx1"/>
                    </a:solidFill>
                  </a:rPr>
                  <a:t>look like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we remove all nodes at depth &gt;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b="1" i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Cloud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057400"/>
                <a:ext cx="4191000" cy="1222248"/>
              </a:xfrm>
              <a:prstGeom prst="cloudCallout">
                <a:avLst>
                  <a:gd name="adj1" fmla="val -21173"/>
                  <a:gd name="adj2" fmla="val 79835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62722" y="3718261"/>
                <a:ext cx="3456395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 complete binary tree of height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b="1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22" y="3718261"/>
                <a:ext cx="345639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230" t="-6349" r="-193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67000" y="3811216"/>
                <a:ext cx="853054" cy="379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− 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1216"/>
                <a:ext cx="853054" cy="379784"/>
              </a:xfrm>
              <a:prstGeom prst="rect">
                <a:avLst/>
              </a:prstGeom>
              <a:blipFill rotWithShape="1">
                <a:blip r:embed="rId5"/>
                <a:stretch>
                  <a:fillRect t="-4762" r="-12230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89708" y="5281136"/>
                <a:ext cx="10134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≤  </a:t>
                </a:r>
                <a:r>
                  <a:rPr lang="en-US" b="1" dirty="0">
                    <a:solidFill>
                      <a:srgbClr val="0070C0"/>
                    </a:solidFill>
                  </a:rPr>
                  <a:t>2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i="1" dirty="0"/>
                  <a:t> - </a:t>
                </a:r>
                <a:r>
                  <a:rPr lang="en-US" b="1" dirty="0">
                    <a:solidFill>
                      <a:srgbClr val="0070C0"/>
                    </a:solidFill>
                  </a:rPr>
                  <a:t>1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08" y="5281136"/>
                <a:ext cx="1013419" cy="369332"/>
              </a:xfrm>
              <a:prstGeom prst="rect">
                <a:avLst/>
              </a:prstGeom>
              <a:blipFill>
                <a:blip r:embed="rId6"/>
                <a:stretch>
                  <a:fillRect l="-4938" t="-6667" r="-370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45344" y="5257800"/>
                <a:ext cx="2122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≤  </a:t>
                </a:r>
                <a:r>
                  <a:rPr lang="en-US" b="1" dirty="0">
                    <a:solidFill>
                      <a:srgbClr val="0070C0"/>
                    </a:solidFill>
                  </a:rPr>
                  <a:t>2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/>
                              </a:rPr>
                              <m:t>𝐥𝐨𝐠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+ </a:t>
                </a:r>
                <a:r>
                  <a:rPr lang="en-US" b="1" dirty="0">
                    <a:solidFill>
                      <a:srgbClr val="0070C0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344" y="5257800"/>
                <a:ext cx="2122056" cy="369332"/>
              </a:xfrm>
              <a:prstGeom prst="rect">
                <a:avLst/>
              </a:prstGeom>
              <a:blipFill>
                <a:blip r:embed="rId7"/>
                <a:stretch>
                  <a:fillRect l="-2367" t="-10000" r="-118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56102" y="1981200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+ 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102" y="1981200"/>
                <a:ext cx="1040670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705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7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22313" y="3133725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Nearly Balanced </a:t>
            </a:r>
            <a:r>
              <a:rPr lang="en-US" sz="3200" dirty="0"/>
              <a:t>BST</a:t>
            </a:r>
            <a:endParaRPr lang="en-IN" sz="32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722313" y="1371600"/>
            <a:ext cx="7772400" cy="1500187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Analysis</a:t>
            </a:r>
            <a:endParaRPr lang="en-IN" sz="36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8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6C31"/>
                </a:solidFill>
              </a:rPr>
              <a:t>Nearly</a:t>
            </a:r>
            <a:r>
              <a:rPr lang="en-US" sz="3600" b="1" dirty="0">
                <a:solidFill>
                  <a:srgbClr val="7030A0"/>
                </a:solidFill>
              </a:rPr>
              <a:t> balanced </a:t>
            </a:r>
            <a:r>
              <a:rPr lang="en-US" sz="3600" b="1" dirty="0"/>
              <a:t>Binary Search Tree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Terminology: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 of a binary tree is the number of nodes present in it.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Definition:</a:t>
                </a:r>
                <a:r>
                  <a:rPr lang="en-US" sz="2000" dirty="0"/>
                  <a:t> A binary search tree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T</a:t>
                </a:r>
                <a:r>
                  <a:rPr lang="en-US" sz="2000" dirty="0"/>
                  <a:t> is said to be </a:t>
                </a:r>
                <a:r>
                  <a:rPr lang="en-US" sz="2000" b="1" u="sng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b="1" u="sng" dirty="0">
                    <a:solidFill>
                      <a:srgbClr val="7030A0"/>
                    </a:solidFill>
                  </a:rPr>
                  <a:t> balanced </a:t>
                </a:r>
                <a:r>
                  <a:rPr lang="en-US" sz="2000" dirty="0"/>
                  <a:t>at node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v</a:t>
                </a:r>
                <a:r>
                  <a:rPr lang="en-US" sz="2000" dirty="0"/>
                  <a:t>, if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(</a:t>
                </a:r>
                <a:r>
                  <a:rPr lang="en-US" sz="2000" b="1" dirty="0"/>
                  <a:t>left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))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and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(</a:t>
                </a:r>
                <a:r>
                  <a:rPr lang="en-US" sz="2000" b="1" dirty="0"/>
                  <a:t>right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))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Definition:</a:t>
                </a:r>
                <a:r>
                  <a:rPr lang="en-US" sz="2000" dirty="0"/>
                  <a:t> A binary search tree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T </a:t>
                </a:r>
                <a:r>
                  <a:rPr lang="en-US" sz="2000" dirty="0"/>
                  <a:t>is said to be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balanced </a:t>
                </a:r>
                <a:r>
                  <a:rPr lang="en-US" sz="2000" dirty="0"/>
                  <a:t>if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it is </a:t>
                </a:r>
                <a:r>
                  <a:rPr lang="en-US" sz="2000" b="1" u="sng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u="sng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u="sng" dirty="0">
                    <a:solidFill>
                      <a:srgbClr val="7030A0"/>
                    </a:solidFill>
                  </a:rPr>
                  <a:t>balanced </a:t>
                </a:r>
                <a:r>
                  <a:rPr lang="en-US" sz="2000" dirty="0"/>
                  <a:t>at each node.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Height of a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balanced </a:t>
                </a:r>
                <a:r>
                  <a:rPr lang="en-US" sz="2000" dirty="0"/>
                  <a:t>BST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nodes is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4/3</m:t>
                            </m:r>
                          </m:sub>
                        </m:sSub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t="-6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6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6C31"/>
                </a:solidFill>
              </a:rPr>
              <a:t>Nearly</a:t>
            </a:r>
            <a:r>
              <a:rPr lang="en-US" sz="3600" b="1" dirty="0">
                <a:solidFill>
                  <a:srgbClr val="7030A0"/>
                </a:solidFill>
              </a:rPr>
              <a:t> balanced </a:t>
            </a:r>
            <a:r>
              <a:rPr lang="en-US" sz="3600" b="1" dirty="0"/>
              <a:t>Binary Search Tree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u="sng" dirty="0"/>
              <a:t>Maintaining under </a:t>
            </a:r>
            <a:r>
              <a:rPr lang="en-US" sz="2400" b="1" u="sng" dirty="0">
                <a:solidFill>
                  <a:srgbClr val="7030A0"/>
                </a:solidFill>
              </a:rPr>
              <a:t>Insertion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Each node </a:t>
            </a:r>
            <a:r>
              <a:rPr lang="en-US" sz="2000" b="1" dirty="0">
                <a:solidFill>
                  <a:srgbClr val="0070C0"/>
                </a:solidFill>
              </a:rPr>
              <a:t>v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in </a:t>
            </a:r>
            <a:r>
              <a:rPr lang="en-US" sz="2000" b="1" dirty="0">
                <a:solidFill>
                  <a:srgbClr val="00B050"/>
                </a:solidFill>
              </a:rPr>
              <a:t>T </a:t>
            </a:r>
            <a:r>
              <a:rPr lang="en-US" sz="2000" dirty="0"/>
              <a:t>maintains additional field </a:t>
            </a:r>
            <a:r>
              <a:rPr lang="en-US" sz="2000" b="1" dirty="0">
                <a:solidFill>
                  <a:srgbClr val="7030A0"/>
                </a:solidFill>
              </a:rPr>
              <a:t>size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) which is the number of nodes in the </a:t>
            </a:r>
            <a:r>
              <a:rPr lang="en-US" sz="2000" b="1" dirty="0" err="1">
                <a:solidFill>
                  <a:srgbClr val="002060"/>
                </a:solidFill>
              </a:rPr>
              <a:t>subtree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).</a:t>
            </a:r>
          </a:p>
          <a:p>
            <a:endParaRPr lang="en-US" sz="2000" dirty="0"/>
          </a:p>
          <a:p>
            <a:r>
              <a:rPr lang="en-US" sz="2000" dirty="0"/>
              <a:t>Keep </a:t>
            </a:r>
            <a:r>
              <a:rPr lang="en-US" sz="2000" b="1" dirty="0">
                <a:solidFill>
                  <a:srgbClr val="7030A0"/>
                </a:solidFill>
              </a:rPr>
              <a:t>Search</a:t>
            </a:r>
            <a:r>
              <a:rPr lang="en-US" sz="2000" dirty="0"/>
              <a:t>(</a:t>
            </a:r>
            <a:r>
              <a:rPr lang="en-US" sz="2000" b="1" dirty="0" err="1">
                <a:solidFill>
                  <a:srgbClr val="00B050"/>
                </a:solidFill>
              </a:rPr>
              <a:t>T</a:t>
            </a:r>
            <a:r>
              <a:rPr lang="en-US" sz="2000" dirty="0" err="1"/>
              <a:t>,</a:t>
            </a:r>
            <a:r>
              <a:rPr lang="en-US" sz="2000" dirty="0" err="1">
                <a:solidFill>
                  <a:srgbClr val="0070C0"/>
                </a:solidFill>
              </a:rPr>
              <a:t>x</a:t>
            </a:r>
            <a:r>
              <a:rPr lang="en-US" sz="2000" dirty="0"/>
              <a:t>) operation unchanged.</a:t>
            </a:r>
          </a:p>
          <a:p>
            <a:endParaRPr lang="en-US" sz="2000" dirty="0"/>
          </a:p>
          <a:p>
            <a:r>
              <a:rPr lang="en-US" sz="2000" dirty="0"/>
              <a:t>Modify </a:t>
            </a:r>
            <a:r>
              <a:rPr lang="en-US" sz="2000" b="1" dirty="0">
                <a:solidFill>
                  <a:srgbClr val="7030A0"/>
                </a:solidFill>
              </a:rPr>
              <a:t>Insert</a:t>
            </a:r>
            <a:r>
              <a:rPr lang="en-US" sz="2000" dirty="0"/>
              <a:t>(</a:t>
            </a:r>
            <a:r>
              <a:rPr lang="en-US" sz="2000" b="1" dirty="0" err="1">
                <a:solidFill>
                  <a:srgbClr val="00B050"/>
                </a:solidFill>
              </a:rPr>
              <a:t>T</a:t>
            </a:r>
            <a:r>
              <a:rPr lang="en-US" sz="2000" dirty="0" err="1"/>
              <a:t>,</a:t>
            </a:r>
            <a:r>
              <a:rPr lang="en-US" sz="2000" dirty="0" err="1">
                <a:solidFill>
                  <a:srgbClr val="0070C0"/>
                </a:solidFill>
              </a:rPr>
              <a:t>x</a:t>
            </a:r>
            <a:r>
              <a:rPr lang="en-US" sz="2000" dirty="0"/>
              <a:t>) operation as follows: </a:t>
            </a:r>
          </a:p>
          <a:p>
            <a:pPr lvl="1"/>
            <a:r>
              <a:rPr lang="en-US" sz="1800" dirty="0"/>
              <a:t>Carry out normal insert and update the </a:t>
            </a:r>
            <a:r>
              <a:rPr lang="en-US" sz="1800" b="1" dirty="0">
                <a:solidFill>
                  <a:srgbClr val="7030A0"/>
                </a:solidFill>
              </a:rPr>
              <a:t>size</a:t>
            </a:r>
            <a:r>
              <a:rPr lang="en-US" sz="1800" dirty="0"/>
              <a:t> fields of  nodes traversed.</a:t>
            </a:r>
          </a:p>
          <a:p>
            <a:pPr lvl="1"/>
            <a:r>
              <a:rPr lang="en-US" sz="1800" dirty="0"/>
              <a:t>If BST  </a:t>
            </a:r>
            <a:r>
              <a:rPr lang="en-US" sz="1800" b="1" dirty="0">
                <a:solidFill>
                  <a:srgbClr val="00B050"/>
                </a:solidFill>
              </a:rPr>
              <a:t>T </a:t>
            </a:r>
            <a:r>
              <a:rPr lang="en-US" sz="1800" dirty="0"/>
              <a:t>is ceases to be  </a:t>
            </a:r>
            <a:r>
              <a:rPr lang="en-US" sz="1800" b="1" dirty="0">
                <a:solidFill>
                  <a:srgbClr val="006C31"/>
                </a:solidFill>
              </a:rPr>
              <a:t>nearly</a:t>
            </a:r>
            <a:r>
              <a:rPr lang="en-US" sz="1800" b="1" dirty="0">
                <a:solidFill>
                  <a:srgbClr val="7030A0"/>
                </a:solidFill>
              </a:rPr>
              <a:t> imbalanced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/>
              <a:t>at any node 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, </a:t>
            </a:r>
          </a:p>
          <a:p>
            <a:pPr marL="457200" lvl="1" indent="0">
              <a:buNone/>
            </a:pPr>
            <a:r>
              <a:rPr lang="en-US" sz="1800" dirty="0"/>
              <a:t>      transform </a:t>
            </a:r>
            <a:r>
              <a:rPr lang="en-US" sz="1800" b="1" dirty="0" err="1">
                <a:solidFill>
                  <a:srgbClr val="002060"/>
                </a:solidFill>
              </a:rPr>
              <a:t>subtree</a:t>
            </a:r>
            <a:r>
              <a:rPr lang="en-US" sz="1800" b="1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b="1" dirty="0"/>
              <a:t>) </a:t>
            </a:r>
            <a:r>
              <a:rPr lang="en-US" sz="1800" dirty="0"/>
              <a:t>into</a:t>
            </a:r>
            <a:r>
              <a:rPr lang="en-US" sz="1800" b="1" dirty="0"/>
              <a:t>  </a:t>
            </a:r>
            <a:r>
              <a:rPr lang="en-US" sz="1800" b="1" dirty="0">
                <a:solidFill>
                  <a:srgbClr val="7030A0"/>
                </a:solidFill>
              </a:rPr>
              <a:t>perfectly balanced</a:t>
            </a:r>
            <a:r>
              <a:rPr lang="en-US" sz="1800" b="1" dirty="0"/>
              <a:t> BST</a:t>
            </a:r>
            <a:r>
              <a:rPr lang="en-US" sz="1800" dirty="0"/>
              <a:t>.</a:t>
            </a:r>
          </a:p>
          <a:p>
            <a:pPr marL="457200" lvl="1" indent="0">
              <a:buNone/>
            </a:pPr>
            <a:endParaRPr lang="en-US" sz="1800" b="1" dirty="0"/>
          </a:p>
          <a:p>
            <a:endParaRPr lang="en-US" sz="2000" dirty="0"/>
          </a:p>
          <a:p>
            <a:pPr marL="57150" indent="0">
              <a:buNone/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3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“</a:t>
            </a:r>
            <a:r>
              <a:rPr lang="en-US" sz="3600" b="1" dirty="0">
                <a:solidFill>
                  <a:srgbClr val="7030A0"/>
                </a:solidFill>
              </a:rPr>
              <a:t>Perfectly Balancing</a:t>
            </a:r>
            <a:r>
              <a:rPr lang="en-US" sz="3600" dirty="0"/>
              <a:t>” </a:t>
            </a:r>
            <a:r>
              <a:rPr lang="en-US" sz="3600" dirty="0" err="1"/>
              <a:t>subtree</a:t>
            </a:r>
            <a:r>
              <a:rPr lang="en-US" sz="3600" dirty="0"/>
              <a:t> at a node </a:t>
            </a:r>
            <a:r>
              <a:rPr lang="en-US" sz="3600" b="1" dirty="0">
                <a:solidFill>
                  <a:srgbClr val="00B0F0"/>
                </a:solidFill>
              </a:rPr>
              <a:t>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1377696" y="2057400"/>
            <a:ext cx="2737104" cy="3962400"/>
            <a:chOff x="1377696" y="2057400"/>
            <a:chExt cx="2737104" cy="3962400"/>
          </a:xfrm>
        </p:grpSpPr>
        <p:sp>
          <p:nvSpPr>
            <p:cNvPr id="5" name="Rectangle 4"/>
            <p:cNvSpPr/>
            <p:nvPr/>
          </p:nvSpPr>
          <p:spPr>
            <a:xfrm>
              <a:off x="2667000" y="2819400"/>
              <a:ext cx="4572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/>
            <p:cNvSpPr/>
            <p:nvPr/>
          </p:nvSpPr>
          <p:spPr>
            <a:xfrm>
              <a:off x="1377696" y="3886200"/>
              <a:ext cx="1136904" cy="21336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3206496" y="3886200"/>
              <a:ext cx="908304" cy="10668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1946148" y="3124200"/>
              <a:ext cx="720852" cy="76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7" idx="0"/>
            </p:cNvCxnSpPr>
            <p:nvPr/>
          </p:nvCxnSpPr>
          <p:spPr>
            <a:xfrm>
              <a:off x="3124200" y="3124200"/>
              <a:ext cx="536448" cy="76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2895600" y="2057400"/>
              <a:ext cx="685800" cy="762000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301938" y="28194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v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416296" y="1981200"/>
            <a:ext cx="2889504" cy="3429000"/>
            <a:chOff x="1377696" y="2057400"/>
            <a:chExt cx="2889504" cy="3429000"/>
          </a:xfrm>
        </p:grpSpPr>
        <p:sp>
          <p:nvSpPr>
            <p:cNvPr id="26" name="Rectangle 25"/>
            <p:cNvSpPr/>
            <p:nvPr/>
          </p:nvSpPr>
          <p:spPr>
            <a:xfrm>
              <a:off x="2667000" y="2819400"/>
              <a:ext cx="4572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377696" y="3886200"/>
              <a:ext cx="1217912" cy="16002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3124200" y="3886200"/>
              <a:ext cx="1143000" cy="16002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1946148" y="3124200"/>
              <a:ext cx="720852" cy="76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>
              <a:off x="3124200" y="3124200"/>
              <a:ext cx="571500" cy="76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2895600" y="2057400"/>
              <a:ext cx="685800" cy="762000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ight Arrow 34"/>
          <p:cNvSpPr/>
          <p:nvPr/>
        </p:nvSpPr>
        <p:spPr>
          <a:xfrm>
            <a:off x="4343400" y="3325368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45788" y="5757304"/>
                <a:ext cx="625812" cy="491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&gt;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US" b="1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𝟒</m:t>
                        </m:r>
                      </m:den>
                    </m:f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88" y="5757304"/>
                <a:ext cx="625812" cy="491096"/>
              </a:xfrm>
              <a:prstGeom prst="rect">
                <a:avLst/>
              </a:prstGeom>
              <a:blipFill rotWithShape="1">
                <a:blip r:embed="rId2"/>
                <a:stretch>
                  <a:fillRect l="-7767" r="-15534" b="-74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5604767" y="5205234"/>
            <a:ext cx="2396233" cy="1292364"/>
            <a:chOff x="5604767" y="5205234"/>
            <a:chExt cx="2396233" cy="1292364"/>
          </a:xfrm>
        </p:grpSpPr>
        <p:sp>
          <p:nvSpPr>
            <p:cNvPr id="11" name="Left-Up Arrow 10"/>
            <p:cNvSpPr/>
            <p:nvPr/>
          </p:nvSpPr>
          <p:spPr>
            <a:xfrm rot="2758934">
              <a:off x="6500634" y="5205234"/>
              <a:ext cx="850392" cy="850392"/>
            </a:xfrm>
            <a:prstGeom prst="leftUpArrow">
              <a:avLst>
                <a:gd name="adj1" fmla="val 16269"/>
                <a:gd name="adj2" fmla="val 17631"/>
                <a:gd name="adj3" fmla="val 17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604767" y="6128266"/>
              <a:ext cx="2396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Size differs by at most 1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68411" y="6172200"/>
            <a:ext cx="3498789" cy="457200"/>
            <a:chOff x="463610" y="5638800"/>
            <a:chExt cx="3498789" cy="457200"/>
          </a:xfrm>
        </p:grpSpPr>
        <p:sp>
          <p:nvSpPr>
            <p:cNvPr id="34" name="Right Brace 33"/>
            <p:cNvSpPr/>
            <p:nvPr/>
          </p:nvSpPr>
          <p:spPr>
            <a:xfrm rot="5400000">
              <a:off x="2323246" y="4456846"/>
              <a:ext cx="382708" cy="2895599"/>
            </a:xfrm>
            <a:prstGeom prst="rightBrace">
              <a:avLst/>
            </a:prstGeom>
            <a:noFill/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463610" y="5638800"/>
                  <a:ext cx="3709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610" y="5638800"/>
                  <a:ext cx="37093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ight Brace 36"/>
          <p:cNvSpPr/>
          <p:nvPr/>
        </p:nvSpPr>
        <p:spPr>
          <a:xfrm rot="5400000">
            <a:off x="1828801" y="5562600"/>
            <a:ext cx="304798" cy="1219199"/>
          </a:xfrm>
          <a:prstGeom prst="rightBrace">
            <a:avLst/>
          </a:prstGeom>
          <a:noFill/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8" name="Group 37"/>
          <p:cNvGrpSpPr/>
          <p:nvPr/>
        </p:nvGrpSpPr>
        <p:grpSpPr>
          <a:xfrm>
            <a:off x="4883211" y="6172200"/>
            <a:ext cx="3498789" cy="457200"/>
            <a:chOff x="463610" y="5638800"/>
            <a:chExt cx="3498789" cy="457200"/>
          </a:xfrm>
        </p:grpSpPr>
        <p:sp>
          <p:nvSpPr>
            <p:cNvPr id="39" name="Right Brace 38"/>
            <p:cNvSpPr/>
            <p:nvPr/>
          </p:nvSpPr>
          <p:spPr>
            <a:xfrm rot="5400000">
              <a:off x="2323246" y="4456846"/>
              <a:ext cx="382708" cy="2895599"/>
            </a:xfrm>
            <a:prstGeom prst="rightBrace">
              <a:avLst/>
            </a:prstGeom>
            <a:noFill/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463610" y="5638800"/>
                  <a:ext cx="3709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610" y="5638800"/>
                  <a:ext cx="37093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4197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3" grpId="0"/>
      <p:bldP spid="3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6C31"/>
                </a:solidFill>
              </a:rPr>
              <a:t>Nearly</a:t>
            </a:r>
            <a:r>
              <a:rPr lang="en-US" sz="3200" b="1" dirty="0">
                <a:solidFill>
                  <a:srgbClr val="7030A0"/>
                </a:solidFill>
              </a:rPr>
              <a:t> balanced </a:t>
            </a:r>
            <a:r>
              <a:rPr lang="en-US" sz="3200" b="1" dirty="0"/>
              <a:t>Binary Search Tree</a:t>
            </a:r>
            <a:br>
              <a:rPr lang="en-US" sz="3200" b="1" dirty="0"/>
            </a:br>
            <a:endParaRPr lang="en-IN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43000"/>
                <a:ext cx="84582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 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It takes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time to transform an imbalanced tree of size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 into a perfectly balanced BST. (It was given as </a:t>
                </a:r>
                <a:r>
                  <a:rPr lang="en-US" sz="2000"/>
                  <a:t>a Homework.)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Worst case search time in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balanced </a:t>
                </a:r>
                <a:r>
                  <a:rPr lang="en-US" sz="2000" b="1" dirty="0"/>
                  <a:t>BST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is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(log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For any arbitrary sequence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dirty="0"/>
                  <a:t>operations</a:t>
                </a:r>
                <a:r>
                  <a:rPr lang="en-US" sz="2000" dirty="0"/>
                  <a:t>, total time will be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log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7030A0"/>
                    </a:solidFill>
                  </a:rPr>
                  <a:t>We shall now prove this theorem formally.</a:t>
                </a:r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Watch the </a:t>
                </a:r>
                <a:r>
                  <a:rPr lang="en-US" sz="2000" b="1" dirty="0"/>
                  <a:t>next </a:t>
                </a:r>
                <a:r>
                  <a:rPr lang="en-US" sz="2000" dirty="0"/>
                  <a:t>slide slowly to get a useful insight.</a:t>
                </a:r>
              </a:p>
              <a:p>
                <a:pPr algn="ctr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43000"/>
                <a:ext cx="8458200" cy="5105400"/>
              </a:xfrm>
              <a:blipFill rotWithShape="1">
                <a:blip r:embed="rId2"/>
                <a:stretch>
                  <a:fillRect l="-793" t="-597" b="-8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1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Suppose </a:t>
            </a:r>
            <a:r>
              <a:rPr lang="en-US" sz="2000" b="1" dirty="0">
                <a:solidFill>
                  <a:srgbClr val="006C31"/>
                </a:solidFill>
              </a:rPr>
              <a:t>T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) is perfectly balanced at some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5721095" y="2057400"/>
            <a:ext cx="2813305" cy="3962400"/>
            <a:chOff x="1301495" y="2057400"/>
            <a:chExt cx="2813305" cy="3962400"/>
          </a:xfrm>
        </p:grpSpPr>
        <p:sp>
          <p:nvSpPr>
            <p:cNvPr id="5" name="Rectangle 4"/>
            <p:cNvSpPr/>
            <p:nvPr/>
          </p:nvSpPr>
          <p:spPr>
            <a:xfrm>
              <a:off x="2667000" y="2819400"/>
              <a:ext cx="4572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/>
            <p:cNvSpPr/>
            <p:nvPr/>
          </p:nvSpPr>
          <p:spPr>
            <a:xfrm>
              <a:off x="1301495" y="3886200"/>
              <a:ext cx="1441705" cy="21336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3206496" y="3886200"/>
              <a:ext cx="908304" cy="10668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1946148" y="3124200"/>
              <a:ext cx="720852" cy="76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7" idx="0"/>
            </p:cNvCxnSpPr>
            <p:nvPr/>
          </p:nvCxnSpPr>
          <p:spPr>
            <a:xfrm>
              <a:off x="3124200" y="3124200"/>
              <a:ext cx="536448" cy="76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2895600" y="2057400"/>
              <a:ext cx="685800" cy="762000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301938" y="28194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v</a:t>
              </a:r>
            </a:p>
          </p:txBody>
        </p:sp>
      </p:grpSp>
      <p:sp>
        <p:nvSpPr>
          <p:cNvPr id="35" name="Right Arrow 34"/>
          <p:cNvSpPr/>
          <p:nvPr/>
        </p:nvSpPr>
        <p:spPr>
          <a:xfrm>
            <a:off x="4343400" y="3325368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165388" y="5757304"/>
                <a:ext cx="625812" cy="491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&gt;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US" b="1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388" y="5757304"/>
                <a:ext cx="625812" cy="491096"/>
              </a:xfrm>
              <a:prstGeom prst="rect">
                <a:avLst/>
              </a:prstGeom>
              <a:blipFill rotWithShape="1">
                <a:blip r:embed="rId2"/>
                <a:stretch>
                  <a:fillRect l="-7767" r="-15534" b="-74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956567" y="5205234"/>
            <a:ext cx="2396233" cy="1292364"/>
            <a:chOff x="5604767" y="5205234"/>
            <a:chExt cx="2396233" cy="1292364"/>
          </a:xfrm>
        </p:grpSpPr>
        <p:sp>
          <p:nvSpPr>
            <p:cNvPr id="11" name="Left-Up Arrow 10"/>
            <p:cNvSpPr/>
            <p:nvPr/>
          </p:nvSpPr>
          <p:spPr>
            <a:xfrm rot="2758934">
              <a:off x="6500634" y="5205234"/>
              <a:ext cx="850392" cy="850392"/>
            </a:xfrm>
            <a:prstGeom prst="leftUpArrow">
              <a:avLst>
                <a:gd name="adj1" fmla="val 16269"/>
                <a:gd name="adj2" fmla="val 17631"/>
                <a:gd name="adj3" fmla="val 17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604767" y="6128266"/>
              <a:ext cx="2396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Size differs by at most 1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188011" y="6172200"/>
            <a:ext cx="3498789" cy="457200"/>
            <a:chOff x="463610" y="5638800"/>
            <a:chExt cx="3498789" cy="457200"/>
          </a:xfrm>
        </p:grpSpPr>
        <p:sp>
          <p:nvSpPr>
            <p:cNvPr id="34" name="Right Brace 33"/>
            <p:cNvSpPr/>
            <p:nvPr/>
          </p:nvSpPr>
          <p:spPr>
            <a:xfrm rot="5400000">
              <a:off x="2323246" y="4456846"/>
              <a:ext cx="382708" cy="2895599"/>
            </a:xfrm>
            <a:prstGeom prst="rightBrace">
              <a:avLst/>
            </a:prstGeom>
            <a:noFill/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463610" y="5638800"/>
                  <a:ext cx="4991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610" y="5638800"/>
                  <a:ext cx="499176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17073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Right Brace 36"/>
          <p:cNvSpPr/>
          <p:nvPr/>
        </p:nvSpPr>
        <p:spPr>
          <a:xfrm rot="5400000">
            <a:off x="6248401" y="5562600"/>
            <a:ext cx="304798" cy="1219199"/>
          </a:xfrm>
          <a:prstGeom prst="rightBrace">
            <a:avLst/>
          </a:prstGeom>
          <a:noFill/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8" name="Group 37"/>
          <p:cNvGrpSpPr/>
          <p:nvPr/>
        </p:nvGrpSpPr>
        <p:grpSpPr>
          <a:xfrm>
            <a:off x="235011" y="5791200"/>
            <a:ext cx="3498789" cy="457200"/>
            <a:chOff x="463610" y="5638800"/>
            <a:chExt cx="3498789" cy="457200"/>
          </a:xfrm>
        </p:grpSpPr>
        <p:sp>
          <p:nvSpPr>
            <p:cNvPr id="39" name="Right Brace 38"/>
            <p:cNvSpPr/>
            <p:nvPr/>
          </p:nvSpPr>
          <p:spPr>
            <a:xfrm rot="5400000">
              <a:off x="2323246" y="4456846"/>
              <a:ext cx="382708" cy="2895599"/>
            </a:xfrm>
            <a:prstGeom prst="rightBrace">
              <a:avLst/>
            </a:prstGeom>
            <a:noFill/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463610" y="5638800"/>
                  <a:ext cx="3709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610" y="5638800"/>
                  <a:ext cx="37093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Down Ribbon 7"/>
          <p:cNvSpPr/>
          <p:nvPr/>
        </p:nvSpPr>
        <p:spPr>
          <a:xfrm>
            <a:off x="420478" y="457200"/>
            <a:ext cx="8723522" cy="914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How many </a:t>
            </a:r>
            <a:r>
              <a:rPr lang="en-US" sz="2000" u="sng" dirty="0">
                <a:solidFill>
                  <a:schemeClr val="tx1"/>
                </a:solidFill>
              </a:rPr>
              <a:t>new elements</a:t>
            </a:r>
            <a:r>
              <a:rPr lang="en-US" sz="2000" dirty="0">
                <a:solidFill>
                  <a:schemeClr val="tx1"/>
                </a:solidFill>
              </a:rPr>
              <a:t> to make </a:t>
            </a:r>
            <a:r>
              <a:rPr lang="en-US" sz="2000" b="1" dirty="0">
                <a:solidFill>
                  <a:srgbClr val="006C31"/>
                </a:solidFill>
              </a:rPr>
              <a:t>T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b="1" dirty="0">
                <a:solidFill>
                  <a:srgbClr val="0070C0"/>
                </a:solidFill>
              </a:rPr>
              <a:t>v</a:t>
            </a:r>
            <a:r>
              <a:rPr lang="en-US" sz="2000" dirty="0">
                <a:solidFill>
                  <a:schemeClr val="tx1"/>
                </a:solidFill>
              </a:rPr>
              <a:t>) imbalanced ?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2708148" y="2133600"/>
            <a:ext cx="187452" cy="1524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/>
          <p:cNvSpPr/>
          <p:nvPr/>
        </p:nvSpPr>
        <p:spPr>
          <a:xfrm>
            <a:off x="2743200" y="2133600"/>
            <a:ext cx="187452" cy="1524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/>
          <p:cNvSpPr/>
          <p:nvPr/>
        </p:nvSpPr>
        <p:spPr>
          <a:xfrm>
            <a:off x="2743200" y="2133600"/>
            <a:ext cx="187452" cy="1524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" name="Group 16"/>
          <p:cNvGrpSpPr/>
          <p:nvPr/>
        </p:nvGrpSpPr>
        <p:grpSpPr>
          <a:xfrm>
            <a:off x="768096" y="1981200"/>
            <a:ext cx="2889504" cy="3429000"/>
            <a:chOff x="768096" y="1981200"/>
            <a:chExt cx="2889504" cy="3429000"/>
          </a:xfrm>
        </p:grpSpPr>
        <p:grpSp>
          <p:nvGrpSpPr>
            <p:cNvPr id="25" name="Group 24"/>
            <p:cNvGrpSpPr/>
            <p:nvPr/>
          </p:nvGrpSpPr>
          <p:grpSpPr>
            <a:xfrm>
              <a:off x="768096" y="1981200"/>
              <a:ext cx="2889504" cy="3429000"/>
              <a:chOff x="1377696" y="2057400"/>
              <a:chExt cx="2889504" cy="34290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2667000" y="2819400"/>
                <a:ext cx="4572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Isosceles Triangle 26"/>
              <p:cNvSpPr/>
              <p:nvPr/>
            </p:nvSpPr>
            <p:spPr>
              <a:xfrm>
                <a:off x="1377696" y="3886200"/>
                <a:ext cx="1217912" cy="1600200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Isosceles Triangle 27"/>
              <p:cNvSpPr/>
              <p:nvPr/>
            </p:nvSpPr>
            <p:spPr>
              <a:xfrm>
                <a:off x="3124200" y="3886200"/>
                <a:ext cx="1143000" cy="1600200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 flipH="1">
                <a:off x="1946148" y="3124200"/>
                <a:ext cx="720852" cy="76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endCxn id="28" idx="0"/>
              </p:cNvCxnSpPr>
              <p:nvPr/>
            </p:nvCxnSpPr>
            <p:spPr>
              <a:xfrm>
                <a:off x="3124200" y="3124200"/>
                <a:ext cx="571500" cy="76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H="1">
                <a:off x="2895600" y="2057400"/>
                <a:ext cx="685800" cy="762000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/>
            <p:cNvSpPr txBox="1"/>
            <p:nvPr/>
          </p:nvSpPr>
          <p:spPr>
            <a:xfrm>
              <a:off x="1763730" y="26670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v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568446" y="762000"/>
                <a:ext cx="748858" cy="46166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≥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IN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446" y="762000"/>
                <a:ext cx="748858" cy="461665"/>
              </a:xfrm>
              <a:prstGeom prst="rect">
                <a:avLst/>
              </a:prstGeom>
              <a:blipFill rotWithShape="1">
                <a:blip r:embed="rId5"/>
                <a:stretch>
                  <a:fillRect t="-10526" r="-16393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64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22222E-6 L -0.15642 0.22222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46 L -0.03767 0.0544 C -0.05451 0.07963 -0.04757 0.14514 -0.02396 0.17222 L 0.02483 0.23218 " pathEditMode="relative" rAng="2553427" ptsTypes="FfFF">
                                      <p:cBhvr>
                                        <p:cTn id="4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5" y="1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22222E-6 L -0.15642 0.22222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5" grpId="0" animBg="1"/>
      <p:bldP spid="33" grpId="0"/>
      <p:bldP spid="37" grpId="0" animBg="1"/>
      <p:bldP spid="8" grpId="0" animBg="1"/>
      <p:bldP spid="16" grpId="0" animBg="1"/>
      <p:bldP spid="16" grpId="1" animBg="1"/>
      <p:bldP spid="16" grpId="2" animBg="1"/>
      <p:bldP spid="41" grpId="0" animBg="1"/>
      <p:bldP spid="41" grpId="1" animBg="1"/>
      <p:bldP spid="41" grpId="2" animBg="1"/>
      <p:bldP spid="43" grpId="0" animBg="1"/>
      <p:bldP spid="43" grpId="1" animBg="1"/>
      <p:bldP spid="43" grpId="2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</a:t>
            </a:r>
            <a:r>
              <a:rPr lang="en-US" sz="3600" b="1" dirty="0">
                <a:solidFill>
                  <a:srgbClr val="7030A0"/>
                </a:solidFill>
              </a:rPr>
              <a:t>intuition </a:t>
            </a:r>
            <a:r>
              <a:rPr lang="en-US" sz="3600" b="1" dirty="0"/>
              <a:t>for proving the </a:t>
            </a:r>
            <a:r>
              <a:rPr lang="en-US" sz="3600" b="1" dirty="0">
                <a:solidFill>
                  <a:srgbClr val="C00000"/>
                </a:solidFill>
              </a:rPr>
              <a:t>Theorem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“A perfectly balanced </a:t>
            </a:r>
            <a:r>
              <a:rPr lang="en-US" sz="2000" dirty="0" err="1"/>
              <a:t>subtree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6C31"/>
                </a:solidFill>
              </a:rPr>
              <a:t>T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)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will have to have  </a:t>
            </a:r>
            <a:r>
              <a:rPr lang="en-US" sz="2000" b="1" u="sng" dirty="0">
                <a:solidFill>
                  <a:srgbClr val="7030A0"/>
                </a:solidFill>
              </a:rPr>
              <a:t>large number of insertions </a:t>
            </a:r>
          </a:p>
          <a:p>
            <a:pPr marL="0" indent="0">
              <a:buNone/>
            </a:pPr>
            <a:r>
              <a:rPr lang="en-US" sz="2000" dirty="0"/>
              <a:t>before it becomes unbalanced enough to be rebuilt again.”</a:t>
            </a:r>
          </a:p>
          <a:p>
            <a:pPr marL="0" indent="0">
              <a:buNone/>
            </a:pPr>
            <a:endParaRPr lang="en-US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000" dirty="0"/>
              <a:t>We shall transform this intuition into a formal proof now.</a:t>
            </a:r>
            <a:endParaRPr lang="en-US" sz="2000" b="1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2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Notations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                 : no. of nodes in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</m:oMath>
                </a14:m>
                <a:r>
                  <a:rPr lang="en-US" sz="2000" dirty="0"/>
                  <a:t>) at any moment.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insertion, </a:t>
                </a:r>
                <a:endParaRPr lang="en-US" sz="20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  <m:r>
                      <a:rPr lang="en-US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IN" sz="20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/>
                        </m:eqArr>
                      </m:e>
                    </m:d>
                  </m:oMath>
                </a14:m>
                <a:endParaRPr lang="en-IN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For a nearly balanced BST, what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(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000" i="1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0" smtClean="0">
                          <a:latin typeface="Cambria Math"/>
                        </a:rPr>
                        <m:t>  ?</m:t>
                      </m:r>
                    </m:oMath>
                  </m:oMathPara>
                </a14:m>
                <a:endParaRPr lang="en-I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  <m:brk m:alnAt="7"/>
                            </m:rPr>
                            <a:rPr lang="en-US" sz="2000" b="0" i="0" smtClean="0"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/>
                            </a:rPr>
                            <m:t>o</m:t>
                          </m:r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𝑣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2000" i="1">
                              <a:latin typeface="Cambria Math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IN" sz="2000" dirty="0"/>
                            <m:t> 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?</m:t>
                          </m:r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05400" y="4202668"/>
                <a:ext cx="96693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/>
                  <a:t>(log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b="1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4202668"/>
                <a:ext cx="96693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5696" t="-8197" r="-9494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4888468"/>
                <a:ext cx="1151213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/>
                  <a:t>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/>
                  <a:t>log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b="1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4888468"/>
                <a:ext cx="115121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787" t="-8197" r="-8511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7200" y="1600200"/>
                <a:ext cx="100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𝐬𝐢𝐳𝐞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1007327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6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447800" y="2743200"/>
                <a:ext cx="3543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</a:rPr>
                      <m:t>𝟏</m:t>
                    </m:r>
                    <m:r>
                      <a:rPr lang="en-US" i="1">
                        <a:latin typeface="Cambria Math"/>
                      </a:rPr>
                      <m:t>  </m:t>
                    </m:r>
                    <m:r>
                      <m:rPr>
                        <m:nor/>
                      </m:rPr>
                      <a:rPr lang="en-US" dirty="0"/>
                      <m:t>if</m:t>
                    </m:r>
                    <m:r>
                      <m:rPr>
                        <m:nor/>
                      </m:rPr>
                      <a:rPr lang="en-US" dirty="0"/>
                      <m:t>  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m:rPr>
                        <m:nor/>
                      </m:rPr>
                      <a:rPr lang="en-US" dirty="0" err="1"/>
                      <m:t>th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insertion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increases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1" i="0" dirty="0" smtClean="0">
                        <a:solidFill>
                          <a:srgbClr val="7030A0"/>
                        </a:solidFill>
                        <a:latin typeface="Cambria Math"/>
                      </a:rPr>
                      <m:t>𝐬𝐢𝐳𝐞</m:t>
                    </m:r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2743200"/>
                <a:ext cx="3543278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206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47800" y="3048000"/>
                <a:ext cx="14382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𝟎</m:t>
                      </m:r>
                      <m:r>
                        <m:rPr>
                          <m:nor/>
                        </m:rPr>
                        <a:rPr lang="en-US">
                          <a:latin typeface="Cambria Math"/>
                        </a:rPr>
                        <m:t>  </m:t>
                      </m:r>
                      <m:r>
                        <m:rPr>
                          <m:nor/>
                        </m:rPr>
                        <a:rPr lang="en-US" dirty="0"/>
                        <m:t>Otherwise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048000"/>
                <a:ext cx="1438214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595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Line Callout 1 9"/>
              <p:cNvSpPr/>
              <p:nvPr/>
            </p:nvSpPr>
            <p:spPr>
              <a:xfrm>
                <a:off x="5791201" y="2349190"/>
                <a:ext cx="3200400" cy="1667780"/>
              </a:xfrm>
              <a:prstGeom prst="borderCallout1">
                <a:avLst>
                  <a:gd name="adj1" fmla="val 49693"/>
                  <a:gd name="adj2" fmla="val -609"/>
                  <a:gd name="adj3" fmla="val 110600"/>
                  <a:gd name="adj4" fmla="val -1395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This is because 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sz="16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1600" dirty="0">
                    <a:solidFill>
                      <a:schemeClr val="tx1"/>
                    </a:solidFill>
                  </a:rPr>
                  <a:t>, being nearly Balanced, has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(log</a:t>
                </a:r>
                <a:r>
                  <a:rPr lang="en-US" sz="1600" b="1" dirty="0"/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)</a:t>
                </a:r>
                <a:r>
                  <a:rPr lang="en-IN" sz="1600" dirty="0"/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height.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      and 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an insertion can increase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size</a:t>
                </a:r>
                <a:r>
                  <a:rPr lang="en-US" sz="1600" dirty="0">
                    <a:solidFill>
                      <a:schemeClr val="tx1"/>
                    </a:solidFill>
                  </a:rPr>
                  <a:t> field for only the nodes lying along a root to leaf path.</a:t>
                </a:r>
              </a:p>
            </p:txBody>
          </p:sp>
        </mc:Choice>
        <mc:Fallback xmlns="">
          <p:sp>
            <p:nvSpPr>
              <p:cNvPr id="10" name="Line Callout 1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1" y="2349190"/>
                <a:ext cx="3200400" cy="1667780"/>
              </a:xfrm>
              <a:prstGeom prst="borderCallout1">
                <a:avLst>
                  <a:gd name="adj1" fmla="val 49693"/>
                  <a:gd name="adj2" fmla="val -609"/>
                  <a:gd name="adj3" fmla="val 110600"/>
                  <a:gd name="adj4" fmla="val -13958"/>
                </a:avLst>
              </a:prstGeom>
              <a:blipFill rotWithShape="1">
                <a:blip r:embed="rId8"/>
                <a:stretch>
                  <a:fillRect t="-3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85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/>
      <p:bldP spid="8" grpId="0"/>
      <p:bldP spid="9" grpId="0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Journey</a:t>
                </a:r>
                <a:r>
                  <a:rPr lang="en-US" sz="3200" b="1" dirty="0"/>
                  <a:t> of an element/node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</m:oMath>
                </a14:m>
                <a:r>
                  <a:rPr lang="en-IN" sz="3200" b="1" dirty="0"/>
                  <a:t> during </a:t>
                </a: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br>
                  <a:rPr lang="en-IN" sz="3200" dirty="0">
                    <a:solidFill>
                      <a:srgbClr val="0070C0"/>
                    </a:solidFill>
                  </a:rPr>
                </a:br>
                <a:r>
                  <a:rPr lang="en-IN" sz="3200" b="1" dirty="0"/>
                  <a:t>insertions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7030A0"/>
                        </a:solidFill>
                        <a:latin typeface="Cambria Math"/>
                      </a:rPr>
                      <m:t>𝐬𝐢𝐳𝐞</m:t>
                    </m:r>
                    <m:r>
                      <a:rPr lang="en-US" sz="2000" i="1">
                        <a:latin typeface="Cambria Math"/>
                      </a:rPr>
                      <m:t>(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after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IN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insertions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IN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is the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7030A0"/>
                        </a:solidFill>
                        <a:latin typeface="Cambria Math"/>
                      </a:rPr>
                      <m:t>𝐬𝐢𝐳𝐞</m:t>
                    </m:r>
                    <m:r>
                      <a:rPr lang="en-US" sz="2000" i="1">
                        <a:latin typeface="Cambria Math"/>
                      </a:rPr>
                      <m:t>(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after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insertions ? 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might be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  <m:r>
                          <a:rPr lang="en-US" sz="2000" b="0" i="1" smtClean="0">
                            <a:latin typeface="Cambria Math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𝑰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>
                        <a:latin typeface="Cambria Math"/>
                      </a:rPr>
                      <m:t>  ?</m:t>
                    </m:r>
                  </m:oMath>
                </a14:m>
                <a:endParaRPr lang="en-IN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 </a:t>
                </a:r>
                <a:r>
                  <a:rPr lang="en-US" sz="2000" dirty="0"/>
                  <a:t>Time complexity of rebalancing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</m:oMath>
                </a14:m>
                <a:r>
                  <a:rPr lang="en-US" sz="2000" dirty="0"/>
                  <a:t>) after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insertion =     ?</a:t>
                </a: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3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304800" y="2590800"/>
            <a:ext cx="8458200" cy="114300"/>
            <a:chOff x="762000" y="2590800"/>
            <a:chExt cx="8458200" cy="114300"/>
          </a:xfrm>
        </p:grpSpPr>
        <p:sp>
          <p:nvSpPr>
            <p:cNvPr id="5" name="Oval 4"/>
            <p:cNvSpPr/>
            <p:nvPr/>
          </p:nvSpPr>
          <p:spPr>
            <a:xfrm>
              <a:off x="7620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/>
            <p:cNvSpPr/>
            <p:nvPr/>
          </p:nvSpPr>
          <p:spPr>
            <a:xfrm>
              <a:off x="12954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/>
            <p:cNvSpPr/>
            <p:nvPr/>
          </p:nvSpPr>
          <p:spPr>
            <a:xfrm>
              <a:off x="18669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/>
            <p:cNvSpPr/>
            <p:nvPr/>
          </p:nvSpPr>
          <p:spPr>
            <a:xfrm>
              <a:off x="24384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30099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35433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41148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46863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2197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57531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3246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68961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4295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629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5344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9105900" y="2590800"/>
              <a:ext cx="114300" cy="114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28600" y="1383268"/>
            <a:ext cx="433965" cy="978932"/>
            <a:chOff x="228600" y="1383268"/>
            <a:chExt cx="433965" cy="978932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381000" y="1798638"/>
              <a:ext cx="0" cy="563562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28600" y="1383268"/>
                  <a:ext cx="4339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" y="1383268"/>
                  <a:ext cx="433965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831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/>
          <p:cNvGrpSpPr/>
          <p:nvPr/>
        </p:nvGrpSpPr>
        <p:grpSpPr>
          <a:xfrm>
            <a:off x="8580821" y="1371600"/>
            <a:ext cx="374590" cy="978932"/>
            <a:chOff x="228600" y="1383268"/>
            <a:chExt cx="374590" cy="978932"/>
          </a:xfrm>
        </p:grpSpPr>
        <p:cxnSp>
          <p:nvCxnSpPr>
            <p:cNvPr id="28" name="Straight Arrow Connector 27"/>
            <p:cNvCxnSpPr/>
            <p:nvPr/>
          </p:nvCxnSpPr>
          <p:spPr>
            <a:xfrm>
              <a:off x="381000" y="1798638"/>
              <a:ext cx="0" cy="563562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28600" y="1383268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" y="1383268"/>
                  <a:ext cx="37459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/>
          <p:cNvGrpSpPr/>
          <p:nvPr/>
        </p:nvGrpSpPr>
        <p:grpSpPr>
          <a:xfrm>
            <a:off x="4161221" y="1383268"/>
            <a:ext cx="324896" cy="978932"/>
            <a:chOff x="228600" y="1383268"/>
            <a:chExt cx="324896" cy="978932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381000" y="1798638"/>
              <a:ext cx="0" cy="563562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228600" y="1383268"/>
                  <a:ext cx="3248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" y="1383268"/>
                  <a:ext cx="32489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/>
          <p:cNvGrpSpPr/>
          <p:nvPr/>
        </p:nvGrpSpPr>
        <p:grpSpPr>
          <a:xfrm>
            <a:off x="6869412" y="1371600"/>
            <a:ext cx="369588" cy="978932"/>
            <a:chOff x="228600" y="1383268"/>
            <a:chExt cx="369588" cy="978932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381000" y="1798638"/>
              <a:ext cx="0" cy="563562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228600" y="1383268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𝑞</m:t>
                        </m:r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" y="1383268"/>
                  <a:ext cx="369588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ectangle 38"/>
          <p:cNvSpPr/>
          <p:nvPr/>
        </p:nvSpPr>
        <p:spPr>
          <a:xfrm>
            <a:off x="4495800" y="2362200"/>
            <a:ext cx="152400" cy="533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/>
          <p:cNvSpPr/>
          <p:nvPr/>
        </p:nvSpPr>
        <p:spPr>
          <a:xfrm>
            <a:off x="7239000" y="2362200"/>
            <a:ext cx="152400" cy="533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/>
          <p:cNvSpPr/>
          <p:nvPr/>
        </p:nvSpPr>
        <p:spPr>
          <a:xfrm>
            <a:off x="1143000" y="2362200"/>
            <a:ext cx="152400" cy="533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/>
          <p:cNvSpPr/>
          <p:nvPr/>
        </p:nvSpPr>
        <p:spPr>
          <a:xfrm>
            <a:off x="2819400" y="2362200"/>
            <a:ext cx="152400" cy="533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" name="Straight Connector 43"/>
          <p:cNvCxnSpPr/>
          <p:nvPr/>
        </p:nvCxnSpPr>
        <p:spPr>
          <a:xfrm>
            <a:off x="1219200" y="2895600"/>
            <a:ext cx="1866900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2895600" y="2895600"/>
            <a:ext cx="5334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114800" y="2895600"/>
            <a:ext cx="5334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4323669" y="2895600"/>
            <a:ext cx="2991531" cy="990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819400" y="3657600"/>
                <a:ext cx="1743362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Rebalancing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657600"/>
                <a:ext cx="1743362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787" t="-6349" r="-4878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 62"/>
          <p:cNvGrpSpPr/>
          <p:nvPr/>
        </p:nvGrpSpPr>
        <p:grpSpPr>
          <a:xfrm>
            <a:off x="4343400" y="3581400"/>
            <a:ext cx="685800" cy="1066800"/>
            <a:chOff x="768096" y="1981200"/>
            <a:chExt cx="2889504" cy="3429000"/>
          </a:xfrm>
        </p:grpSpPr>
        <p:grpSp>
          <p:nvGrpSpPr>
            <p:cNvPr id="64" name="Group 63"/>
            <p:cNvGrpSpPr/>
            <p:nvPr/>
          </p:nvGrpSpPr>
          <p:grpSpPr>
            <a:xfrm>
              <a:off x="768096" y="1981200"/>
              <a:ext cx="2889504" cy="3429000"/>
              <a:chOff x="1377696" y="2057400"/>
              <a:chExt cx="2889504" cy="3429000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2667000" y="2819400"/>
                <a:ext cx="4572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Isosceles Triangle 66"/>
              <p:cNvSpPr/>
              <p:nvPr/>
            </p:nvSpPr>
            <p:spPr>
              <a:xfrm>
                <a:off x="1377696" y="3886200"/>
                <a:ext cx="1217912" cy="1600200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Isosceles Triangle 67"/>
              <p:cNvSpPr/>
              <p:nvPr/>
            </p:nvSpPr>
            <p:spPr>
              <a:xfrm>
                <a:off x="3124200" y="3886200"/>
                <a:ext cx="1143000" cy="1600200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Arrow Connector 68"/>
              <p:cNvCxnSpPr/>
              <p:nvPr/>
            </p:nvCxnSpPr>
            <p:spPr>
              <a:xfrm flipH="1">
                <a:off x="1946148" y="3124200"/>
                <a:ext cx="720852" cy="76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>
                <a:endCxn id="68" idx="0"/>
              </p:cNvCxnSpPr>
              <p:nvPr/>
            </p:nvCxnSpPr>
            <p:spPr>
              <a:xfrm>
                <a:off x="3124200" y="3124200"/>
                <a:ext cx="571500" cy="76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/>
              <p:nvPr/>
            </p:nvCxnSpPr>
            <p:spPr>
              <a:xfrm flipH="1">
                <a:off x="2895600" y="2057400"/>
                <a:ext cx="685800" cy="762000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TextBox 64"/>
            <p:cNvSpPr txBox="1"/>
            <p:nvPr/>
          </p:nvSpPr>
          <p:spPr>
            <a:xfrm>
              <a:off x="1763732" y="2667000"/>
              <a:ext cx="778333" cy="11871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6629400" y="3581400"/>
            <a:ext cx="609600" cy="1447800"/>
            <a:chOff x="1301495" y="2057400"/>
            <a:chExt cx="2813305" cy="3962400"/>
          </a:xfrm>
        </p:grpSpPr>
        <p:sp>
          <p:nvSpPr>
            <p:cNvPr id="73" name="Rectangle 72"/>
            <p:cNvSpPr/>
            <p:nvPr/>
          </p:nvSpPr>
          <p:spPr>
            <a:xfrm>
              <a:off x="2667000" y="2819400"/>
              <a:ext cx="4572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Isosceles Triangle 73"/>
            <p:cNvSpPr/>
            <p:nvPr/>
          </p:nvSpPr>
          <p:spPr>
            <a:xfrm>
              <a:off x="1301495" y="3886200"/>
              <a:ext cx="1441705" cy="21336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Isosceles Triangle 74"/>
            <p:cNvSpPr/>
            <p:nvPr/>
          </p:nvSpPr>
          <p:spPr>
            <a:xfrm>
              <a:off x="3206496" y="3886200"/>
              <a:ext cx="908304" cy="10668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/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H="1">
              <a:off x="1946148" y="3124200"/>
              <a:ext cx="720852" cy="76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endCxn id="75" idx="0"/>
            </p:cNvCxnSpPr>
            <p:nvPr/>
          </p:nvCxnSpPr>
          <p:spPr>
            <a:xfrm>
              <a:off x="3124200" y="3124200"/>
              <a:ext cx="536448" cy="76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flipH="1">
              <a:off x="2895600" y="2057400"/>
              <a:ext cx="685800" cy="762000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301940" y="2819400"/>
              <a:ext cx="852534" cy="10108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81" name="Straight Connector 80"/>
          <p:cNvCxnSpPr>
            <a:stCxn id="13" idx="4"/>
          </p:cNvCxnSpPr>
          <p:nvPr/>
        </p:nvCxnSpPr>
        <p:spPr>
          <a:xfrm>
            <a:off x="4819650" y="2705100"/>
            <a:ext cx="0" cy="876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010400" y="2743200"/>
            <a:ext cx="20512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5245745" y="4881551"/>
                <a:ext cx="736420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≥</m:t>
                      </m:r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745" y="4881551"/>
                <a:ext cx="73642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108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571186" y="5257800"/>
                <a:ext cx="608180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≥</m:t>
                      </m:r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186" y="5257800"/>
                <a:ext cx="60818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790844" y="5638800"/>
                <a:ext cx="1789977" cy="43345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/>
                  <a:t>(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𝑟</m:t>
                        </m:r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+1</m:t>
                        </m:r>
                      </m:sub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𝑰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𝑣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b="1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844" y="5638800"/>
                <a:ext cx="1789977" cy="433452"/>
              </a:xfrm>
              <a:prstGeom prst="rect">
                <a:avLst/>
              </a:prstGeom>
              <a:blipFill>
                <a:blip r:embed="rId11"/>
                <a:stretch>
                  <a:fillRect l="-2817" t="-94286" r="-2113" b="-1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50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9" grpId="0" animBg="1"/>
      <p:bldP spid="40" grpId="0" animBg="1"/>
      <p:bldP spid="41" grpId="0" animBg="1"/>
      <p:bldP spid="42" grpId="0" animBg="1"/>
      <p:bldP spid="56" grpId="0" animBg="1"/>
      <p:bldP spid="56" grpId="1" animBg="1"/>
      <p:bldP spid="86" grpId="0" animBg="1"/>
      <p:bldP spid="89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7030A0"/>
                    </a:solidFill>
                  </a:rPr>
                  <a:t>Time complexity </a:t>
                </a:r>
                <a:r>
                  <a:rPr lang="en-US" sz="3600" b="1" dirty="0"/>
                  <a:t>of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3600" b="1" dirty="0"/>
                  <a:t> insertions</a:t>
                </a:r>
                <a:endParaRPr lang="en-IN" sz="36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For a vertex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Time complexity of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rebalancing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</m:oMath>
                </a14:m>
                <a:r>
                  <a:rPr lang="en-US" sz="2000" dirty="0"/>
                  <a:t>) during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insertions = </a:t>
                </a:r>
                <a:r>
                  <a:rPr lang="en-US" sz="2000" dirty="0"/>
                  <a:t>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For all vertices, </a:t>
                </a:r>
              </a:p>
              <a:p>
                <a:pPr marL="0" indent="0">
                  <a:buNone/>
                </a:pPr>
                <a:r>
                  <a:rPr lang="en-US" sz="2000" dirty="0"/>
                  <a:t>the time complexity of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rebalancing</a:t>
                </a:r>
                <a:r>
                  <a:rPr lang="en-US" sz="2000" dirty="0"/>
                  <a:t> during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insertions </a:t>
                </a:r>
                <a:r>
                  <a:rPr lang="en-US" sz="2000" dirty="0"/>
                  <a:t> =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After swapping these two “summations”  </a:t>
                </a:r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60465" y="1676400"/>
                <a:ext cx="1291187" cy="97045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𝑟</m:t>
                          </m:r>
                          <m:r>
                            <a:rPr lang="en-US" sz="2000" i="1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sub>
                        <m:sup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(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465" y="1676400"/>
                <a:ext cx="1291187" cy="970458"/>
              </a:xfrm>
              <a:prstGeom prst="rect">
                <a:avLst/>
              </a:prstGeom>
              <a:blipFill rotWithShape="1">
                <a:blip r:embed="rId4"/>
                <a:stretch>
                  <a:fillRect r="-7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57400" y="5259860"/>
                <a:ext cx="2095445" cy="764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  <m:brk m:alnAt="7"/>
                            </m:rPr>
                            <a:rPr lang="en-US"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o</m:t>
                          </m:r>
                          <m:r>
                            <m:rPr>
                              <m:brk m:alnAt="7"/>
                            </m:rP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𝑣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259860"/>
                <a:ext cx="2095445" cy="764505"/>
              </a:xfrm>
              <a:prstGeom prst="rect">
                <a:avLst/>
              </a:prstGeom>
              <a:blipFill rotWithShape="1">
                <a:blip r:embed="rId5"/>
                <a:stretch>
                  <a:fillRect r="-55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191000" y="5410200"/>
                <a:ext cx="1319528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=</a:t>
                </a:r>
                <a:r>
                  <a:rPr lang="en-US" b="1" dirty="0">
                    <a:solidFill>
                      <a:srgbClr val="C00000"/>
                    </a:solidFill>
                  </a:rPr>
                  <a:t> O</a:t>
                </a:r>
                <a:r>
                  <a:rPr lang="en-US" b="1" dirty="0"/>
                  <a:t>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/>
                  <a:t>log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b="1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410200"/>
                <a:ext cx="1319528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4167" t="-8333" r="-740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491727" y="3583884"/>
                <a:ext cx="1661673" cy="91191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𝑣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727" y="3583884"/>
                <a:ext cx="1661673" cy="911916"/>
              </a:xfrm>
              <a:prstGeom prst="rect">
                <a:avLst/>
              </a:prstGeom>
              <a:blipFill rotWithShape="1">
                <a:blip r:embed="rId7"/>
                <a:stretch>
                  <a:fillRect r="-40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47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For any arbitrary sequence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insert </a:t>
                </a:r>
                <a:r>
                  <a:rPr lang="en-US" sz="2000" b="1" dirty="0"/>
                  <a:t>operations</a:t>
                </a:r>
                <a:r>
                  <a:rPr lang="en-US" sz="2000" dirty="0"/>
                  <a:t>, total time to maintain </a:t>
                </a:r>
                <a:r>
                  <a:rPr lang="en-US" sz="2000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7030A0"/>
                    </a:solidFill>
                  </a:rPr>
                  <a:t>balanced </a:t>
                </a:r>
                <a:r>
                  <a:rPr lang="en-US" sz="2000" dirty="0"/>
                  <a:t>BST will be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log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dirty="0"/>
                  <a:t>.</a:t>
                </a:r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8836</TotalTime>
  <Words>1808</Words>
  <Application>Microsoft Macintosh PowerPoint</Application>
  <PresentationFormat>On-screen Show (4:3)</PresentationFormat>
  <Paragraphs>427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 A Red Black Tree is height balanced </vt:lpstr>
      <vt:lpstr>Red Black Tree</vt:lpstr>
      <vt:lpstr>A red-black tree</vt:lpstr>
      <vt:lpstr>Terminologies</vt:lpstr>
      <vt:lpstr>Red-black tree: as a Full Binary Tree</vt:lpstr>
      <vt:lpstr>Red-black tree: as a Full Binary Tree</vt:lpstr>
      <vt:lpstr>Red-black tree: as a Full Binary Tree</vt:lpstr>
      <vt:lpstr> Properties of  a Red-Black Tree viewed as a full binary tree </vt:lpstr>
      <vt:lpstr>A full binary tree </vt:lpstr>
      <vt:lpstr>A full binary tree</vt:lpstr>
      <vt:lpstr>A full binary tree</vt:lpstr>
      <vt:lpstr>A full binary tree</vt:lpstr>
      <vt:lpstr> A complete binary tree of height h and its Properties </vt:lpstr>
      <vt:lpstr>A complete binary tree of height h</vt:lpstr>
      <vt:lpstr>A complete binary tree of height h</vt:lpstr>
      <vt:lpstr>A complete binary tree of height h        </vt:lpstr>
      <vt:lpstr>Uniqueness  of a complete binary tree of height h </vt:lpstr>
      <vt:lpstr>Uniqueness  of a complete binary tree of height h </vt:lpstr>
      <vt:lpstr>Uniqueness  of a complete binary tree of height h </vt:lpstr>
      <vt:lpstr>PowerPoint Presentation</vt:lpstr>
      <vt:lpstr> A Red Black Tree is height balanced </vt:lpstr>
      <vt:lpstr>PowerPoint Presentation</vt:lpstr>
      <vt:lpstr>Nearly Balanced BST</vt:lpstr>
      <vt:lpstr>Nearly balanced Binary Search Tree </vt:lpstr>
      <vt:lpstr>Nearly balanced Binary Search Tree </vt:lpstr>
      <vt:lpstr>“Perfectly Balancing” subtree at a node v</vt:lpstr>
      <vt:lpstr>Nearly balanced Binary Search Tree </vt:lpstr>
      <vt:lpstr>PowerPoint Presentation</vt:lpstr>
      <vt:lpstr>The intuition for proving the Theorem</vt:lpstr>
      <vt:lpstr>Notations</vt:lpstr>
      <vt:lpstr>Journey of an element/node v during n insertions</vt:lpstr>
      <vt:lpstr>Time complexity of n insertions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886</cp:revision>
  <dcterms:created xsi:type="dcterms:W3CDTF">2011-12-03T04:13:03Z</dcterms:created>
  <dcterms:modified xsi:type="dcterms:W3CDTF">2025-09-11T15:12:00Z</dcterms:modified>
</cp:coreProperties>
</file>