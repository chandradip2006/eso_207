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43"/>
  </p:notesMasterIdLst>
  <p:sldIdLst>
    <p:sldId id="564" r:id="rId2"/>
    <p:sldId id="579" r:id="rId3"/>
    <p:sldId id="591" r:id="rId4"/>
    <p:sldId id="528" r:id="rId5"/>
    <p:sldId id="559" r:id="rId6"/>
    <p:sldId id="508" r:id="rId7"/>
    <p:sldId id="501" r:id="rId8"/>
    <p:sldId id="498" r:id="rId9"/>
    <p:sldId id="566" r:id="rId10"/>
    <p:sldId id="568" r:id="rId11"/>
    <p:sldId id="551" r:id="rId12"/>
    <p:sldId id="576" r:id="rId13"/>
    <p:sldId id="574" r:id="rId14"/>
    <p:sldId id="525" r:id="rId15"/>
    <p:sldId id="524" r:id="rId16"/>
    <p:sldId id="531" r:id="rId17"/>
    <p:sldId id="532" r:id="rId18"/>
    <p:sldId id="526" r:id="rId19"/>
    <p:sldId id="575" r:id="rId20"/>
    <p:sldId id="569" r:id="rId21"/>
    <p:sldId id="570" r:id="rId22"/>
    <p:sldId id="536" r:id="rId23"/>
    <p:sldId id="571" r:id="rId24"/>
    <p:sldId id="572" r:id="rId25"/>
    <p:sldId id="556" r:id="rId26"/>
    <p:sldId id="557" r:id="rId27"/>
    <p:sldId id="527" r:id="rId28"/>
    <p:sldId id="548" r:id="rId29"/>
    <p:sldId id="549" r:id="rId30"/>
    <p:sldId id="543" r:id="rId31"/>
    <p:sldId id="554" r:id="rId32"/>
    <p:sldId id="550" r:id="rId33"/>
    <p:sldId id="547" r:id="rId34"/>
    <p:sldId id="546" r:id="rId35"/>
    <p:sldId id="545" r:id="rId36"/>
    <p:sldId id="544" r:id="rId37"/>
    <p:sldId id="555" r:id="rId38"/>
    <p:sldId id="563" r:id="rId39"/>
    <p:sldId id="594" r:id="rId40"/>
    <p:sldId id="592" r:id="rId41"/>
    <p:sldId id="593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C57AFC-1E4B-8D46-95F7-DCA3F503F2ED}" v="14" dt="2023-09-06T02:42:57.6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 autoAdjust="0"/>
    <p:restoredTop sz="94820" autoAdjust="0"/>
  </p:normalViewPr>
  <p:slideViewPr>
    <p:cSldViewPr>
      <p:cViewPr varScale="1">
        <p:scale>
          <a:sx n="114" d="100"/>
          <a:sy n="114" d="100"/>
        </p:scale>
        <p:origin x="54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6AC57AFC-1E4B-8D46-95F7-DCA3F503F2ED}"/>
    <pc:docChg chg="modSld">
      <pc:chgData name="Raghunath Tewari" userId="2638bdda-d406-4938-a2a6-e4e967acb772" providerId="ADAL" clId="{6AC57AFC-1E4B-8D46-95F7-DCA3F503F2ED}" dt="2023-09-06T02:42:57.632" v="13" actId="20577"/>
      <pc:docMkLst>
        <pc:docMk/>
      </pc:docMkLst>
      <pc:sldChg chg="modSp">
        <pc:chgData name="Raghunath Tewari" userId="2638bdda-d406-4938-a2a6-e4e967acb772" providerId="ADAL" clId="{6AC57AFC-1E4B-8D46-95F7-DCA3F503F2ED}" dt="2023-09-06T02:31:44.571" v="4" actId="20577"/>
        <pc:sldMkLst>
          <pc:docMk/>
          <pc:sldMk cId="2143580001" sldId="508"/>
        </pc:sldMkLst>
        <pc:spChg chg="mod">
          <ac:chgData name="Raghunath Tewari" userId="2638bdda-d406-4938-a2a6-e4e967acb772" providerId="ADAL" clId="{6AC57AFC-1E4B-8D46-95F7-DCA3F503F2ED}" dt="2023-09-06T02:31:44.571" v="4" actId="20577"/>
          <ac:spMkLst>
            <pc:docMk/>
            <pc:sldMk cId="2143580001" sldId="508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6AC57AFC-1E4B-8D46-95F7-DCA3F503F2ED}" dt="2023-09-06T02:33:40.254" v="7" actId="20577"/>
        <pc:sldMkLst>
          <pc:docMk/>
          <pc:sldMk cId="3549125545" sldId="568"/>
        </pc:sldMkLst>
        <pc:spChg chg="mod">
          <ac:chgData name="Raghunath Tewari" userId="2638bdda-d406-4938-a2a6-e4e967acb772" providerId="ADAL" clId="{6AC57AFC-1E4B-8D46-95F7-DCA3F503F2ED}" dt="2023-09-06T02:33:40.254" v="7" actId="20577"/>
          <ac:spMkLst>
            <pc:docMk/>
            <pc:sldMk cId="3549125545" sldId="568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6AC57AFC-1E4B-8D46-95F7-DCA3F503F2ED}" dt="2023-09-06T02:42:57.632" v="13" actId="20577"/>
        <pc:sldMkLst>
          <pc:docMk/>
          <pc:sldMk cId="3382030923" sldId="570"/>
        </pc:sldMkLst>
        <pc:spChg chg="mod">
          <ac:chgData name="Raghunath Tewari" userId="2638bdda-d406-4938-a2a6-e4e967acb772" providerId="ADAL" clId="{6AC57AFC-1E4B-8D46-95F7-DCA3F503F2ED}" dt="2023-09-06T02:42:57.632" v="13" actId="20577"/>
          <ac:spMkLst>
            <pc:docMk/>
            <pc:sldMk cId="3382030923" sldId="570"/>
            <ac:spMk id="207" creationId="{00000000-0000-0000-0000-000000000000}"/>
          </ac:spMkLst>
        </pc:spChg>
      </pc:sldChg>
    </pc:docChg>
  </pc:docChgLst>
  <pc:docChgLst>
    <pc:chgData name="Raghunath Tewari" userId="2638bdda-d406-4938-a2a6-e4e967acb772" providerId="ADAL" clId="{0F65FE9D-56B9-E140-93A7-48554C1869A4}"/>
    <pc:docChg chg="undo custSel modSld">
      <pc:chgData name="Raghunath Tewari" userId="2638bdda-d406-4938-a2a6-e4e967acb772" providerId="ADAL" clId="{0F65FE9D-56B9-E140-93A7-48554C1869A4}" dt="2020-02-26T03:25:21.767" v="7" actId="1076"/>
      <pc:docMkLst>
        <pc:docMk/>
      </pc:docMkLst>
      <pc:sldChg chg="modSp">
        <pc:chgData name="Raghunath Tewari" userId="2638bdda-d406-4938-a2a6-e4e967acb772" providerId="ADAL" clId="{0F65FE9D-56B9-E140-93A7-48554C1869A4}" dt="2020-02-26T03:25:21.767" v="7" actId="1076"/>
        <pc:sldMkLst>
          <pc:docMk/>
          <pc:sldMk cId="3382030923" sldId="570"/>
        </pc:sldMkLst>
        <pc:spChg chg="mod">
          <ac:chgData name="Raghunath Tewari" userId="2638bdda-d406-4938-a2a6-e4e967acb772" providerId="ADAL" clId="{0F65FE9D-56B9-E140-93A7-48554C1869A4}" dt="2020-02-26T03:25:21.767" v="7" actId="1076"/>
          <ac:spMkLst>
            <pc:docMk/>
            <pc:sldMk cId="3382030923" sldId="570"/>
            <ac:spMk id="6" creationId="{00000000-0000-0000-0000-000000000000}"/>
          </ac:spMkLst>
        </pc:spChg>
      </pc:sldChg>
      <pc:sldChg chg="modSp">
        <pc:chgData name="Raghunath Tewari" userId="2638bdda-d406-4938-a2a6-e4e967acb772" providerId="ADAL" clId="{0F65FE9D-56B9-E140-93A7-48554C1869A4}" dt="2020-02-26T03:25:19.047" v="6" actId="1076"/>
        <pc:sldMkLst>
          <pc:docMk/>
          <pc:sldMk cId="393778386" sldId="575"/>
        </pc:sldMkLst>
        <pc:spChg chg="mod">
          <ac:chgData name="Raghunath Tewari" userId="2638bdda-d406-4938-a2a6-e4e967acb772" providerId="ADAL" clId="{0F65FE9D-56B9-E140-93A7-48554C1869A4}" dt="2020-02-26T03:25:19.047" v="6" actId="1076"/>
          <ac:spMkLst>
            <pc:docMk/>
            <pc:sldMk cId="393778386" sldId="575"/>
            <ac:spMk id="6" creationId="{00000000-0000-0000-0000-000000000000}"/>
          </ac:spMkLst>
        </pc:spChg>
      </pc:sldChg>
      <pc:sldChg chg="modSp">
        <pc:chgData name="Raghunath Tewari" userId="2638bdda-d406-4938-a2a6-e4e967acb772" providerId="ADAL" clId="{0F65FE9D-56B9-E140-93A7-48554C1869A4}" dt="2020-02-26T03:25:17.298" v="5" actId="1076"/>
        <pc:sldMkLst>
          <pc:docMk/>
          <pc:sldMk cId="1029501812" sldId="593"/>
        </pc:sldMkLst>
        <pc:spChg chg="mod">
          <ac:chgData name="Raghunath Tewari" userId="2638bdda-d406-4938-a2a6-e4e967acb772" providerId="ADAL" clId="{0F65FE9D-56B9-E140-93A7-48554C1869A4}" dt="2020-02-26T03:25:17.298" v="5" actId="1076"/>
          <ac:spMkLst>
            <pc:docMk/>
            <pc:sldMk cId="1029501812" sldId="593"/>
            <ac:spMk id="3" creationId="{00000000-0000-0000-0000-000000000000}"/>
          </ac:spMkLst>
        </pc:spChg>
      </pc:sldChg>
    </pc:docChg>
  </pc:docChgLst>
  <pc:docChgLst>
    <pc:chgData name="Raghunath Tewari" userId="2638bdda-d406-4938-a2a6-e4e967acb772" providerId="ADAL" clId="{56910621-2766-8249-B7E7-B3A84D26BE64}"/>
    <pc:docChg chg="modSld">
      <pc:chgData name="Raghunath Tewari" userId="2638bdda-d406-4938-a2a6-e4e967acb772" providerId="ADAL" clId="{56910621-2766-8249-B7E7-B3A84D26BE64}" dt="2021-02-08T10:51:17.443" v="53" actId="20577"/>
      <pc:docMkLst>
        <pc:docMk/>
      </pc:docMkLst>
      <pc:sldChg chg="modSp mod">
        <pc:chgData name="Raghunath Tewari" userId="2638bdda-d406-4938-a2a6-e4e967acb772" providerId="ADAL" clId="{56910621-2766-8249-B7E7-B3A84D26BE64}" dt="2021-02-08T10:39:07.791" v="7" actId="20577"/>
        <pc:sldMkLst>
          <pc:docMk/>
          <pc:sldMk cId="4192598980" sldId="564"/>
        </pc:sldMkLst>
        <pc:spChg chg="mod">
          <ac:chgData name="Raghunath Tewari" userId="2638bdda-d406-4938-a2a6-e4e967acb772" providerId="ADAL" clId="{56910621-2766-8249-B7E7-B3A84D26BE64}" dt="2021-02-08T10:39:07.791" v="7" actId="20577"/>
          <ac:spMkLst>
            <pc:docMk/>
            <pc:sldMk cId="4192598980" sldId="564"/>
            <ac:spMk id="2" creationId="{00000000-0000-0000-0000-000000000000}"/>
          </ac:spMkLst>
        </pc:spChg>
      </pc:sldChg>
      <pc:sldChg chg="modSp">
        <pc:chgData name="Raghunath Tewari" userId="2638bdda-d406-4938-a2a6-e4e967acb772" providerId="ADAL" clId="{56910621-2766-8249-B7E7-B3A84D26BE64}" dt="2021-02-08T10:40:48.760" v="30" actId="20577"/>
        <pc:sldMkLst>
          <pc:docMk/>
          <pc:sldMk cId="3549125545" sldId="568"/>
        </pc:sldMkLst>
        <pc:spChg chg="mod">
          <ac:chgData name="Raghunath Tewari" userId="2638bdda-d406-4938-a2a6-e4e967acb772" providerId="ADAL" clId="{56910621-2766-8249-B7E7-B3A84D26BE64}" dt="2021-02-08T10:40:48.760" v="30" actId="20577"/>
          <ac:spMkLst>
            <pc:docMk/>
            <pc:sldMk cId="3549125545" sldId="568"/>
            <ac:spMk id="5" creationId="{00000000-0000-0000-0000-000000000000}"/>
          </ac:spMkLst>
        </pc:spChg>
      </pc:sldChg>
      <pc:sldChg chg="modSp">
        <pc:chgData name="Raghunath Tewari" userId="2638bdda-d406-4938-a2a6-e4e967acb772" providerId="ADAL" clId="{56910621-2766-8249-B7E7-B3A84D26BE64}" dt="2021-02-08T10:51:17.443" v="53" actId="20577"/>
        <pc:sldMkLst>
          <pc:docMk/>
          <pc:sldMk cId="1029501812" sldId="593"/>
        </pc:sldMkLst>
        <pc:spChg chg="mod">
          <ac:chgData name="Raghunath Tewari" userId="2638bdda-d406-4938-a2a6-e4e967acb772" providerId="ADAL" clId="{56910621-2766-8249-B7E7-B3A84D26BE64}" dt="2021-02-08T10:51:09.705" v="42" actId="20577"/>
          <ac:spMkLst>
            <pc:docMk/>
            <pc:sldMk cId="1029501812" sldId="593"/>
            <ac:spMk id="3" creationId="{00000000-0000-0000-0000-000000000000}"/>
          </ac:spMkLst>
        </pc:spChg>
        <pc:spChg chg="mod">
          <ac:chgData name="Raghunath Tewari" userId="2638bdda-d406-4938-a2a6-e4e967acb772" providerId="ADAL" clId="{56910621-2766-8249-B7E7-B3A84D26BE64}" dt="2021-02-08T10:51:17.443" v="53" actId="20577"/>
          <ac:spMkLst>
            <pc:docMk/>
            <pc:sldMk cId="1029501812" sldId="593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9/8/25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9/8/25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9/8/25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9/8/25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9/8/25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9/8/25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0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0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95800"/>
            <a:ext cx="8153400" cy="1447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Lecture 17: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n-US" sz="2200" b="1" dirty="0">
                <a:solidFill>
                  <a:srgbClr val="7030A0"/>
                </a:solidFill>
              </a:rPr>
              <a:t>Height balanced </a:t>
            </a:r>
            <a:r>
              <a:rPr lang="en-US" sz="2200" b="1" dirty="0">
                <a:solidFill>
                  <a:schemeClr val="tx1"/>
                </a:solidFill>
              </a:rPr>
              <a:t>BST</a:t>
            </a:r>
          </a:p>
          <a:p>
            <a:pPr marL="800100" lvl="1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>
                <a:solidFill>
                  <a:srgbClr val="C00000"/>
                </a:solidFill>
              </a:rPr>
              <a:t>Red-</a:t>
            </a:r>
            <a:r>
              <a:rPr lang="en-US" sz="1800" b="1" dirty="0">
                <a:solidFill>
                  <a:schemeClr val="tx1"/>
                </a:solidFill>
              </a:rPr>
              <a:t>black</a:t>
            </a:r>
            <a:r>
              <a:rPr lang="en-US" sz="1800" b="1" dirty="0">
                <a:solidFill>
                  <a:srgbClr val="006C31"/>
                </a:solidFill>
              </a:rPr>
              <a:t> trees</a:t>
            </a:r>
            <a:endParaRPr lang="en-US" sz="2000" b="1" dirty="0">
              <a:solidFill>
                <a:srgbClr val="006C3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59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Terminologies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Full </a:t>
            </a:r>
            <a:r>
              <a:rPr lang="en-US" sz="2000" b="1" dirty="0"/>
              <a:t>binary tree: </a:t>
            </a:r>
          </a:p>
          <a:p>
            <a:pPr marL="0" indent="0">
              <a:buNone/>
            </a:pPr>
            <a:r>
              <a:rPr lang="en-US" sz="2000" dirty="0"/>
              <a:t>A binary tree where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2286000" y="3400125"/>
            <a:ext cx="457200" cy="683244"/>
            <a:chOff x="2286000" y="3400125"/>
            <a:chExt cx="457200" cy="683244"/>
          </a:xfrm>
        </p:grpSpPr>
        <p:sp>
          <p:nvSpPr>
            <p:cNvPr id="9" name="Oval 8"/>
            <p:cNvSpPr/>
            <p:nvPr/>
          </p:nvSpPr>
          <p:spPr>
            <a:xfrm>
              <a:off x="2456694" y="3886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2286000" y="3400125"/>
              <a:ext cx="221799" cy="48607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1371600" y="2667000"/>
            <a:ext cx="1810506" cy="2057400"/>
            <a:chOff x="1371600" y="2667000"/>
            <a:chExt cx="1810506" cy="2057400"/>
          </a:xfrm>
        </p:grpSpPr>
        <p:sp>
          <p:nvSpPr>
            <p:cNvPr id="5" name="Oval 4"/>
            <p:cNvSpPr/>
            <p:nvPr/>
          </p:nvSpPr>
          <p:spPr>
            <a:xfrm>
              <a:off x="2609094" y="26670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2057400" y="32004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371600" y="4527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95600" y="32318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676400" y="3886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2075694" y="44958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2819400" y="2819400"/>
              <a:ext cx="221799" cy="40987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5" idx="3"/>
              <a:endCxn id="6" idx="7"/>
            </p:cNvCxnSpPr>
            <p:nvPr/>
          </p:nvCxnSpPr>
          <p:spPr>
            <a:xfrm flipH="1">
              <a:off x="2301948" y="2835294"/>
              <a:ext cx="349104" cy="393981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1819654" y="3397569"/>
              <a:ext cx="282050" cy="488631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1470550" y="4083369"/>
              <a:ext cx="282050" cy="488631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1905000" y="4038600"/>
              <a:ext cx="221799" cy="48607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647335" y="1962090"/>
            <a:ext cx="4843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every internal node has </a:t>
            </a:r>
            <a:r>
              <a:rPr lang="en-US" sz="2000" u="sng" dirty="0"/>
              <a:t>exactly two children.</a:t>
            </a:r>
          </a:p>
        </p:txBody>
      </p:sp>
      <p:sp>
        <p:nvSpPr>
          <p:cNvPr id="21" name="Line Callout 2 20"/>
          <p:cNvSpPr/>
          <p:nvPr/>
        </p:nvSpPr>
        <p:spPr>
          <a:xfrm>
            <a:off x="4953000" y="4038600"/>
            <a:ext cx="2819400" cy="612648"/>
          </a:xfrm>
          <a:prstGeom prst="borderCallout2">
            <a:avLst>
              <a:gd name="adj1" fmla="val 16930"/>
              <a:gd name="adj2" fmla="val -138"/>
              <a:gd name="adj3" fmla="val 18750"/>
              <a:gd name="adj4" fmla="val -16667"/>
              <a:gd name="adj5" fmla="val -109560"/>
              <a:gd name="adj6" fmla="val -93121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This node has exactly one child. So the current tree is not a full binary tree.</a:t>
            </a:r>
          </a:p>
        </p:txBody>
      </p:sp>
    </p:spTree>
    <p:extLst>
      <p:ext uri="{BB962C8B-B14F-4D97-AF65-F5344CB8AC3E}">
        <p14:creationId xmlns:p14="http://schemas.microsoft.com/office/powerpoint/2010/main" val="79201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0" grpId="0"/>
      <p:bldP spid="21" grpId="0" animBg="1"/>
      <p:bldP spid="2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Terminologies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Complete </a:t>
            </a:r>
            <a:r>
              <a:rPr lang="en-US" sz="2000" b="1" dirty="0"/>
              <a:t>binary tree: </a:t>
            </a:r>
          </a:p>
          <a:p>
            <a:pPr marL="0" indent="0">
              <a:buNone/>
            </a:pPr>
            <a:r>
              <a:rPr lang="en-US" sz="2000" dirty="0"/>
              <a:t>A full binary tree where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042416" y="1962090"/>
            <a:ext cx="40441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every leaf node is at the </a:t>
            </a:r>
            <a:r>
              <a:rPr lang="en-US" sz="2000" b="1" dirty="0"/>
              <a:t>same</a:t>
            </a:r>
            <a:r>
              <a:rPr lang="en-US" sz="2000" dirty="0"/>
              <a:t> </a:t>
            </a:r>
            <a:r>
              <a:rPr lang="en-US" sz="2000" b="1" dirty="0"/>
              <a:t>level</a:t>
            </a:r>
            <a:r>
              <a:rPr lang="en-US" sz="2000" dirty="0"/>
              <a:t>.</a:t>
            </a:r>
            <a:endParaRPr lang="en-US" sz="2000" u="sng" dirty="0"/>
          </a:p>
        </p:txBody>
      </p:sp>
      <p:grpSp>
        <p:nvGrpSpPr>
          <p:cNvPr id="54" name="Group 53"/>
          <p:cNvGrpSpPr/>
          <p:nvPr/>
        </p:nvGrpSpPr>
        <p:grpSpPr>
          <a:xfrm>
            <a:off x="1143000" y="2590800"/>
            <a:ext cx="4114800" cy="2057400"/>
            <a:chOff x="1143000" y="2590800"/>
            <a:chExt cx="4114800" cy="2057400"/>
          </a:xfrm>
        </p:grpSpPr>
        <p:cxnSp>
          <p:nvCxnSpPr>
            <p:cNvPr id="20" name="Straight Arrow Connector 19"/>
            <p:cNvCxnSpPr>
              <a:stCxn id="6" idx="5"/>
            </p:cNvCxnSpPr>
            <p:nvPr/>
          </p:nvCxnSpPr>
          <p:spPr>
            <a:xfrm>
              <a:off x="2301948" y="3292494"/>
              <a:ext cx="205851" cy="546381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/>
            <p:cNvGrpSpPr/>
            <p:nvPr/>
          </p:nvGrpSpPr>
          <p:grpSpPr>
            <a:xfrm>
              <a:off x="1143000" y="2590800"/>
              <a:ext cx="4114800" cy="2057400"/>
              <a:chOff x="1143000" y="2667000"/>
              <a:chExt cx="4114800" cy="2057400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1143000" y="2667000"/>
                <a:ext cx="3258306" cy="2057400"/>
                <a:chOff x="1143000" y="2667000"/>
                <a:chExt cx="3258306" cy="2057400"/>
              </a:xfrm>
            </p:grpSpPr>
            <p:sp>
              <p:nvSpPr>
                <p:cNvPr id="5" name="Oval 4"/>
                <p:cNvSpPr/>
                <p:nvPr/>
              </p:nvSpPr>
              <p:spPr>
                <a:xfrm>
                  <a:off x="3218694" y="2667000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6" name="Oval 5"/>
                <p:cNvSpPr/>
                <p:nvPr/>
              </p:nvSpPr>
              <p:spPr>
                <a:xfrm>
                  <a:off x="2057400" y="3200400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7" name="Oval 6"/>
                <p:cNvSpPr/>
                <p:nvPr/>
              </p:nvSpPr>
              <p:spPr>
                <a:xfrm>
                  <a:off x="1143000" y="4527231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8" name="Oval 7"/>
                <p:cNvSpPr/>
                <p:nvPr/>
              </p:nvSpPr>
              <p:spPr>
                <a:xfrm>
                  <a:off x="4114800" y="3231831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1447800" y="3886200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2" name="Oval 11"/>
                <p:cNvSpPr/>
                <p:nvPr/>
              </p:nvSpPr>
              <p:spPr>
                <a:xfrm>
                  <a:off x="1847094" y="4495800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cxnSp>
              <p:nvCxnSpPr>
                <p:cNvPr id="13" name="Straight Arrow Connector 12"/>
                <p:cNvCxnSpPr>
                  <a:stCxn id="5" idx="5"/>
                  <a:endCxn id="8" idx="0"/>
                </p:cNvCxnSpPr>
                <p:nvPr/>
              </p:nvCxnSpPr>
              <p:spPr>
                <a:xfrm>
                  <a:off x="3463242" y="2835294"/>
                  <a:ext cx="794811" cy="396537"/>
                </a:xfrm>
                <a:prstGeom prst="straightConnector1">
                  <a:avLst/>
                </a:prstGeom>
                <a:ln w="38100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/>
                <p:cNvCxnSpPr>
                  <a:stCxn id="5" idx="3"/>
                  <a:endCxn id="6" idx="7"/>
                </p:cNvCxnSpPr>
                <p:nvPr/>
              </p:nvCxnSpPr>
              <p:spPr>
                <a:xfrm flipH="1">
                  <a:off x="2301948" y="2835294"/>
                  <a:ext cx="958704" cy="393981"/>
                </a:xfrm>
                <a:prstGeom prst="straightConnector1">
                  <a:avLst/>
                </a:prstGeom>
                <a:ln w="38100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/>
                <p:cNvCxnSpPr/>
                <p:nvPr/>
              </p:nvCxnSpPr>
              <p:spPr>
                <a:xfrm flipH="1">
                  <a:off x="1658106" y="3397569"/>
                  <a:ext cx="443599" cy="488631"/>
                </a:xfrm>
                <a:prstGeom prst="straightConnector1">
                  <a:avLst/>
                </a:prstGeom>
                <a:ln w="38100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/>
                <p:cNvCxnSpPr/>
                <p:nvPr/>
              </p:nvCxnSpPr>
              <p:spPr>
                <a:xfrm flipH="1">
                  <a:off x="1241950" y="4083369"/>
                  <a:ext cx="282050" cy="488631"/>
                </a:xfrm>
                <a:prstGeom prst="straightConnector1">
                  <a:avLst/>
                </a:prstGeom>
                <a:ln w="38100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/>
                <p:cNvCxnSpPr/>
                <p:nvPr/>
              </p:nvCxnSpPr>
              <p:spPr>
                <a:xfrm>
                  <a:off x="1676400" y="4038600"/>
                  <a:ext cx="221799" cy="486075"/>
                </a:xfrm>
                <a:prstGeom prst="straightConnector1">
                  <a:avLst/>
                </a:prstGeom>
                <a:ln w="38100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oup 30"/>
              <p:cNvGrpSpPr/>
              <p:nvPr/>
            </p:nvGrpSpPr>
            <p:grpSpPr>
              <a:xfrm>
                <a:off x="2228094" y="3886200"/>
                <a:ext cx="896106" cy="806769"/>
                <a:chOff x="1618494" y="4038600"/>
                <a:chExt cx="896106" cy="806769"/>
              </a:xfrm>
            </p:grpSpPr>
            <p:sp>
              <p:nvSpPr>
                <p:cNvPr id="26" name="Oval 25"/>
                <p:cNvSpPr/>
                <p:nvPr/>
              </p:nvSpPr>
              <p:spPr>
                <a:xfrm>
                  <a:off x="1618494" y="4648200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27" name="Oval 26"/>
                <p:cNvSpPr/>
                <p:nvPr/>
              </p:nvSpPr>
              <p:spPr>
                <a:xfrm>
                  <a:off x="1828800" y="4038600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28" name="Oval 27"/>
                <p:cNvSpPr/>
                <p:nvPr/>
              </p:nvSpPr>
              <p:spPr>
                <a:xfrm>
                  <a:off x="2228094" y="4648200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cxnSp>
              <p:nvCxnSpPr>
                <p:cNvPr id="29" name="Straight Arrow Connector 28"/>
                <p:cNvCxnSpPr>
                  <a:endCxn id="26" idx="0"/>
                </p:cNvCxnSpPr>
                <p:nvPr/>
              </p:nvCxnSpPr>
              <p:spPr>
                <a:xfrm flipH="1">
                  <a:off x="1761747" y="4235769"/>
                  <a:ext cx="143253" cy="412431"/>
                </a:xfrm>
                <a:prstGeom prst="straightConnector1">
                  <a:avLst/>
                </a:prstGeom>
                <a:ln w="38100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/>
                <p:cNvCxnSpPr/>
                <p:nvPr/>
              </p:nvCxnSpPr>
              <p:spPr>
                <a:xfrm>
                  <a:off x="2057400" y="4191000"/>
                  <a:ext cx="221799" cy="486075"/>
                </a:xfrm>
                <a:prstGeom prst="straightConnector1">
                  <a:avLst/>
                </a:prstGeom>
                <a:ln w="38100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Group 34"/>
              <p:cNvGrpSpPr/>
              <p:nvPr/>
            </p:nvGrpSpPr>
            <p:grpSpPr>
              <a:xfrm>
                <a:off x="3276600" y="3886200"/>
                <a:ext cx="896106" cy="806769"/>
                <a:chOff x="1618494" y="4038600"/>
                <a:chExt cx="896106" cy="806769"/>
              </a:xfrm>
            </p:grpSpPr>
            <p:sp>
              <p:nvSpPr>
                <p:cNvPr id="36" name="Oval 35"/>
                <p:cNvSpPr/>
                <p:nvPr/>
              </p:nvSpPr>
              <p:spPr>
                <a:xfrm>
                  <a:off x="1618494" y="4648200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7" name="Oval 36"/>
                <p:cNvSpPr/>
                <p:nvPr/>
              </p:nvSpPr>
              <p:spPr>
                <a:xfrm>
                  <a:off x="1828800" y="4038600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8" name="Oval 37"/>
                <p:cNvSpPr/>
                <p:nvPr/>
              </p:nvSpPr>
              <p:spPr>
                <a:xfrm>
                  <a:off x="2228094" y="4648200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cxnSp>
              <p:nvCxnSpPr>
                <p:cNvPr id="39" name="Straight Arrow Connector 38"/>
                <p:cNvCxnSpPr>
                  <a:endCxn id="36" idx="0"/>
                </p:cNvCxnSpPr>
                <p:nvPr/>
              </p:nvCxnSpPr>
              <p:spPr>
                <a:xfrm flipH="1">
                  <a:off x="1761747" y="4235769"/>
                  <a:ext cx="143253" cy="412431"/>
                </a:xfrm>
                <a:prstGeom prst="straightConnector1">
                  <a:avLst/>
                </a:prstGeom>
                <a:ln w="38100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/>
                <p:cNvCxnSpPr/>
                <p:nvPr/>
              </p:nvCxnSpPr>
              <p:spPr>
                <a:xfrm>
                  <a:off x="2057400" y="4191000"/>
                  <a:ext cx="221799" cy="486075"/>
                </a:xfrm>
                <a:prstGeom prst="straightConnector1">
                  <a:avLst/>
                </a:prstGeom>
                <a:ln w="38100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" name="Group 40"/>
              <p:cNvGrpSpPr/>
              <p:nvPr/>
            </p:nvGrpSpPr>
            <p:grpSpPr>
              <a:xfrm>
                <a:off x="4361694" y="3886200"/>
                <a:ext cx="896106" cy="806769"/>
                <a:chOff x="1618494" y="4038600"/>
                <a:chExt cx="896106" cy="806769"/>
              </a:xfrm>
            </p:grpSpPr>
            <p:sp>
              <p:nvSpPr>
                <p:cNvPr id="42" name="Oval 41"/>
                <p:cNvSpPr/>
                <p:nvPr/>
              </p:nvSpPr>
              <p:spPr>
                <a:xfrm>
                  <a:off x="1618494" y="4648200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43" name="Oval 42"/>
                <p:cNvSpPr/>
                <p:nvPr/>
              </p:nvSpPr>
              <p:spPr>
                <a:xfrm>
                  <a:off x="1828800" y="4038600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44" name="Oval 43"/>
                <p:cNvSpPr/>
                <p:nvPr/>
              </p:nvSpPr>
              <p:spPr>
                <a:xfrm>
                  <a:off x="2228094" y="4648200"/>
                  <a:ext cx="286506" cy="197169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  <p:cxnSp>
              <p:nvCxnSpPr>
                <p:cNvPr id="45" name="Straight Arrow Connector 44"/>
                <p:cNvCxnSpPr>
                  <a:endCxn id="42" idx="0"/>
                </p:cNvCxnSpPr>
                <p:nvPr/>
              </p:nvCxnSpPr>
              <p:spPr>
                <a:xfrm flipH="1">
                  <a:off x="1761747" y="4235769"/>
                  <a:ext cx="143253" cy="412431"/>
                </a:xfrm>
                <a:prstGeom prst="straightConnector1">
                  <a:avLst/>
                </a:prstGeom>
                <a:ln w="38100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/>
                <p:cNvCxnSpPr/>
                <p:nvPr/>
              </p:nvCxnSpPr>
              <p:spPr>
                <a:xfrm>
                  <a:off x="2057400" y="4191000"/>
                  <a:ext cx="221799" cy="486075"/>
                </a:xfrm>
                <a:prstGeom prst="straightConnector1">
                  <a:avLst/>
                </a:prstGeom>
                <a:ln w="38100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Arrow Connector 46"/>
              <p:cNvCxnSpPr>
                <a:stCxn id="8" idx="3"/>
                <a:endCxn id="37" idx="0"/>
              </p:cNvCxnSpPr>
              <p:nvPr/>
            </p:nvCxnSpPr>
            <p:spPr>
              <a:xfrm flipH="1">
                <a:off x="3630159" y="3400125"/>
                <a:ext cx="526599" cy="486075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stCxn id="8" idx="5"/>
                <a:endCxn id="43" idx="0"/>
              </p:cNvCxnSpPr>
              <p:nvPr/>
            </p:nvCxnSpPr>
            <p:spPr>
              <a:xfrm>
                <a:off x="4359348" y="3400125"/>
                <a:ext cx="355905" cy="486075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Down Ribbon 8"/>
          <p:cNvSpPr/>
          <p:nvPr/>
        </p:nvSpPr>
        <p:spPr>
          <a:xfrm>
            <a:off x="1429506" y="5486400"/>
            <a:ext cx="4765902" cy="914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shall later extend this definition when we discuss “</a:t>
            </a:r>
            <a:r>
              <a:rPr lang="en-US" b="1" dirty="0">
                <a:solidFill>
                  <a:schemeClr val="tx1"/>
                </a:solidFill>
              </a:rPr>
              <a:t>Binary heap</a:t>
            </a:r>
            <a:r>
              <a:rPr lang="en-US" dirty="0">
                <a:solidFill>
                  <a:schemeClr val="tx1"/>
                </a:solidFill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124931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Binary Search Tree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Definition</a:t>
            </a:r>
            <a:r>
              <a:rPr lang="en-US" sz="1800" b="1" dirty="0"/>
              <a:t>:</a:t>
            </a:r>
            <a:r>
              <a:rPr lang="en-US" sz="1800" dirty="0"/>
              <a:t> A Binary Tree </a:t>
            </a:r>
            <a:r>
              <a:rPr lang="en-US" sz="1800" b="1" dirty="0">
                <a:solidFill>
                  <a:srgbClr val="006C31"/>
                </a:solidFill>
              </a:rPr>
              <a:t>T</a:t>
            </a:r>
            <a:r>
              <a:rPr lang="en-US" sz="1800" dirty="0"/>
              <a:t> storing values is said to be Binary Search Tree </a:t>
            </a:r>
          </a:p>
          <a:p>
            <a:pPr marL="0" indent="0">
              <a:buNone/>
            </a:pPr>
            <a:r>
              <a:rPr lang="en-US" sz="1800" dirty="0"/>
              <a:t>if for each node </a:t>
            </a:r>
            <a:r>
              <a:rPr lang="en-US" sz="1800" b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 in T</a:t>
            </a:r>
          </a:p>
          <a:p>
            <a:r>
              <a:rPr lang="en-US" sz="1800" dirty="0"/>
              <a:t>If </a:t>
            </a:r>
            <a:r>
              <a:rPr lang="en-US" sz="1800" b="1" dirty="0"/>
              <a:t>left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) &lt;&gt; NULL, then </a:t>
            </a:r>
          </a:p>
          <a:p>
            <a:r>
              <a:rPr lang="en-US" sz="1800" dirty="0"/>
              <a:t>If </a:t>
            </a:r>
            <a:r>
              <a:rPr lang="en-US" sz="1800" b="1" dirty="0"/>
              <a:t>right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)&lt;&gt;NULL, then </a:t>
            </a:r>
            <a:r>
              <a:rPr lang="en-US" sz="1800" b="1" dirty="0"/>
              <a:t>value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B0F0"/>
                </a:solidFill>
              </a:rPr>
              <a:t>v</a:t>
            </a:r>
            <a:r>
              <a:rPr lang="en-US" sz="1800" dirty="0"/>
              <a:t>) &lt; </a:t>
            </a:r>
            <a:r>
              <a:rPr lang="en-US" sz="1800" b="1" dirty="0"/>
              <a:t>value </a:t>
            </a:r>
            <a:r>
              <a:rPr lang="en-US" sz="1800" dirty="0"/>
              <a:t>of every node in </a:t>
            </a:r>
            <a:r>
              <a:rPr lang="en-US" sz="1800" b="1" dirty="0" err="1"/>
              <a:t>subtree</a:t>
            </a:r>
            <a:r>
              <a:rPr lang="en-US" sz="1800" b="1" dirty="0"/>
              <a:t>(right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B0F0"/>
                </a:solidFill>
              </a:rPr>
              <a:t>v</a:t>
            </a:r>
            <a:r>
              <a:rPr lang="en-US" sz="1800" dirty="0"/>
              <a:t>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43000" y="1371600"/>
            <a:ext cx="5586736" cy="3309610"/>
            <a:chOff x="1143000" y="1600200"/>
            <a:chExt cx="5586736" cy="3309610"/>
          </a:xfrm>
        </p:grpSpPr>
        <p:sp>
          <p:nvSpPr>
            <p:cNvPr id="5" name="Oval 4"/>
            <p:cNvSpPr/>
            <p:nvPr/>
          </p:nvSpPr>
          <p:spPr>
            <a:xfrm>
              <a:off x="4514094" y="22098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6419094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770894" y="3809999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5504694" y="3772992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752094" y="38100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2819400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61294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22" name="Oval 121"/>
            <p:cNvSpPr/>
            <p:nvPr/>
          </p:nvSpPr>
          <p:spPr>
            <a:xfrm>
              <a:off x="22280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38" name="Oval 137"/>
            <p:cNvSpPr/>
            <p:nvPr/>
          </p:nvSpPr>
          <p:spPr>
            <a:xfrm>
              <a:off x="32948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54" name="Oval 153"/>
            <p:cNvSpPr/>
            <p:nvPr/>
          </p:nvSpPr>
          <p:spPr>
            <a:xfrm>
              <a:off x="42092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70" name="Oval 169"/>
            <p:cNvSpPr/>
            <p:nvPr/>
          </p:nvSpPr>
          <p:spPr>
            <a:xfrm>
              <a:off x="51236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86" name="Oval 185"/>
            <p:cNvSpPr/>
            <p:nvPr/>
          </p:nvSpPr>
          <p:spPr>
            <a:xfrm>
              <a:off x="60380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34" name="Straight Arrow Connector 233"/>
            <p:cNvCxnSpPr/>
            <p:nvPr/>
          </p:nvCxnSpPr>
          <p:spPr>
            <a:xfrm flipH="1">
              <a:off x="2962653" y="230838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/>
            <p:nvPr/>
          </p:nvCxnSpPr>
          <p:spPr>
            <a:xfrm flipH="1">
              <a:off x="1953760" y="317801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/>
            <p:cNvCxnSpPr>
              <a:stCxn id="8" idx="3"/>
            </p:cNvCxnSpPr>
            <p:nvPr/>
          </p:nvCxnSpPr>
          <p:spPr>
            <a:xfrm flipH="1">
              <a:off x="3438147" y="397829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>
              <a:endCxn id="11" idx="7"/>
            </p:cNvCxnSpPr>
            <p:nvPr/>
          </p:nvCxnSpPr>
          <p:spPr>
            <a:xfrm flipH="1">
              <a:off x="1405842" y="396240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/>
            <p:cNvCxnSpPr/>
            <p:nvPr/>
          </p:nvCxnSpPr>
          <p:spPr>
            <a:xfrm flipH="1">
              <a:off x="5181600" y="397829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Arrow Connector 255"/>
            <p:cNvCxnSpPr/>
            <p:nvPr/>
          </p:nvCxnSpPr>
          <p:spPr>
            <a:xfrm flipH="1">
              <a:off x="5647948" y="320040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/>
            <p:cNvCxnSpPr/>
            <p:nvPr/>
          </p:nvCxnSpPr>
          <p:spPr>
            <a:xfrm>
              <a:off x="3048000" y="317801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/>
            <p:cNvCxnSpPr/>
            <p:nvPr/>
          </p:nvCxnSpPr>
          <p:spPr>
            <a:xfrm>
              <a:off x="2029959" y="396240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Arrow Connector 267"/>
            <p:cNvCxnSpPr>
              <a:endCxn id="294" idx="0"/>
            </p:cNvCxnSpPr>
            <p:nvPr/>
          </p:nvCxnSpPr>
          <p:spPr>
            <a:xfrm>
              <a:off x="3962400" y="3978116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/>
            <p:cNvCxnSpPr/>
            <p:nvPr/>
          </p:nvCxnSpPr>
          <p:spPr>
            <a:xfrm>
              <a:off x="5763759" y="396240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/>
            <p:cNvCxnSpPr/>
            <p:nvPr/>
          </p:nvCxnSpPr>
          <p:spPr>
            <a:xfrm>
              <a:off x="4800600" y="235315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2" name="Group 281"/>
            <p:cNvGrpSpPr/>
            <p:nvPr/>
          </p:nvGrpSpPr>
          <p:grpSpPr>
            <a:xfrm>
              <a:off x="4419600" y="1600200"/>
              <a:ext cx="502924" cy="578167"/>
              <a:chOff x="1203952" y="3914001"/>
              <a:chExt cx="502924" cy="578167"/>
            </a:xfrm>
          </p:grpSpPr>
          <p:cxnSp>
            <p:nvCxnSpPr>
              <p:cNvPr id="283" name="Elbow Connector 28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4" name="TextBox 283"/>
              <p:cNvSpPr txBox="1"/>
              <p:nvPr/>
            </p:nvSpPr>
            <p:spPr>
              <a:xfrm>
                <a:off x="1203952" y="3914001"/>
                <a:ext cx="502924" cy="27699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root</a:t>
                </a:r>
              </a:p>
            </p:txBody>
          </p:sp>
        </p:grpSp>
        <p:sp>
          <p:nvSpPr>
            <p:cNvPr id="286" name="TextBox 285"/>
            <p:cNvSpPr txBox="1"/>
            <p:nvPr/>
          </p:nvSpPr>
          <p:spPr>
            <a:xfrm>
              <a:off x="1143000" y="46151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2819400" y="2971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28</a:t>
              </a:r>
            </a:p>
          </p:txBody>
        </p:sp>
        <p:sp>
          <p:nvSpPr>
            <p:cNvPr id="288" name="TextBox 287"/>
            <p:cNvSpPr txBox="1"/>
            <p:nvPr/>
          </p:nvSpPr>
          <p:spPr>
            <a:xfrm>
              <a:off x="4471664" y="21767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46</a:t>
              </a:r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6400800" y="2971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67</a:t>
              </a: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2209800" y="46151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25</a:t>
              </a:r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1752600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31</a:t>
              </a:r>
            </a:p>
          </p:txBody>
        </p:sp>
        <p:sp>
          <p:nvSpPr>
            <p:cNvPr id="294" name="TextBox 293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41</a:t>
              </a:r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37338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35</a:t>
              </a:r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5486400" y="3733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49</a:t>
              </a:r>
            </a:p>
          </p:txBody>
        </p:sp>
        <p:sp>
          <p:nvSpPr>
            <p:cNvPr id="297" name="TextBox 296"/>
            <p:cNvSpPr txBox="1"/>
            <p:nvPr/>
          </p:nvSpPr>
          <p:spPr>
            <a:xfrm>
              <a:off x="5995664" y="46151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53</a:t>
              </a:r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51054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48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048000" y="5726668"/>
            <a:ext cx="4814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value</a:t>
            </a:r>
            <a:r>
              <a:rPr lang="en-US" dirty="0"/>
              <a:t>(</a:t>
            </a:r>
            <a:r>
              <a:rPr lang="en-US" b="1" dirty="0">
                <a:solidFill>
                  <a:srgbClr val="00B0F0"/>
                </a:solidFill>
              </a:rPr>
              <a:t>v</a:t>
            </a:r>
            <a:r>
              <a:rPr lang="en-US" dirty="0"/>
              <a:t>) &gt; </a:t>
            </a:r>
            <a:r>
              <a:rPr lang="en-US" b="1" dirty="0"/>
              <a:t>value </a:t>
            </a:r>
            <a:r>
              <a:rPr lang="en-US" dirty="0"/>
              <a:t>of every node in </a:t>
            </a:r>
            <a:r>
              <a:rPr lang="en-US" b="1" dirty="0" err="1"/>
              <a:t>subtree</a:t>
            </a:r>
            <a:r>
              <a:rPr lang="en-US" dirty="0"/>
              <a:t>(</a:t>
            </a:r>
            <a:r>
              <a:rPr lang="en-US" b="1" dirty="0"/>
              <a:t>left</a:t>
            </a:r>
            <a:r>
              <a:rPr lang="en-US" dirty="0"/>
              <a:t>(</a:t>
            </a:r>
            <a:r>
              <a:rPr lang="en-US" b="1" dirty="0">
                <a:solidFill>
                  <a:srgbClr val="00B0F0"/>
                </a:solidFill>
              </a:rPr>
              <a:t>v</a:t>
            </a:r>
            <a:r>
              <a:rPr lang="en-US" dirty="0"/>
              <a:t>)).</a:t>
            </a:r>
            <a:endParaRPr lang="en-IN" dirty="0"/>
          </a:p>
        </p:txBody>
      </p:sp>
      <p:sp>
        <p:nvSpPr>
          <p:cNvPr id="12" name="Oval 11"/>
          <p:cNvSpPr/>
          <p:nvPr/>
        </p:nvSpPr>
        <p:spPr>
          <a:xfrm>
            <a:off x="2596643" y="2590800"/>
            <a:ext cx="756157" cy="533400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2449530" y="22976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82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2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Binary Search Tree: </a:t>
            </a:r>
            <a:r>
              <a:rPr lang="en-US" sz="3200" b="1" dirty="0">
                <a:solidFill>
                  <a:srgbClr val="C00000"/>
                </a:solidFill>
              </a:rPr>
              <a:t>a slight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      </a:t>
            </a:r>
          </a:p>
          <a:p>
            <a:pPr marL="0" indent="0">
              <a:buNone/>
            </a:pPr>
            <a:r>
              <a:rPr lang="en-US" sz="1800" dirty="0"/>
              <a:t>Henceforth, for each </a:t>
            </a:r>
            <a:r>
              <a:rPr lang="en-US" sz="1800" b="1" dirty="0">
                <a:solidFill>
                  <a:srgbClr val="0070C0"/>
                </a:solidFill>
              </a:rPr>
              <a:t>NULL</a:t>
            </a:r>
            <a:r>
              <a:rPr lang="en-US" sz="1800" dirty="0"/>
              <a:t> </a:t>
            </a:r>
            <a:r>
              <a:rPr lang="en-US" sz="1800" b="1" dirty="0"/>
              <a:t>child link </a:t>
            </a:r>
            <a:r>
              <a:rPr lang="en-US" sz="1800" dirty="0"/>
              <a:t>of a node in a </a:t>
            </a:r>
            <a:r>
              <a:rPr lang="en-US" sz="1800" b="1" dirty="0"/>
              <a:t>BST</a:t>
            </a:r>
            <a:r>
              <a:rPr lang="en-US" sz="1800" dirty="0"/>
              <a:t>,  we create a </a:t>
            </a:r>
            <a:r>
              <a:rPr lang="en-US" sz="1800" b="1" dirty="0">
                <a:solidFill>
                  <a:srgbClr val="0070C0"/>
                </a:solidFill>
              </a:rPr>
              <a:t>NULL</a:t>
            </a:r>
            <a:r>
              <a:rPr lang="en-US" sz="1800" dirty="0">
                <a:solidFill>
                  <a:srgbClr val="0070C0"/>
                </a:solidFill>
              </a:rPr>
              <a:t> node</a:t>
            </a:r>
            <a:r>
              <a:rPr lang="en-US" sz="1800" dirty="0"/>
              <a:t>.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</a:t>
            </a:r>
            <a:r>
              <a:rPr lang="en-US" sz="1800" dirty="0"/>
              <a:t>       </a:t>
            </a:r>
            <a:r>
              <a:rPr lang="en-US" sz="1800" b="1" dirty="0"/>
              <a:t>1.</a:t>
            </a:r>
            <a:r>
              <a:rPr lang="en-US" sz="1800" dirty="0"/>
              <a:t>  Each </a:t>
            </a:r>
            <a:r>
              <a:rPr lang="en-US" sz="1800" b="1" dirty="0"/>
              <a:t>leaf node </a:t>
            </a:r>
            <a:r>
              <a:rPr lang="en-US" sz="1800" dirty="0"/>
              <a:t>in a BST will be a </a:t>
            </a:r>
            <a:r>
              <a:rPr lang="en-US" sz="1800" b="1" dirty="0">
                <a:solidFill>
                  <a:srgbClr val="0070C0"/>
                </a:solidFill>
              </a:rPr>
              <a:t>NULL</a:t>
            </a:r>
            <a:r>
              <a:rPr lang="en-US" sz="1800" dirty="0">
                <a:solidFill>
                  <a:srgbClr val="0070C0"/>
                </a:solidFill>
              </a:rPr>
              <a:t> node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b="1" dirty="0"/>
              <a:t>            2.</a:t>
            </a:r>
            <a:r>
              <a:rPr lang="en-US" sz="1800" dirty="0"/>
              <a:t> the BST will always be a </a:t>
            </a:r>
            <a:r>
              <a:rPr lang="en-US" sz="1800" b="1" dirty="0">
                <a:solidFill>
                  <a:srgbClr val="7030A0"/>
                </a:solidFill>
              </a:rPr>
              <a:t>full binary tree</a:t>
            </a:r>
            <a:r>
              <a:rPr lang="en-US" sz="18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43000" y="1371600"/>
            <a:ext cx="5586736" cy="3309610"/>
            <a:chOff x="1143000" y="1600200"/>
            <a:chExt cx="5586736" cy="3309610"/>
          </a:xfrm>
        </p:grpSpPr>
        <p:sp>
          <p:nvSpPr>
            <p:cNvPr id="5" name="Oval 4"/>
            <p:cNvSpPr/>
            <p:nvPr/>
          </p:nvSpPr>
          <p:spPr>
            <a:xfrm>
              <a:off x="4514094" y="22098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6419094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770894" y="3809999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5504694" y="3772992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752094" y="38100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2819400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61294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22" name="Oval 121"/>
            <p:cNvSpPr/>
            <p:nvPr/>
          </p:nvSpPr>
          <p:spPr>
            <a:xfrm>
              <a:off x="22280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38" name="Oval 137"/>
            <p:cNvSpPr/>
            <p:nvPr/>
          </p:nvSpPr>
          <p:spPr>
            <a:xfrm>
              <a:off x="32948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54" name="Oval 153"/>
            <p:cNvSpPr/>
            <p:nvPr/>
          </p:nvSpPr>
          <p:spPr>
            <a:xfrm>
              <a:off x="42092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70" name="Oval 169"/>
            <p:cNvSpPr/>
            <p:nvPr/>
          </p:nvSpPr>
          <p:spPr>
            <a:xfrm>
              <a:off x="51236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86" name="Oval 185"/>
            <p:cNvSpPr/>
            <p:nvPr/>
          </p:nvSpPr>
          <p:spPr>
            <a:xfrm>
              <a:off x="60380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34" name="Straight Arrow Connector 233"/>
            <p:cNvCxnSpPr/>
            <p:nvPr/>
          </p:nvCxnSpPr>
          <p:spPr>
            <a:xfrm flipH="1">
              <a:off x="2962653" y="230838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/>
            <p:nvPr/>
          </p:nvCxnSpPr>
          <p:spPr>
            <a:xfrm flipH="1">
              <a:off x="1953760" y="317801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/>
            <p:cNvCxnSpPr>
              <a:stCxn id="8" idx="3"/>
            </p:cNvCxnSpPr>
            <p:nvPr/>
          </p:nvCxnSpPr>
          <p:spPr>
            <a:xfrm flipH="1">
              <a:off x="3438147" y="397829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>
              <a:endCxn id="11" idx="7"/>
            </p:cNvCxnSpPr>
            <p:nvPr/>
          </p:nvCxnSpPr>
          <p:spPr>
            <a:xfrm flipH="1">
              <a:off x="1405842" y="396240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/>
            <p:cNvCxnSpPr/>
            <p:nvPr/>
          </p:nvCxnSpPr>
          <p:spPr>
            <a:xfrm flipH="1">
              <a:off x="5181600" y="397829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Arrow Connector 255"/>
            <p:cNvCxnSpPr/>
            <p:nvPr/>
          </p:nvCxnSpPr>
          <p:spPr>
            <a:xfrm flipH="1">
              <a:off x="5647948" y="320040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/>
            <p:cNvCxnSpPr/>
            <p:nvPr/>
          </p:nvCxnSpPr>
          <p:spPr>
            <a:xfrm>
              <a:off x="3048000" y="317801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/>
            <p:cNvCxnSpPr/>
            <p:nvPr/>
          </p:nvCxnSpPr>
          <p:spPr>
            <a:xfrm>
              <a:off x="2029959" y="396240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Arrow Connector 267"/>
            <p:cNvCxnSpPr>
              <a:endCxn id="294" idx="0"/>
            </p:cNvCxnSpPr>
            <p:nvPr/>
          </p:nvCxnSpPr>
          <p:spPr>
            <a:xfrm>
              <a:off x="3962400" y="3978116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/>
            <p:cNvCxnSpPr/>
            <p:nvPr/>
          </p:nvCxnSpPr>
          <p:spPr>
            <a:xfrm>
              <a:off x="5763759" y="396240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/>
            <p:cNvCxnSpPr/>
            <p:nvPr/>
          </p:nvCxnSpPr>
          <p:spPr>
            <a:xfrm>
              <a:off x="4800600" y="235315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2" name="Group 281"/>
            <p:cNvGrpSpPr/>
            <p:nvPr/>
          </p:nvGrpSpPr>
          <p:grpSpPr>
            <a:xfrm>
              <a:off x="4419600" y="1600200"/>
              <a:ext cx="502924" cy="578167"/>
              <a:chOff x="1203952" y="3914001"/>
              <a:chExt cx="502924" cy="578167"/>
            </a:xfrm>
          </p:grpSpPr>
          <p:cxnSp>
            <p:nvCxnSpPr>
              <p:cNvPr id="283" name="Elbow Connector 28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4" name="TextBox 283"/>
              <p:cNvSpPr txBox="1"/>
              <p:nvPr/>
            </p:nvSpPr>
            <p:spPr>
              <a:xfrm>
                <a:off x="1203952" y="3914001"/>
                <a:ext cx="502924" cy="27699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root</a:t>
                </a:r>
              </a:p>
            </p:txBody>
          </p:sp>
        </p:grpSp>
        <p:sp>
          <p:nvSpPr>
            <p:cNvPr id="286" name="TextBox 285"/>
            <p:cNvSpPr txBox="1"/>
            <p:nvPr/>
          </p:nvSpPr>
          <p:spPr>
            <a:xfrm>
              <a:off x="1143000" y="46151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2819400" y="2971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28</a:t>
              </a:r>
            </a:p>
          </p:txBody>
        </p:sp>
        <p:sp>
          <p:nvSpPr>
            <p:cNvPr id="288" name="TextBox 287"/>
            <p:cNvSpPr txBox="1"/>
            <p:nvPr/>
          </p:nvSpPr>
          <p:spPr>
            <a:xfrm>
              <a:off x="4471664" y="2209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46</a:t>
              </a:r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6400800" y="2971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67</a:t>
              </a: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2209800" y="46151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25</a:t>
              </a:r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1752600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31</a:t>
              </a:r>
            </a:p>
          </p:txBody>
        </p:sp>
        <p:sp>
          <p:nvSpPr>
            <p:cNvPr id="294" name="TextBox 293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41</a:t>
              </a:r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37338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35</a:t>
              </a:r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5486400" y="3733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49</a:t>
              </a:r>
            </a:p>
          </p:txBody>
        </p:sp>
        <p:sp>
          <p:nvSpPr>
            <p:cNvPr id="297" name="TextBox 296"/>
            <p:cNvSpPr txBox="1"/>
            <p:nvPr/>
          </p:nvSpPr>
          <p:spPr>
            <a:xfrm>
              <a:off x="5995664" y="46151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53</a:t>
              </a:r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51054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48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90600" y="2949416"/>
            <a:ext cx="6324600" cy="2232184"/>
            <a:chOff x="990600" y="2949416"/>
            <a:chExt cx="6324600" cy="2232184"/>
          </a:xfrm>
        </p:grpSpPr>
        <p:grpSp>
          <p:nvGrpSpPr>
            <p:cNvPr id="54" name="Group 53"/>
            <p:cNvGrpSpPr/>
            <p:nvPr/>
          </p:nvGrpSpPr>
          <p:grpSpPr>
            <a:xfrm>
              <a:off x="2057400" y="4616769"/>
              <a:ext cx="591762" cy="564831"/>
              <a:chOff x="990601" y="4159569"/>
              <a:chExt cx="591762" cy="564831"/>
            </a:xfrm>
          </p:grpSpPr>
          <p:grpSp>
            <p:nvGrpSpPr>
              <p:cNvPr id="56" name="Group 55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64" name="Group 6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66" name="Rectangle 65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67" name="Group 6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68" name="Straight Connector 6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" name="Straight Connector 68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65" name="Straight Arrow Connector 64"/>
                <p:cNvCxnSpPr>
                  <a:endCxn id="66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58" name="Group 57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60" name="Rectangle 5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61" name="Group 6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62" name="Straight Connector 6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" name="Straight Connector 6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59" name="Straight Arrow Connector 58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0" name="Group 69"/>
            <p:cNvGrpSpPr/>
            <p:nvPr/>
          </p:nvGrpSpPr>
          <p:grpSpPr>
            <a:xfrm>
              <a:off x="990600" y="4616769"/>
              <a:ext cx="591762" cy="564831"/>
              <a:chOff x="990601" y="4159569"/>
              <a:chExt cx="591762" cy="564831"/>
            </a:xfrm>
          </p:grpSpPr>
          <p:grpSp>
            <p:nvGrpSpPr>
              <p:cNvPr id="71" name="Group 70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79" name="Group 78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81" name="Rectangle 80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82" name="Group 81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83" name="Straight Connector 82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" name="Straight Connector 83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0" name="Straight Arrow Connector 79"/>
                <p:cNvCxnSpPr>
                  <a:endCxn id="81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" name="Group 71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73" name="Group 72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75" name="Rectangle 74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76" name="Group 75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77" name="Straight Connector 76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Straight Connector 77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74" name="Straight Arrow Connector 73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5" name="Group 84"/>
            <p:cNvGrpSpPr/>
            <p:nvPr/>
          </p:nvGrpSpPr>
          <p:grpSpPr>
            <a:xfrm>
              <a:off x="3142038" y="4616769"/>
              <a:ext cx="591762" cy="564831"/>
              <a:chOff x="990601" y="4159569"/>
              <a:chExt cx="591762" cy="564831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94" name="Group 9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96" name="Rectangle 95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97" name="Group 9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98" name="Straight Connector 9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" name="Straight Connector 98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95" name="Straight Arrow Connector 94"/>
                <p:cNvCxnSpPr>
                  <a:endCxn id="96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Group 86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88" name="Group 87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90" name="Rectangle 8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91" name="Group 9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92" name="Straight Connector 9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Straight Connector 9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9" name="Straight Arrow Connector 88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0" name="Group 99"/>
            <p:cNvGrpSpPr/>
            <p:nvPr/>
          </p:nvGrpSpPr>
          <p:grpSpPr>
            <a:xfrm>
              <a:off x="4038600" y="4616769"/>
              <a:ext cx="591762" cy="564831"/>
              <a:chOff x="990601" y="4159569"/>
              <a:chExt cx="591762" cy="564831"/>
            </a:xfrm>
          </p:grpSpPr>
          <p:grpSp>
            <p:nvGrpSpPr>
              <p:cNvPr id="101" name="Group 100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109" name="Group 108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11" name="Rectangle 110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12" name="Group 111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13" name="Straight Connector 112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4" name="Straight Connector 113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10" name="Straight Arrow Connector 109"/>
                <p:cNvCxnSpPr>
                  <a:endCxn id="111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2" name="Group 101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03" name="Group 102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05" name="Rectangle 104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06" name="Group 105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07" name="Straight Connector 106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" name="Straight Connector 107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04" name="Straight Arrow Connector 103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4970838" y="4616769"/>
              <a:ext cx="591762" cy="564831"/>
              <a:chOff x="990601" y="4159569"/>
              <a:chExt cx="591762" cy="564831"/>
            </a:xfrm>
          </p:grpSpPr>
          <p:grpSp>
            <p:nvGrpSpPr>
              <p:cNvPr id="116" name="Group 115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7" name="Rectangle 12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29" name="Straight Connector 12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" name="Straight Connector 12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6" name="Straight Arrow Connector 125"/>
                <p:cNvCxnSpPr>
                  <a:endCxn id="127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7" name="Group 116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18" name="Group 117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0" name="Rectangle 11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21" name="Group 12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23" name="Straight Connector 122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Straight Connector 123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19" name="Straight Arrow Connector 118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1" name="Group 130"/>
            <p:cNvGrpSpPr/>
            <p:nvPr/>
          </p:nvGrpSpPr>
          <p:grpSpPr>
            <a:xfrm>
              <a:off x="5885238" y="4616769"/>
              <a:ext cx="591762" cy="564831"/>
              <a:chOff x="990601" y="4159569"/>
              <a:chExt cx="591762" cy="564831"/>
            </a:xfrm>
          </p:grpSpPr>
          <p:grpSp>
            <p:nvGrpSpPr>
              <p:cNvPr id="132" name="Group 131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141" name="Group 140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43" name="Rectangle 142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44" name="Group 143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45" name="Straight Connector 144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6" name="Straight Connector 145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42" name="Straight Arrow Connector 141"/>
                <p:cNvCxnSpPr>
                  <a:endCxn id="143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3" name="Group 132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34" name="Group 13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36" name="Rectangle 135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7" name="Group 13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39" name="Straight Connector 13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" name="Straight Connector 13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35" name="Straight Arrow Connector 134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49" name="Group 148"/>
            <p:cNvGrpSpPr/>
            <p:nvPr/>
          </p:nvGrpSpPr>
          <p:grpSpPr>
            <a:xfrm>
              <a:off x="6629400" y="2949416"/>
              <a:ext cx="685800" cy="675176"/>
              <a:chOff x="245687" y="1539338"/>
              <a:chExt cx="808930" cy="665028"/>
            </a:xfrm>
          </p:grpSpPr>
          <p:grpSp>
            <p:nvGrpSpPr>
              <p:cNvPr id="150" name="Group 14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2" name="Rectangle 15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3" name="Group 15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5" name="Straight Connector 15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Straight Connector 155"/>
                  <p:cNvCxnSpPr/>
                  <p:nvPr/>
                </p:nvCxnSpPr>
                <p:spPr>
                  <a:xfrm>
                    <a:off x="2447521" y="2524882"/>
                    <a:ext cx="201168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1" name="Straight Arrow Connector 150"/>
              <p:cNvCxnSpPr/>
              <p:nvPr/>
            </p:nvCxnSpPr>
            <p:spPr>
              <a:xfrm>
                <a:off x="245687" y="1539338"/>
                <a:ext cx="719049" cy="4418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7" name="Group 146"/>
          <p:cNvGrpSpPr/>
          <p:nvPr/>
        </p:nvGrpSpPr>
        <p:grpSpPr>
          <a:xfrm>
            <a:off x="5434336" y="1066800"/>
            <a:ext cx="3709664" cy="4800600"/>
            <a:chOff x="5434336" y="1066800"/>
            <a:chExt cx="3709664" cy="4800600"/>
          </a:xfrm>
        </p:grpSpPr>
        <p:sp>
          <p:nvSpPr>
            <p:cNvPr id="148" name="Line Callout 2 147"/>
            <p:cNvSpPr/>
            <p:nvPr/>
          </p:nvSpPr>
          <p:spPr>
            <a:xfrm>
              <a:off x="5434336" y="1066800"/>
              <a:ext cx="3709664" cy="1295400"/>
            </a:xfrm>
            <a:prstGeom prst="borderCallout2">
              <a:avLst>
                <a:gd name="adj1" fmla="val 100109"/>
                <a:gd name="adj2" fmla="val 66398"/>
                <a:gd name="adj3" fmla="val 218702"/>
                <a:gd name="adj4" fmla="val 72770"/>
                <a:gd name="adj5" fmla="val 345757"/>
                <a:gd name="adj6" fmla="val 7359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This transformation is merely to help us in the analysis of </a:t>
              </a:r>
              <a:r>
                <a:rPr lang="en-US" sz="1600" dirty="0">
                  <a:solidFill>
                    <a:srgbClr val="C00000"/>
                  </a:solidFill>
                </a:rPr>
                <a:t>red</a:t>
              </a:r>
              <a:r>
                <a:rPr lang="en-US" sz="1600" dirty="0">
                  <a:solidFill>
                    <a:schemeClr val="tx1"/>
                  </a:solidFill>
                </a:rPr>
                <a:t>-black trees. It does not cause any extra overhead of space. All </a:t>
              </a:r>
              <a:r>
                <a:rPr lang="en-US" sz="1600" b="1" dirty="0">
                  <a:solidFill>
                    <a:srgbClr val="0070C0"/>
                  </a:solidFill>
                </a:rPr>
                <a:t>NULL nodes</a:t>
              </a:r>
              <a:r>
                <a:rPr lang="en-US" sz="1600" b="1" dirty="0">
                  <a:solidFill>
                    <a:schemeClr val="tx1"/>
                  </a:solidFill>
                </a:rPr>
                <a:t> </a:t>
              </a:r>
              <a:r>
                <a:rPr lang="en-US" sz="1600" dirty="0">
                  <a:solidFill>
                    <a:schemeClr val="tx1"/>
                  </a:solidFill>
                </a:rPr>
                <a:t>correspond to a </a:t>
              </a:r>
              <a:r>
                <a:rPr lang="en-US" sz="1600" u="sng" dirty="0">
                  <a:solidFill>
                    <a:schemeClr val="tx1"/>
                  </a:solidFill>
                </a:rPr>
                <a:t>single node </a:t>
              </a:r>
              <a:r>
                <a:rPr lang="en-US" sz="1600" dirty="0">
                  <a:solidFill>
                    <a:schemeClr val="tx1"/>
                  </a:solidFill>
                </a:rPr>
                <a:t>in memory.</a:t>
              </a:r>
            </a:p>
          </p:txBody>
        </p:sp>
        <p:sp>
          <p:nvSpPr>
            <p:cNvPr id="157" name="Right Brace 156"/>
            <p:cNvSpPr/>
            <p:nvPr/>
          </p:nvSpPr>
          <p:spPr>
            <a:xfrm>
              <a:off x="7772400" y="5257800"/>
              <a:ext cx="381001" cy="609600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755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</a:rPr>
              <a:t>A fact </a:t>
            </a:r>
            <a:r>
              <a:rPr lang="en-US" sz="2800" b="1" dirty="0"/>
              <a:t>we noticed in our previous discussion on BSTs </a:t>
            </a:r>
            <a:r>
              <a:rPr lang="en-US" sz="2800" b="1" dirty="0">
                <a:solidFill>
                  <a:srgbClr val="0070C0"/>
                </a:solidFill>
              </a:rPr>
              <a:t>(Lecture 9)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458200" cy="4525963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dirty="0"/>
              <a:t>Time complexity of </a:t>
            </a:r>
            <a:r>
              <a:rPr lang="en-US" sz="2000" dirty="0">
                <a:solidFill>
                  <a:srgbClr val="7030A0"/>
                </a:solidFill>
              </a:rPr>
              <a:t>Search</a:t>
            </a:r>
            <a:r>
              <a:rPr lang="en-US" sz="2000" dirty="0"/>
              <a:t>(</a:t>
            </a:r>
            <a:r>
              <a:rPr lang="en-US" sz="2000" dirty="0" err="1">
                <a:solidFill>
                  <a:srgbClr val="00B050"/>
                </a:solidFill>
              </a:rPr>
              <a:t>T</a:t>
            </a:r>
            <a:r>
              <a:rPr lang="en-US" sz="2000" dirty="0" err="1"/>
              <a:t>,</a:t>
            </a:r>
            <a:r>
              <a:rPr lang="en-US" sz="2000" dirty="0" err="1">
                <a:solidFill>
                  <a:srgbClr val="0070C0"/>
                </a:solidFill>
              </a:rPr>
              <a:t>x</a:t>
            </a:r>
            <a:r>
              <a:rPr lang="en-US" sz="2000" dirty="0"/>
              <a:t>) and </a:t>
            </a:r>
            <a:r>
              <a:rPr lang="en-US" sz="2000" dirty="0">
                <a:solidFill>
                  <a:srgbClr val="7030A0"/>
                </a:solidFill>
              </a:rPr>
              <a:t>Insert</a:t>
            </a:r>
            <a:r>
              <a:rPr lang="en-US" sz="2000" dirty="0"/>
              <a:t>(</a:t>
            </a:r>
            <a:r>
              <a:rPr lang="en-US" sz="2000" dirty="0" err="1">
                <a:solidFill>
                  <a:srgbClr val="00B050"/>
                </a:solidFill>
              </a:rPr>
              <a:t>T</a:t>
            </a:r>
            <a:r>
              <a:rPr lang="en-US" sz="2000" dirty="0" err="1"/>
              <a:t>,</a:t>
            </a:r>
            <a:r>
              <a:rPr lang="en-US" sz="2000" dirty="0" err="1">
                <a:solidFill>
                  <a:srgbClr val="0070C0"/>
                </a:solidFill>
              </a:rPr>
              <a:t>x</a:t>
            </a:r>
            <a:r>
              <a:rPr lang="en-US" sz="2000" dirty="0"/>
              <a:t>) in a Binary Search Tree </a:t>
            </a:r>
            <a:r>
              <a:rPr lang="en-US" sz="2000" dirty="0">
                <a:solidFill>
                  <a:srgbClr val="00B050"/>
                </a:solidFill>
              </a:rPr>
              <a:t>T</a:t>
            </a:r>
            <a:r>
              <a:rPr lang="en-US" sz="2000" dirty="0"/>
              <a:t> </a:t>
            </a:r>
            <a:r>
              <a:rPr lang="en-US" sz="2000" b="1" dirty="0"/>
              <a:t>=   </a:t>
            </a:r>
            <a:r>
              <a:rPr lang="en-US" sz="2000" b="1" dirty="0">
                <a:solidFill>
                  <a:srgbClr val="C00000"/>
                </a:solidFill>
              </a:rPr>
              <a:t>??</a:t>
            </a: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Height</a:t>
            </a:r>
            <a:r>
              <a:rPr lang="en-US" sz="2400" dirty="0"/>
              <a:t>(</a:t>
            </a:r>
            <a:r>
              <a:rPr lang="en-US" sz="2400" b="1" i="1" dirty="0">
                <a:solidFill>
                  <a:srgbClr val="0070C0"/>
                </a:solidFill>
              </a:rPr>
              <a:t>T</a:t>
            </a:r>
            <a:r>
              <a:rPr lang="en-US" sz="2400" dirty="0"/>
              <a:t>): </a:t>
            </a:r>
          </a:p>
          <a:p>
            <a:pPr marL="0" indent="0">
              <a:buNone/>
            </a:pPr>
            <a:r>
              <a:rPr lang="en-US" sz="2000" dirty="0"/>
              <a:t>The maximum number of edges on any path from root to a leaf node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773625" y="2754868"/>
            <a:ext cx="137037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</a:t>
            </a:r>
            <a:r>
              <a:rPr lang="en-US" b="1" dirty="0"/>
              <a:t>(Height(</a:t>
            </a:r>
            <a:r>
              <a:rPr lang="en-US" b="1" dirty="0">
                <a:solidFill>
                  <a:srgbClr val="00B050"/>
                </a:solidFill>
              </a:rPr>
              <a:t>T</a:t>
            </a:r>
            <a:r>
              <a:rPr lang="en-US" b="1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14358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Searching and inserting in a </a:t>
            </a:r>
            <a:r>
              <a:rPr lang="en-US" sz="2800" b="1" dirty="0">
                <a:solidFill>
                  <a:srgbClr val="7030A0"/>
                </a:solidFill>
              </a:rPr>
              <a:t>perfectly balanced </a:t>
            </a:r>
            <a:r>
              <a:rPr lang="en-US" sz="2800" b="1" dirty="0"/>
              <a:t>BST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14094" y="2362200"/>
            <a:ext cx="286506" cy="1971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19094" y="3155631"/>
            <a:ext cx="286506" cy="1971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70894" y="3962399"/>
            <a:ext cx="286506" cy="1971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52094" y="3962400"/>
            <a:ext cx="286506" cy="1971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504694" y="3925392"/>
            <a:ext cx="286506" cy="1971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85894" y="3962400"/>
            <a:ext cx="286506" cy="1971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19400" y="3155631"/>
            <a:ext cx="286506" cy="1971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grpSp>
        <p:nvGrpSpPr>
          <p:cNvPr id="120" name="Group 119"/>
          <p:cNvGrpSpPr/>
          <p:nvPr/>
        </p:nvGrpSpPr>
        <p:grpSpPr>
          <a:xfrm>
            <a:off x="990601" y="4800600"/>
            <a:ext cx="591762" cy="762000"/>
            <a:chOff x="990601" y="3962400"/>
            <a:chExt cx="591762" cy="762000"/>
          </a:xfrm>
        </p:grpSpPr>
        <p:sp>
          <p:nvSpPr>
            <p:cNvPr id="11" name="Rectangle 10"/>
            <p:cNvSpPr/>
            <p:nvPr/>
          </p:nvSpPr>
          <p:spPr>
            <a:xfrm>
              <a:off x="1161294" y="3962400"/>
              <a:ext cx="286506" cy="19716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990601" y="4159569"/>
              <a:ext cx="225309" cy="564831"/>
              <a:chOff x="853448" y="1644969"/>
              <a:chExt cx="255680" cy="559397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3" name="Straight Arrow Connector 22"/>
              <p:cNvCxnSpPr>
                <a:endCxn id="24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/>
            <p:cNvGrpSpPr/>
            <p:nvPr/>
          </p:nvGrpSpPr>
          <p:grpSpPr>
            <a:xfrm>
              <a:off x="1349682" y="4159569"/>
              <a:ext cx="232681" cy="564831"/>
              <a:chOff x="780160" y="1648024"/>
              <a:chExt cx="274457" cy="556342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82" name="Rectangle 8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3" name="Group 8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84" name="Straight Connector 83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1" name="Straight Arrow Connector 80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1" name="Group 120"/>
          <p:cNvGrpSpPr/>
          <p:nvPr/>
        </p:nvGrpSpPr>
        <p:grpSpPr>
          <a:xfrm>
            <a:off x="2057400" y="4800600"/>
            <a:ext cx="591762" cy="762000"/>
            <a:chOff x="990601" y="3962400"/>
            <a:chExt cx="591762" cy="762000"/>
          </a:xfrm>
        </p:grpSpPr>
        <p:sp>
          <p:nvSpPr>
            <p:cNvPr id="122" name="Rectangle 121"/>
            <p:cNvSpPr/>
            <p:nvPr/>
          </p:nvSpPr>
          <p:spPr>
            <a:xfrm>
              <a:off x="1161294" y="3962400"/>
              <a:ext cx="286506" cy="19716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grpSp>
          <p:nvGrpSpPr>
            <p:cNvPr id="123" name="Group 122"/>
            <p:cNvGrpSpPr/>
            <p:nvPr/>
          </p:nvGrpSpPr>
          <p:grpSpPr>
            <a:xfrm>
              <a:off x="990601" y="4159569"/>
              <a:ext cx="225309" cy="564831"/>
              <a:chOff x="853448" y="1644969"/>
              <a:chExt cx="255680" cy="559397"/>
            </a:xfrm>
          </p:grpSpPr>
          <p:grpSp>
            <p:nvGrpSpPr>
              <p:cNvPr id="131" name="Group 13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33" name="Rectangle 13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4" name="Group 13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35" name="Straight Connector 13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2" name="Straight Arrow Connector 131"/>
              <p:cNvCxnSpPr>
                <a:endCxn id="133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/>
            <p:cNvGrpSpPr/>
            <p:nvPr/>
          </p:nvGrpSpPr>
          <p:grpSpPr>
            <a:xfrm>
              <a:off x="1349682" y="4159569"/>
              <a:ext cx="232681" cy="564831"/>
              <a:chOff x="780160" y="1648024"/>
              <a:chExt cx="274457" cy="556342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27" name="Rectangle 126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8" name="Group 127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29" name="Straight Connector 128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6" name="Straight Arrow Connector 125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7" name="Group 136"/>
          <p:cNvGrpSpPr/>
          <p:nvPr/>
        </p:nvGrpSpPr>
        <p:grpSpPr>
          <a:xfrm>
            <a:off x="3124200" y="4800600"/>
            <a:ext cx="591762" cy="762000"/>
            <a:chOff x="990601" y="3962400"/>
            <a:chExt cx="591762" cy="762000"/>
          </a:xfrm>
        </p:grpSpPr>
        <p:sp>
          <p:nvSpPr>
            <p:cNvPr id="138" name="Rectangle 137"/>
            <p:cNvSpPr/>
            <p:nvPr/>
          </p:nvSpPr>
          <p:spPr>
            <a:xfrm>
              <a:off x="1161294" y="3962400"/>
              <a:ext cx="286506" cy="19716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grpSp>
          <p:nvGrpSpPr>
            <p:cNvPr id="139" name="Group 138"/>
            <p:cNvGrpSpPr/>
            <p:nvPr/>
          </p:nvGrpSpPr>
          <p:grpSpPr>
            <a:xfrm>
              <a:off x="990601" y="4159569"/>
              <a:ext cx="225309" cy="564831"/>
              <a:chOff x="853448" y="1644969"/>
              <a:chExt cx="255680" cy="559397"/>
            </a:xfrm>
          </p:grpSpPr>
          <p:grpSp>
            <p:nvGrpSpPr>
              <p:cNvPr id="147" name="Group 14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0" name="Group 14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1" name="Straight Connector 15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8" name="Straight Arrow Connector 147"/>
              <p:cNvCxnSpPr>
                <a:endCxn id="149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/>
            <p:cNvGrpSpPr/>
            <p:nvPr/>
          </p:nvGrpSpPr>
          <p:grpSpPr>
            <a:xfrm>
              <a:off x="1349682" y="4159569"/>
              <a:ext cx="232681" cy="564831"/>
              <a:chOff x="780160" y="1648024"/>
              <a:chExt cx="274457" cy="556342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3" name="Rectangle 14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4" name="Group 14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45" name="Straight Connector 14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2" name="Straight Arrow Connector 141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3" name="Group 152"/>
          <p:cNvGrpSpPr/>
          <p:nvPr/>
        </p:nvGrpSpPr>
        <p:grpSpPr>
          <a:xfrm>
            <a:off x="4038600" y="4800600"/>
            <a:ext cx="591762" cy="762000"/>
            <a:chOff x="990601" y="3962400"/>
            <a:chExt cx="591762" cy="762000"/>
          </a:xfrm>
        </p:grpSpPr>
        <p:sp>
          <p:nvSpPr>
            <p:cNvPr id="154" name="Rectangle 153"/>
            <p:cNvSpPr/>
            <p:nvPr/>
          </p:nvSpPr>
          <p:spPr>
            <a:xfrm>
              <a:off x="1161294" y="3962400"/>
              <a:ext cx="286506" cy="19716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grpSp>
          <p:nvGrpSpPr>
            <p:cNvPr id="155" name="Group 154"/>
            <p:cNvGrpSpPr/>
            <p:nvPr/>
          </p:nvGrpSpPr>
          <p:grpSpPr>
            <a:xfrm>
              <a:off x="990601" y="4159569"/>
              <a:ext cx="225309" cy="564831"/>
              <a:chOff x="853448" y="1644969"/>
              <a:chExt cx="255680" cy="559397"/>
            </a:xfrm>
          </p:grpSpPr>
          <p:grpSp>
            <p:nvGrpSpPr>
              <p:cNvPr id="163" name="Group 162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65" name="Rectangle 164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6" name="Group 165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7" name="Straight Connector 166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4" name="Straight Arrow Connector 163"/>
              <p:cNvCxnSpPr>
                <a:endCxn id="165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>
              <a:off x="1349682" y="4159569"/>
              <a:ext cx="232681" cy="564831"/>
              <a:chOff x="780160" y="1648024"/>
              <a:chExt cx="274457" cy="556342"/>
            </a:xfrm>
          </p:grpSpPr>
          <p:grpSp>
            <p:nvGrpSpPr>
              <p:cNvPr id="157" name="Group 15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9" name="Rectangle 15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0" name="Group 15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1" name="Straight Connector 16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8" name="Straight Arrow Connector 157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9" name="Group 168"/>
          <p:cNvGrpSpPr/>
          <p:nvPr/>
        </p:nvGrpSpPr>
        <p:grpSpPr>
          <a:xfrm>
            <a:off x="4953000" y="4800600"/>
            <a:ext cx="591762" cy="762000"/>
            <a:chOff x="990601" y="3962400"/>
            <a:chExt cx="591762" cy="762000"/>
          </a:xfrm>
        </p:grpSpPr>
        <p:sp>
          <p:nvSpPr>
            <p:cNvPr id="170" name="Rectangle 169"/>
            <p:cNvSpPr/>
            <p:nvPr/>
          </p:nvSpPr>
          <p:spPr>
            <a:xfrm>
              <a:off x="1161294" y="3962400"/>
              <a:ext cx="286506" cy="19716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grpSp>
          <p:nvGrpSpPr>
            <p:cNvPr id="171" name="Group 170"/>
            <p:cNvGrpSpPr/>
            <p:nvPr/>
          </p:nvGrpSpPr>
          <p:grpSpPr>
            <a:xfrm>
              <a:off x="990601" y="4159569"/>
              <a:ext cx="225309" cy="564831"/>
              <a:chOff x="853448" y="1644969"/>
              <a:chExt cx="255680" cy="559397"/>
            </a:xfrm>
          </p:grpSpPr>
          <p:grpSp>
            <p:nvGrpSpPr>
              <p:cNvPr id="179" name="Group 178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81" name="Rectangle 180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82" name="Group 181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83" name="Straight Connector 182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4" name="Straight Connector 183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80" name="Straight Arrow Connector 179"/>
              <p:cNvCxnSpPr>
                <a:endCxn id="181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/>
          </p:nvGrpSpPr>
          <p:grpSpPr>
            <a:xfrm>
              <a:off x="1349682" y="4159569"/>
              <a:ext cx="232681" cy="564831"/>
              <a:chOff x="780160" y="1648024"/>
              <a:chExt cx="274457" cy="556342"/>
            </a:xfrm>
          </p:grpSpPr>
          <p:grpSp>
            <p:nvGrpSpPr>
              <p:cNvPr id="173" name="Group 172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75" name="Rectangle 174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76" name="Group 175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77" name="Straight Connector 176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8" name="Straight Connector 177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74" name="Straight Arrow Connector 173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6" name="Rectangle 185"/>
          <p:cNvSpPr/>
          <p:nvPr/>
        </p:nvSpPr>
        <p:spPr>
          <a:xfrm>
            <a:off x="6038093" y="4800600"/>
            <a:ext cx="286506" cy="1971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grpSp>
        <p:nvGrpSpPr>
          <p:cNvPr id="187" name="Group 186"/>
          <p:cNvGrpSpPr/>
          <p:nvPr/>
        </p:nvGrpSpPr>
        <p:grpSpPr>
          <a:xfrm>
            <a:off x="5867400" y="4997769"/>
            <a:ext cx="225309" cy="564831"/>
            <a:chOff x="853448" y="1644969"/>
            <a:chExt cx="255680" cy="559397"/>
          </a:xfrm>
        </p:grpSpPr>
        <p:grpSp>
          <p:nvGrpSpPr>
            <p:cNvPr id="195" name="Group 194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97" name="Rectangle 196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8" name="Group 197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99" name="Straight Connector 198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96" name="Straight Arrow Connector 195"/>
            <p:cNvCxnSpPr>
              <a:endCxn id="197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Group 187"/>
          <p:cNvGrpSpPr/>
          <p:nvPr/>
        </p:nvGrpSpPr>
        <p:grpSpPr>
          <a:xfrm>
            <a:off x="6226481" y="4997769"/>
            <a:ext cx="232681" cy="564831"/>
            <a:chOff x="780160" y="1648024"/>
            <a:chExt cx="274457" cy="556342"/>
          </a:xfrm>
        </p:grpSpPr>
        <p:grpSp>
          <p:nvGrpSpPr>
            <p:cNvPr id="189" name="Group 188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91" name="Rectangle 19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" name="Group 19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90" name="Straight Arrow Connector 189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1" name="Group 200"/>
          <p:cNvGrpSpPr/>
          <p:nvPr/>
        </p:nvGrpSpPr>
        <p:grpSpPr>
          <a:xfrm>
            <a:off x="6781800" y="4800600"/>
            <a:ext cx="591762" cy="762000"/>
            <a:chOff x="990601" y="3962400"/>
            <a:chExt cx="591762" cy="762000"/>
          </a:xfrm>
        </p:grpSpPr>
        <p:sp>
          <p:nvSpPr>
            <p:cNvPr id="202" name="Rectangle 201"/>
            <p:cNvSpPr/>
            <p:nvPr/>
          </p:nvSpPr>
          <p:spPr>
            <a:xfrm>
              <a:off x="1161294" y="3962400"/>
              <a:ext cx="286506" cy="19716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grpSp>
          <p:nvGrpSpPr>
            <p:cNvPr id="203" name="Group 202"/>
            <p:cNvGrpSpPr/>
            <p:nvPr/>
          </p:nvGrpSpPr>
          <p:grpSpPr>
            <a:xfrm>
              <a:off x="990601" y="4159569"/>
              <a:ext cx="225309" cy="564831"/>
              <a:chOff x="853448" y="1644969"/>
              <a:chExt cx="255680" cy="559397"/>
            </a:xfrm>
          </p:grpSpPr>
          <p:grpSp>
            <p:nvGrpSpPr>
              <p:cNvPr id="211" name="Group 21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13" name="Rectangle 21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14" name="Group 21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15" name="Straight Connector 21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12" name="Straight Arrow Connector 211"/>
              <p:cNvCxnSpPr>
                <a:endCxn id="213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4" name="Group 203"/>
            <p:cNvGrpSpPr/>
            <p:nvPr/>
          </p:nvGrpSpPr>
          <p:grpSpPr>
            <a:xfrm>
              <a:off x="1349682" y="4159569"/>
              <a:ext cx="232681" cy="564831"/>
              <a:chOff x="780160" y="1648024"/>
              <a:chExt cx="274457" cy="556342"/>
            </a:xfrm>
          </p:grpSpPr>
          <p:grpSp>
            <p:nvGrpSpPr>
              <p:cNvPr id="205" name="Group 204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07" name="Rectangle 206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08" name="Group 207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09" name="Straight Connector 208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Connector 209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06" name="Straight Arrow Connector 205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7" name="Group 216"/>
          <p:cNvGrpSpPr/>
          <p:nvPr/>
        </p:nvGrpSpPr>
        <p:grpSpPr>
          <a:xfrm>
            <a:off x="7772400" y="4953000"/>
            <a:ext cx="591762" cy="762000"/>
            <a:chOff x="990601" y="3962400"/>
            <a:chExt cx="591762" cy="762000"/>
          </a:xfrm>
        </p:grpSpPr>
        <p:sp>
          <p:nvSpPr>
            <p:cNvPr id="218" name="Rectangle 217"/>
            <p:cNvSpPr/>
            <p:nvPr/>
          </p:nvSpPr>
          <p:spPr>
            <a:xfrm>
              <a:off x="1161294" y="3962400"/>
              <a:ext cx="286506" cy="19716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grpSp>
          <p:nvGrpSpPr>
            <p:cNvPr id="219" name="Group 218"/>
            <p:cNvGrpSpPr/>
            <p:nvPr/>
          </p:nvGrpSpPr>
          <p:grpSpPr>
            <a:xfrm>
              <a:off x="990601" y="4159569"/>
              <a:ext cx="225309" cy="564831"/>
              <a:chOff x="853448" y="1644969"/>
              <a:chExt cx="255680" cy="559397"/>
            </a:xfrm>
          </p:grpSpPr>
          <p:grpSp>
            <p:nvGrpSpPr>
              <p:cNvPr id="227" name="Group 22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29" name="Rectangle 22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30" name="Group 22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31" name="Straight Connector 23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Straight Connector 23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28" name="Straight Arrow Connector 227"/>
              <p:cNvCxnSpPr>
                <a:endCxn id="229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0" name="Group 219"/>
            <p:cNvGrpSpPr/>
            <p:nvPr/>
          </p:nvGrpSpPr>
          <p:grpSpPr>
            <a:xfrm>
              <a:off x="1349682" y="4159569"/>
              <a:ext cx="232681" cy="564831"/>
              <a:chOff x="780160" y="1648024"/>
              <a:chExt cx="274457" cy="556342"/>
            </a:xfrm>
          </p:grpSpPr>
          <p:grpSp>
            <p:nvGrpSpPr>
              <p:cNvPr id="221" name="Group 22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23" name="Rectangle 22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24" name="Group 22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25" name="Straight Connector 22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Connector 22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22" name="Straight Arrow Connector 221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34" name="Straight Arrow Connector 233"/>
          <p:cNvCxnSpPr>
            <a:stCxn id="5" idx="1"/>
            <a:endCxn id="13" idx="0"/>
          </p:cNvCxnSpPr>
          <p:nvPr/>
        </p:nvCxnSpPr>
        <p:spPr>
          <a:xfrm flipH="1">
            <a:off x="2962653" y="2460785"/>
            <a:ext cx="1551441" cy="6948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/>
          <p:cNvCxnSpPr/>
          <p:nvPr/>
        </p:nvCxnSpPr>
        <p:spPr>
          <a:xfrm flipH="1">
            <a:off x="1877560" y="3352800"/>
            <a:ext cx="941840" cy="6096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/>
          <p:cNvCxnSpPr/>
          <p:nvPr/>
        </p:nvCxnSpPr>
        <p:spPr>
          <a:xfrm flipH="1">
            <a:off x="1219200" y="4159569"/>
            <a:ext cx="551694" cy="64103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/>
          <p:cNvCxnSpPr>
            <a:endCxn id="138" idx="0"/>
          </p:cNvCxnSpPr>
          <p:nvPr/>
        </p:nvCxnSpPr>
        <p:spPr>
          <a:xfrm flipH="1">
            <a:off x="3438146" y="4159569"/>
            <a:ext cx="313948" cy="64103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/>
          <p:cNvCxnSpPr>
            <a:endCxn id="170" idx="0"/>
          </p:cNvCxnSpPr>
          <p:nvPr/>
        </p:nvCxnSpPr>
        <p:spPr>
          <a:xfrm flipH="1">
            <a:off x="5266946" y="4122561"/>
            <a:ext cx="237748" cy="67803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/>
          <p:cNvCxnSpPr/>
          <p:nvPr/>
        </p:nvCxnSpPr>
        <p:spPr>
          <a:xfrm flipH="1">
            <a:off x="7153652" y="4159569"/>
            <a:ext cx="332242" cy="6332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/>
          <p:cNvCxnSpPr>
            <a:endCxn id="9" idx="0"/>
          </p:cNvCxnSpPr>
          <p:nvPr/>
        </p:nvCxnSpPr>
        <p:spPr>
          <a:xfrm flipH="1">
            <a:off x="5647947" y="3352800"/>
            <a:ext cx="811215" cy="5725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Arrow Connector 258"/>
          <p:cNvCxnSpPr>
            <a:endCxn id="8" idx="0"/>
          </p:cNvCxnSpPr>
          <p:nvPr/>
        </p:nvCxnSpPr>
        <p:spPr>
          <a:xfrm>
            <a:off x="3105906" y="3352800"/>
            <a:ext cx="789441" cy="6096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/>
          <p:cNvCxnSpPr/>
          <p:nvPr/>
        </p:nvCxnSpPr>
        <p:spPr>
          <a:xfrm>
            <a:off x="6705600" y="3352800"/>
            <a:ext cx="789441" cy="6096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Arrow Connector 265"/>
          <p:cNvCxnSpPr>
            <a:endCxn id="122" idx="0"/>
          </p:cNvCxnSpPr>
          <p:nvPr/>
        </p:nvCxnSpPr>
        <p:spPr>
          <a:xfrm>
            <a:off x="2029959" y="4114800"/>
            <a:ext cx="341387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/>
          <p:cNvCxnSpPr>
            <a:endCxn id="154" idx="0"/>
          </p:cNvCxnSpPr>
          <p:nvPr/>
        </p:nvCxnSpPr>
        <p:spPr>
          <a:xfrm>
            <a:off x="4038600" y="4159569"/>
            <a:ext cx="313946" cy="64103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86" idx="0"/>
          </p:cNvCxnSpPr>
          <p:nvPr/>
        </p:nvCxnSpPr>
        <p:spPr>
          <a:xfrm>
            <a:off x="5763759" y="4114800"/>
            <a:ext cx="417587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/>
          <p:cNvCxnSpPr/>
          <p:nvPr/>
        </p:nvCxnSpPr>
        <p:spPr>
          <a:xfrm>
            <a:off x="7696200" y="4191000"/>
            <a:ext cx="313946" cy="66341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Arrow Connector 278"/>
          <p:cNvCxnSpPr>
            <a:stCxn id="5" idx="3"/>
          </p:cNvCxnSpPr>
          <p:nvPr/>
        </p:nvCxnSpPr>
        <p:spPr>
          <a:xfrm>
            <a:off x="4800600" y="2460785"/>
            <a:ext cx="1600200" cy="6948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Elbow Connector 282"/>
          <p:cNvCxnSpPr/>
          <p:nvPr/>
        </p:nvCxnSpPr>
        <p:spPr>
          <a:xfrm rot="5400000">
            <a:off x="4525499" y="1814629"/>
            <a:ext cx="666035" cy="366241"/>
          </a:xfrm>
          <a:prstGeom prst="bentConnector3">
            <a:avLst>
              <a:gd name="adj1" fmla="val 50000"/>
            </a:avLst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Box 285"/>
          <p:cNvSpPr txBox="1"/>
          <p:nvPr/>
        </p:nvSpPr>
        <p:spPr>
          <a:xfrm>
            <a:off x="1143000" y="476759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819400" y="31242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28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471664" y="23622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46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6400800" y="31242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67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900664" y="49199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96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2209800" y="47675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25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752600" y="392939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3276600" y="47675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31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4166864" y="47675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41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3733800" y="39293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35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5486400" y="38862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49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5995664" y="47675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53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105400" y="47675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48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6934200" y="47675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73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7443464" y="39293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4724" y="137160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Up Ribbon 232"/>
              <p:cNvSpPr/>
              <p:nvPr/>
            </p:nvSpPr>
            <p:spPr>
              <a:xfrm>
                <a:off x="5759752" y="1600200"/>
                <a:ext cx="2927048" cy="1045205"/>
              </a:xfrm>
              <a:prstGeom prst="ribbon2">
                <a:avLst>
                  <a:gd name="adj1" fmla="val 16667"/>
                  <a:gd name="adj2" fmla="val 75000"/>
                </a:avLst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 log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time</a:t>
                </a:r>
              </a:p>
            </p:txBody>
          </p:sp>
        </mc:Choice>
        <mc:Fallback xmlns="">
          <p:sp>
            <p:nvSpPr>
              <p:cNvPr id="233" name="Up Ribbon 2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752" y="1600200"/>
                <a:ext cx="2927048" cy="1045205"/>
              </a:xfrm>
              <a:prstGeom prst="ribbon2">
                <a:avLst>
                  <a:gd name="adj1" fmla="val 16667"/>
                  <a:gd name="adj2" fmla="val 75000"/>
                </a:avLst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214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itle 10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800" b="1" dirty="0"/>
                  <a:t>Searching and inserting in a </a:t>
                </a:r>
                <a:r>
                  <a:rPr lang="en-US" sz="2800" b="1" dirty="0">
                    <a:solidFill>
                      <a:srgbClr val="7030A0"/>
                    </a:solidFill>
                  </a:rPr>
                  <a:t>skewed </a:t>
                </a:r>
                <a:r>
                  <a:rPr lang="en-US" sz="2800" b="1" dirty="0"/>
                  <a:t>BST on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800" b="1" dirty="0"/>
                  <a:t> nodes</a:t>
                </a:r>
              </a:p>
            </p:txBody>
          </p:sp>
        </mc:Choice>
        <mc:Fallback xmlns="">
          <p:sp>
            <p:nvSpPr>
              <p:cNvPr id="105" name="Title 10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Content Placeholder 10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2812911" y="1219200"/>
            <a:ext cx="3359289" cy="4800600"/>
            <a:chOff x="3048000" y="1295400"/>
            <a:chExt cx="3359289" cy="4800600"/>
          </a:xfrm>
        </p:grpSpPr>
        <p:grpSp>
          <p:nvGrpSpPr>
            <p:cNvPr id="5" name="Group 4"/>
            <p:cNvGrpSpPr/>
            <p:nvPr/>
          </p:nvGrpSpPr>
          <p:grpSpPr>
            <a:xfrm>
              <a:off x="3543939" y="1295400"/>
              <a:ext cx="2399660" cy="4191000"/>
              <a:chOff x="5167496" y="1447800"/>
              <a:chExt cx="2030546" cy="3810000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5167496" y="1447800"/>
                <a:ext cx="2030546" cy="3810000"/>
                <a:chOff x="4678656" y="2819400"/>
                <a:chExt cx="2661326" cy="5102557"/>
              </a:xfrm>
            </p:grpSpPr>
            <p:grpSp>
              <p:nvGrpSpPr>
                <p:cNvPr id="8" name="Group 7"/>
                <p:cNvGrpSpPr/>
                <p:nvPr/>
              </p:nvGrpSpPr>
              <p:grpSpPr>
                <a:xfrm>
                  <a:off x="4678656" y="3352800"/>
                  <a:ext cx="2420107" cy="4569157"/>
                  <a:chOff x="2057400" y="3505200"/>
                  <a:chExt cx="2420107" cy="4569157"/>
                </a:xfrm>
              </p:grpSpPr>
              <p:grpSp>
                <p:nvGrpSpPr>
                  <p:cNvPr id="10" name="Group 9"/>
                  <p:cNvGrpSpPr/>
                  <p:nvPr/>
                </p:nvGrpSpPr>
                <p:grpSpPr>
                  <a:xfrm>
                    <a:off x="2438400" y="3505200"/>
                    <a:ext cx="2039107" cy="4569157"/>
                    <a:chOff x="2438400" y="4101462"/>
                    <a:chExt cx="2039107" cy="4569157"/>
                  </a:xfrm>
                </p:grpSpPr>
                <p:sp>
                  <p:nvSpPr>
                    <p:cNvPr id="20" name="Rectangle 19"/>
                    <p:cNvSpPr/>
                    <p:nvPr/>
                  </p:nvSpPr>
                  <p:spPr>
                    <a:xfrm>
                      <a:off x="4191001" y="4101462"/>
                      <a:ext cx="286506" cy="197169"/>
                    </a:xfrm>
                    <a:prstGeom prst="rect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</a:endParaRPr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>
                      <a:off x="3587060" y="4894728"/>
                      <a:ext cx="286506" cy="211794"/>
                    </a:xfrm>
                    <a:prstGeom prst="rect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</a:endParaRPr>
                    </a:p>
                  </p:txBody>
                </p:sp>
                <p:sp>
                  <p:nvSpPr>
                    <p:cNvPr id="22" name="Rectangle 21"/>
                    <p:cNvSpPr/>
                    <p:nvPr/>
                  </p:nvSpPr>
                  <p:spPr>
                    <a:xfrm>
                      <a:off x="2575240" y="7657041"/>
                      <a:ext cx="286506" cy="197169"/>
                    </a:xfrm>
                    <a:prstGeom prst="rect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</a:endParaRPr>
                    </a:p>
                  </p:txBody>
                </p:sp>
                <p:sp>
                  <p:nvSpPr>
                    <p:cNvPr id="23" name="Rectangle 22"/>
                    <p:cNvSpPr/>
                    <p:nvPr/>
                  </p:nvSpPr>
                  <p:spPr>
                    <a:xfrm>
                      <a:off x="2895600" y="5746431"/>
                      <a:ext cx="286506" cy="197169"/>
                    </a:xfrm>
                    <a:prstGeom prst="rect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</a:endParaRPr>
                    </a:p>
                  </p:txBody>
                </p:sp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3187575" y="8473450"/>
                      <a:ext cx="286506" cy="197169"/>
                    </a:xfrm>
                    <a:prstGeom prst="rect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</a:endParaRPr>
                    </a:p>
                  </p:txBody>
                </p:sp>
                <p:cxnSp>
                  <p:nvCxnSpPr>
                    <p:cNvPr id="25" name="Straight Arrow Connector 24"/>
                    <p:cNvCxnSpPr>
                      <a:stCxn id="21" idx="1"/>
                      <a:endCxn id="23" idx="0"/>
                    </p:cNvCxnSpPr>
                    <p:nvPr/>
                  </p:nvCxnSpPr>
                  <p:spPr>
                    <a:xfrm flipH="1">
                      <a:off x="3038854" y="5000625"/>
                      <a:ext cx="548206" cy="745805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Straight Arrow Connector 25"/>
                    <p:cNvCxnSpPr>
                      <a:stCxn id="20" idx="2"/>
                      <a:endCxn id="21" idx="0"/>
                    </p:cNvCxnSpPr>
                    <p:nvPr/>
                  </p:nvCxnSpPr>
                  <p:spPr>
                    <a:xfrm flipH="1">
                      <a:off x="3730313" y="4298631"/>
                      <a:ext cx="603941" cy="596097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Straight Arrow Connector 26"/>
                    <p:cNvCxnSpPr/>
                    <p:nvPr/>
                  </p:nvCxnSpPr>
                  <p:spPr>
                    <a:xfrm>
                      <a:off x="2804030" y="7803101"/>
                      <a:ext cx="508926" cy="663415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8" name="Rectangle 27"/>
                    <p:cNvSpPr/>
                    <p:nvPr/>
                  </p:nvSpPr>
                  <p:spPr>
                    <a:xfrm>
                      <a:off x="2438400" y="6356031"/>
                      <a:ext cx="286506" cy="197169"/>
                    </a:xfrm>
                    <a:prstGeom prst="rect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50" dirty="0">
                        <a:solidFill>
                          <a:srgbClr val="C00000"/>
                        </a:solidFill>
                      </a:endParaRPr>
                    </a:p>
                  </p:txBody>
                </p:sp>
                <p:cxnSp>
                  <p:nvCxnSpPr>
                    <p:cNvPr id="29" name="Straight Arrow Connector 28"/>
                    <p:cNvCxnSpPr>
                      <a:stCxn id="23" idx="1"/>
                      <a:endCxn id="28" idx="0"/>
                    </p:cNvCxnSpPr>
                    <p:nvPr/>
                  </p:nvCxnSpPr>
                  <p:spPr>
                    <a:xfrm flipH="1">
                      <a:off x="2581653" y="5845016"/>
                      <a:ext cx="313947" cy="511015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3" name="Straight Arrow Connector 12"/>
                  <p:cNvCxnSpPr/>
                  <p:nvPr/>
                </p:nvCxnSpPr>
                <p:spPr>
                  <a:xfrm flipH="1">
                    <a:off x="2209800" y="5965985"/>
                    <a:ext cx="313947" cy="511015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" name="Rectangle 13"/>
                  <p:cNvSpPr/>
                  <p:nvPr/>
                </p:nvSpPr>
                <p:spPr>
                  <a:xfrm>
                    <a:off x="2057400" y="6477000"/>
                    <a:ext cx="286506" cy="197169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2818537" y="5105596"/>
                    <a:ext cx="379027" cy="33724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200" b="1" dirty="0">
                        <a:solidFill>
                          <a:srgbClr val="FF0000"/>
                        </a:solidFill>
                      </a:rPr>
                      <a:t>23</a:t>
                    </a:r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694564" y="2819400"/>
                  <a:ext cx="645418" cy="6182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00B050"/>
                      </a:solidFill>
                    </a:rPr>
                    <a:t>T2</a:t>
                  </a:r>
                </a:p>
              </p:txBody>
            </p:sp>
          </p:grpSp>
          <p:cxnSp>
            <p:nvCxnSpPr>
              <p:cNvPr id="7" name="Straight Arrow Connector 6"/>
              <p:cNvCxnSpPr>
                <a:endCxn id="22" idx="0"/>
              </p:cNvCxnSpPr>
              <p:nvPr/>
            </p:nvCxnSpPr>
            <p:spPr>
              <a:xfrm>
                <a:off x="5403543" y="4212300"/>
                <a:ext cx="268357" cy="28867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/>
            <p:cNvGrpSpPr/>
            <p:nvPr/>
          </p:nvGrpSpPr>
          <p:grpSpPr>
            <a:xfrm>
              <a:off x="5715000" y="1905000"/>
              <a:ext cx="692289" cy="559838"/>
              <a:chOff x="7765911" y="1644528"/>
              <a:chExt cx="692289" cy="559838"/>
            </a:xfrm>
          </p:grpSpPr>
          <p:cxnSp>
            <p:nvCxnSpPr>
              <p:cNvPr id="31" name="Straight Arrow Connector 30"/>
              <p:cNvCxnSpPr/>
              <p:nvPr/>
            </p:nvCxnSpPr>
            <p:spPr>
              <a:xfrm>
                <a:off x="7765911" y="1644528"/>
                <a:ext cx="491120" cy="37636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>
              <a:xfrm>
                <a:off x="8257031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33" name="Rectangle 3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4" name="Group 3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35" name="Straight Connector 3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39" name="Group 38"/>
            <p:cNvGrpSpPr/>
            <p:nvPr/>
          </p:nvGrpSpPr>
          <p:grpSpPr>
            <a:xfrm>
              <a:off x="5181600" y="2564362"/>
              <a:ext cx="692289" cy="559838"/>
              <a:chOff x="7765911" y="1644528"/>
              <a:chExt cx="692289" cy="559838"/>
            </a:xfrm>
          </p:grpSpPr>
          <p:cxnSp>
            <p:nvCxnSpPr>
              <p:cNvPr id="40" name="Straight Arrow Connector 39"/>
              <p:cNvCxnSpPr/>
              <p:nvPr/>
            </p:nvCxnSpPr>
            <p:spPr>
              <a:xfrm>
                <a:off x="7765911" y="1644528"/>
                <a:ext cx="491120" cy="37636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>
              <a:xfrm>
                <a:off x="8257031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42" name="Rectangle 4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3" name="Group 4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44" name="Straight Connector 43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46" name="Group 45"/>
            <p:cNvGrpSpPr/>
            <p:nvPr/>
          </p:nvGrpSpPr>
          <p:grpSpPr>
            <a:xfrm>
              <a:off x="4572000" y="3200400"/>
              <a:ext cx="692289" cy="559838"/>
              <a:chOff x="7765911" y="1644528"/>
              <a:chExt cx="692289" cy="559838"/>
            </a:xfrm>
          </p:grpSpPr>
          <p:cxnSp>
            <p:nvCxnSpPr>
              <p:cNvPr id="47" name="Straight Arrow Connector 46"/>
              <p:cNvCxnSpPr/>
              <p:nvPr/>
            </p:nvCxnSpPr>
            <p:spPr>
              <a:xfrm>
                <a:off x="7765911" y="1644528"/>
                <a:ext cx="491120" cy="37636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>
              <a:xfrm>
                <a:off x="8257031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49" name="Rectangle 4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0" name="Group 4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51" name="Straight Connector 5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53" name="Group 52"/>
            <p:cNvGrpSpPr/>
            <p:nvPr/>
          </p:nvGrpSpPr>
          <p:grpSpPr>
            <a:xfrm>
              <a:off x="4114800" y="3733800"/>
              <a:ext cx="692289" cy="559838"/>
              <a:chOff x="7765911" y="1644528"/>
              <a:chExt cx="692289" cy="559838"/>
            </a:xfrm>
          </p:grpSpPr>
          <p:cxnSp>
            <p:nvCxnSpPr>
              <p:cNvPr id="54" name="Straight Arrow Connector 53"/>
              <p:cNvCxnSpPr/>
              <p:nvPr/>
            </p:nvCxnSpPr>
            <p:spPr>
              <a:xfrm>
                <a:off x="7765911" y="1644528"/>
                <a:ext cx="491120" cy="37636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" name="Group 54"/>
              <p:cNvGrpSpPr/>
              <p:nvPr/>
            </p:nvGrpSpPr>
            <p:grpSpPr>
              <a:xfrm>
                <a:off x="8257031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56" name="Rectangle 55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7" name="Group 56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58" name="Straight Connector 57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60" name="Group 59"/>
            <p:cNvGrpSpPr/>
            <p:nvPr/>
          </p:nvGrpSpPr>
          <p:grpSpPr>
            <a:xfrm>
              <a:off x="3048000" y="4343400"/>
              <a:ext cx="499480" cy="588189"/>
              <a:chOff x="8257031" y="1616177"/>
              <a:chExt cx="499480" cy="588189"/>
            </a:xfrm>
          </p:grpSpPr>
          <p:cxnSp>
            <p:nvCxnSpPr>
              <p:cNvPr id="61" name="Straight Arrow Connector 60"/>
              <p:cNvCxnSpPr/>
              <p:nvPr/>
            </p:nvCxnSpPr>
            <p:spPr>
              <a:xfrm flipH="1">
                <a:off x="8409431" y="1616177"/>
                <a:ext cx="347080" cy="40471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2" name="Group 61"/>
              <p:cNvGrpSpPr/>
              <p:nvPr/>
            </p:nvGrpSpPr>
            <p:grpSpPr>
              <a:xfrm>
                <a:off x="8257031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63" name="Rectangle 6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64" name="Group 6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65" name="Straight Connector 6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68" name="Group 67"/>
            <p:cNvGrpSpPr/>
            <p:nvPr/>
          </p:nvGrpSpPr>
          <p:grpSpPr>
            <a:xfrm>
              <a:off x="3539120" y="4822011"/>
              <a:ext cx="499480" cy="588189"/>
              <a:chOff x="8257031" y="1616177"/>
              <a:chExt cx="499480" cy="588189"/>
            </a:xfrm>
          </p:grpSpPr>
          <p:cxnSp>
            <p:nvCxnSpPr>
              <p:cNvPr id="69" name="Straight Arrow Connector 68"/>
              <p:cNvCxnSpPr/>
              <p:nvPr/>
            </p:nvCxnSpPr>
            <p:spPr>
              <a:xfrm flipH="1">
                <a:off x="8409431" y="1616177"/>
                <a:ext cx="347080" cy="40471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0" name="Group 69"/>
              <p:cNvGrpSpPr/>
              <p:nvPr/>
            </p:nvGrpSpPr>
            <p:grpSpPr>
              <a:xfrm>
                <a:off x="8257031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71" name="Rectangle 70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2" name="Group 71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73" name="Straight Connector 72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75" name="Group 74"/>
            <p:cNvGrpSpPr/>
            <p:nvPr/>
          </p:nvGrpSpPr>
          <p:grpSpPr>
            <a:xfrm>
              <a:off x="4072520" y="5486400"/>
              <a:ext cx="499480" cy="588189"/>
              <a:chOff x="8257031" y="1616177"/>
              <a:chExt cx="499480" cy="588189"/>
            </a:xfrm>
          </p:grpSpPr>
          <p:cxnSp>
            <p:nvCxnSpPr>
              <p:cNvPr id="76" name="Straight Arrow Connector 75"/>
              <p:cNvCxnSpPr/>
              <p:nvPr/>
            </p:nvCxnSpPr>
            <p:spPr>
              <a:xfrm flipH="1">
                <a:off x="8409431" y="1616177"/>
                <a:ext cx="347080" cy="40471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7" name="Group 76"/>
              <p:cNvGrpSpPr/>
              <p:nvPr/>
            </p:nvGrpSpPr>
            <p:grpSpPr>
              <a:xfrm>
                <a:off x="8257031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9" name="Group 78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80" name="Straight Connector 79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80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89" name="Group 88"/>
            <p:cNvGrpSpPr/>
            <p:nvPr/>
          </p:nvGrpSpPr>
          <p:grpSpPr>
            <a:xfrm>
              <a:off x="4800600" y="5486400"/>
              <a:ext cx="563199" cy="609600"/>
              <a:chOff x="7895001" y="1594766"/>
              <a:chExt cx="563199" cy="609600"/>
            </a:xfrm>
          </p:grpSpPr>
          <p:cxnSp>
            <p:nvCxnSpPr>
              <p:cNvPr id="90" name="Straight Arrow Connector 89"/>
              <p:cNvCxnSpPr/>
              <p:nvPr/>
            </p:nvCxnSpPr>
            <p:spPr>
              <a:xfrm>
                <a:off x="7895001" y="1594766"/>
                <a:ext cx="362030" cy="42612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1" name="Group 90"/>
              <p:cNvGrpSpPr/>
              <p:nvPr/>
            </p:nvGrpSpPr>
            <p:grpSpPr>
              <a:xfrm>
                <a:off x="8257031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92" name="Rectangle 9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3" name="Group 9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94" name="Straight Connector 93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94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97" name="TextBox 96"/>
            <p:cNvSpPr txBox="1"/>
            <p:nvPr/>
          </p:nvSpPr>
          <p:spPr>
            <a:xfrm>
              <a:off x="4876800" y="23138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39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410200" y="16764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849240" y="35330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19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505200" y="41148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11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925440" y="45998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14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535040" y="52578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18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Up Ribbon 106"/>
              <p:cNvSpPr/>
              <p:nvPr/>
            </p:nvSpPr>
            <p:spPr>
              <a:xfrm>
                <a:off x="5715000" y="3907795"/>
                <a:ext cx="2927048" cy="1045205"/>
              </a:xfrm>
              <a:prstGeom prst="ribbon2">
                <a:avLst>
                  <a:gd name="adj1" fmla="val 16667"/>
                  <a:gd name="adj2" fmla="val 75000"/>
                </a:avLst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time !!</a:t>
                </a:r>
              </a:p>
            </p:txBody>
          </p:sp>
        </mc:Choice>
        <mc:Fallback xmlns="">
          <p:sp>
            <p:nvSpPr>
              <p:cNvPr id="107" name="Up Ribbon 1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907795"/>
                <a:ext cx="2927048" cy="1045205"/>
              </a:xfrm>
              <a:prstGeom prst="ribbon2">
                <a:avLst>
                  <a:gd name="adj1" fmla="val 16667"/>
                  <a:gd name="adj2" fmla="val 75000"/>
                </a:avLst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78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0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6C31"/>
                </a:solidFill>
              </a:rPr>
              <a:t>Nearly</a:t>
            </a:r>
            <a:r>
              <a:rPr lang="en-US" sz="3200" b="1" dirty="0">
                <a:solidFill>
                  <a:srgbClr val="7030A0"/>
                </a:solidFill>
              </a:rPr>
              <a:t> balanced </a:t>
            </a:r>
            <a:r>
              <a:rPr lang="en-US" sz="3200" b="1" dirty="0"/>
              <a:t>Binary Search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Terminology:</a:t>
                </a: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size</a:t>
                </a:r>
                <a:r>
                  <a:rPr lang="en-US" sz="2000" dirty="0"/>
                  <a:t> of a binary tree is the number of nodes present in it.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Definition:</a:t>
                </a:r>
                <a:r>
                  <a:rPr lang="en-US" sz="2000" dirty="0"/>
                  <a:t> A binary search tree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T</a:t>
                </a:r>
                <a:r>
                  <a:rPr lang="en-US" sz="2000" dirty="0"/>
                  <a:t> is said to be </a:t>
                </a:r>
                <a:r>
                  <a:rPr lang="en-US" sz="2000" b="1" u="sng" dirty="0">
                    <a:solidFill>
                      <a:srgbClr val="006C31"/>
                    </a:solidFill>
                  </a:rPr>
                  <a:t>nearly</a:t>
                </a:r>
                <a:r>
                  <a:rPr lang="en-US" sz="2000" b="1" u="sng" dirty="0">
                    <a:solidFill>
                      <a:srgbClr val="7030A0"/>
                    </a:solidFill>
                  </a:rPr>
                  <a:t> balanced </a:t>
                </a:r>
                <a:r>
                  <a:rPr lang="en-US" sz="2000" dirty="0"/>
                  <a:t>at node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v</a:t>
                </a:r>
                <a:r>
                  <a:rPr lang="en-US" sz="2000" dirty="0"/>
                  <a:t>, if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size</a:t>
                </a:r>
                <a:r>
                  <a:rPr lang="en-US" sz="2000" dirty="0"/>
                  <a:t>(</a:t>
                </a:r>
                <a:r>
                  <a:rPr lang="en-US" sz="2000" b="1" dirty="0"/>
                  <a:t>left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v</a:t>
                </a:r>
                <a:r>
                  <a:rPr lang="en-US" sz="2000" dirty="0"/>
                  <a:t>))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≤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size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v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and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size</a:t>
                </a:r>
                <a:r>
                  <a:rPr lang="en-US" sz="2000" dirty="0"/>
                  <a:t>(</a:t>
                </a:r>
                <a:r>
                  <a:rPr lang="en-US" sz="2000" b="1" dirty="0"/>
                  <a:t>right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v</a:t>
                </a:r>
                <a:r>
                  <a:rPr lang="en-US" sz="2000" dirty="0"/>
                  <a:t>))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≤</m:t>
                    </m:r>
                    <m:f>
                      <m:f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US" sz="200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size</a:t>
                </a: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v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Definition:</a:t>
                </a:r>
                <a:r>
                  <a:rPr lang="en-US" sz="2000" dirty="0"/>
                  <a:t> A binary search tree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T </a:t>
                </a:r>
                <a:r>
                  <a:rPr lang="en-US" sz="2000" dirty="0"/>
                  <a:t>is said to be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nearly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balanced </a:t>
                </a:r>
                <a:r>
                  <a:rPr lang="en-US" sz="2000" dirty="0"/>
                  <a:t>if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it is </a:t>
                </a:r>
                <a:r>
                  <a:rPr lang="en-US" sz="2000" b="1" u="sng" dirty="0">
                    <a:solidFill>
                      <a:srgbClr val="006C31"/>
                    </a:solidFill>
                  </a:rPr>
                  <a:t>nearly</a:t>
                </a:r>
                <a:r>
                  <a:rPr lang="en-US" sz="2000" u="sng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b="1" u="sng" dirty="0">
                    <a:solidFill>
                      <a:srgbClr val="7030A0"/>
                    </a:solidFill>
                  </a:rPr>
                  <a:t>balanced </a:t>
                </a:r>
                <a:r>
                  <a:rPr lang="en-US" sz="2000" dirty="0"/>
                  <a:t>at each node.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6C31"/>
                </a:solidFill>
              </a:rPr>
              <a:t>Nearly</a:t>
            </a:r>
            <a:r>
              <a:rPr lang="en-US" sz="3200" b="1" dirty="0">
                <a:solidFill>
                  <a:srgbClr val="7030A0"/>
                </a:solidFill>
              </a:rPr>
              <a:t> balanced </a:t>
            </a:r>
            <a:r>
              <a:rPr lang="en-US" sz="3200" b="1" dirty="0"/>
              <a:t>Binary Search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b="1" dirty="0">
                    <a:solidFill>
                      <a:srgbClr val="7030A0"/>
                    </a:solidFill>
                  </a:rPr>
                  <a:t>Search</a:t>
                </a:r>
                <a:r>
                  <a:rPr lang="en-US" sz="2000" dirty="0"/>
                  <a:t>(</a:t>
                </a:r>
                <a:r>
                  <a:rPr lang="en-US" sz="2000" b="1" dirty="0" err="1">
                    <a:solidFill>
                      <a:srgbClr val="00B050"/>
                    </a:solidFill>
                  </a:rPr>
                  <a:t>T</a:t>
                </a:r>
                <a:r>
                  <a:rPr lang="en-US" sz="2000" dirty="0" err="1"/>
                  <a:t>,</a:t>
                </a:r>
                <a:r>
                  <a:rPr lang="en-US" sz="2000" dirty="0" err="1">
                    <a:solidFill>
                      <a:srgbClr val="0070C0"/>
                    </a:solidFill>
                  </a:rPr>
                  <a:t>x</a:t>
                </a:r>
                <a:r>
                  <a:rPr lang="en-US" sz="2000" dirty="0"/>
                  <a:t>) operation is the same.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Modify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Insert</a:t>
                </a:r>
                <a:r>
                  <a:rPr lang="en-US" sz="2000" dirty="0"/>
                  <a:t>(</a:t>
                </a:r>
                <a:r>
                  <a:rPr lang="en-US" sz="2000" b="1" dirty="0" err="1">
                    <a:solidFill>
                      <a:srgbClr val="00B050"/>
                    </a:solidFill>
                  </a:rPr>
                  <a:t>T</a:t>
                </a:r>
                <a:r>
                  <a:rPr lang="en-US" sz="2000" dirty="0" err="1"/>
                  <a:t>,</a:t>
                </a:r>
                <a:r>
                  <a:rPr lang="en-US" sz="2000" dirty="0" err="1">
                    <a:solidFill>
                      <a:srgbClr val="0070C0"/>
                    </a:solidFill>
                  </a:rPr>
                  <a:t>x</a:t>
                </a:r>
                <a:r>
                  <a:rPr lang="en-US" sz="2000" dirty="0"/>
                  <a:t>) operation as follows: </a:t>
                </a:r>
              </a:p>
              <a:p>
                <a:pPr lvl="1"/>
                <a:r>
                  <a:rPr lang="en-US" sz="2000" dirty="0"/>
                  <a:t>Carry out normal insert and update the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size</a:t>
                </a:r>
                <a:r>
                  <a:rPr lang="en-US" sz="2000" dirty="0"/>
                  <a:t> fields of  nodes traversed.</a:t>
                </a:r>
              </a:p>
              <a:p>
                <a:pPr lvl="1"/>
                <a:r>
                  <a:rPr lang="en-US" sz="2000" dirty="0"/>
                  <a:t>If </a:t>
                </a:r>
                <a:r>
                  <a:rPr lang="en-US" sz="2000" b="1" dirty="0"/>
                  <a:t>BST</a:t>
                </a:r>
                <a:r>
                  <a:rPr lang="en-US" sz="2000" dirty="0"/>
                  <a:t> 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T </a:t>
                </a:r>
                <a:r>
                  <a:rPr lang="en-US" sz="2000" dirty="0"/>
                  <a:t>ceases to be 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nearly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balanced</a:t>
                </a:r>
                <a:r>
                  <a:rPr lang="en-US" sz="2000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at any node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dirty="0"/>
                  <a:t>, 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      transform </a:t>
                </a:r>
                <a:r>
                  <a:rPr lang="en-US" sz="2000" b="1" dirty="0" err="1">
                    <a:solidFill>
                      <a:srgbClr val="002060"/>
                    </a:solidFill>
                  </a:rPr>
                  <a:t>subtree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b="1" dirty="0"/>
                  <a:t>) </a:t>
                </a:r>
                <a:r>
                  <a:rPr lang="en-US" sz="2000" dirty="0"/>
                  <a:t>into</a:t>
                </a:r>
                <a:r>
                  <a:rPr lang="en-US" sz="2000" b="1" dirty="0"/>
                  <a:t>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perfectly balanced</a:t>
                </a:r>
                <a:r>
                  <a:rPr lang="en-US" sz="2000" b="1" dirty="0"/>
                  <a:t> BST</a:t>
                </a:r>
                <a:r>
                  <a:rPr lang="en-US" sz="2000" dirty="0"/>
                  <a:t>.</a:t>
                </a:r>
                <a:endParaRPr lang="en-US" sz="2000" b="1" dirty="0"/>
              </a:p>
              <a:p>
                <a:pPr marL="400050">
                  <a:buFont typeface="Wingdings"/>
                  <a:buChar char="è"/>
                </a:pPr>
                <a:endParaRPr lang="en-US" sz="2400" dirty="0"/>
              </a:p>
              <a:p>
                <a:pPr marL="400050">
                  <a:buFont typeface="Wingdings"/>
                  <a:buChar char="è"/>
                </a:pPr>
                <a:r>
                  <a:rPr lang="en-US" sz="2400" dirty="0"/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(log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time for </a:t>
                </a:r>
                <a:r>
                  <a:rPr lang="en-US" sz="2000" b="1" dirty="0"/>
                  <a:t>search</a:t>
                </a:r>
              </a:p>
              <a:p>
                <a:pPr marL="400050">
                  <a:buFont typeface="Wingdings"/>
                  <a:buChar char="è"/>
                </a:pP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log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time for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insertions</a:t>
                </a:r>
              </a:p>
              <a:p>
                <a:pPr marL="5715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Disadvantages:</a:t>
                </a:r>
                <a:r>
                  <a:rPr lang="en-US" sz="2000" b="1" dirty="0"/>
                  <a:t> </a:t>
                </a:r>
              </a:p>
              <a:p>
                <a:pPr marL="400050"/>
                <a:r>
                  <a:rPr lang="en-US" sz="2000" dirty="0"/>
                  <a:t>How to handle </a:t>
                </a:r>
                <a:r>
                  <a:rPr lang="en-US" sz="2000" b="1" dirty="0"/>
                  <a:t>deletions </a:t>
                </a:r>
                <a:r>
                  <a:rPr lang="en-US" sz="2000" dirty="0"/>
                  <a:t>?</a:t>
                </a:r>
              </a:p>
              <a:p>
                <a:pPr marL="400050"/>
                <a:r>
                  <a:rPr lang="en-US" sz="2000" b="1" dirty="0"/>
                  <a:t>?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840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67087" y="5772090"/>
                <a:ext cx="4207627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Some insertions may take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time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</a:t>
                </a:r>
                <a:endParaRPr lang="en-IN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87" y="5772090"/>
                <a:ext cx="4207627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449" t="-9091" r="-2174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295400" y="3429000"/>
            <a:ext cx="5562600" cy="381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Line Callout 1 4"/>
          <p:cNvSpPr/>
          <p:nvPr/>
        </p:nvSpPr>
        <p:spPr>
          <a:xfrm>
            <a:off x="5562600" y="4343400"/>
            <a:ext cx="3200400" cy="1066800"/>
          </a:xfrm>
          <a:prstGeom prst="borderCallout1">
            <a:avLst>
              <a:gd name="adj1" fmla="val 49693"/>
              <a:gd name="adj2" fmla="val -1016"/>
              <a:gd name="adj3" fmla="val 53173"/>
              <a:gd name="adj4" fmla="val -3809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This fact will be proved soon in a subsequent lecture. 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12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Can we achieve </a:t>
                </a:r>
                <a:r>
                  <a:rPr lang="en-US" sz="32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3200" b="1" dirty="0"/>
                  <a:t>(log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3200" b="1" dirty="0"/>
                  <a:t>) time for </a:t>
                </a:r>
                <a:r>
                  <a:rPr lang="en-US" sz="3200" b="1" dirty="0">
                    <a:solidFill>
                      <a:srgbClr val="002060"/>
                    </a:solidFill>
                  </a:rPr>
                  <a:t>search/insert/delete</a:t>
                </a:r>
                <a:r>
                  <a:rPr lang="en-US" sz="3200" b="1" dirty="0"/>
                  <a:t> ?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>
                <a:solidFill>
                  <a:srgbClr val="7030A0"/>
                </a:solidFill>
              </a:rPr>
              <a:t>AVL </a:t>
            </a:r>
            <a:r>
              <a:rPr lang="en-US" sz="2000" b="1" dirty="0">
                <a:solidFill>
                  <a:srgbClr val="006C31"/>
                </a:solidFill>
              </a:rPr>
              <a:t>Trees    </a:t>
            </a:r>
            <a:r>
              <a:rPr lang="en-US" sz="2000" b="1" dirty="0"/>
              <a:t>[1962]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rgbClr val="C00000"/>
                </a:solidFill>
              </a:rPr>
              <a:t>Red</a:t>
            </a:r>
            <a:r>
              <a:rPr lang="en-US" sz="2000" b="1" dirty="0"/>
              <a:t> Black</a:t>
            </a:r>
            <a:r>
              <a:rPr lang="en-US" sz="2000" b="1" dirty="0">
                <a:solidFill>
                  <a:srgbClr val="00B050"/>
                </a:solidFill>
              </a:rPr>
              <a:t> </a:t>
            </a:r>
            <a:r>
              <a:rPr lang="en-US" sz="2000" b="1" dirty="0">
                <a:solidFill>
                  <a:srgbClr val="006C31"/>
                </a:solidFill>
              </a:rPr>
              <a:t>Trees </a:t>
            </a:r>
            <a:r>
              <a:rPr lang="en-US" sz="2000" b="1" dirty="0"/>
              <a:t>[1978]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Left Arrow 4"/>
          <p:cNvSpPr/>
          <p:nvPr/>
        </p:nvSpPr>
        <p:spPr>
          <a:xfrm>
            <a:off x="3352800" y="3249168"/>
            <a:ext cx="978408" cy="484632"/>
          </a:xfrm>
          <a:prstGeom prst="leftArrow">
            <a:avLst/>
          </a:prstGeom>
          <a:solidFill>
            <a:srgbClr val="006C31"/>
          </a:solidFill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18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 </a:t>
            </a:r>
            <a:r>
              <a:rPr lang="en-US" sz="3200" b="1" dirty="0">
                <a:solidFill>
                  <a:srgbClr val="C00000"/>
                </a:solidFill>
              </a:rPr>
              <a:t>Rotation </a:t>
            </a:r>
            <a:r>
              <a:rPr lang="en-US" sz="3200" dirty="0"/>
              <a:t>around a node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An important tool for </a:t>
            </a:r>
            <a:r>
              <a:rPr lang="en-US" sz="2400" b="1" dirty="0">
                <a:solidFill>
                  <a:srgbClr val="00B050"/>
                </a:solidFill>
              </a:rPr>
              <a:t>balancing </a:t>
            </a:r>
            <a:r>
              <a:rPr lang="en-US" sz="2400" b="1" dirty="0">
                <a:solidFill>
                  <a:schemeClr val="tx1"/>
                </a:solidFill>
              </a:rPr>
              <a:t>trees 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Subtitle 1"/>
          <p:cNvSpPr txBox="1">
            <a:spLocks/>
          </p:cNvSpPr>
          <p:nvPr/>
        </p:nvSpPr>
        <p:spPr bwMode="auto">
          <a:xfrm>
            <a:off x="1371600" y="5198327"/>
            <a:ext cx="6553200" cy="1295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Each height balanced </a:t>
            </a:r>
            <a:r>
              <a:rPr lang="en-US" sz="2000" b="1" dirty="0">
                <a:solidFill>
                  <a:schemeClr val="tx1"/>
                </a:solidFill>
              </a:rPr>
              <a:t>BST</a:t>
            </a:r>
            <a:r>
              <a:rPr lang="en-US" sz="2000" dirty="0">
                <a:solidFill>
                  <a:schemeClr val="tx1"/>
                </a:solidFill>
              </a:rPr>
              <a:t> employs this tool which is derived from the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rgbClr val="006C31"/>
                </a:solidFill>
              </a:rPr>
              <a:t>flexibility</a:t>
            </a:r>
            <a:r>
              <a:rPr lang="en-US" sz="2000" dirty="0">
                <a:solidFill>
                  <a:schemeClr val="tx1"/>
                </a:solidFill>
              </a:rPr>
              <a:t> which is </a:t>
            </a:r>
            <a:r>
              <a:rPr lang="en-US" sz="2000" i="1" u="sng" dirty="0">
                <a:solidFill>
                  <a:schemeClr val="tx1"/>
                </a:solidFill>
              </a:rPr>
              <a:t>hidden</a:t>
            </a:r>
            <a:r>
              <a:rPr lang="en-US" sz="2000" dirty="0">
                <a:solidFill>
                  <a:schemeClr val="tx1"/>
                </a:solidFill>
              </a:rPr>
              <a:t> in the structure of a </a:t>
            </a:r>
            <a:r>
              <a:rPr lang="en-US" sz="2000" b="1" dirty="0">
                <a:solidFill>
                  <a:schemeClr val="tx1"/>
                </a:solidFill>
              </a:rPr>
              <a:t>BST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This flexibility (</a:t>
            </a:r>
            <a:r>
              <a:rPr lang="en-US" sz="2000" b="1" dirty="0">
                <a:solidFill>
                  <a:schemeClr val="tx1"/>
                </a:solidFill>
              </a:rPr>
              <a:t>pointer manipulation</a:t>
            </a:r>
            <a:r>
              <a:rPr lang="en-US" sz="2000" dirty="0">
                <a:solidFill>
                  <a:schemeClr val="tx1"/>
                </a:solidFill>
              </a:rPr>
              <a:t>) was inherited from linked list </a:t>
            </a:r>
            <a:r>
              <a:rPr lang="en-US" sz="2000" dirty="0">
                <a:solidFill>
                  <a:schemeClr val="tx1"/>
                </a:solidFill>
                <a:sym typeface="Wingdings" pitchFamily="2" charset="2"/>
              </a:rPr>
              <a:t>.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22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Rotation</a:t>
            </a:r>
            <a:r>
              <a:rPr lang="en-US" sz="3600" dirty="0"/>
              <a:t> around a node</a:t>
            </a:r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4343400" y="2667000"/>
            <a:ext cx="978408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ight Arrow 72"/>
          <p:cNvSpPr/>
          <p:nvPr/>
        </p:nvSpPr>
        <p:spPr>
          <a:xfrm flipH="1">
            <a:off x="4155823" y="2819400"/>
            <a:ext cx="1101977" cy="5334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6118087" y="1479363"/>
            <a:ext cx="1228827" cy="1846983"/>
            <a:chOff x="6248400" y="1479363"/>
            <a:chExt cx="1784378" cy="2711637"/>
          </a:xfrm>
        </p:grpSpPr>
        <p:grpSp>
          <p:nvGrpSpPr>
            <p:cNvPr id="69" name="Group 68"/>
            <p:cNvGrpSpPr/>
            <p:nvPr/>
          </p:nvGrpSpPr>
          <p:grpSpPr>
            <a:xfrm>
              <a:off x="6248400" y="2819400"/>
              <a:ext cx="1447800" cy="1371600"/>
              <a:chOff x="6248400" y="2819400"/>
              <a:chExt cx="1447800" cy="1371600"/>
            </a:xfrm>
          </p:grpSpPr>
          <p:sp>
            <p:nvSpPr>
              <p:cNvPr id="51" name="Oval 50"/>
              <p:cNvSpPr/>
              <p:nvPr/>
            </p:nvSpPr>
            <p:spPr>
              <a:xfrm>
                <a:off x="7239000" y="3886200"/>
                <a:ext cx="457200" cy="3048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v</a:t>
                </a: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6248400" y="2819400"/>
                <a:ext cx="457200" cy="3048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u</a:t>
                </a:r>
              </a:p>
            </p:txBody>
          </p:sp>
          <p:cxnSp>
            <p:nvCxnSpPr>
              <p:cNvPr id="60" name="Straight Arrow Connector 59"/>
              <p:cNvCxnSpPr/>
              <p:nvPr/>
            </p:nvCxnSpPr>
            <p:spPr>
              <a:xfrm>
                <a:off x="6583975" y="3124200"/>
                <a:ext cx="731225" cy="762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Oval 46"/>
            <p:cNvSpPr/>
            <p:nvPr/>
          </p:nvSpPr>
          <p:spPr>
            <a:xfrm>
              <a:off x="7239000" y="1828800"/>
              <a:ext cx="457200" cy="3048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x</a:t>
              </a:r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 flipH="1">
              <a:off x="6484324" y="2057400"/>
              <a:ext cx="830876" cy="762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V="1">
              <a:off x="7620000" y="1479363"/>
              <a:ext cx="412778" cy="349437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7620000" y="2057400"/>
              <a:ext cx="412778" cy="425637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1754031" y="1905000"/>
            <a:ext cx="1217769" cy="774859"/>
            <a:chOff x="1604840" y="2069068"/>
            <a:chExt cx="1982782" cy="1055132"/>
          </a:xfrm>
        </p:grpSpPr>
        <p:sp>
          <p:nvSpPr>
            <p:cNvPr id="70" name="Curved Down Arrow 69"/>
            <p:cNvSpPr/>
            <p:nvPr/>
          </p:nvSpPr>
          <p:spPr>
            <a:xfrm>
              <a:off x="1843228" y="2438400"/>
              <a:ext cx="1498585" cy="685800"/>
            </a:xfrm>
            <a:prstGeom prst="curvedDow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04840" y="2069068"/>
              <a:ext cx="1982782" cy="41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Right rotation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791200" y="1828800"/>
            <a:ext cx="1112292" cy="724138"/>
            <a:chOff x="5714999" y="1773038"/>
            <a:chExt cx="1621981" cy="1351162"/>
          </a:xfrm>
        </p:grpSpPr>
        <p:sp>
          <p:nvSpPr>
            <p:cNvPr id="72" name="Curved Down Arrow 71"/>
            <p:cNvSpPr/>
            <p:nvPr/>
          </p:nvSpPr>
          <p:spPr>
            <a:xfrm flipH="1">
              <a:off x="5715000" y="2438400"/>
              <a:ext cx="1473215" cy="685800"/>
            </a:xfrm>
            <a:prstGeom prst="curvedDow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714999" y="1773038"/>
              <a:ext cx="1621981" cy="574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Left rotation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85800" y="1447800"/>
            <a:ext cx="2656014" cy="3124201"/>
            <a:chOff x="228600" y="1524000"/>
            <a:chExt cx="3927223" cy="4495800"/>
          </a:xfrm>
        </p:grpSpPr>
        <p:grpSp>
          <p:nvGrpSpPr>
            <p:cNvPr id="15" name="Group 14"/>
            <p:cNvGrpSpPr/>
            <p:nvPr/>
          </p:nvGrpSpPr>
          <p:grpSpPr>
            <a:xfrm>
              <a:off x="228600" y="1524000"/>
              <a:ext cx="3927223" cy="4495800"/>
              <a:chOff x="228600" y="1524000"/>
              <a:chExt cx="3927223" cy="4495800"/>
            </a:xfrm>
          </p:grpSpPr>
          <p:grpSp>
            <p:nvGrpSpPr>
              <p:cNvPr id="71" name="Group 70"/>
              <p:cNvGrpSpPr/>
              <p:nvPr/>
            </p:nvGrpSpPr>
            <p:grpSpPr>
              <a:xfrm>
                <a:off x="228600" y="2895600"/>
                <a:ext cx="3927223" cy="3124200"/>
                <a:chOff x="228600" y="2895600"/>
                <a:chExt cx="3927223" cy="3124200"/>
              </a:xfrm>
            </p:grpSpPr>
            <p:cxnSp>
              <p:nvCxnSpPr>
                <p:cNvPr id="9" name="Straight Arrow Connector 8"/>
                <p:cNvCxnSpPr/>
                <p:nvPr/>
              </p:nvCxnSpPr>
              <p:spPr>
                <a:xfrm flipH="1">
                  <a:off x="1677628" y="3124200"/>
                  <a:ext cx="877995" cy="782445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9" name="Group 48"/>
                <p:cNvGrpSpPr/>
                <p:nvPr/>
              </p:nvGrpSpPr>
              <p:grpSpPr>
                <a:xfrm>
                  <a:off x="2479423" y="2895600"/>
                  <a:ext cx="1676400" cy="2057400"/>
                  <a:chOff x="2479423" y="2895600"/>
                  <a:chExt cx="1676400" cy="2057400"/>
                </a:xfrm>
              </p:grpSpPr>
              <p:sp>
                <p:nvSpPr>
                  <p:cNvPr id="5" name="Oval 4"/>
                  <p:cNvSpPr/>
                  <p:nvPr/>
                </p:nvSpPr>
                <p:spPr>
                  <a:xfrm>
                    <a:off x="2479423" y="2895600"/>
                    <a:ext cx="457200" cy="30480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rgbClr val="0070C0"/>
                        </a:solidFill>
                      </a:rPr>
                      <a:t>v</a:t>
                    </a:r>
                  </a:p>
                </p:txBody>
              </p:sp>
              <p:sp>
                <p:nvSpPr>
                  <p:cNvPr id="7" name="Isosceles Triangle 6"/>
                  <p:cNvSpPr/>
                  <p:nvPr/>
                </p:nvSpPr>
                <p:spPr>
                  <a:xfrm>
                    <a:off x="3247519" y="3886200"/>
                    <a:ext cx="908304" cy="1066800"/>
                  </a:xfrm>
                  <a:prstGeom prst="triangl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700" dirty="0"/>
                  </a:p>
                </p:txBody>
              </p:sp>
              <p:cxnSp>
                <p:nvCxnSpPr>
                  <p:cNvPr id="14" name="Straight Arrow Connector 13"/>
                  <p:cNvCxnSpPr/>
                  <p:nvPr/>
                </p:nvCxnSpPr>
                <p:spPr>
                  <a:xfrm>
                    <a:off x="2857375" y="3124200"/>
                    <a:ext cx="841248" cy="76200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4" name="Isosceles Triangle 33"/>
                <p:cNvSpPr/>
                <p:nvPr/>
              </p:nvSpPr>
              <p:spPr>
                <a:xfrm>
                  <a:off x="1987296" y="4953000"/>
                  <a:ext cx="908304" cy="1066800"/>
                </a:xfrm>
                <a:prstGeom prst="triangl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 dirty="0"/>
                </a:p>
              </p:txBody>
            </p:sp>
            <p:cxnSp>
              <p:nvCxnSpPr>
                <p:cNvPr id="38" name="Straight Arrow Connector 37"/>
                <p:cNvCxnSpPr>
                  <a:endCxn id="34" idx="0"/>
                </p:cNvCxnSpPr>
                <p:nvPr/>
              </p:nvCxnSpPr>
              <p:spPr>
                <a:xfrm>
                  <a:off x="1710223" y="4191000"/>
                  <a:ext cx="731225" cy="76200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4" name="Group 53"/>
                <p:cNvGrpSpPr/>
                <p:nvPr/>
              </p:nvGrpSpPr>
              <p:grpSpPr>
                <a:xfrm>
                  <a:off x="228600" y="3906645"/>
                  <a:ext cx="1600200" cy="2113155"/>
                  <a:chOff x="228600" y="3906645"/>
                  <a:chExt cx="1600200" cy="2113155"/>
                </a:xfrm>
              </p:grpSpPr>
              <p:sp>
                <p:nvSpPr>
                  <p:cNvPr id="32" name="Oval 31"/>
                  <p:cNvSpPr/>
                  <p:nvPr/>
                </p:nvSpPr>
                <p:spPr>
                  <a:xfrm>
                    <a:off x="1371600" y="3906645"/>
                    <a:ext cx="457200" cy="30480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rgbClr val="0070C0"/>
                        </a:solidFill>
                      </a:rPr>
                      <a:t>u</a:t>
                    </a:r>
                  </a:p>
                </p:txBody>
              </p:sp>
              <p:sp>
                <p:nvSpPr>
                  <p:cNvPr id="36" name="Isosceles Triangle 35"/>
                  <p:cNvSpPr/>
                  <p:nvPr/>
                </p:nvSpPr>
                <p:spPr>
                  <a:xfrm>
                    <a:off x="228600" y="4953000"/>
                    <a:ext cx="908304" cy="1066800"/>
                  </a:xfrm>
                  <a:prstGeom prst="triangl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700" dirty="0"/>
                  </a:p>
                </p:txBody>
              </p:sp>
              <p:cxnSp>
                <p:nvCxnSpPr>
                  <p:cNvPr id="37" name="Straight Arrow Connector 36"/>
                  <p:cNvCxnSpPr/>
                  <p:nvPr/>
                </p:nvCxnSpPr>
                <p:spPr>
                  <a:xfrm flipH="1">
                    <a:off x="685800" y="4191000"/>
                    <a:ext cx="838200" cy="76200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2" name="TextBox 41"/>
                      <p:cNvSpPr txBox="1"/>
                      <p:nvPr/>
                    </p:nvSpPr>
                    <p:spPr>
                      <a:xfrm>
                        <a:off x="498221" y="5498068"/>
                        <a:ext cx="492379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b="1" dirty="0">
                          <a:solidFill>
                            <a:srgbClr val="00B0F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2" name="TextBox 41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98221" y="5498068"/>
                        <a:ext cx="492379" cy="369332"/>
                      </a:xfrm>
                      <a:prstGeom prst="rect">
                        <a:avLst/>
                      </a:prstGeom>
                      <a:blipFill rotWithShape="1">
                        <a:blip r:embed="rId3"/>
                        <a:stretch>
                          <a:fillRect t="-8197" r="-14815" b="-2459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TextBox 42"/>
                    <p:cNvSpPr txBox="1"/>
                    <p:nvPr/>
                  </p:nvSpPr>
                  <p:spPr>
                    <a:xfrm>
                      <a:off x="2250821" y="5498068"/>
                      <a:ext cx="49237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en-US" b="1" dirty="0">
                        <a:solidFill>
                          <a:srgbClr val="00B0F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3" name="TextBox 4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50821" y="5498068"/>
                      <a:ext cx="492378" cy="369332"/>
                    </a:xfrm>
                    <a:prstGeom prst="rect">
                      <a:avLst/>
                    </a:prstGeom>
                    <a:blipFill rotWithShape="1">
                      <a:blip r:embed="rId5"/>
                      <a:stretch>
                        <a:fillRect t="-8197" r="-16049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5" name="Oval 44"/>
              <p:cNvSpPr/>
              <p:nvPr/>
            </p:nvSpPr>
            <p:spPr>
              <a:xfrm>
                <a:off x="3352800" y="1828800"/>
                <a:ext cx="457200" cy="3048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x</a:t>
                </a:r>
              </a:p>
            </p:txBody>
          </p:sp>
          <p:cxnSp>
            <p:nvCxnSpPr>
              <p:cNvPr id="46" name="Straight Arrow Connector 45"/>
              <p:cNvCxnSpPr/>
              <p:nvPr/>
            </p:nvCxnSpPr>
            <p:spPr>
              <a:xfrm flipH="1">
                <a:off x="2667000" y="2133600"/>
                <a:ext cx="830876" cy="7620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>
                <a:stCxn id="45" idx="7"/>
              </p:cNvCxnSpPr>
              <p:nvPr/>
            </p:nvCxnSpPr>
            <p:spPr>
              <a:xfrm flipV="1">
                <a:off x="3743045" y="1524000"/>
                <a:ext cx="412778" cy="34943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>
                <a:stCxn id="45" idx="5"/>
              </p:cNvCxnSpPr>
              <p:nvPr/>
            </p:nvCxnSpPr>
            <p:spPr>
              <a:xfrm>
                <a:off x="3743045" y="2088963"/>
                <a:ext cx="412778" cy="42563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3429000" y="4419600"/>
                  <a:ext cx="492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4419600"/>
                  <a:ext cx="492378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481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/>
          <p:nvPr/>
        </p:nvGrpSpPr>
        <p:grpSpPr>
          <a:xfrm>
            <a:off x="1312990" y="1752600"/>
            <a:ext cx="896810" cy="685800"/>
            <a:chOff x="1143000" y="1752600"/>
            <a:chExt cx="896810" cy="685800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1143000" y="1752600"/>
              <a:ext cx="896810" cy="6858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1369906" y="19050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sp>
        <p:nvSpPr>
          <p:cNvPr id="64" name="Rounded Rectangle 63"/>
          <p:cNvSpPr/>
          <p:nvPr/>
        </p:nvSpPr>
        <p:spPr>
          <a:xfrm>
            <a:off x="2798723" y="5715000"/>
            <a:ext cx="3832089" cy="9525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Note that the tree </a:t>
            </a:r>
            <a:r>
              <a:rPr lang="en-US" b="1" i="1" dirty="0">
                <a:solidFill>
                  <a:schemeClr val="tx1"/>
                </a:solidFill>
              </a:rPr>
              <a:t>T </a:t>
            </a:r>
            <a:r>
              <a:rPr lang="en-US" i="1" dirty="0">
                <a:solidFill>
                  <a:schemeClr val="tx1"/>
                </a:solidFill>
              </a:rPr>
              <a:t>continues to remain a BST even after rotation around any node.  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118089" y="3326346"/>
            <a:ext cx="839613" cy="1245654"/>
            <a:chOff x="6118089" y="3326346"/>
            <a:chExt cx="839613" cy="12456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Isosceles Triangle 73"/>
                <p:cNvSpPr/>
                <p:nvPr/>
              </p:nvSpPr>
              <p:spPr>
                <a:xfrm>
                  <a:off x="6118089" y="3845368"/>
                  <a:ext cx="625511" cy="726632"/>
                </a:xfrm>
                <a:prstGeom prst="triangl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700" dirty="0"/>
                </a:p>
              </p:txBody>
            </p:sp>
          </mc:Choice>
          <mc:Fallback xmlns="">
            <p:sp>
              <p:nvSpPr>
                <p:cNvPr id="74" name="Isosceles Triangle 7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8089" y="3845368"/>
                  <a:ext cx="625511" cy="726632"/>
                </a:xfrm>
                <a:prstGeom prst="triangle">
                  <a:avLst/>
                </a:prstGeom>
                <a:blipFill rotWithShape="1">
                  <a:blip r:embed="rId7"/>
                  <a:stretch>
                    <a:fillRect r="-943" b="-154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Straight Arrow Connector 74"/>
            <p:cNvCxnSpPr/>
            <p:nvPr/>
          </p:nvCxnSpPr>
          <p:spPr>
            <a:xfrm flipH="1">
              <a:off x="6437988" y="3326346"/>
              <a:ext cx="519714" cy="51902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7010177" y="3326346"/>
            <a:ext cx="892089" cy="1245655"/>
            <a:chOff x="7010177" y="3326346"/>
            <a:chExt cx="892089" cy="12456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Isosceles Triangle 75"/>
                <p:cNvSpPr/>
                <p:nvPr/>
              </p:nvSpPr>
              <p:spPr>
                <a:xfrm>
                  <a:off x="7276754" y="3845369"/>
                  <a:ext cx="625512" cy="726632"/>
                </a:xfrm>
                <a:prstGeom prst="triangl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700" dirty="0"/>
                </a:p>
              </p:txBody>
            </p:sp>
          </mc:Choice>
          <mc:Fallback xmlns="">
            <p:sp>
              <p:nvSpPr>
                <p:cNvPr id="76" name="Isosceles Triangle 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754" y="3845369"/>
                  <a:ext cx="625512" cy="726632"/>
                </a:xfrm>
                <a:prstGeom prst="triangle">
                  <a:avLst/>
                </a:prstGeom>
                <a:blipFill rotWithShape="1">
                  <a:blip r:embed="rId8"/>
                  <a:stretch>
                    <a:fillRect r="-943" b="-154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Straight Arrow Connector 78"/>
            <p:cNvCxnSpPr>
              <a:endCxn id="76" idx="0"/>
            </p:cNvCxnSpPr>
            <p:nvPr/>
          </p:nvCxnSpPr>
          <p:spPr>
            <a:xfrm>
              <a:off x="7010177" y="3326346"/>
              <a:ext cx="579333" cy="5190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5330952" y="2590800"/>
            <a:ext cx="892089" cy="1245654"/>
            <a:chOff x="5330952" y="3326346"/>
            <a:chExt cx="892089" cy="1245654"/>
          </a:xfrm>
        </p:grpSpPr>
        <p:grpSp>
          <p:nvGrpSpPr>
            <p:cNvPr id="6" name="Group 5"/>
            <p:cNvGrpSpPr/>
            <p:nvPr/>
          </p:nvGrpSpPr>
          <p:grpSpPr>
            <a:xfrm>
              <a:off x="5330952" y="3326346"/>
              <a:ext cx="892089" cy="1245654"/>
              <a:chOff x="5330952" y="2599714"/>
              <a:chExt cx="892089" cy="1245654"/>
            </a:xfrm>
          </p:grpSpPr>
          <p:sp>
            <p:nvSpPr>
              <p:cNvPr id="65" name="Isosceles Triangle 64"/>
              <p:cNvSpPr/>
              <p:nvPr/>
            </p:nvSpPr>
            <p:spPr>
              <a:xfrm>
                <a:off x="5330952" y="3118736"/>
                <a:ext cx="625512" cy="726632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cxnSp>
            <p:nvCxnSpPr>
              <p:cNvPr id="68" name="Straight Arrow Connector 67"/>
              <p:cNvCxnSpPr/>
              <p:nvPr/>
            </p:nvCxnSpPr>
            <p:spPr>
              <a:xfrm flipH="1">
                <a:off x="5645807" y="2599714"/>
                <a:ext cx="577234" cy="51902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5486400" y="4244236"/>
                  <a:ext cx="339081" cy="2515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6400" y="4244236"/>
                  <a:ext cx="339081" cy="251564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12195" r="-57143" b="-853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5413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5" grpId="0" animBg="1"/>
      <p:bldP spid="35" grpId="1" animBg="1"/>
      <p:bldP spid="73" grpId="0" animBg="1"/>
      <p:bldP spid="6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 </a:t>
            </a:r>
            <a:r>
              <a:rPr lang="en-US" sz="3200" b="1" dirty="0">
                <a:solidFill>
                  <a:srgbClr val="C00000"/>
                </a:solidFill>
              </a:rPr>
              <a:t>Red</a:t>
            </a:r>
            <a:r>
              <a:rPr lang="en-US" sz="3200" b="1" dirty="0"/>
              <a:t> Black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r>
              <a:rPr lang="en-US" sz="3200" b="1" dirty="0">
                <a:solidFill>
                  <a:srgbClr val="006C31"/>
                </a:solidFill>
              </a:rPr>
              <a:t>Tree</a:t>
            </a:r>
            <a:br>
              <a:rPr lang="en-US" sz="2800" b="1" dirty="0">
                <a:solidFill>
                  <a:srgbClr val="7030A0"/>
                </a:solidFill>
              </a:rPr>
            </a:br>
            <a:r>
              <a:rPr lang="en-US" sz="2800" b="1" dirty="0">
                <a:solidFill>
                  <a:srgbClr val="002060"/>
                </a:solidFill>
              </a:rPr>
              <a:t>A</a:t>
            </a:r>
            <a:r>
              <a:rPr lang="en-US" sz="2800" b="1" dirty="0">
                <a:solidFill>
                  <a:srgbClr val="7030A0"/>
                </a:solidFill>
              </a:rPr>
              <a:t> height balanced </a:t>
            </a:r>
            <a:r>
              <a:rPr lang="en-US" sz="2800" b="1" dirty="0">
                <a:solidFill>
                  <a:srgbClr val="002060"/>
                </a:solidFill>
              </a:rPr>
              <a:t>BST 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21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 </a:t>
            </a:r>
            <a:r>
              <a:rPr lang="en-US" b="1" dirty="0"/>
              <a:t>Black</a:t>
            </a:r>
            <a:r>
              <a:rPr lang="en-US" dirty="0"/>
              <a:t>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Red-Black tree is a binary search tree </a:t>
            </a:r>
          </a:p>
          <a:p>
            <a:pPr marL="0" indent="0">
              <a:buNone/>
            </a:pPr>
            <a:r>
              <a:rPr lang="en-US" sz="2000" dirty="0"/>
              <a:t>satisfying the following properties: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Each node is colored </a:t>
            </a:r>
            <a:r>
              <a:rPr lang="en-US" sz="2000" b="1" dirty="0">
                <a:solidFill>
                  <a:srgbClr val="FF0000"/>
                </a:solidFill>
              </a:rPr>
              <a:t>red</a:t>
            </a:r>
            <a:r>
              <a:rPr lang="en-US" sz="2000" dirty="0"/>
              <a:t> or </a:t>
            </a:r>
            <a:r>
              <a:rPr lang="en-US" sz="2000" b="1" dirty="0"/>
              <a:t>black.</a:t>
            </a:r>
          </a:p>
          <a:p>
            <a:endParaRPr lang="en-US" sz="2000" dirty="0"/>
          </a:p>
          <a:p>
            <a:r>
              <a:rPr lang="en-US" sz="2000" dirty="0"/>
              <a:t>Each leaf is colored </a:t>
            </a:r>
            <a:r>
              <a:rPr lang="en-US" sz="2000" b="1" dirty="0"/>
              <a:t>black</a:t>
            </a:r>
          </a:p>
          <a:p>
            <a:endParaRPr lang="en-US" sz="2000" dirty="0"/>
          </a:p>
          <a:p>
            <a:r>
              <a:rPr lang="en-US" sz="2000" dirty="0"/>
              <a:t>Every </a:t>
            </a:r>
            <a:r>
              <a:rPr lang="en-US" sz="2000" b="1" dirty="0">
                <a:solidFill>
                  <a:srgbClr val="FF0000"/>
                </a:solidFill>
              </a:rPr>
              <a:t>red </a:t>
            </a:r>
            <a:r>
              <a:rPr lang="en-US" sz="2000" dirty="0"/>
              <a:t>node will have</a:t>
            </a:r>
          </a:p>
          <a:p>
            <a:endParaRPr lang="en-US" sz="2000" dirty="0"/>
          </a:p>
          <a:p>
            <a:r>
              <a:rPr lang="en-US" sz="2000" dirty="0"/>
              <a:t>No. of </a:t>
            </a:r>
            <a:r>
              <a:rPr lang="en-US" sz="2000" b="1" u="sng" dirty="0"/>
              <a:t>black</a:t>
            </a:r>
            <a:r>
              <a:rPr lang="en-US" sz="2000" u="sng" dirty="0"/>
              <a:t> nodes</a:t>
            </a:r>
            <a:r>
              <a:rPr lang="en-US" sz="2000" dirty="0"/>
              <a:t> on a path from root to each leaf node is same. </a:t>
            </a: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838200" y="4876800"/>
            <a:ext cx="5334000" cy="45720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7030A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181600" y="5334000"/>
            <a:ext cx="2209800" cy="914400"/>
            <a:chOff x="5181600" y="4953000"/>
            <a:chExt cx="2209800" cy="914400"/>
          </a:xfrm>
        </p:grpSpPr>
        <p:sp>
          <p:nvSpPr>
            <p:cNvPr id="5" name="TextBox 4"/>
            <p:cNvSpPr txBox="1"/>
            <p:nvPr/>
          </p:nvSpPr>
          <p:spPr>
            <a:xfrm>
              <a:off x="5929910" y="5467290"/>
              <a:ext cx="1461490" cy="4001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black</a:t>
              </a:r>
              <a:r>
                <a:rPr lang="en-US" sz="2000" dirty="0"/>
                <a:t> height</a:t>
              </a:r>
              <a:endParaRPr lang="en-IN" sz="2000" dirty="0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5181600" y="4953000"/>
              <a:ext cx="748310" cy="5142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3505200" y="3429000"/>
            <a:ext cx="2059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and so is the root.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1661" y="4153829"/>
            <a:ext cx="25681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both its children </a:t>
            </a:r>
            <a:r>
              <a:rPr lang="en-US" sz="2000" b="1" dirty="0"/>
              <a:t>black.</a:t>
            </a:r>
          </a:p>
        </p:txBody>
      </p:sp>
    </p:spTree>
    <p:extLst>
      <p:ext uri="{BB962C8B-B14F-4D97-AF65-F5344CB8AC3E}">
        <p14:creationId xmlns:p14="http://schemas.microsoft.com/office/powerpoint/2010/main" val="150735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animBg="1"/>
      <p:bldP spid="7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A binary search tree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990601" y="4845369"/>
            <a:ext cx="225309" cy="564831"/>
            <a:chOff x="853448" y="1644969"/>
            <a:chExt cx="255680" cy="559397"/>
          </a:xfrm>
        </p:grpSpPr>
        <p:grpSp>
          <p:nvGrpSpPr>
            <p:cNvPr id="22" name="Group 21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26" name="Straight Connector 25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3" name="Straight Arrow Connector 22"/>
            <p:cNvCxnSpPr>
              <a:endCxn id="24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1349682" y="4845369"/>
            <a:ext cx="232681" cy="564831"/>
            <a:chOff x="780160" y="1648024"/>
            <a:chExt cx="274457" cy="556342"/>
          </a:xfrm>
        </p:grpSpPr>
        <p:grpSp>
          <p:nvGrpSpPr>
            <p:cNvPr id="80" name="Group 79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82" name="Rectangle 81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3" name="Group 82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84" name="Straight Connector 83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81" name="Straight Arrow Connector 80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/>
          <p:cNvGrpSpPr/>
          <p:nvPr/>
        </p:nvGrpSpPr>
        <p:grpSpPr>
          <a:xfrm>
            <a:off x="2057400" y="4845369"/>
            <a:ext cx="225309" cy="564831"/>
            <a:chOff x="853448" y="1644969"/>
            <a:chExt cx="255680" cy="559397"/>
          </a:xfrm>
        </p:grpSpPr>
        <p:grpSp>
          <p:nvGrpSpPr>
            <p:cNvPr id="131" name="Group 130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4" name="Group 13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35" name="Straight Connector 13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2" name="Straight Arrow Connector 131"/>
            <p:cNvCxnSpPr>
              <a:endCxn id="133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Group 123"/>
          <p:cNvGrpSpPr/>
          <p:nvPr/>
        </p:nvGrpSpPr>
        <p:grpSpPr>
          <a:xfrm>
            <a:off x="2416481" y="4845369"/>
            <a:ext cx="232681" cy="564831"/>
            <a:chOff x="780160" y="1648024"/>
            <a:chExt cx="274457" cy="556342"/>
          </a:xfrm>
        </p:grpSpPr>
        <p:grpSp>
          <p:nvGrpSpPr>
            <p:cNvPr id="125" name="Group 124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8" name="Group 127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29" name="Straight Connector 128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26" name="Straight Arrow Connector 125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/>
          <p:cNvGrpSpPr/>
          <p:nvPr/>
        </p:nvGrpSpPr>
        <p:grpSpPr>
          <a:xfrm>
            <a:off x="3124200" y="4845369"/>
            <a:ext cx="225309" cy="564831"/>
            <a:chOff x="853448" y="1644969"/>
            <a:chExt cx="255680" cy="559397"/>
          </a:xfrm>
        </p:grpSpPr>
        <p:grpSp>
          <p:nvGrpSpPr>
            <p:cNvPr id="147" name="Group 146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49" name="Rectangle 148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0" name="Group 149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51" name="Straight Connector 150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8" name="Straight Arrow Connector 147"/>
            <p:cNvCxnSpPr>
              <a:endCxn id="149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Group 139"/>
          <p:cNvGrpSpPr/>
          <p:nvPr/>
        </p:nvGrpSpPr>
        <p:grpSpPr>
          <a:xfrm>
            <a:off x="3483281" y="4845369"/>
            <a:ext cx="232681" cy="564831"/>
            <a:chOff x="780160" y="1648024"/>
            <a:chExt cx="274457" cy="556342"/>
          </a:xfrm>
        </p:grpSpPr>
        <p:grpSp>
          <p:nvGrpSpPr>
            <p:cNvPr id="141" name="Group 140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43" name="Rectangle 14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4" name="Group 14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45" name="Straight Connector 14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2" name="Straight Arrow Connector 141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/>
          <p:cNvGrpSpPr/>
          <p:nvPr/>
        </p:nvGrpSpPr>
        <p:grpSpPr>
          <a:xfrm>
            <a:off x="4038600" y="4845369"/>
            <a:ext cx="225309" cy="564831"/>
            <a:chOff x="853448" y="1644969"/>
            <a:chExt cx="255680" cy="559397"/>
          </a:xfrm>
        </p:grpSpPr>
        <p:grpSp>
          <p:nvGrpSpPr>
            <p:cNvPr id="163" name="Group 162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65" name="Rectangle 164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6" name="Group 165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67" name="Straight Connector 166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64" name="Straight Arrow Connector 163"/>
            <p:cNvCxnSpPr>
              <a:endCxn id="165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6" name="Group 155"/>
          <p:cNvGrpSpPr/>
          <p:nvPr/>
        </p:nvGrpSpPr>
        <p:grpSpPr>
          <a:xfrm>
            <a:off x="4397681" y="4845369"/>
            <a:ext cx="232681" cy="564831"/>
            <a:chOff x="780160" y="1648024"/>
            <a:chExt cx="274457" cy="556342"/>
          </a:xfrm>
        </p:grpSpPr>
        <p:grpSp>
          <p:nvGrpSpPr>
            <p:cNvPr id="157" name="Group 156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0" name="Group 159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61" name="Straight Connector 160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58" name="Straight Arrow Connector 157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5092963" y="4683629"/>
            <a:ext cx="177273" cy="225334"/>
            <a:chOff x="2447520" y="2514600"/>
            <a:chExt cx="201169" cy="223166"/>
          </a:xfrm>
        </p:grpSpPr>
        <p:sp>
          <p:nvSpPr>
            <p:cNvPr id="181" name="Rectangle 180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2" name="Group 181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183" name="Straight Connector 182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9" name="Group 188"/>
          <p:cNvGrpSpPr/>
          <p:nvPr/>
        </p:nvGrpSpPr>
        <p:grpSpPr>
          <a:xfrm>
            <a:off x="6096000" y="4675899"/>
            <a:ext cx="170548" cy="226571"/>
            <a:chOff x="2447520" y="2514600"/>
            <a:chExt cx="201169" cy="223166"/>
          </a:xfrm>
        </p:grpSpPr>
        <p:sp>
          <p:nvSpPr>
            <p:cNvPr id="191" name="Rectangle 190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2" name="Group 191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193" name="Straight Connector 192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1" name="Group 220"/>
          <p:cNvGrpSpPr/>
          <p:nvPr/>
        </p:nvGrpSpPr>
        <p:grpSpPr>
          <a:xfrm>
            <a:off x="7543800" y="3868941"/>
            <a:ext cx="170548" cy="226571"/>
            <a:chOff x="2447520" y="2514600"/>
            <a:chExt cx="201169" cy="223166"/>
          </a:xfrm>
        </p:grpSpPr>
        <p:sp>
          <p:nvSpPr>
            <p:cNvPr id="223" name="Rectangle 222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4" name="Group 223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225" name="Straight Connector 224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3" name="Group 232"/>
          <p:cNvGrpSpPr/>
          <p:nvPr/>
        </p:nvGrpSpPr>
        <p:grpSpPr>
          <a:xfrm>
            <a:off x="1143000" y="1643390"/>
            <a:ext cx="6400800" cy="3309610"/>
            <a:chOff x="1143000" y="1600200"/>
            <a:chExt cx="6400800" cy="3309610"/>
          </a:xfrm>
        </p:grpSpPr>
        <p:sp>
          <p:nvSpPr>
            <p:cNvPr id="235" name="Oval 234"/>
            <p:cNvSpPr/>
            <p:nvPr/>
          </p:nvSpPr>
          <p:spPr>
            <a:xfrm>
              <a:off x="4514094" y="22098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7" name="Oval 236"/>
            <p:cNvSpPr/>
            <p:nvPr/>
          </p:nvSpPr>
          <p:spPr>
            <a:xfrm>
              <a:off x="6419094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9" name="Oval 238"/>
            <p:cNvSpPr/>
            <p:nvPr/>
          </p:nvSpPr>
          <p:spPr>
            <a:xfrm>
              <a:off x="1770894" y="3809999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0" name="Oval 239"/>
            <p:cNvSpPr/>
            <p:nvPr/>
          </p:nvSpPr>
          <p:spPr>
            <a:xfrm>
              <a:off x="5504694" y="3772992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3" name="Oval 242"/>
            <p:cNvSpPr/>
            <p:nvPr/>
          </p:nvSpPr>
          <p:spPr>
            <a:xfrm>
              <a:off x="3752094" y="38100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5" name="Oval 244"/>
            <p:cNvSpPr/>
            <p:nvPr/>
          </p:nvSpPr>
          <p:spPr>
            <a:xfrm>
              <a:off x="2819400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6" name="Oval 245"/>
            <p:cNvSpPr/>
            <p:nvPr/>
          </p:nvSpPr>
          <p:spPr>
            <a:xfrm>
              <a:off x="1161294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7" name="Oval 246"/>
            <p:cNvSpPr/>
            <p:nvPr/>
          </p:nvSpPr>
          <p:spPr>
            <a:xfrm>
              <a:off x="22280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8" name="Oval 247"/>
            <p:cNvSpPr/>
            <p:nvPr/>
          </p:nvSpPr>
          <p:spPr>
            <a:xfrm>
              <a:off x="32948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9" name="Oval 248"/>
            <p:cNvSpPr/>
            <p:nvPr/>
          </p:nvSpPr>
          <p:spPr>
            <a:xfrm>
              <a:off x="42092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55" name="Straight Arrow Connector 254"/>
            <p:cNvCxnSpPr/>
            <p:nvPr/>
          </p:nvCxnSpPr>
          <p:spPr>
            <a:xfrm flipH="1">
              <a:off x="2962653" y="230838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/>
            <p:cNvCxnSpPr/>
            <p:nvPr/>
          </p:nvCxnSpPr>
          <p:spPr>
            <a:xfrm flipH="1">
              <a:off x="1953760" y="317801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/>
            <p:cNvCxnSpPr>
              <a:stCxn id="243" idx="3"/>
            </p:cNvCxnSpPr>
            <p:nvPr/>
          </p:nvCxnSpPr>
          <p:spPr>
            <a:xfrm flipH="1">
              <a:off x="3438147" y="397829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/>
            <p:cNvCxnSpPr>
              <a:endCxn id="246" idx="7"/>
            </p:cNvCxnSpPr>
            <p:nvPr/>
          </p:nvCxnSpPr>
          <p:spPr>
            <a:xfrm flipH="1">
              <a:off x="1405842" y="396240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/>
            <p:cNvCxnSpPr/>
            <p:nvPr/>
          </p:nvCxnSpPr>
          <p:spPr>
            <a:xfrm flipH="1">
              <a:off x="5181600" y="397829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/>
            <p:cNvCxnSpPr/>
            <p:nvPr/>
          </p:nvCxnSpPr>
          <p:spPr>
            <a:xfrm flipH="1">
              <a:off x="5647948" y="320040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/>
            <p:cNvCxnSpPr/>
            <p:nvPr/>
          </p:nvCxnSpPr>
          <p:spPr>
            <a:xfrm>
              <a:off x="3048000" y="317801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/>
            <p:nvPr/>
          </p:nvCxnSpPr>
          <p:spPr>
            <a:xfrm>
              <a:off x="6705600" y="317801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/>
            <p:cNvCxnSpPr/>
            <p:nvPr/>
          </p:nvCxnSpPr>
          <p:spPr>
            <a:xfrm>
              <a:off x="2029959" y="396240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/>
            <p:cNvCxnSpPr>
              <a:endCxn id="306" idx="0"/>
            </p:cNvCxnSpPr>
            <p:nvPr/>
          </p:nvCxnSpPr>
          <p:spPr>
            <a:xfrm>
              <a:off x="3962400" y="3978116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/>
            <p:cNvCxnSpPr/>
            <p:nvPr/>
          </p:nvCxnSpPr>
          <p:spPr>
            <a:xfrm>
              <a:off x="5763759" y="396240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/>
            <p:cNvCxnSpPr/>
            <p:nvPr/>
          </p:nvCxnSpPr>
          <p:spPr>
            <a:xfrm>
              <a:off x="4800600" y="235315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6" name="Group 275"/>
            <p:cNvGrpSpPr/>
            <p:nvPr/>
          </p:nvGrpSpPr>
          <p:grpSpPr>
            <a:xfrm>
              <a:off x="4419600" y="1600200"/>
              <a:ext cx="502924" cy="578167"/>
              <a:chOff x="1203952" y="3914001"/>
              <a:chExt cx="502924" cy="578167"/>
            </a:xfrm>
          </p:grpSpPr>
          <p:cxnSp>
            <p:nvCxnSpPr>
              <p:cNvPr id="313" name="Elbow Connector 31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TextBox 313"/>
              <p:cNvSpPr txBox="1"/>
              <p:nvPr/>
            </p:nvSpPr>
            <p:spPr>
              <a:xfrm>
                <a:off x="1203952" y="3914001"/>
                <a:ext cx="502924" cy="27699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head</a:t>
                </a:r>
              </a:p>
            </p:txBody>
          </p:sp>
        </p:grpSp>
        <p:sp>
          <p:nvSpPr>
            <p:cNvPr id="277" name="TextBox 276"/>
            <p:cNvSpPr txBox="1"/>
            <p:nvPr/>
          </p:nvSpPr>
          <p:spPr>
            <a:xfrm>
              <a:off x="1143000" y="46151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2819400" y="2971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28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4471664" y="2209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46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6400800" y="2971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67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2209800" y="46151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25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1752600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31</a:t>
              </a: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41</a:t>
              </a: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37338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35</a:t>
              </a: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5486400" y="3733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49</a:t>
              </a:r>
            </a:p>
          </p:txBody>
        </p:sp>
      </p:grpSp>
      <p:sp>
        <p:nvSpPr>
          <p:cNvPr id="5" name="Cloud Callout 4"/>
          <p:cNvSpPr/>
          <p:nvPr/>
        </p:nvSpPr>
        <p:spPr>
          <a:xfrm>
            <a:off x="5815336" y="4848837"/>
            <a:ext cx="2642864" cy="1170963"/>
          </a:xfrm>
          <a:prstGeom prst="cloudCallout">
            <a:avLst>
              <a:gd name="adj1" fmla="val 64533"/>
              <a:gd name="adj2" fmla="val 8434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Can you color the nodes to make it a red-black tree ?</a:t>
            </a:r>
          </a:p>
        </p:txBody>
      </p:sp>
    </p:spTree>
    <p:extLst>
      <p:ext uri="{BB962C8B-B14F-4D97-AF65-F5344CB8AC3E}">
        <p14:creationId xmlns:p14="http://schemas.microsoft.com/office/powerpoint/2010/main" val="233102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A binary search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990601" y="4845369"/>
            <a:ext cx="225309" cy="564831"/>
            <a:chOff x="853448" y="1644969"/>
            <a:chExt cx="255680" cy="559397"/>
          </a:xfrm>
        </p:grpSpPr>
        <p:grpSp>
          <p:nvGrpSpPr>
            <p:cNvPr id="22" name="Group 21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26" name="Straight Connector 25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3" name="Straight Arrow Connector 22"/>
            <p:cNvCxnSpPr>
              <a:endCxn id="24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1349682" y="4845369"/>
            <a:ext cx="232681" cy="564831"/>
            <a:chOff x="780160" y="1648024"/>
            <a:chExt cx="274457" cy="556342"/>
          </a:xfrm>
        </p:grpSpPr>
        <p:grpSp>
          <p:nvGrpSpPr>
            <p:cNvPr id="80" name="Group 79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82" name="Rectangle 81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3" name="Group 82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84" name="Straight Connector 83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81" name="Straight Arrow Connector 80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/>
          <p:cNvGrpSpPr/>
          <p:nvPr/>
        </p:nvGrpSpPr>
        <p:grpSpPr>
          <a:xfrm>
            <a:off x="2057400" y="4845369"/>
            <a:ext cx="225309" cy="564831"/>
            <a:chOff x="853448" y="1644969"/>
            <a:chExt cx="255680" cy="559397"/>
          </a:xfrm>
        </p:grpSpPr>
        <p:grpSp>
          <p:nvGrpSpPr>
            <p:cNvPr id="131" name="Group 130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4" name="Group 13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35" name="Straight Connector 13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2" name="Straight Arrow Connector 131"/>
            <p:cNvCxnSpPr>
              <a:endCxn id="133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Group 123"/>
          <p:cNvGrpSpPr/>
          <p:nvPr/>
        </p:nvGrpSpPr>
        <p:grpSpPr>
          <a:xfrm>
            <a:off x="2416481" y="4845369"/>
            <a:ext cx="232681" cy="564831"/>
            <a:chOff x="780160" y="1648024"/>
            <a:chExt cx="274457" cy="556342"/>
          </a:xfrm>
        </p:grpSpPr>
        <p:grpSp>
          <p:nvGrpSpPr>
            <p:cNvPr id="125" name="Group 124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8" name="Group 127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29" name="Straight Connector 128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26" name="Straight Arrow Connector 125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/>
          <p:cNvGrpSpPr/>
          <p:nvPr/>
        </p:nvGrpSpPr>
        <p:grpSpPr>
          <a:xfrm>
            <a:off x="3124200" y="4845369"/>
            <a:ext cx="225309" cy="564831"/>
            <a:chOff x="853448" y="1644969"/>
            <a:chExt cx="255680" cy="559397"/>
          </a:xfrm>
        </p:grpSpPr>
        <p:grpSp>
          <p:nvGrpSpPr>
            <p:cNvPr id="147" name="Group 146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49" name="Rectangle 148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0" name="Group 149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51" name="Straight Connector 150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8" name="Straight Arrow Connector 147"/>
            <p:cNvCxnSpPr>
              <a:endCxn id="149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Group 139"/>
          <p:cNvGrpSpPr/>
          <p:nvPr/>
        </p:nvGrpSpPr>
        <p:grpSpPr>
          <a:xfrm>
            <a:off x="3483281" y="4845369"/>
            <a:ext cx="232681" cy="564831"/>
            <a:chOff x="780160" y="1648024"/>
            <a:chExt cx="274457" cy="556342"/>
          </a:xfrm>
        </p:grpSpPr>
        <p:grpSp>
          <p:nvGrpSpPr>
            <p:cNvPr id="141" name="Group 140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43" name="Rectangle 14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4" name="Group 14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45" name="Straight Connector 14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2" name="Straight Arrow Connector 141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/>
          <p:cNvGrpSpPr/>
          <p:nvPr/>
        </p:nvGrpSpPr>
        <p:grpSpPr>
          <a:xfrm>
            <a:off x="4038600" y="4845369"/>
            <a:ext cx="225309" cy="564831"/>
            <a:chOff x="853448" y="1644969"/>
            <a:chExt cx="255680" cy="559397"/>
          </a:xfrm>
        </p:grpSpPr>
        <p:grpSp>
          <p:nvGrpSpPr>
            <p:cNvPr id="163" name="Group 162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65" name="Rectangle 164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6" name="Group 165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67" name="Straight Connector 166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64" name="Straight Arrow Connector 163"/>
            <p:cNvCxnSpPr>
              <a:endCxn id="165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6" name="Group 155"/>
          <p:cNvGrpSpPr/>
          <p:nvPr/>
        </p:nvGrpSpPr>
        <p:grpSpPr>
          <a:xfrm>
            <a:off x="4397681" y="4845369"/>
            <a:ext cx="232681" cy="564831"/>
            <a:chOff x="780160" y="1648024"/>
            <a:chExt cx="274457" cy="556342"/>
          </a:xfrm>
        </p:grpSpPr>
        <p:grpSp>
          <p:nvGrpSpPr>
            <p:cNvPr id="157" name="Group 156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0" name="Group 159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61" name="Straight Connector 160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58" name="Straight Arrow Connector 157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5080527" y="4683435"/>
            <a:ext cx="177273" cy="225334"/>
            <a:chOff x="2447520" y="2514600"/>
            <a:chExt cx="201169" cy="223166"/>
          </a:xfrm>
        </p:grpSpPr>
        <p:sp>
          <p:nvSpPr>
            <p:cNvPr id="181" name="Rectangle 180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2" name="Group 181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183" name="Straight Connector 182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9" name="Group 188"/>
          <p:cNvGrpSpPr/>
          <p:nvPr/>
        </p:nvGrpSpPr>
        <p:grpSpPr>
          <a:xfrm>
            <a:off x="6113452" y="4682198"/>
            <a:ext cx="170548" cy="226571"/>
            <a:chOff x="2447520" y="2514600"/>
            <a:chExt cx="201169" cy="223166"/>
          </a:xfrm>
        </p:grpSpPr>
        <p:sp>
          <p:nvSpPr>
            <p:cNvPr id="191" name="Rectangle 190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2" name="Group 191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193" name="Straight Connector 192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1" name="Group 220"/>
          <p:cNvGrpSpPr/>
          <p:nvPr/>
        </p:nvGrpSpPr>
        <p:grpSpPr>
          <a:xfrm>
            <a:off x="7543800" y="3810000"/>
            <a:ext cx="170548" cy="226571"/>
            <a:chOff x="2447520" y="2514600"/>
            <a:chExt cx="201169" cy="223166"/>
          </a:xfrm>
        </p:grpSpPr>
        <p:sp>
          <p:nvSpPr>
            <p:cNvPr id="223" name="Rectangle 222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4" name="Group 223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225" name="Straight Connector 224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5" name="Oval 234"/>
          <p:cNvSpPr/>
          <p:nvPr/>
        </p:nvSpPr>
        <p:spPr>
          <a:xfrm>
            <a:off x="4514094" y="2252990"/>
            <a:ext cx="286506" cy="19716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37" name="Oval 236"/>
          <p:cNvSpPr/>
          <p:nvPr/>
        </p:nvSpPr>
        <p:spPr>
          <a:xfrm>
            <a:off x="6419094" y="3046421"/>
            <a:ext cx="286506" cy="19716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39" name="Oval 238"/>
          <p:cNvSpPr/>
          <p:nvPr/>
        </p:nvSpPr>
        <p:spPr>
          <a:xfrm>
            <a:off x="1770894" y="3841431"/>
            <a:ext cx="286506" cy="19716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40" name="Oval 239"/>
          <p:cNvSpPr/>
          <p:nvPr/>
        </p:nvSpPr>
        <p:spPr>
          <a:xfrm>
            <a:off x="5504694" y="3816182"/>
            <a:ext cx="286506" cy="19716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43" name="Oval 242"/>
          <p:cNvSpPr/>
          <p:nvPr/>
        </p:nvSpPr>
        <p:spPr>
          <a:xfrm>
            <a:off x="3752094" y="3853190"/>
            <a:ext cx="286506" cy="19716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45" name="Oval 244"/>
          <p:cNvSpPr/>
          <p:nvPr/>
        </p:nvSpPr>
        <p:spPr>
          <a:xfrm>
            <a:off x="2819400" y="3046421"/>
            <a:ext cx="286506" cy="19716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46" name="Oval 245"/>
          <p:cNvSpPr/>
          <p:nvPr/>
        </p:nvSpPr>
        <p:spPr>
          <a:xfrm>
            <a:off x="1161294" y="4691390"/>
            <a:ext cx="286506" cy="19716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47" name="Oval 246"/>
          <p:cNvSpPr/>
          <p:nvPr/>
        </p:nvSpPr>
        <p:spPr>
          <a:xfrm>
            <a:off x="2228093" y="4691390"/>
            <a:ext cx="286506" cy="19716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3294893" y="4691390"/>
            <a:ext cx="286506" cy="19716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49" name="Oval 248"/>
          <p:cNvSpPr/>
          <p:nvPr/>
        </p:nvSpPr>
        <p:spPr>
          <a:xfrm>
            <a:off x="4209293" y="4691390"/>
            <a:ext cx="286506" cy="19716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cxnSp>
        <p:nvCxnSpPr>
          <p:cNvPr id="255" name="Straight Arrow Connector 254"/>
          <p:cNvCxnSpPr/>
          <p:nvPr/>
        </p:nvCxnSpPr>
        <p:spPr>
          <a:xfrm flipH="1">
            <a:off x="2962653" y="2351575"/>
            <a:ext cx="1551441" cy="6948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/>
          <p:cNvCxnSpPr/>
          <p:nvPr/>
        </p:nvCxnSpPr>
        <p:spPr>
          <a:xfrm flipH="1">
            <a:off x="1953760" y="3221205"/>
            <a:ext cx="941840" cy="6319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stCxn id="243" idx="3"/>
          </p:cNvCxnSpPr>
          <p:nvPr/>
        </p:nvCxnSpPr>
        <p:spPr>
          <a:xfrm flipH="1">
            <a:off x="3438147" y="4021484"/>
            <a:ext cx="355905" cy="66990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/>
          <p:cNvCxnSpPr>
            <a:endCxn id="246" idx="7"/>
          </p:cNvCxnSpPr>
          <p:nvPr/>
        </p:nvCxnSpPr>
        <p:spPr>
          <a:xfrm flipH="1">
            <a:off x="1405842" y="4005590"/>
            <a:ext cx="422958" cy="7146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/>
          <p:nvPr/>
        </p:nvCxnSpPr>
        <p:spPr>
          <a:xfrm flipH="1">
            <a:off x="5181600" y="4021484"/>
            <a:ext cx="405136" cy="66990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/>
          <p:cNvCxnSpPr/>
          <p:nvPr/>
        </p:nvCxnSpPr>
        <p:spPr>
          <a:xfrm flipH="1">
            <a:off x="5647948" y="3243590"/>
            <a:ext cx="811214" cy="5725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/>
          <p:nvPr/>
        </p:nvCxnSpPr>
        <p:spPr>
          <a:xfrm>
            <a:off x="3048000" y="3221205"/>
            <a:ext cx="838200" cy="6319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/>
          <p:nvPr/>
        </p:nvCxnSpPr>
        <p:spPr>
          <a:xfrm>
            <a:off x="6705600" y="3221205"/>
            <a:ext cx="838200" cy="6319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/>
          <p:cNvCxnSpPr/>
          <p:nvPr/>
        </p:nvCxnSpPr>
        <p:spPr>
          <a:xfrm>
            <a:off x="2029959" y="4005590"/>
            <a:ext cx="341387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/>
          <p:nvPr/>
        </p:nvCxnSpPr>
        <p:spPr>
          <a:xfrm>
            <a:off x="3942770" y="4013351"/>
            <a:ext cx="368932" cy="67008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/>
          <p:cNvCxnSpPr/>
          <p:nvPr/>
        </p:nvCxnSpPr>
        <p:spPr>
          <a:xfrm>
            <a:off x="5763759" y="4005590"/>
            <a:ext cx="417587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/>
          <p:cNvCxnSpPr/>
          <p:nvPr/>
        </p:nvCxnSpPr>
        <p:spPr>
          <a:xfrm>
            <a:off x="4800600" y="2396344"/>
            <a:ext cx="1658562" cy="6948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6" name="Group 275"/>
          <p:cNvGrpSpPr/>
          <p:nvPr/>
        </p:nvGrpSpPr>
        <p:grpSpPr>
          <a:xfrm>
            <a:off x="4419600" y="1643390"/>
            <a:ext cx="502924" cy="578167"/>
            <a:chOff x="1203952" y="3914001"/>
            <a:chExt cx="502924" cy="578167"/>
          </a:xfrm>
        </p:grpSpPr>
        <p:cxnSp>
          <p:nvCxnSpPr>
            <p:cNvPr id="313" name="Elbow Connector 312"/>
            <p:cNvCxnSpPr/>
            <p:nvPr/>
          </p:nvCxnSpPr>
          <p:spPr>
            <a:xfrm rot="16200000" flipH="1">
              <a:off x="1306996" y="4339420"/>
              <a:ext cx="301167" cy="4330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TextBox 313"/>
            <p:cNvSpPr txBox="1"/>
            <p:nvPr/>
          </p:nvSpPr>
          <p:spPr>
            <a:xfrm>
              <a:off x="1203952" y="3914001"/>
              <a:ext cx="502924" cy="276999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head</a:t>
              </a:r>
            </a:p>
          </p:txBody>
        </p:sp>
      </p:grpSp>
      <p:sp>
        <p:nvSpPr>
          <p:cNvPr id="277" name="TextBox 276"/>
          <p:cNvSpPr txBox="1"/>
          <p:nvPr/>
        </p:nvSpPr>
        <p:spPr>
          <a:xfrm>
            <a:off x="1143000" y="464820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2819400" y="30149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28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4471664" y="22098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46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6400800" y="30149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67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2209800" y="46482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25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770894" y="377699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276600" y="46482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31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4166864" y="46482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41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3733800" y="38100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35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486400" y="37769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49</a:t>
            </a:r>
          </a:p>
        </p:txBody>
      </p:sp>
      <p:sp>
        <p:nvSpPr>
          <p:cNvPr id="172" name="Up Ribbon 171"/>
          <p:cNvSpPr/>
          <p:nvPr/>
        </p:nvSpPr>
        <p:spPr>
          <a:xfrm>
            <a:off x="3128671" y="5638800"/>
            <a:ext cx="2927048" cy="838199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Red Black Tree</a:t>
            </a:r>
          </a:p>
        </p:txBody>
      </p:sp>
    </p:spTree>
    <p:extLst>
      <p:ext uri="{BB962C8B-B14F-4D97-AF65-F5344CB8AC3E}">
        <p14:creationId xmlns:p14="http://schemas.microsoft.com/office/powerpoint/2010/main" val="249401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Why is a </a:t>
            </a:r>
            <a:r>
              <a:rPr lang="en-US" sz="3200" b="1" dirty="0">
                <a:solidFill>
                  <a:srgbClr val="C00000"/>
                </a:solidFill>
              </a:rPr>
              <a:t>red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/>
              <a:t>black</a:t>
            </a:r>
            <a:r>
              <a:rPr lang="en-US" sz="3200" b="1" dirty="0">
                <a:solidFill>
                  <a:srgbClr val="7030A0"/>
                </a:solidFill>
              </a:rPr>
              <a:t> tree height balanced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4582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:r>
                  <a:rPr lang="en-US" sz="2000" dirty="0"/>
                  <a:t>: a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red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b="1" dirty="0"/>
                  <a:t>black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tree </a:t>
                </a: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h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: </a:t>
                </a:r>
                <a:r>
                  <a:rPr lang="en-US" sz="2000" b="1" dirty="0"/>
                  <a:t>black</a:t>
                </a:r>
                <a:r>
                  <a:rPr lang="en-US" sz="2000" dirty="0"/>
                  <a:t> height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What can be height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≤</m:t>
                    </m:r>
                    <m:r>
                      <a:rPr lang="en-US" sz="2000" b="0" i="0" dirty="0" smtClean="0">
                        <a:solidFill>
                          <a:srgbClr val="0070C0"/>
                        </a:solidFill>
                        <a:latin typeface="Cambria Math"/>
                      </a:rPr>
                      <m:t>2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h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dirty="0"/>
                  <a:t>: Ponder over the above hint to prove that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 has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≥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h</m:t>
                        </m:r>
                      </m:sup>
                    </m:sSup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elements.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458200" cy="5181600"/>
              </a:xfrm>
              <a:blipFill rotWithShape="1">
                <a:blip r:embed="rId2"/>
                <a:stretch>
                  <a:fillRect l="-793" t="-588" r="-721" b="-36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grpSp>
        <p:nvGrpSpPr>
          <p:cNvPr id="68" name="Group 67"/>
          <p:cNvGrpSpPr/>
          <p:nvPr/>
        </p:nvGrpSpPr>
        <p:grpSpPr>
          <a:xfrm>
            <a:off x="3063782" y="5105400"/>
            <a:ext cx="2270218" cy="936718"/>
            <a:chOff x="3063782" y="5105400"/>
            <a:chExt cx="2270218" cy="936718"/>
          </a:xfrm>
        </p:grpSpPr>
        <p:cxnSp>
          <p:nvCxnSpPr>
            <p:cNvPr id="16" name="Straight Connector 15"/>
            <p:cNvCxnSpPr>
              <a:stCxn id="60" idx="7"/>
            </p:cNvCxnSpPr>
            <p:nvPr/>
          </p:nvCxnSpPr>
          <p:spPr>
            <a:xfrm flipV="1">
              <a:off x="3063782" y="5501268"/>
              <a:ext cx="593818" cy="5408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657600" y="5486400"/>
              <a:ext cx="266700" cy="228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3924300" y="5486400"/>
              <a:ext cx="266700" cy="228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 flipV="1">
              <a:off x="4191000" y="5486400"/>
              <a:ext cx="304800" cy="533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4495800" y="5486400"/>
              <a:ext cx="304800" cy="533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800600" y="5486400"/>
              <a:ext cx="190500" cy="3429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>
              <a:off x="4991100" y="5334000"/>
              <a:ext cx="57150" cy="4953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5019675" y="5334000"/>
              <a:ext cx="238125" cy="2476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56" idx="4"/>
            </p:cNvCxnSpPr>
            <p:nvPr/>
          </p:nvCxnSpPr>
          <p:spPr>
            <a:xfrm flipH="1">
              <a:off x="5257800" y="5105400"/>
              <a:ext cx="76200" cy="4762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Isosceles Triangle 69"/>
          <p:cNvSpPr/>
          <p:nvPr/>
        </p:nvSpPr>
        <p:spPr>
          <a:xfrm>
            <a:off x="3657600" y="3810000"/>
            <a:ext cx="1676400" cy="1219200"/>
          </a:xfrm>
          <a:prstGeom prst="triangle">
            <a:avLst>
              <a:gd name="adj" fmla="val 47571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4" name="Group 63"/>
          <p:cNvGrpSpPr/>
          <p:nvPr/>
        </p:nvGrpSpPr>
        <p:grpSpPr>
          <a:xfrm>
            <a:off x="4419600" y="3810000"/>
            <a:ext cx="990600" cy="1295400"/>
            <a:chOff x="4419600" y="3810000"/>
            <a:chExt cx="990600" cy="1295400"/>
          </a:xfrm>
        </p:grpSpPr>
        <p:cxnSp>
          <p:nvCxnSpPr>
            <p:cNvPr id="10" name="Straight Connector 9"/>
            <p:cNvCxnSpPr>
              <a:endCxn id="56" idx="1"/>
            </p:cNvCxnSpPr>
            <p:nvPr/>
          </p:nvCxnSpPr>
          <p:spPr>
            <a:xfrm>
              <a:off x="4419600" y="3810000"/>
              <a:ext cx="860518" cy="11653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/>
            <p:cNvSpPr/>
            <p:nvPr/>
          </p:nvSpPr>
          <p:spPr>
            <a:xfrm>
              <a:off x="4648200" y="41148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Oval 53"/>
            <p:cNvSpPr/>
            <p:nvPr/>
          </p:nvSpPr>
          <p:spPr>
            <a:xfrm>
              <a:off x="4876800" y="44196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Oval 54"/>
            <p:cNvSpPr/>
            <p:nvPr/>
          </p:nvSpPr>
          <p:spPr>
            <a:xfrm>
              <a:off x="5105400" y="47244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Oval 55"/>
            <p:cNvSpPr/>
            <p:nvPr/>
          </p:nvSpPr>
          <p:spPr>
            <a:xfrm>
              <a:off x="5257800" y="49530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2933700" y="3795132"/>
            <a:ext cx="1600200" cy="2377068"/>
            <a:chOff x="2895600" y="3810000"/>
            <a:chExt cx="1600200" cy="2377068"/>
          </a:xfrm>
        </p:grpSpPr>
        <p:cxnSp>
          <p:nvCxnSpPr>
            <p:cNvPr id="8" name="Straight Connector 7"/>
            <p:cNvCxnSpPr>
              <a:endCxn id="60" idx="0"/>
            </p:cNvCxnSpPr>
            <p:nvPr/>
          </p:nvCxnSpPr>
          <p:spPr>
            <a:xfrm flipH="1">
              <a:off x="2971800" y="3824868"/>
              <a:ext cx="1447800" cy="2209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/>
            <p:cNvSpPr/>
            <p:nvPr/>
          </p:nvSpPr>
          <p:spPr>
            <a:xfrm>
              <a:off x="4114800" y="4085063"/>
              <a:ext cx="152400" cy="152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Oval 48"/>
            <p:cNvSpPr/>
            <p:nvPr/>
          </p:nvSpPr>
          <p:spPr>
            <a:xfrm>
              <a:off x="3733800" y="4648200"/>
              <a:ext cx="152400" cy="152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Oval 49"/>
            <p:cNvSpPr/>
            <p:nvPr/>
          </p:nvSpPr>
          <p:spPr>
            <a:xfrm>
              <a:off x="3429000" y="5105400"/>
              <a:ext cx="152400" cy="152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Oval 50"/>
            <p:cNvSpPr/>
            <p:nvPr/>
          </p:nvSpPr>
          <p:spPr>
            <a:xfrm>
              <a:off x="3081454" y="5673183"/>
              <a:ext cx="152400" cy="152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Oval 51"/>
            <p:cNvSpPr/>
            <p:nvPr/>
          </p:nvSpPr>
          <p:spPr>
            <a:xfrm>
              <a:off x="4343400" y="38100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Oval 56"/>
            <p:cNvSpPr/>
            <p:nvPr/>
          </p:nvSpPr>
          <p:spPr>
            <a:xfrm>
              <a:off x="3905250" y="43815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Oval 57"/>
            <p:cNvSpPr/>
            <p:nvPr/>
          </p:nvSpPr>
          <p:spPr>
            <a:xfrm>
              <a:off x="3581400" y="4876800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Oval 58"/>
            <p:cNvSpPr/>
            <p:nvPr/>
          </p:nvSpPr>
          <p:spPr>
            <a:xfrm>
              <a:off x="3278459" y="5381625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0" name="Oval 59"/>
            <p:cNvSpPr/>
            <p:nvPr/>
          </p:nvSpPr>
          <p:spPr>
            <a:xfrm>
              <a:off x="2895600" y="6034668"/>
              <a:ext cx="152400" cy="152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4343400" y="3364468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3364468"/>
                <a:ext cx="381836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Group 78"/>
          <p:cNvGrpSpPr/>
          <p:nvPr/>
        </p:nvGrpSpPr>
        <p:grpSpPr>
          <a:xfrm>
            <a:off x="1295400" y="3871332"/>
            <a:ext cx="919611" cy="2300868"/>
            <a:chOff x="1295400" y="3871332"/>
            <a:chExt cx="919611" cy="2300868"/>
          </a:xfrm>
        </p:grpSpPr>
        <p:cxnSp>
          <p:nvCxnSpPr>
            <p:cNvPr id="72" name="Straight Arrow Connector 71"/>
            <p:cNvCxnSpPr/>
            <p:nvPr/>
          </p:nvCxnSpPr>
          <p:spPr>
            <a:xfrm>
              <a:off x="2133600" y="3871332"/>
              <a:ext cx="0" cy="230086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1295400" y="4800600"/>
                  <a:ext cx="9196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h</m:t>
                        </m:r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5400" y="4800600"/>
                  <a:ext cx="919611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7333"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Group 79"/>
          <p:cNvGrpSpPr/>
          <p:nvPr/>
        </p:nvGrpSpPr>
        <p:grpSpPr>
          <a:xfrm>
            <a:off x="6248400" y="3886200"/>
            <a:ext cx="369781" cy="1143000"/>
            <a:chOff x="6248400" y="3886200"/>
            <a:chExt cx="369781" cy="1143000"/>
          </a:xfrm>
        </p:grpSpPr>
        <p:cxnSp>
          <p:nvCxnSpPr>
            <p:cNvPr id="75" name="Straight Arrow Connector 74"/>
            <p:cNvCxnSpPr/>
            <p:nvPr/>
          </p:nvCxnSpPr>
          <p:spPr>
            <a:xfrm>
              <a:off x="6248400" y="3886200"/>
              <a:ext cx="0" cy="1143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6248400" y="4267200"/>
                  <a:ext cx="3697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h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4267200"/>
                  <a:ext cx="369781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8033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3" name="TextBox 82"/>
          <p:cNvSpPr txBox="1"/>
          <p:nvPr/>
        </p:nvSpPr>
        <p:spPr>
          <a:xfrm>
            <a:off x="4343400" y="4429780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?</a:t>
            </a:r>
            <a:endParaRPr lang="en-IN" sz="2800" dirty="0">
              <a:solidFill>
                <a:srgbClr val="C00000"/>
              </a:solidFill>
            </a:endParaRPr>
          </a:p>
        </p:txBody>
      </p:sp>
      <p:sp>
        <p:nvSpPr>
          <p:cNvPr id="84" name="Line Callout 1 83"/>
          <p:cNvSpPr/>
          <p:nvPr/>
        </p:nvSpPr>
        <p:spPr>
          <a:xfrm>
            <a:off x="6172200" y="2438400"/>
            <a:ext cx="2057400" cy="612648"/>
          </a:xfrm>
          <a:prstGeom prst="borderCallout1">
            <a:avLst>
              <a:gd name="adj1" fmla="val 49693"/>
              <a:gd name="adj2" fmla="val -1016"/>
              <a:gd name="adj3" fmla="val 314539"/>
              <a:gd name="adj4" fmla="val -7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this “green structure” ?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69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70" grpId="0" animBg="1"/>
      <p:bldP spid="69" grpId="0"/>
      <p:bldP spid="83" grpId="0"/>
      <p:bldP spid="8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Insertion </a:t>
            </a:r>
            <a:r>
              <a:rPr lang="en-US" b="1" dirty="0"/>
              <a:t>in a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Red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/>
              <a:t>Black tree</a:t>
            </a:r>
            <a:endParaRPr lang="en-IN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sz="2400" dirty="0">
                <a:solidFill>
                  <a:schemeClr val="tx1"/>
                </a:solidFill>
              </a:rPr>
              <a:t>All it involves is 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playing with </a:t>
            </a:r>
            <a:r>
              <a:rPr lang="en-US" sz="2400" b="1" dirty="0">
                <a:solidFill>
                  <a:srgbClr val="7030A0"/>
                </a:solidFill>
              </a:rPr>
              <a:t>colors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</a:t>
            </a:r>
            <a:endParaRPr lang="en-US" sz="2400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and </a:t>
            </a:r>
            <a:r>
              <a:rPr lang="en-US" sz="2400" b="1" dirty="0">
                <a:solidFill>
                  <a:srgbClr val="C00000"/>
                </a:solidFill>
              </a:rPr>
              <a:t>rotations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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Insertion in a red-black tree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90601" y="1600200"/>
            <a:ext cx="6723747" cy="3810000"/>
            <a:chOff x="990601" y="1600200"/>
            <a:chExt cx="6723747" cy="3810000"/>
          </a:xfrm>
        </p:grpSpPr>
        <p:grpSp>
          <p:nvGrpSpPr>
            <p:cNvPr id="21" name="Group 20"/>
            <p:cNvGrpSpPr/>
            <p:nvPr/>
          </p:nvGrpSpPr>
          <p:grpSpPr>
            <a:xfrm>
              <a:off x="990601" y="4845369"/>
              <a:ext cx="225309" cy="564831"/>
              <a:chOff x="853448" y="1644969"/>
              <a:chExt cx="255680" cy="559397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3" name="Straight Arrow Connector 22"/>
              <p:cNvCxnSpPr>
                <a:endCxn id="24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/>
            <p:cNvGrpSpPr/>
            <p:nvPr/>
          </p:nvGrpSpPr>
          <p:grpSpPr>
            <a:xfrm>
              <a:off x="1349682" y="4845369"/>
              <a:ext cx="232681" cy="564831"/>
              <a:chOff x="780160" y="1648024"/>
              <a:chExt cx="274457" cy="556342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82" name="Rectangle 8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3" name="Group 8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84" name="Straight Connector 83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1" name="Straight Arrow Connector 80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Group 122"/>
            <p:cNvGrpSpPr/>
            <p:nvPr/>
          </p:nvGrpSpPr>
          <p:grpSpPr>
            <a:xfrm>
              <a:off x="20574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31" name="Group 13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33" name="Rectangle 13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4" name="Group 13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35" name="Straight Connector 13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2" name="Straight Arrow Connector 131"/>
              <p:cNvCxnSpPr>
                <a:endCxn id="133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/>
            <p:cNvGrpSpPr/>
            <p:nvPr/>
          </p:nvGrpSpPr>
          <p:grpSpPr>
            <a:xfrm>
              <a:off x="24164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27" name="Rectangle 126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8" name="Group 127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29" name="Straight Connector 128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6" name="Straight Arrow Connector 125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/>
            <p:cNvGrpSpPr/>
            <p:nvPr/>
          </p:nvGrpSpPr>
          <p:grpSpPr>
            <a:xfrm>
              <a:off x="31242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47" name="Group 14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0" name="Group 14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1" name="Straight Connector 15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8" name="Straight Arrow Connector 147"/>
              <p:cNvCxnSpPr>
                <a:endCxn id="149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/>
            <p:cNvGrpSpPr/>
            <p:nvPr/>
          </p:nvGrpSpPr>
          <p:grpSpPr>
            <a:xfrm>
              <a:off x="34832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3" name="Rectangle 14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4" name="Group 14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45" name="Straight Connector 14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2" name="Straight Arrow Connector 141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/>
            <p:cNvGrpSpPr/>
            <p:nvPr/>
          </p:nvGrpSpPr>
          <p:grpSpPr>
            <a:xfrm>
              <a:off x="40386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63" name="Group 162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65" name="Rectangle 164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6" name="Group 165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7" name="Straight Connector 166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4" name="Straight Arrow Connector 163"/>
              <p:cNvCxnSpPr>
                <a:endCxn id="165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>
              <a:off x="43976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57" name="Group 15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9" name="Rectangle 15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0" name="Group 15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1" name="Straight Connector 16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8" name="Straight Arrow Connector 157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>
            <a:xfrm>
              <a:off x="5080527" y="4683435"/>
              <a:ext cx="177273" cy="225334"/>
              <a:chOff x="2447520" y="2514600"/>
              <a:chExt cx="201169" cy="223166"/>
            </a:xfrm>
          </p:grpSpPr>
          <p:sp>
            <p:nvSpPr>
              <p:cNvPr id="181" name="Rectangle 18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83" name="Straight Connector 18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9" name="Group 188"/>
            <p:cNvGrpSpPr/>
            <p:nvPr/>
          </p:nvGrpSpPr>
          <p:grpSpPr>
            <a:xfrm>
              <a:off x="6113452" y="4682198"/>
              <a:ext cx="170548" cy="226571"/>
              <a:chOff x="2447520" y="2514600"/>
              <a:chExt cx="201169" cy="223166"/>
            </a:xfrm>
          </p:grpSpPr>
          <p:sp>
            <p:nvSpPr>
              <p:cNvPr id="191" name="Rectangle 19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" name="Group 19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1" name="Group 220"/>
            <p:cNvGrpSpPr/>
            <p:nvPr/>
          </p:nvGrpSpPr>
          <p:grpSpPr>
            <a:xfrm>
              <a:off x="7543800" y="3810000"/>
              <a:ext cx="170548" cy="226571"/>
              <a:chOff x="2447520" y="2514600"/>
              <a:chExt cx="201169" cy="223166"/>
            </a:xfrm>
          </p:grpSpPr>
          <p:sp>
            <p:nvSpPr>
              <p:cNvPr id="223" name="Rectangle 22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4" name="Group 22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5" name="Oval 234"/>
            <p:cNvSpPr/>
            <p:nvPr/>
          </p:nvSpPr>
          <p:spPr>
            <a:xfrm>
              <a:off x="4514094" y="22529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7" name="Oval 236"/>
            <p:cNvSpPr/>
            <p:nvPr/>
          </p:nvSpPr>
          <p:spPr>
            <a:xfrm>
              <a:off x="6419094" y="304642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9" name="Oval 238"/>
            <p:cNvSpPr/>
            <p:nvPr/>
          </p:nvSpPr>
          <p:spPr>
            <a:xfrm>
              <a:off x="1770894" y="384143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0" name="Oval 239"/>
            <p:cNvSpPr/>
            <p:nvPr/>
          </p:nvSpPr>
          <p:spPr>
            <a:xfrm>
              <a:off x="5504694" y="3816182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3" name="Oval 242"/>
            <p:cNvSpPr/>
            <p:nvPr/>
          </p:nvSpPr>
          <p:spPr>
            <a:xfrm>
              <a:off x="3752094" y="38531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5" name="Oval 244"/>
            <p:cNvSpPr/>
            <p:nvPr/>
          </p:nvSpPr>
          <p:spPr>
            <a:xfrm>
              <a:off x="2819400" y="3046421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6" name="Oval 245"/>
            <p:cNvSpPr/>
            <p:nvPr/>
          </p:nvSpPr>
          <p:spPr>
            <a:xfrm>
              <a:off x="1161294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7" name="Oval 246"/>
            <p:cNvSpPr/>
            <p:nvPr/>
          </p:nvSpPr>
          <p:spPr>
            <a:xfrm>
              <a:off x="22280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8" name="Oval 247"/>
            <p:cNvSpPr/>
            <p:nvPr/>
          </p:nvSpPr>
          <p:spPr>
            <a:xfrm>
              <a:off x="32948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9" name="Oval 248"/>
            <p:cNvSpPr/>
            <p:nvPr/>
          </p:nvSpPr>
          <p:spPr>
            <a:xfrm>
              <a:off x="42092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55" name="Straight Arrow Connector 254"/>
            <p:cNvCxnSpPr/>
            <p:nvPr/>
          </p:nvCxnSpPr>
          <p:spPr>
            <a:xfrm flipH="1">
              <a:off x="2962653" y="235157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/>
            <p:cNvCxnSpPr/>
            <p:nvPr/>
          </p:nvCxnSpPr>
          <p:spPr>
            <a:xfrm flipH="1">
              <a:off x="1953760" y="322120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/>
            <p:cNvCxnSpPr>
              <a:stCxn id="243" idx="3"/>
            </p:cNvCxnSpPr>
            <p:nvPr/>
          </p:nvCxnSpPr>
          <p:spPr>
            <a:xfrm flipH="1">
              <a:off x="3438147" y="402148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/>
            <p:cNvCxnSpPr>
              <a:endCxn id="246" idx="7"/>
            </p:cNvCxnSpPr>
            <p:nvPr/>
          </p:nvCxnSpPr>
          <p:spPr>
            <a:xfrm flipH="1">
              <a:off x="1405842" y="400559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/>
            <p:cNvCxnSpPr/>
            <p:nvPr/>
          </p:nvCxnSpPr>
          <p:spPr>
            <a:xfrm flipH="1">
              <a:off x="5181600" y="402148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/>
            <p:cNvCxnSpPr/>
            <p:nvPr/>
          </p:nvCxnSpPr>
          <p:spPr>
            <a:xfrm flipH="1">
              <a:off x="5647948" y="324359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/>
            <p:cNvCxnSpPr/>
            <p:nvPr/>
          </p:nvCxnSpPr>
          <p:spPr>
            <a:xfrm>
              <a:off x="30480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/>
            <p:nvPr/>
          </p:nvCxnSpPr>
          <p:spPr>
            <a:xfrm>
              <a:off x="67056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/>
            <p:cNvCxnSpPr/>
            <p:nvPr/>
          </p:nvCxnSpPr>
          <p:spPr>
            <a:xfrm>
              <a:off x="2029959" y="400559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/>
            <p:cNvCxnSpPr/>
            <p:nvPr/>
          </p:nvCxnSpPr>
          <p:spPr>
            <a:xfrm>
              <a:off x="3942770" y="4013351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/>
            <p:cNvCxnSpPr/>
            <p:nvPr/>
          </p:nvCxnSpPr>
          <p:spPr>
            <a:xfrm>
              <a:off x="5763759" y="400559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/>
            <p:cNvCxnSpPr/>
            <p:nvPr/>
          </p:nvCxnSpPr>
          <p:spPr>
            <a:xfrm>
              <a:off x="4800600" y="239634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6" name="Group 275"/>
            <p:cNvGrpSpPr/>
            <p:nvPr/>
          </p:nvGrpSpPr>
          <p:grpSpPr>
            <a:xfrm>
              <a:off x="4419600" y="1600200"/>
              <a:ext cx="502924" cy="621357"/>
              <a:chOff x="1203952" y="3870811"/>
              <a:chExt cx="502924" cy="621357"/>
            </a:xfrm>
          </p:grpSpPr>
          <p:cxnSp>
            <p:nvCxnSpPr>
              <p:cNvPr id="313" name="Elbow Connector 31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TextBox 313"/>
              <p:cNvSpPr txBox="1"/>
              <p:nvPr/>
            </p:nvSpPr>
            <p:spPr>
              <a:xfrm>
                <a:off x="1203952" y="3870811"/>
                <a:ext cx="5029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  T</a:t>
                </a:r>
              </a:p>
            </p:txBody>
          </p:sp>
        </p:grpSp>
        <p:sp>
          <p:nvSpPr>
            <p:cNvPr id="277" name="TextBox 276"/>
            <p:cNvSpPr txBox="1"/>
            <p:nvPr/>
          </p:nvSpPr>
          <p:spPr>
            <a:xfrm>
              <a:off x="1143000" y="464820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28194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28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4471664" y="2209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46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64008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67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22098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25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1770894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31</a:t>
              </a: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41</a:t>
              </a: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3733800" y="38100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35</a:t>
              </a: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54864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49</a:t>
              </a: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7239000" y="3810000"/>
            <a:ext cx="762000" cy="717234"/>
            <a:chOff x="5562600" y="5410200"/>
            <a:chExt cx="762000" cy="717234"/>
          </a:xfrm>
        </p:grpSpPr>
        <p:grpSp>
          <p:nvGrpSpPr>
            <p:cNvPr id="114" name="Group 113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154" name="Group 15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71" name="Group 17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72" name="Straight Connector 17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69" name="Straight Arrow Connector 168"/>
                <p:cNvCxnSpPr>
                  <a:stCxn id="116" idx="3"/>
                  <a:endCxn id="170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20" name="Group 119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2" name="Rectangle 121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7" name="Group 13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38" name="Straight Connector 13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Straight Connector 15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1" name="Straight Arrow Connector 120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rgbClr val="C00000"/>
                    </a:solidFill>
                  </a:rPr>
                  <a:t>83</a:t>
                </a:r>
              </a:p>
            </p:txBody>
          </p:sp>
        </p:grpSp>
      </p:grpSp>
      <p:cxnSp>
        <p:nvCxnSpPr>
          <p:cNvPr id="174" name="Straight Arrow Connector 173"/>
          <p:cNvCxnSpPr/>
          <p:nvPr/>
        </p:nvCxnSpPr>
        <p:spPr>
          <a:xfrm>
            <a:off x="4953000" y="2286000"/>
            <a:ext cx="1160452" cy="489198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Up Ribbon 174"/>
          <p:cNvSpPr/>
          <p:nvPr/>
        </p:nvSpPr>
        <p:spPr>
          <a:xfrm>
            <a:off x="5650868" y="1371601"/>
            <a:ext cx="3112132" cy="838199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Let us insert </a:t>
            </a:r>
            <a:r>
              <a:rPr lang="en-US" sz="1400" b="1" dirty="0">
                <a:solidFill>
                  <a:srgbClr val="0070C0"/>
                </a:solidFill>
              </a:rPr>
              <a:t>83</a:t>
            </a:r>
            <a:r>
              <a:rPr lang="en-US" b="1" dirty="0">
                <a:solidFill>
                  <a:schemeClr val="tx1"/>
                </a:solidFill>
              </a:rPr>
              <a:t> into </a:t>
            </a:r>
            <a:r>
              <a:rPr lang="en-US" b="1" dirty="0">
                <a:solidFill>
                  <a:srgbClr val="00B050"/>
                </a:solidFill>
              </a:rPr>
              <a:t>T</a:t>
            </a:r>
            <a:r>
              <a:rPr lang="en-US" b="1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6" name="Straight Arrow Connector 175"/>
          <p:cNvCxnSpPr/>
          <p:nvPr/>
        </p:nvCxnSpPr>
        <p:spPr>
          <a:xfrm>
            <a:off x="6934200" y="3168402"/>
            <a:ext cx="694874" cy="489198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Cloud Callout 176"/>
          <p:cNvSpPr/>
          <p:nvPr/>
        </p:nvSpPr>
        <p:spPr>
          <a:xfrm>
            <a:off x="4648200" y="5418822"/>
            <a:ext cx="2209800" cy="753378"/>
          </a:xfrm>
          <a:prstGeom prst="cloudCallout">
            <a:avLst>
              <a:gd name="adj1" fmla="val 70630"/>
              <a:gd name="adj2" fmla="val 10982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What color should we assign to the new node ?</a:t>
            </a:r>
          </a:p>
        </p:txBody>
      </p:sp>
      <p:sp>
        <p:nvSpPr>
          <p:cNvPr id="3" name="Down Ribbon 2"/>
          <p:cNvSpPr/>
          <p:nvPr/>
        </p:nvSpPr>
        <p:spPr>
          <a:xfrm>
            <a:off x="6739618" y="5302724"/>
            <a:ext cx="2251981" cy="709038"/>
          </a:xfrm>
          <a:prstGeom prst="ribbon">
            <a:avLst>
              <a:gd name="adj1" fmla="val 16667"/>
              <a:gd name="adj2" fmla="val 74932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We shall assign every newly inserted node a </a:t>
            </a:r>
            <a:r>
              <a:rPr lang="en-US" sz="1200" dirty="0">
                <a:solidFill>
                  <a:srgbClr val="C00000"/>
                </a:solidFill>
              </a:rPr>
              <a:t>red</a:t>
            </a:r>
            <a:r>
              <a:rPr lang="en-US" sz="1200" dirty="0">
                <a:solidFill>
                  <a:schemeClr val="tx1"/>
                </a:solidFill>
              </a:rPr>
              <a:t> color. (give reason)</a:t>
            </a:r>
          </a:p>
        </p:txBody>
      </p:sp>
    </p:spTree>
    <p:extLst>
      <p:ext uri="{BB962C8B-B14F-4D97-AF65-F5344CB8AC3E}">
        <p14:creationId xmlns:p14="http://schemas.microsoft.com/office/powerpoint/2010/main" val="4075203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5" grpId="0" animBg="1"/>
      <p:bldP spid="175" grpId="1" animBg="1"/>
      <p:bldP spid="177" grpId="0" animBg="1"/>
      <p:bldP spid="177" grpId="1" animBg="1"/>
      <p:bldP spid="3" grpId="0" animBg="1"/>
      <p:bldP spid="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Insertion in a red-black tree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90601" y="1600200"/>
            <a:ext cx="6723747" cy="3810000"/>
            <a:chOff x="990601" y="1600200"/>
            <a:chExt cx="6723747" cy="3810000"/>
          </a:xfrm>
        </p:grpSpPr>
        <p:grpSp>
          <p:nvGrpSpPr>
            <p:cNvPr id="21" name="Group 20"/>
            <p:cNvGrpSpPr/>
            <p:nvPr/>
          </p:nvGrpSpPr>
          <p:grpSpPr>
            <a:xfrm>
              <a:off x="990601" y="4845369"/>
              <a:ext cx="225309" cy="564831"/>
              <a:chOff x="853448" y="1644969"/>
              <a:chExt cx="255680" cy="559397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3" name="Straight Arrow Connector 22"/>
              <p:cNvCxnSpPr>
                <a:endCxn id="24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/>
            <p:cNvGrpSpPr/>
            <p:nvPr/>
          </p:nvGrpSpPr>
          <p:grpSpPr>
            <a:xfrm>
              <a:off x="1349682" y="4845369"/>
              <a:ext cx="232681" cy="564831"/>
              <a:chOff x="780160" y="1648024"/>
              <a:chExt cx="274457" cy="556342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82" name="Rectangle 8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3" name="Group 8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84" name="Straight Connector 83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1" name="Straight Arrow Connector 80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Group 122"/>
            <p:cNvGrpSpPr/>
            <p:nvPr/>
          </p:nvGrpSpPr>
          <p:grpSpPr>
            <a:xfrm>
              <a:off x="20574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31" name="Group 13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33" name="Rectangle 13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4" name="Group 13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35" name="Straight Connector 13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2" name="Straight Arrow Connector 131"/>
              <p:cNvCxnSpPr>
                <a:endCxn id="133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/>
            <p:cNvGrpSpPr/>
            <p:nvPr/>
          </p:nvGrpSpPr>
          <p:grpSpPr>
            <a:xfrm>
              <a:off x="24164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27" name="Rectangle 126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8" name="Group 127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29" name="Straight Connector 128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6" name="Straight Arrow Connector 125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/>
            <p:cNvGrpSpPr/>
            <p:nvPr/>
          </p:nvGrpSpPr>
          <p:grpSpPr>
            <a:xfrm>
              <a:off x="31242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47" name="Group 14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0" name="Group 14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1" name="Straight Connector 15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8" name="Straight Arrow Connector 147"/>
              <p:cNvCxnSpPr>
                <a:endCxn id="149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/>
            <p:cNvGrpSpPr/>
            <p:nvPr/>
          </p:nvGrpSpPr>
          <p:grpSpPr>
            <a:xfrm>
              <a:off x="34832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3" name="Rectangle 14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4" name="Group 14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45" name="Straight Connector 14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2" name="Straight Arrow Connector 141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/>
            <p:cNvGrpSpPr/>
            <p:nvPr/>
          </p:nvGrpSpPr>
          <p:grpSpPr>
            <a:xfrm>
              <a:off x="40386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63" name="Group 162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65" name="Rectangle 164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6" name="Group 165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7" name="Straight Connector 166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4" name="Straight Arrow Connector 163"/>
              <p:cNvCxnSpPr>
                <a:endCxn id="165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>
              <a:off x="43976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57" name="Group 15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9" name="Rectangle 15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0" name="Group 15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1" name="Straight Connector 16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8" name="Straight Arrow Connector 157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>
            <a:xfrm>
              <a:off x="5080527" y="4683435"/>
              <a:ext cx="177273" cy="225334"/>
              <a:chOff x="2447520" y="2514600"/>
              <a:chExt cx="201169" cy="223166"/>
            </a:xfrm>
          </p:grpSpPr>
          <p:sp>
            <p:nvSpPr>
              <p:cNvPr id="181" name="Rectangle 18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83" name="Straight Connector 18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9" name="Group 188"/>
            <p:cNvGrpSpPr/>
            <p:nvPr/>
          </p:nvGrpSpPr>
          <p:grpSpPr>
            <a:xfrm>
              <a:off x="6113452" y="4682198"/>
              <a:ext cx="170548" cy="226571"/>
              <a:chOff x="2447520" y="2514600"/>
              <a:chExt cx="201169" cy="223166"/>
            </a:xfrm>
          </p:grpSpPr>
          <p:sp>
            <p:nvSpPr>
              <p:cNvPr id="191" name="Rectangle 19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" name="Group 19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1" name="Group 220"/>
            <p:cNvGrpSpPr/>
            <p:nvPr/>
          </p:nvGrpSpPr>
          <p:grpSpPr>
            <a:xfrm>
              <a:off x="7543800" y="3810000"/>
              <a:ext cx="170548" cy="226571"/>
              <a:chOff x="2447520" y="2514600"/>
              <a:chExt cx="201169" cy="223166"/>
            </a:xfrm>
          </p:grpSpPr>
          <p:sp>
            <p:nvSpPr>
              <p:cNvPr id="223" name="Rectangle 22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4" name="Group 22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5" name="Oval 234"/>
            <p:cNvSpPr/>
            <p:nvPr/>
          </p:nvSpPr>
          <p:spPr>
            <a:xfrm>
              <a:off x="4514094" y="22529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7" name="Oval 236"/>
            <p:cNvSpPr/>
            <p:nvPr/>
          </p:nvSpPr>
          <p:spPr>
            <a:xfrm>
              <a:off x="6419094" y="304642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9" name="Oval 238"/>
            <p:cNvSpPr/>
            <p:nvPr/>
          </p:nvSpPr>
          <p:spPr>
            <a:xfrm>
              <a:off x="1770894" y="384143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0" name="Oval 239"/>
            <p:cNvSpPr/>
            <p:nvPr/>
          </p:nvSpPr>
          <p:spPr>
            <a:xfrm>
              <a:off x="5504694" y="3816182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3" name="Oval 242"/>
            <p:cNvSpPr/>
            <p:nvPr/>
          </p:nvSpPr>
          <p:spPr>
            <a:xfrm>
              <a:off x="3752094" y="38531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5" name="Oval 244"/>
            <p:cNvSpPr/>
            <p:nvPr/>
          </p:nvSpPr>
          <p:spPr>
            <a:xfrm>
              <a:off x="2819400" y="3046421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6" name="Oval 245"/>
            <p:cNvSpPr/>
            <p:nvPr/>
          </p:nvSpPr>
          <p:spPr>
            <a:xfrm>
              <a:off x="1161294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7" name="Oval 246"/>
            <p:cNvSpPr/>
            <p:nvPr/>
          </p:nvSpPr>
          <p:spPr>
            <a:xfrm>
              <a:off x="22280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8" name="Oval 247"/>
            <p:cNvSpPr/>
            <p:nvPr/>
          </p:nvSpPr>
          <p:spPr>
            <a:xfrm>
              <a:off x="32948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9" name="Oval 248"/>
            <p:cNvSpPr/>
            <p:nvPr/>
          </p:nvSpPr>
          <p:spPr>
            <a:xfrm>
              <a:off x="42092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55" name="Straight Arrow Connector 254"/>
            <p:cNvCxnSpPr/>
            <p:nvPr/>
          </p:nvCxnSpPr>
          <p:spPr>
            <a:xfrm flipH="1">
              <a:off x="2962653" y="235157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/>
            <p:cNvCxnSpPr/>
            <p:nvPr/>
          </p:nvCxnSpPr>
          <p:spPr>
            <a:xfrm flipH="1">
              <a:off x="1953760" y="322120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/>
            <p:cNvCxnSpPr>
              <a:stCxn id="243" idx="3"/>
            </p:cNvCxnSpPr>
            <p:nvPr/>
          </p:nvCxnSpPr>
          <p:spPr>
            <a:xfrm flipH="1">
              <a:off x="3438147" y="402148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/>
            <p:cNvCxnSpPr>
              <a:endCxn id="246" idx="7"/>
            </p:cNvCxnSpPr>
            <p:nvPr/>
          </p:nvCxnSpPr>
          <p:spPr>
            <a:xfrm flipH="1">
              <a:off x="1405842" y="400559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/>
            <p:cNvCxnSpPr/>
            <p:nvPr/>
          </p:nvCxnSpPr>
          <p:spPr>
            <a:xfrm flipH="1">
              <a:off x="5181600" y="402148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/>
            <p:cNvCxnSpPr/>
            <p:nvPr/>
          </p:nvCxnSpPr>
          <p:spPr>
            <a:xfrm flipH="1">
              <a:off x="5647948" y="324359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/>
            <p:cNvCxnSpPr/>
            <p:nvPr/>
          </p:nvCxnSpPr>
          <p:spPr>
            <a:xfrm>
              <a:off x="30480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/>
            <p:nvPr/>
          </p:nvCxnSpPr>
          <p:spPr>
            <a:xfrm>
              <a:off x="67056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/>
            <p:cNvCxnSpPr/>
            <p:nvPr/>
          </p:nvCxnSpPr>
          <p:spPr>
            <a:xfrm>
              <a:off x="2029959" y="400559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/>
            <p:cNvCxnSpPr/>
            <p:nvPr/>
          </p:nvCxnSpPr>
          <p:spPr>
            <a:xfrm>
              <a:off x="3942770" y="4013351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/>
            <p:cNvCxnSpPr/>
            <p:nvPr/>
          </p:nvCxnSpPr>
          <p:spPr>
            <a:xfrm>
              <a:off x="5763759" y="400559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/>
            <p:cNvCxnSpPr/>
            <p:nvPr/>
          </p:nvCxnSpPr>
          <p:spPr>
            <a:xfrm>
              <a:off x="4800600" y="239634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6" name="Group 275"/>
            <p:cNvGrpSpPr/>
            <p:nvPr/>
          </p:nvGrpSpPr>
          <p:grpSpPr>
            <a:xfrm>
              <a:off x="4419600" y="1600200"/>
              <a:ext cx="502924" cy="621357"/>
              <a:chOff x="1203952" y="3870811"/>
              <a:chExt cx="502924" cy="621357"/>
            </a:xfrm>
          </p:grpSpPr>
          <p:cxnSp>
            <p:nvCxnSpPr>
              <p:cNvPr id="313" name="Elbow Connector 31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TextBox 313"/>
              <p:cNvSpPr txBox="1"/>
              <p:nvPr/>
            </p:nvSpPr>
            <p:spPr>
              <a:xfrm>
                <a:off x="1203952" y="3870811"/>
                <a:ext cx="5029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  T</a:t>
                </a:r>
              </a:p>
            </p:txBody>
          </p:sp>
        </p:grpSp>
        <p:sp>
          <p:nvSpPr>
            <p:cNvPr id="277" name="TextBox 276"/>
            <p:cNvSpPr txBox="1"/>
            <p:nvPr/>
          </p:nvSpPr>
          <p:spPr>
            <a:xfrm>
              <a:off x="1143000" y="464820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28194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28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4471664" y="2209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46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64008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67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22098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25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1770894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31</a:t>
              </a: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41</a:t>
              </a: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3733800" y="38100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35</a:t>
              </a: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54864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49</a:t>
              </a: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7239000" y="3810000"/>
            <a:ext cx="762000" cy="717234"/>
            <a:chOff x="5562600" y="5410200"/>
            <a:chExt cx="762000" cy="717234"/>
          </a:xfrm>
        </p:grpSpPr>
        <p:grpSp>
          <p:nvGrpSpPr>
            <p:cNvPr id="114" name="Group 113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154" name="Group 15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71" name="Group 17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72" name="Straight Connector 17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69" name="Straight Arrow Connector 168"/>
                <p:cNvCxnSpPr>
                  <a:stCxn id="116" idx="3"/>
                  <a:endCxn id="170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20" name="Group 119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2" name="Rectangle 121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7" name="Group 13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38" name="Straight Connector 13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Straight Connector 15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1" name="Straight Arrow Connector 120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83</a:t>
                </a:r>
              </a:p>
            </p:txBody>
          </p:sp>
        </p:grpSp>
      </p:grpSp>
      <p:sp>
        <p:nvSpPr>
          <p:cNvPr id="174" name="Up Ribbon 173"/>
          <p:cNvSpPr/>
          <p:nvPr/>
        </p:nvSpPr>
        <p:spPr>
          <a:xfrm>
            <a:off x="5629881" y="1371601"/>
            <a:ext cx="3133119" cy="838199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Let us insert </a:t>
            </a:r>
            <a:r>
              <a:rPr lang="en-US" sz="1400" b="1" dirty="0">
                <a:solidFill>
                  <a:srgbClr val="0070C0"/>
                </a:solidFill>
              </a:rPr>
              <a:t>54</a:t>
            </a:r>
            <a:r>
              <a:rPr lang="en-US" b="1" dirty="0">
                <a:solidFill>
                  <a:schemeClr val="tx1"/>
                </a:solidFill>
              </a:rPr>
              <a:t> into </a:t>
            </a:r>
            <a:r>
              <a:rPr lang="en-US" b="1" dirty="0">
                <a:solidFill>
                  <a:srgbClr val="00B050"/>
                </a:solidFill>
              </a:rPr>
              <a:t>T</a:t>
            </a:r>
            <a:r>
              <a:rPr lang="en-US" b="1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5" name="Straight Arrow Connector 174"/>
          <p:cNvCxnSpPr/>
          <p:nvPr/>
        </p:nvCxnSpPr>
        <p:spPr>
          <a:xfrm>
            <a:off x="4953000" y="2286000"/>
            <a:ext cx="1160452" cy="489198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/>
          <p:nvPr/>
        </p:nvCxnSpPr>
        <p:spPr>
          <a:xfrm>
            <a:off x="5934526" y="4006602"/>
            <a:ext cx="349474" cy="489198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/>
          <p:nvPr/>
        </p:nvCxnSpPr>
        <p:spPr>
          <a:xfrm flipH="1">
            <a:off x="5650868" y="3221205"/>
            <a:ext cx="610795" cy="436395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8" name="Group 177"/>
          <p:cNvGrpSpPr/>
          <p:nvPr/>
        </p:nvGrpSpPr>
        <p:grpSpPr>
          <a:xfrm>
            <a:off x="5791200" y="4692966"/>
            <a:ext cx="762000" cy="717234"/>
            <a:chOff x="5562600" y="5410200"/>
            <a:chExt cx="762000" cy="717234"/>
          </a:xfrm>
        </p:grpSpPr>
        <p:grpSp>
          <p:nvGrpSpPr>
            <p:cNvPr id="180" name="Group 179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88" name="Group 18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01" name="Group 200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03" name="Rectangle 202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04" name="Group 203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05" name="Straight Connector 204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6" name="Straight Connector 205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02" name="Straight Arrow Connector 201"/>
                <p:cNvCxnSpPr>
                  <a:stCxn id="186" idx="3"/>
                  <a:endCxn id="203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97" name="Rectangle 19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98" name="Group 19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99" name="Straight Connector 19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" name="Straight Connector 19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96" name="Straight Arrow Connector 19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5" name="Group 18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86" name="Oval 18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54</a:t>
                </a: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4876800" y="3524361"/>
            <a:ext cx="1899031" cy="2724039"/>
            <a:chOff x="4876800" y="3524361"/>
            <a:chExt cx="1899031" cy="2724039"/>
          </a:xfrm>
        </p:grpSpPr>
        <p:sp>
          <p:nvSpPr>
            <p:cNvPr id="3" name="Arc 2"/>
            <p:cNvSpPr/>
            <p:nvPr/>
          </p:nvSpPr>
          <p:spPr>
            <a:xfrm rot="11261533">
              <a:off x="5608326" y="3524361"/>
              <a:ext cx="1167505" cy="1282495"/>
            </a:xfrm>
            <a:prstGeom prst="arc">
              <a:avLst>
                <a:gd name="adj1" fmla="val 17188773"/>
                <a:gd name="adj2" fmla="val 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ine Callout 1 6"/>
            <p:cNvSpPr/>
            <p:nvPr/>
          </p:nvSpPr>
          <p:spPr>
            <a:xfrm>
              <a:off x="4876800" y="5942076"/>
              <a:ext cx="1345568" cy="306324"/>
            </a:xfrm>
            <a:prstGeom prst="borderCallout1">
              <a:avLst>
                <a:gd name="adj1" fmla="val 549"/>
                <a:gd name="adj2" fmla="val 18420"/>
                <a:gd name="adj3" fmla="val -433551"/>
                <a:gd name="adj4" fmla="val 652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Color imbalance</a:t>
              </a:r>
            </a:p>
          </p:txBody>
        </p:sp>
      </p:grpSp>
      <p:sp>
        <p:nvSpPr>
          <p:cNvPr id="207" name="Down Ribbon 206"/>
          <p:cNvSpPr/>
          <p:nvPr/>
        </p:nvSpPr>
        <p:spPr>
          <a:xfrm>
            <a:off x="6739618" y="5302724"/>
            <a:ext cx="2251981" cy="709038"/>
          </a:xfrm>
          <a:prstGeom prst="ribbon">
            <a:avLst>
              <a:gd name="adj1" fmla="val 16667"/>
              <a:gd name="adj2" fmla="val 74932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We </a:t>
            </a:r>
            <a:r>
              <a:rPr lang="en-US" sz="1200">
                <a:solidFill>
                  <a:schemeClr val="tx1"/>
                </a:solidFill>
              </a:rPr>
              <a:t>again have </a:t>
            </a:r>
            <a:r>
              <a:rPr lang="en-US" sz="1200" dirty="0">
                <a:solidFill>
                  <a:schemeClr val="tx1"/>
                </a:solidFill>
              </a:rPr>
              <a:t>a red black tree.</a:t>
            </a:r>
          </a:p>
        </p:txBody>
      </p:sp>
      <p:sp>
        <p:nvSpPr>
          <p:cNvPr id="208" name="Cloud Callout 207"/>
          <p:cNvSpPr/>
          <p:nvPr/>
        </p:nvSpPr>
        <p:spPr>
          <a:xfrm>
            <a:off x="1167875" y="5562600"/>
            <a:ext cx="3404126" cy="914400"/>
          </a:xfrm>
          <a:prstGeom prst="cloudCallout">
            <a:avLst>
              <a:gd name="adj1" fmla="val 70630"/>
              <a:gd name="adj2" fmla="val 10982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 order to remove the color  imbalance try flipping the colors of parent (and uncle) of the new node with the grandparent</a:t>
            </a:r>
          </a:p>
        </p:txBody>
      </p:sp>
    </p:spTree>
    <p:extLst>
      <p:ext uri="{BB962C8B-B14F-4D97-AF65-F5344CB8AC3E}">
        <p14:creationId xmlns:p14="http://schemas.microsoft.com/office/powerpoint/2010/main" val="338203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 animBg="1"/>
      <p:bldP spid="174" grpId="1" animBg="1"/>
      <p:bldP spid="207" grpId="0" animBg="1"/>
      <p:bldP spid="207" grpId="1" animBg="1"/>
      <p:bldP spid="208" grpId="0" animBg="1"/>
      <p:bldP spid="208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Insertion in a red-black tree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90601" y="1600200"/>
            <a:ext cx="6723747" cy="3810000"/>
            <a:chOff x="990601" y="1600200"/>
            <a:chExt cx="6723747" cy="3810000"/>
          </a:xfrm>
        </p:grpSpPr>
        <p:grpSp>
          <p:nvGrpSpPr>
            <p:cNvPr id="21" name="Group 20"/>
            <p:cNvGrpSpPr/>
            <p:nvPr/>
          </p:nvGrpSpPr>
          <p:grpSpPr>
            <a:xfrm>
              <a:off x="990601" y="4845369"/>
              <a:ext cx="225309" cy="564831"/>
              <a:chOff x="853448" y="1644969"/>
              <a:chExt cx="255680" cy="559397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3" name="Straight Arrow Connector 22"/>
              <p:cNvCxnSpPr>
                <a:endCxn id="24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/>
            <p:cNvGrpSpPr/>
            <p:nvPr/>
          </p:nvGrpSpPr>
          <p:grpSpPr>
            <a:xfrm>
              <a:off x="1349682" y="4845369"/>
              <a:ext cx="232681" cy="564831"/>
              <a:chOff x="780160" y="1648024"/>
              <a:chExt cx="274457" cy="556342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82" name="Rectangle 8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3" name="Group 8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84" name="Straight Connector 83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1" name="Straight Arrow Connector 80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Group 122"/>
            <p:cNvGrpSpPr/>
            <p:nvPr/>
          </p:nvGrpSpPr>
          <p:grpSpPr>
            <a:xfrm>
              <a:off x="20574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31" name="Group 13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33" name="Rectangle 13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4" name="Group 13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35" name="Straight Connector 13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2" name="Straight Arrow Connector 131"/>
              <p:cNvCxnSpPr>
                <a:endCxn id="133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/>
            <p:cNvGrpSpPr/>
            <p:nvPr/>
          </p:nvGrpSpPr>
          <p:grpSpPr>
            <a:xfrm>
              <a:off x="24164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27" name="Rectangle 126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8" name="Group 127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29" name="Straight Connector 128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6" name="Straight Arrow Connector 125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/>
            <p:cNvGrpSpPr/>
            <p:nvPr/>
          </p:nvGrpSpPr>
          <p:grpSpPr>
            <a:xfrm>
              <a:off x="31242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47" name="Group 14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0" name="Group 14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1" name="Straight Connector 15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8" name="Straight Arrow Connector 147"/>
              <p:cNvCxnSpPr>
                <a:endCxn id="149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/>
            <p:cNvGrpSpPr/>
            <p:nvPr/>
          </p:nvGrpSpPr>
          <p:grpSpPr>
            <a:xfrm>
              <a:off x="34832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3" name="Rectangle 14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4" name="Group 14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45" name="Straight Connector 14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2" name="Straight Arrow Connector 141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/>
            <p:cNvGrpSpPr/>
            <p:nvPr/>
          </p:nvGrpSpPr>
          <p:grpSpPr>
            <a:xfrm>
              <a:off x="40386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63" name="Group 162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65" name="Rectangle 164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6" name="Group 165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7" name="Straight Connector 166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4" name="Straight Arrow Connector 163"/>
              <p:cNvCxnSpPr>
                <a:endCxn id="165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>
              <a:off x="43976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57" name="Group 15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9" name="Rectangle 15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0" name="Group 15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1" name="Straight Connector 16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8" name="Straight Arrow Connector 157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>
            <a:xfrm>
              <a:off x="5080527" y="4683435"/>
              <a:ext cx="177273" cy="225334"/>
              <a:chOff x="2447520" y="2514600"/>
              <a:chExt cx="201169" cy="223166"/>
            </a:xfrm>
          </p:grpSpPr>
          <p:sp>
            <p:nvSpPr>
              <p:cNvPr id="181" name="Rectangle 18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83" name="Straight Connector 18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9" name="Group 188"/>
            <p:cNvGrpSpPr/>
            <p:nvPr/>
          </p:nvGrpSpPr>
          <p:grpSpPr>
            <a:xfrm>
              <a:off x="6113452" y="4682198"/>
              <a:ext cx="170548" cy="226571"/>
              <a:chOff x="2447520" y="2514600"/>
              <a:chExt cx="201169" cy="223166"/>
            </a:xfrm>
          </p:grpSpPr>
          <p:sp>
            <p:nvSpPr>
              <p:cNvPr id="191" name="Rectangle 19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" name="Group 19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1" name="Group 220"/>
            <p:cNvGrpSpPr/>
            <p:nvPr/>
          </p:nvGrpSpPr>
          <p:grpSpPr>
            <a:xfrm>
              <a:off x="7543800" y="3810000"/>
              <a:ext cx="170548" cy="226571"/>
              <a:chOff x="2447520" y="2514600"/>
              <a:chExt cx="201169" cy="223166"/>
            </a:xfrm>
          </p:grpSpPr>
          <p:sp>
            <p:nvSpPr>
              <p:cNvPr id="223" name="Rectangle 22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4" name="Group 22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5" name="Oval 234"/>
            <p:cNvSpPr/>
            <p:nvPr/>
          </p:nvSpPr>
          <p:spPr>
            <a:xfrm>
              <a:off x="4514094" y="22529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7" name="Oval 236"/>
            <p:cNvSpPr/>
            <p:nvPr/>
          </p:nvSpPr>
          <p:spPr>
            <a:xfrm>
              <a:off x="6419094" y="3046421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9" name="Oval 238"/>
            <p:cNvSpPr/>
            <p:nvPr/>
          </p:nvSpPr>
          <p:spPr>
            <a:xfrm>
              <a:off x="1770894" y="384143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0" name="Oval 239"/>
            <p:cNvSpPr/>
            <p:nvPr/>
          </p:nvSpPr>
          <p:spPr>
            <a:xfrm>
              <a:off x="5504694" y="3816182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3" name="Oval 242"/>
            <p:cNvSpPr/>
            <p:nvPr/>
          </p:nvSpPr>
          <p:spPr>
            <a:xfrm>
              <a:off x="3752094" y="38531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5" name="Oval 244"/>
            <p:cNvSpPr/>
            <p:nvPr/>
          </p:nvSpPr>
          <p:spPr>
            <a:xfrm>
              <a:off x="2819400" y="3046421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6" name="Oval 245"/>
            <p:cNvSpPr/>
            <p:nvPr/>
          </p:nvSpPr>
          <p:spPr>
            <a:xfrm>
              <a:off x="1161294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7" name="Oval 246"/>
            <p:cNvSpPr/>
            <p:nvPr/>
          </p:nvSpPr>
          <p:spPr>
            <a:xfrm>
              <a:off x="22280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8" name="Oval 247"/>
            <p:cNvSpPr/>
            <p:nvPr/>
          </p:nvSpPr>
          <p:spPr>
            <a:xfrm>
              <a:off x="32948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9" name="Oval 248"/>
            <p:cNvSpPr/>
            <p:nvPr/>
          </p:nvSpPr>
          <p:spPr>
            <a:xfrm>
              <a:off x="42092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55" name="Straight Arrow Connector 254"/>
            <p:cNvCxnSpPr/>
            <p:nvPr/>
          </p:nvCxnSpPr>
          <p:spPr>
            <a:xfrm flipH="1">
              <a:off x="2962653" y="235157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/>
            <p:cNvCxnSpPr/>
            <p:nvPr/>
          </p:nvCxnSpPr>
          <p:spPr>
            <a:xfrm flipH="1">
              <a:off x="1953760" y="322120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/>
            <p:cNvCxnSpPr>
              <a:stCxn id="243" idx="3"/>
            </p:cNvCxnSpPr>
            <p:nvPr/>
          </p:nvCxnSpPr>
          <p:spPr>
            <a:xfrm flipH="1">
              <a:off x="3438147" y="402148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/>
            <p:cNvCxnSpPr>
              <a:endCxn id="246" idx="7"/>
            </p:cNvCxnSpPr>
            <p:nvPr/>
          </p:nvCxnSpPr>
          <p:spPr>
            <a:xfrm flipH="1">
              <a:off x="1405842" y="400559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/>
            <p:cNvCxnSpPr/>
            <p:nvPr/>
          </p:nvCxnSpPr>
          <p:spPr>
            <a:xfrm flipH="1">
              <a:off x="5181600" y="402148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/>
            <p:cNvCxnSpPr/>
            <p:nvPr/>
          </p:nvCxnSpPr>
          <p:spPr>
            <a:xfrm flipH="1">
              <a:off x="5647948" y="324359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/>
            <p:cNvCxnSpPr/>
            <p:nvPr/>
          </p:nvCxnSpPr>
          <p:spPr>
            <a:xfrm>
              <a:off x="30480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/>
            <p:nvPr/>
          </p:nvCxnSpPr>
          <p:spPr>
            <a:xfrm>
              <a:off x="67056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/>
            <p:cNvCxnSpPr/>
            <p:nvPr/>
          </p:nvCxnSpPr>
          <p:spPr>
            <a:xfrm>
              <a:off x="2029959" y="400559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/>
            <p:cNvCxnSpPr/>
            <p:nvPr/>
          </p:nvCxnSpPr>
          <p:spPr>
            <a:xfrm>
              <a:off x="3942770" y="4013351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/>
            <p:cNvCxnSpPr/>
            <p:nvPr/>
          </p:nvCxnSpPr>
          <p:spPr>
            <a:xfrm>
              <a:off x="5763759" y="400559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/>
            <p:cNvCxnSpPr/>
            <p:nvPr/>
          </p:nvCxnSpPr>
          <p:spPr>
            <a:xfrm>
              <a:off x="4800600" y="239634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6" name="Group 275"/>
            <p:cNvGrpSpPr/>
            <p:nvPr/>
          </p:nvGrpSpPr>
          <p:grpSpPr>
            <a:xfrm>
              <a:off x="4419600" y="1600200"/>
              <a:ext cx="502924" cy="621357"/>
              <a:chOff x="1203952" y="3870811"/>
              <a:chExt cx="502924" cy="621357"/>
            </a:xfrm>
          </p:grpSpPr>
          <p:cxnSp>
            <p:nvCxnSpPr>
              <p:cNvPr id="313" name="Elbow Connector 31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TextBox 313"/>
              <p:cNvSpPr txBox="1"/>
              <p:nvPr/>
            </p:nvSpPr>
            <p:spPr>
              <a:xfrm>
                <a:off x="1203952" y="3870811"/>
                <a:ext cx="5029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  T</a:t>
                </a:r>
              </a:p>
            </p:txBody>
          </p:sp>
        </p:grpSp>
        <p:sp>
          <p:nvSpPr>
            <p:cNvPr id="277" name="TextBox 276"/>
            <p:cNvSpPr txBox="1"/>
            <p:nvPr/>
          </p:nvSpPr>
          <p:spPr>
            <a:xfrm>
              <a:off x="1143000" y="464820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28194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28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4471664" y="2209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46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64008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67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22098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25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1770894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31</a:t>
              </a: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41</a:t>
              </a: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3733800" y="38100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35</a:t>
              </a: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54864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49</a:t>
              </a: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7239000" y="3810000"/>
            <a:ext cx="762000" cy="717234"/>
            <a:chOff x="5562600" y="5410200"/>
            <a:chExt cx="762000" cy="717234"/>
          </a:xfrm>
        </p:grpSpPr>
        <p:grpSp>
          <p:nvGrpSpPr>
            <p:cNvPr id="114" name="Group 113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154" name="Group 15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71" name="Group 17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72" name="Straight Connector 17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69" name="Straight Arrow Connector 168"/>
                <p:cNvCxnSpPr>
                  <a:stCxn id="116" idx="3"/>
                  <a:endCxn id="170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20" name="Group 119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2" name="Rectangle 121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7" name="Group 13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38" name="Straight Connector 13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Straight Connector 15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1" name="Straight Arrow Connector 120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83</a:t>
                </a:r>
              </a:p>
            </p:txBody>
          </p:sp>
        </p:grpSp>
      </p:grpSp>
      <p:grpSp>
        <p:nvGrpSpPr>
          <p:cNvPr id="178" name="Group 177"/>
          <p:cNvGrpSpPr/>
          <p:nvPr/>
        </p:nvGrpSpPr>
        <p:grpSpPr>
          <a:xfrm>
            <a:off x="5791200" y="4692966"/>
            <a:ext cx="762000" cy="717234"/>
            <a:chOff x="5562600" y="5410200"/>
            <a:chExt cx="762000" cy="717234"/>
          </a:xfrm>
        </p:grpSpPr>
        <p:grpSp>
          <p:nvGrpSpPr>
            <p:cNvPr id="180" name="Group 179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88" name="Group 18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01" name="Group 200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03" name="Rectangle 202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04" name="Group 203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05" name="Straight Connector 204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6" name="Straight Connector 205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02" name="Straight Arrow Connector 201"/>
                <p:cNvCxnSpPr>
                  <a:stCxn id="186" idx="3"/>
                  <a:endCxn id="203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97" name="Rectangle 19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98" name="Group 19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99" name="Straight Connector 19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" name="Straight Connector 19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96" name="Straight Arrow Connector 19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5" name="Group 18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86" name="Oval 18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54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728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Insertion in a red-black tree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90601" y="1600200"/>
            <a:ext cx="6723747" cy="3810000"/>
            <a:chOff x="990601" y="1600200"/>
            <a:chExt cx="6723747" cy="3810000"/>
          </a:xfrm>
        </p:grpSpPr>
        <p:grpSp>
          <p:nvGrpSpPr>
            <p:cNvPr id="21" name="Group 20"/>
            <p:cNvGrpSpPr/>
            <p:nvPr/>
          </p:nvGrpSpPr>
          <p:grpSpPr>
            <a:xfrm>
              <a:off x="990601" y="4845369"/>
              <a:ext cx="225309" cy="564831"/>
              <a:chOff x="853448" y="1644969"/>
              <a:chExt cx="255680" cy="559397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3" name="Straight Arrow Connector 22"/>
              <p:cNvCxnSpPr>
                <a:endCxn id="24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/>
            <p:cNvGrpSpPr/>
            <p:nvPr/>
          </p:nvGrpSpPr>
          <p:grpSpPr>
            <a:xfrm>
              <a:off x="1349682" y="4845369"/>
              <a:ext cx="232681" cy="564831"/>
              <a:chOff x="780160" y="1648024"/>
              <a:chExt cx="274457" cy="556342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82" name="Rectangle 8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3" name="Group 8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84" name="Straight Connector 83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1" name="Straight Arrow Connector 80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Group 122"/>
            <p:cNvGrpSpPr/>
            <p:nvPr/>
          </p:nvGrpSpPr>
          <p:grpSpPr>
            <a:xfrm>
              <a:off x="20574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31" name="Group 13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33" name="Rectangle 13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4" name="Group 13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35" name="Straight Connector 13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2" name="Straight Arrow Connector 131"/>
              <p:cNvCxnSpPr>
                <a:endCxn id="133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/>
            <p:cNvGrpSpPr/>
            <p:nvPr/>
          </p:nvGrpSpPr>
          <p:grpSpPr>
            <a:xfrm>
              <a:off x="24164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27" name="Rectangle 126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8" name="Group 127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29" name="Straight Connector 128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6" name="Straight Arrow Connector 125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/>
            <p:cNvGrpSpPr/>
            <p:nvPr/>
          </p:nvGrpSpPr>
          <p:grpSpPr>
            <a:xfrm>
              <a:off x="31242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47" name="Group 14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0" name="Group 14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1" name="Straight Connector 15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8" name="Straight Arrow Connector 147"/>
              <p:cNvCxnSpPr>
                <a:endCxn id="149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/>
            <p:cNvGrpSpPr/>
            <p:nvPr/>
          </p:nvGrpSpPr>
          <p:grpSpPr>
            <a:xfrm>
              <a:off x="34832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3" name="Rectangle 14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4" name="Group 14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45" name="Straight Connector 14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2" name="Straight Arrow Connector 141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/>
            <p:cNvGrpSpPr/>
            <p:nvPr/>
          </p:nvGrpSpPr>
          <p:grpSpPr>
            <a:xfrm>
              <a:off x="40386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63" name="Group 162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65" name="Rectangle 164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6" name="Group 165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7" name="Straight Connector 166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4" name="Straight Arrow Connector 163"/>
              <p:cNvCxnSpPr>
                <a:endCxn id="165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>
              <a:off x="43976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57" name="Group 15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9" name="Rectangle 15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0" name="Group 15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1" name="Straight Connector 16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8" name="Straight Arrow Connector 157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>
            <a:xfrm>
              <a:off x="5080527" y="4683435"/>
              <a:ext cx="177273" cy="225334"/>
              <a:chOff x="2447520" y="2514600"/>
              <a:chExt cx="201169" cy="223166"/>
            </a:xfrm>
          </p:grpSpPr>
          <p:sp>
            <p:nvSpPr>
              <p:cNvPr id="181" name="Rectangle 18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83" name="Straight Connector 18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9" name="Group 188"/>
            <p:cNvGrpSpPr/>
            <p:nvPr/>
          </p:nvGrpSpPr>
          <p:grpSpPr>
            <a:xfrm>
              <a:off x="6113452" y="4682198"/>
              <a:ext cx="170548" cy="226571"/>
              <a:chOff x="2447520" y="2514600"/>
              <a:chExt cx="201169" cy="223166"/>
            </a:xfrm>
          </p:grpSpPr>
          <p:sp>
            <p:nvSpPr>
              <p:cNvPr id="191" name="Rectangle 19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" name="Group 19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1" name="Group 220"/>
            <p:cNvGrpSpPr/>
            <p:nvPr/>
          </p:nvGrpSpPr>
          <p:grpSpPr>
            <a:xfrm>
              <a:off x="7543800" y="3810000"/>
              <a:ext cx="170548" cy="226571"/>
              <a:chOff x="2447520" y="2514600"/>
              <a:chExt cx="201169" cy="223166"/>
            </a:xfrm>
          </p:grpSpPr>
          <p:sp>
            <p:nvSpPr>
              <p:cNvPr id="223" name="Rectangle 22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4" name="Group 22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5" name="Oval 234"/>
            <p:cNvSpPr/>
            <p:nvPr/>
          </p:nvSpPr>
          <p:spPr>
            <a:xfrm>
              <a:off x="4514094" y="22529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7" name="Oval 236"/>
            <p:cNvSpPr/>
            <p:nvPr/>
          </p:nvSpPr>
          <p:spPr>
            <a:xfrm>
              <a:off x="6419094" y="3046421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9" name="Oval 238"/>
            <p:cNvSpPr/>
            <p:nvPr/>
          </p:nvSpPr>
          <p:spPr>
            <a:xfrm>
              <a:off x="1770894" y="384143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0" name="Oval 239"/>
            <p:cNvSpPr/>
            <p:nvPr/>
          </p:nvSpPr>
          <p:spPr>
            <a:xfrm>
              <a:off x="5504694" y="3816182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3" name="Oval 242"/>
            <p:cNvSpPr/>
            <p:nvPr/>
          </p:nvSpPr>
          <p:spPr>
            <a:xfrm>
              <a:off x="3752094" y="38531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5" name="Oval 244"/>
            <p:cNvSpPr/>
            <p:nvPr/>
          </p:nvSpPr>
          <p:spPr>
            <a:xfrm>
              <a:off x="2819400" y="3046421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6" name="Oval 245"/>
            <p:cNvSpPr/>
            <p:nvPr/>
          </p:nvSpPr>
          <p:spPr>
            <a:xfrm>
              <a:off x="1161294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7" name="Oval 246"/>
            <p:cNvSpPr/>
            <p:nvPr/>
          </p:nvSpPr>
          <p:spPr>
            <a:xfrm>
              <a:off x="22280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8" name="Oval 247"/>
            <p:cNvSpPr/>
            <p:nvPr/>
          </p:nvSpPr>
          <p:spPr>
            <a:xfrm>
              <a:off x="32948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9" name="Oval 248"/>
            <p:cNvSpPr/>
            <p:nvPr/>
          </p:nvSpPr>
          <p:spPr>
            <a:xfrm>
              <a:off x="42092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55" name="Straight Arrow Connector 254"/>
            <p:cNvCxnSpPr/>
            <p:nvPr/>
          </p:nvCxnSpPr>
          <p:spPr>
            <a:xfrm flipH="1">
              <a:off x="2962653" y="235157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/>
            <p:cNvCxnSpPr/>
            <p:nvPr/>
          </p:nvCxnSpPr>
          <p:spPr>
            <a:xfrm flipH="1">
              <a:off x="1953760" y="322120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/>
            <p:cNvCxnSpPr>
              <a:stCxn id="243" idx="3"/>
            </p:cNvCxnSpPr>
            <p:nvPr/>
          </p:nvCxnSpPr>
          <p:spPr>
            <a:xfrm flipH="1">
              <a:off x="3438147" y="402148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/>
            <p:cNvCxnSpPr>
              <a:endCxn id="246" idx="7"/>
            </p:cNvCxnSpPr>
            <p:nvPr/>
          </p:nvCxnSpPr>
          <p:spPr>
            <a:xfrm flipH="1">
              <a:off x="1405842" y="400559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/>
            <p:cNvCxnSpPr/>
            <p:nvPr/>
          </p:nvCxnSpPr>
          <p:spPr>
            <a:xfrm flipH="1">
              <a:off x="5181600" y="402148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/>
            <p:cNvCxnSpPr/>
            <p:nvPr/>
          </p:nvCxnSpPr>
          <p:spPr>
            <a:xfrm flipH="1">
              <a:off x="5647948" y="324359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/>
            <p:cNvCxnSpPr/>
            <p:nvPr/>
          </p:nvCxnSpPr>
          <p:spPr>
            <a:xfrm>
              <a:off x="30480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/>
            <p:nvPr/>
          </p:nvCxnSpPr>
          <p:spPr>
            <a:xfrm>
              <a:off x="67056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/>
            <p:cNvCxnSpPr/>
            <p:nvPr/>
          </p:nvCxnSpPr>
          <p:spPr>
            <a:xfrm>
              <a:off x="2029959" y="400559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/>
            <p:cNvCxnSpPr/>
            <p:nvPr/>
          </p:nvCxnSpPr>
          <p:spPr>
            <a:xfrm>
              <a:off x="3942770" y="4013351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/>
            <p:cNvCxnSpPr/>
            <p:nvPr/>
          </p:nvCxnSpPr>
          <p:spPr>
            <a:xfrm>
              <a:off x="5763759" y="400559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/>
            <p:cNvCxnSpPr/>
            <p:nvPr/>
          </p:nvCxnSpPr>
          <p:spPr>
            <a:xfrm>
              <a:off x="4800600" y="239634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6" name="Group 275"/>
            <p:cNvGrpSpPr/>
            <p:nvPr/>
          </p:nvGrpSpPr>
          <p:grpSpPr>
            <a:xfrm>
              <a:off x="4419600" y="1600200"/>
              <a:ext cx="502924" cy="621357"/>
              <a:chOff x="1203952" y="3870811"/>
              <a:chExt cx="502924" cy="621357"/>
            </a:xfrm>
          </p:grpSpPr>
          <p:cxnSp>
            <p:nvCxnSpPr>
              <p:cNvPr id="313" name="Elbow Connector 31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TextBox 313"/>
              <p:cNvSpPr txBox="1"/>
              <p:nvPr/>
            </p:nvSpPr>
            <p:spPr>
              <a:xfrm>
                <a:off x="1203952" y="3870811"/>
                <a:ext cx="5029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  T</a:t>
                </a:r>
              </a:p>
            </p:txBody>
          </p:sp>
        </p:grpSp>
        <p:sp>
          <p:nvSpPr>
            <p:cNvPr id="277" name="TextBox 276"/>
            <p:cNvSpPr txBox="1"/>
            <p:nvPr/>
          </p:nvSpPr>
          <p:spPr>
            <a:xfrm>
              <a:off x="1143000" y="464820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28194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28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4471664" y="2209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46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64008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67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22098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25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1770894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31</a:t>
              </a: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41</a:t>
              </a: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3733800" y="38100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35</a:t>
              </a: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54864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49</a:t>
              </a: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7239000" y="3810000"/>
            <a:ext cx="762000" cy="717234"/>
            <a:chOff x="5562600" y="5410200"/>
            <a:chExt cx="762000" cy="717234"/>
          </a:xfrm>
        </p:grpSpPr>
        <p:grpSp>
          <p:nvGrpSpPr>
            <p:cNvPr id="114" name="Group 113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154" name="Group 15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71" name="Group 17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72" name="Straight Connector 17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69" name="Straight Arrow Connector 168"/>
                <p:cNvCxnSpPr>
                  <a:stCxn id="116" idx="3"/>
                  <a:endCxn id="170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20" name="Group 119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2" name="Rectangle 121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7" name="Group 13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38" name="Straight Connector 13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Straight Connector 15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1" name="Straight Arrow Connector 120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83</a:t>
                </a:r>
              </a:p>
            </p:txBody>
          </p:sp>
        </p:grpSp>
      </p:grpSp>
      <p:grpSp>
        <p:nvGrpSpPr>
          <p:cNvPr id="178" name="Group 177"/>
          <p:cNvGrpSpPr/>
          <p:nvPr/>
        </p:nvGrpSpPr>
        <p:grpSpPr>
          <a:xfrm>
            <a:off x="5791200" y="4692966"/>
            <a:ext cx="762000" cy="717234"/>
            <a:chOff x="5562600" y="5410200"/>
            <a:chExt cx="762000" cy="717234"/>
          </a:xfrm>
        </p:grpSpPr>
        <p:grpSp>
          <p:nvGrpSpPr>
            <p:cNvPr id="180" name="Group 179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88" name="Group 18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01" name="Group 200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03" name="Rectangle 202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04" name="Group 203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05" name="Straight Connector 204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6" name="Straight Connector 205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02" name="Straight Arrow Connector 201"/>
                <p:cNvCxnSpPr>
                  <a:stCxn id="186" idx="3"/>
                  <a:endCxn id="203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97" name="Rectangle 19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98" name="Group 19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99" name="Straight Connector 19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" name="Straight Connector 19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96" name="Straight Arrow Connector 19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5" name="Group 18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86" name="Oval 18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54</a:t>
                </a:r>
              </a:p>
            </p:txBody>
          </p:sp>
        </p:grpSp>
      </p:grpSp>
      <p:sp>
        <p:nvSpPr>
          <p:cNvPr id="174" name="Up Ribbon 173"/>
          <p:cNvSpPr/>
          <p:nvPr/>
        </p:nvSpPr>
        <p:spPr>
          <a:xfrm>
            <a:off x="5629881" y="1371601"/>
            <a:ext cx="3133119" cy="838199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Let us insert </a:t>
            </a:r>
            <a:r>
              <a:rPr lang="en-US" sz="1400" b="1" dirty="0">
                <a:solidFill>
                  <a:srgbClr val="0070C0"/>
                </a:solidFill>
              </a:rPr>
              <a:t>44</a:t>
            </a:r>
            <a:r>
              <a:rPr lang="en-US" b="1" dirty="0">
                <a:solidFill>
                  <a:schemeClr val="tx1"/>
                </a:solidFill>
              </a:rPr>
              <a:t> into </a:t>
            </a:r>
            <a:r>
              <a:rPr lang="en-US" b="1" dirty="0">
                <a:solidFill>
                  <a:srgbClr val="00B050"/>
                </a:solidFill>
              </a:rPr>
              <a:t>T</a:t>
            </a:r>
            <a:r>
              <a:rPr lang="en-US" b="1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5" name="Straight Arrow Connector 174"/>
          <p:cNvCxnSpPr/>
          <p:nvPr/>
        </p:nvCxnSpPr>
        <p:spPr>
          <a:xfrm flipH="1">
            <a:off x="3048000" y="2252990"/>
            <a:ext cx="1349681" cy="56641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/>
          <p:nvPr/>
        </p:nvCxnSpPr>
        <p:spPr>
          <a:xfrm>
            <a:off x="3212837" y="3221205"/>
            <a:ext cx="581215" cy="436395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/>
          <p:nvPr/>
        </p:nvCxnSpPr>
        <p:spPr>
          <a:xfrm>
            <a:off x="4114800" y="4114800"/>
            <a:ext cx="237746" cy="412434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/>
          <p:nvPr/>
        </p:nvCxnSpPr>
        <p:spPr>
          <a:xfrm>
            <a:off x="4529327" y="4876800"/>
            <a:ext cx="118873" cy="262060"/>
          </a:xfrm>
          <a:prstGeom prst="straightConnector1">
            <a:avLst/>
          </a:prstGeom>
          <a:ln w="2857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8" name="Group 207"/>
          <p:cNvGrpSpPr/>
          <p:nvPr/>
        </p:nvGrpSpPr>
        <p:grpSpPr>
          <a:xfrm>
            <a:off x="4191000" y="5181600"/>
            <a:ext cx="762000" cy="717234"/>
            <a:chOff x="5562600" y="5410200"/>
            <a:chExt cx="762000" cy="717234"/>
          </a:xfrm>
        </p:grpSpPr>
        <p:grpSp>
          <p:nvGrpSpPr>
            <p:cNvPr id="209" name="Group 208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213" name="Group 212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22" name="Group 221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28" name="Rectangle 227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29" name="Group 228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30" name="Straight Connector 229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1" name="Straight Connector 230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27" name="Straight Arrow Connector 226"/>
                <p:cNvCxnSpPr>
                  <a:stCxn id="211" idx="3"/>
                  <a:endCxn id="228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215" name="Group 21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17" name="Rectangle 21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18" name="Group 21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19" name="Straight Connector 21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0" name="Straight Connector 21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16" name="Straight Arrow Connector 21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0" name="Group 209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211" name="Oval 210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12" name="TextBox 211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44</a:t>
                </a:r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3987073" y="4664451"/>
            <a:ext cx="2642327" cy="1583949"/>
            <a:chOff x="3987073" y="4664451"/>
            <a:chExt cx="2642327" cy="1583949"/>
          </a:xfrm>
        </p:grpSpPr>
        <p:sp>
          <p:nvSpPr>
            <p:cNvPr id="232" name="Line Callout 1 231"/>
            <p:cNvSpPr/>
            <p:nvPr/>
          </p:nvSpPr>
          <p:spPr>
            <a:xfrm>
              <a:off x="5283832" y="5942076"/>
              <a:ext cx="1345568" cy="306324"/>
            </a:xfrm>
            <a:prstGeom prst="borderCallout1">
              <a:avLst>
                <a:gd name="adj1" fmla="val -3091"/>
                <a:gd name="adj2" fmla="val 18420"/>
                <a:gd name="adj3" fmla="val -335262"/>
                <a:gd name="adj4" fmla="val -3835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Color imbalance</a:t>
              </a:r>
            </a:p>
          </p:txBody>
        </p:sp>
        <p:sp>
          <p:nvSpPr>
            <p:cNvPr id="233" name="Arc 232"/>
            <p:cNvSpPr/>
            <p:nvPr/>
          </p:nvSpPr>
          <p:spPr>
            <a:xfrm rot="925003">
              <a:off x="3987073" y="4664451"/>
              <a:ext cx="800784" cy="777539"/>
            </a:xfrm>
            <a:prstGeom prst="arc">
              <a:avLst>
                <a:gd name="adj1" fmla="val 17188773"/>
                <a:gd name="adj2" fmla="val 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4" name="Cloud Callout 233"/>
          <p:cNvSpPr/>
          <p:nvPr/>
        </p:nvSpPr>
        <p:spPr>
          <a:xfrm>
            <a:off x="762000" y="5503130"/>
            <a:ext cx="3335679" cy="973870"/>
          </a:xfrm>
          <a:prstGeom prst="cloudCallout">
            <a:avLst>
              <a:gd name="adj1" fmla="val 70630"/>
              <a:gd name="adj2" fmla="val 10982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 order to remove the color  imbalance try flipping the colors of parent (and uncle) of the new node with the grandparent</a:t>
            </a:r>
          </a:p>
        </p:txBody>
      </p:sp>
    </p:spTree>
    <p:extLst>
      <p:ext uri="{BB962C8B-B14F-4D97-AF65-F5344CB8AC3E}">
        <p14:creationId xmlns:p14="http://schemas.microsoft.com/office/powerpoint/2010/main" val="372958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 animBg="1"/>
      <p:bldP spid="174" grpId="1" animBg="1"/>
      <p:bldP spid="234" grpId="0" animBg="1"/>
      <p:bldP spid="234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Insertion in a red-black tree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90601" y="1600200"/>
            <a:ext cx="6723747" cy="3810000"/>
            <a:chOff x="990601" y="1600200"/>
            <a:chExt cx="6723747" cy="3810000"/>
          </a:xfrm>
        </p:grpSpPr>
        <p:grpSp>
          <p:nvGrpSpPr>
            <p:cNvPr id="21" name="Group 20"/>
            <p:cNvGrpSpPr/>
            <p:nvPr/>
          </p:nvGrpSpPr>
          <p:grpSpPr>
            <a:xfrm>
              <a:off x="990601" y="4845369"/>
              <a:ext cx="225309" cy="564831"/>
              <a:chOff x="853448" y="1644969"/>
              <a:chExt cx="255680" cy="559397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3" name="Straight Arrow Connector 22"/>
              <p:cNvCxnSpPr>
                <a:endCxn id="24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/>
            <p:cNvGrpSpPr/>
            <p:nvPr/>
          </p:nvGrpSpPr>
          <p:grpSpPr>
            <a:xfrm>
              <a:off x="1349682" y="4845369"/>
              <a:ext cx="232681" cy="564831"/>
              <a:chOff x="780160" y="1648024"/>
              <a:chExt cx="274457" cy="556342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82" name="Rectangle 8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3" name="Group 8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84" name="Straight Connector 83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1" name="Straight Arrow Connector 80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Group 122"/>
            <p:cNvGrpSpPr/>
            <p:nvPr/>
          </p:nvGrpSpPr>
          <p:grpSpPr>
            <a:xfrm>
              <a:off x="20574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31" name="Group 13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33" name="Rectangle 13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4" name="Group 13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35" name="Straight Connector 13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2" name="Straight Arrow Connector 131"/>
              <p:cNvCxnSpPr>
                <a:endCxn id="133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/>
            <p:cNvGrpSpPr/>
            <p:nvPr/>
          </p:nvGrpSpPr>
          <p:grpSpPr>
            <a:xfrm>
              <a:off x="24164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27" name="Rectangle 126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8" name="Group 127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29" name="Straight Connector 128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6" name="Straight Arrow Connector 125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/>
            <p:cNvGrpSpPr/>
            <p:nvPr/>
          </p:nvGrpSpPr>
          <p:grpSpPr>
            <a:xfrm>
              <a:off x="31242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47" name="Group 14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0" name="Group 14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1" name="Straight Connector 15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8" name="Straight Arrow Connector 147"/>
              <p:cNvCxnSpPr>
                <a:endCxn id="149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/>
            <p:cNvGrpSpPr/>
            <p:nvPr/>
          </p:nvGrpSpPr>
          <p:grpSpPr>
            <a:xfrm>
              <a:off x="34832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3" name="Rectangle 14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4" name="Group 14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45" name="Straight Connector 14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2" name="Straight Arrow Connector 141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/>
            <p:cNvGrpSpPr/>
            <p:nvPr/>
          </p:nvGrpSpPr>
          <p:grpSpPr>
            <a:xfrm>
              <a:off x="40386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63" name="Group 162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65" name="Rectangle 164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6" name="Group 165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7" name="Straight Connector 166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4" name="Straight Arrow Connector 163"/>
              <p:cNvCxnSpPr>
                <a:endCxn id="165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>
              <a:off x="43976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57" name="Group 15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9" name="Rectangle 15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0" name="Group 15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1" name="Straight Connector 16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8" name="Straight Arrow Connector 157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>
            <a:xfrm>
              <a:off x="5080527" y="4683435"/>
              <a:ext cx="177273" cy="225334"/>
              <a:chOff x="2447520" y="2514600"/>
              <a:chExt cx="201169" cy="223166"/>
            </a:xfrm>
          </p:grpSpPr>
          <p:sp>
            <p:nvSpPr>
              <p:cNvPr id="181" name="Rectangle 18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83" name="Straight Connector 18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9" name="Group 188"/>
            <p:cNvGrpSpPr/>
            <p:nvPr/>
          </p:nvGrpSpPr>
          <p:grpSpPr>
            <a:xfrm>
              <a:off x="6113452" y="4682198"/>
              <a:ext cx="170548" cy="226571"/>
              <a:chOff x="2447520" y="2514600"/>
              <a:chExt cx="201169" cy="223166"/>
            </a:xfrm>
          </p:grpSpPr>
          <p:sp>
            <p:nvSpPr>
              <p:cNvPr id="191" name="Rectangle 19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" name="Group 19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1" name="Group 220"/>
            <p:cNvGrpSpPr/>
            <p:nvPr/>
          </p:nvGrpSpPr>
          <p:grpSpPr>
            <a:xfrm>
              <a:off x="7543800" y="3810000"/>
              <a:ext cx="170548" cy="226571"/>
              <a:chOff x="2447520" y="2514600"/>
              <a:chExt cx="201169" cy="223166"/>
            </a:xfrm>
          </p:grpSpPr>
          <p:sp>
            <p:nvSpPr>
              <p:cNvPr id="223" name="Rectangle 22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4" name="Group 22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5" name="Oval 234"/>
            <p:cNvSpPr/>
            <p:nvPr/>
          </p:nvSpPr>
          <p:spPr>
            <a:xfrm>
              <a:off x="4514094" y="22529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7" name="Oval 236"/>
            <p:cNvSpPr/>
            <p:nvPr/>
          </p:nvSpPr>
          <p:spPr>
            <a:xfrm>
              <a:off x="6419094" y="3046421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9" name="Oval 238"/>
            <p:cNvSpPr/>
            <p:nvPr/>
          </p:nvSpPr>
          <p:spPr>
            <a:xfrm>
              <a:off x="1770894" y="384143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0" name="Oval 239"/>
            <p:cNvSpPr/>
            <p:nvPr/>
          </p:nvSpPr>
          <p:spPr>
            <a:xfrm>
              <a:off x="5504694" y="3816182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3" name="Oval 242"/>
            <p:cNvSpPr/>
            <p:nvPr/>
          </p:nvSpPr>
          <p:spPr>
            <a:xfrm>
              <a:off x="3752094" y="38531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5" name="Oval 244"/>
            <p:cNvSpPr/>
            <p:nvPr/>
          </p:nvSpPr>
          <p:spPr>
            <a:xfrm>
              <a:off x="2819400" y="3046421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6" name="Oval 245"/>
            <p:cNvSpPr/>
            <p:nvPr/>
          </p:nvSpPr>
          <p:spPr>
            <a:xfrm>
              <a:off x="1161294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7" name="Oval 246"/>
            <p:cNvSpPr/>
            <p:nvPr/>
          </p:nvSpPr>
          <p:spPr>
            <a:xfrm>
              <a:off x="22280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8" name="Oval 247"/>
            <p:cNvSpPr/>
            <p:nvPr/>
          </p:nvSpPr>
          <p:spPr>
            <a:xfrm>
              <a:off x="3294893" y="46913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9" name="Oval 248"/>
            <p:cNvSpPr/>
            <p:nvPr/>
          </p:nvSpPr>
          <p:spPr>
            <a:xfrm>
              <a:off x="4209293" y="46913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55" name="Straight Arrow Connector 254"/>
            <p:cNvCxnSpPr/>
            <p:nvPr/>
          </p:nvCxnSpPr>
          <p:spPr>
            <a:xfrm flipH="1">
              <a:off x="2962653" y="235157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/>
            <p:cNvCxnSpPr/>
            <p:nvPr/>
          </p:nvCxnSpPr>
          <p:spPr>
            <a:xfrm flipH="1">
              <a:off x="1953760" y="322120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/>
            <p:cNvCxnSpPr>
              <a:stCxn id="243" idx="3"/>
            </p:cNvCxnSpPr>
            <p:nvPr/>
          </p:nvCxnSpPr>
          <p:spPr>
            <a:xfrm flipH="1">
              <a:off x="3438147" y="402148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/>
            <p:cNvCxnSpPr>
              <a:endCxn id="246" idx="7"/>
            </p:cNvCxnSpPr>
            <p:nvPr/>
          </p:nvCxnSpPr>
          <p:spPr>
            <a:xfrm flipH="1">
              <a:off x="1405842" y="400559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/>
            <p:cNvCxnSpPr/>
            <p:nvPr/>
          </p:nvCxnSpPr>
          <p:spPr>
            <a:xfrm flipH="1">
              <a:off x="5181600" y="402148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/>
            <p:cNvCxnSpPr/>
            <p:nvPr/>
          </p:nvCxnSpPr>
          <p:spPr>
            <a:xfrm flipH="1">
              <a:off x="5647948" y="324359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/>
            <p:cNvCxnSpPr/>
            <p:nvPr/>
          </p:nvCxnSpPr>
          <p:spPr>
            <a:xfrm>
              <a:off x="30480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/>
            <p:nvPr/>
          </p:nvCxnSpPr>
          <p:spPr>
            <a:xfrm>
              <a:off x="67056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/>
            <p:cNvCxnSpPr/>
            <p:nvPr/>
          </p:nvCxnSpPr>
          <p:spPr>
            <a:xfrm>
              <a:off x="2029959" y="400559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/>
            <p:cNvCxnSpPr/>
            <p:nvPr/>
          </p:nvCxnSpPr>
          <p:spPr>
            <a:xfrm>
              <a:off x="3942770" y="4013351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/>
            <p:cNvCxnSpPr/>
            <p:nvPr/>
          </p:nvCxnSpPr>
          <p:spPr>
            <a:xfrm>
              <a:off x="5763759" y="400559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/>
            <p:cNvCxnSpPr/>
            <p:nvPr/>
          </p:nvCxnSpPr>
          <p:spPr>
            <a:xfrm>
              <a:off x="4800600" y="239634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6" name="Group 275"/>
            <p:cNvGrpSpPr/>
            <p:nvPr/>
          </p:nvGrpSpPr>
          <p:grpSpPr>
            <a:xfrm>
              <a:off x="4419600" y="1600200"/>
              <a:ext cx="502924" cy="621357"/>
              <a:chOff x="1203952" y="3870811"/>
              <a:chExt cx="502924" cy="621357"/>
            </a:xfrm>
          </p:grpSpPr>
          <p:cxnSp>
            <p:nvCxnSpPr>
              <p:cNvPr id="313" name="Elbow Connector 31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TextBox 313"/>
              <p:cNvSpPr txBox="1"/>
              <p:nvPr/>
            </p:nvSpPr>
            <p:spPr>
              <a:xfrm>
                <a:off x="1203952" y="3870811"/>
                <a:ext cx="5029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  T</a:t>
                </a:r>
              </a:p>
            </p:txBody>
          </p:sp>
        </p:grpSp>
        <p:sp>
          <p:nvSpPr>
            <p:cNvPr id="277" name="TextBox 276"/>
            <p:cNvSpPr txBox="1"/>
            <p:nvPr/>
          </p:nvSpPr>
          <p:spPr>
            <a:xfrm>
              <a:off x="1143000" y="464820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28194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28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4471664" y="2209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46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64008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67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22098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25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1770894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31</a:t>
              </a: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41</a:t>
              </a: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3733800" y="38100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35</a:t>
              </a: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54864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49</a:t>
              </a: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7239000" y="3810000"/>
            <a:ext cx="762000" cy="717234"/>
            <a:chOff x="5562600" y="5410200"/>
            <a:chExt cx="762000" cy="717234"/>
          </a:xfrm>
        </p:grpSpPr>
        <p:grpSp>
          <p:nvGrpSpPr>
            <p:cNvPr id="114" name="Group 113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154" name="Group 15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71" name="Group 17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72" name="Straight Connector 17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69" name="Straight Arrow Connector 168"/>
                <p:cNvCxnSpPr>
                  <a:stCxn id="116" idx="3"/>
                  <a:endCxn id="170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20" name="Group 119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2" name="Rectangle 121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7" name="Group 13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38" name="Straight Connector 13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Straight Connector 15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1" name="Straight Arrow Connector 120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83</a:t>
                </a:r>
              </a:p>
            </p:txBody>
          </p:sp>
        </p:grpSp>
      </p:grpSp>
      <p:grpSp>
        <p:nvGrpSpPr>
          <p:cNvPr id="178" name="Group 177"/>
          <p:cNvGrpSpPr/>
          <p:nvPr/>
        </p:nvGrpSpPr>
        <p:grpSpPr>
          <a:xfrm>
            <a:off x="5791200" y="4692966"/>
            <a:ext cx="762000" cy="717234"/>
            <a:chOff x="5562600" y="5410200"/>
            <a:chExt cx="762000" cy="717234"/>
          </a:xfrm>
        </p:grpSpPr>
        <p:grpSp>
          <p:nvGrpSpPr>
            <p:cNvPr id="180" name="Group 179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88" name="Group 18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01" name="Group 200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03" name="Rectangle 202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04" name="Group 203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05" name="Straight Connector 204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6" name="Straight Connector 205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02" name="Straight Arrow Connector 201"/>
                <p:cNvCxnSpPr>
                  <a:stCxn id="186" idx="3"/>
                  <a:endCxn id="203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97" name="Rectangle 19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98" name="Group 19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99" name="Straight Connector 19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" name="Straight Connector 19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96" name="Straight Arrow Connector 19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5" name="Group 18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86" name="Oval 18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54</a:t>
                </a:r>
              </a:p>
            </p:txBody>
          </p:sp>
        </p:grpSp>
      </p:grpSp>
      <p:grpSp>
        <p:nvGrpSpPr>
          <p:cNvPr id="208" name="Group 207"/>
          <p:cNvGrpSpPr/>
          <p:nvPr/>
        </p:nvGrpSpPr>
        <p:grpSpPr>
          <a:xfrm>
            <a:off x="4191000" y="5181600"/>
            <a:ext cx="762000" cy="717234"/>
            <a:chOff x="5562600" y="5410200"/>
            <a:chExt cx="762000" cy="717234"/>
          </a:xfrm>
        </p:grpSpPr>
        <p:grpSp>
          <p:nvGrpSpPr>
            <p:cNvPr id="209" name="Group 208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213" name="Group 212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22" name="Group 221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28" name="Rectangle 227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29" name="Group 228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30" name="Straight Connector 229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1" name="Straight Connector 230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27" name="Straight Arrow Connector 226"/>
                <p:cNvCxnSpPr>
                  <a:stCxn id="211" idx="3"/>
                  <a:endCxn id="228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215" name="Group 21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17" name="Rectangle 21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18" name="Group 21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19" name="Straight Connector 21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0" name="Straight Connector 21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16" name="Straight Arrow Connector 21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0" name="Group 209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211" name="Oval 210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12" name="TextBox 211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44</a:t>
                </a:r>
              </a:p>
            </p:txBody>
          </p:sp>
        </p:grpSp>
      </p:grpSp>
      <p:grpSp>
        <p:nvGrpSpPr>
          <p:cNvPr id="174" name="Group 173"/>
          <p:cNvGrpSpPr/>
          <p:nvPr/>
        </p:nvGrpSpPr>
        <p:grpSpPr>
          <a:xfrm>
            <a:off x="2362200" y="2819398"/>
            <a:ext cx="1901709" cy="3429002"/>
            <a:chOff x="2362200" y="2819398"/>
            <a:chExt cx="1901709" cy="3429002"/>
          </a:xfrm>
        </p:grpSpPr>
        <p:sp>
          <p:nvSpPr>
            <p:cNvPr id="175" name="Line Callout 1 174"/>
            <p:cNvSpPr/>
            <p:nvPr/>
          </p:nvSpPr>
          <p:spPr>
            <a:xfrm>
              <a:off x="2362200" y="5942076"/>
              <a:ext cx="1345568" cy="306324"/>
            </a:xfrm>
            <a:prstGeom prst="borderCallout1">
              <a:avLst>
                <a:gd name="adj1" fmla="val -3091"/>
                <a:gd name="adj2" fmla="val 18420"/>
                <a:gd name="adj3" fmla="val -692015"/>
                <a:gd name="adj4" fmla="val 7021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Color imbalance</a:t>
              </a:r>
            </a:p>
          </p:txBody>
        </p:sp>
        <p:sp>
          <p:nvSpPr>
            <p:cNvPr id="176" name="Arc 175"/>
            <p:cNvSpPr/>
            <p:nvPr/>
          </p:nvSpPr>
          <p:spPr>
            <a:xfrm rot="10563781">
              <a:off x="3048001" y="2819398"/>
              <a:ext cx="1215908" cy="1088396"/>
            </a:xfrm>
            <a:prstGeom prst="arc">
              <a:avLst>
                <a:gd name="adj1" fmla="val 17188773"/>
                <a:gd name="adj2" fmla="val 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7" name="Cloud Callout 176"/>
          <p:cNvSpPr/>
          <p:nvPr/>
        </p:nvSpPr>
        <p:spPr>
          <a:xfrm>
            <a:off x="340931" y="5531127"/>
            <a:ext cx="1887162" cy="973870"/>
          </a:xfrm>
          <a:prstGeom prst="cloudCallout">
            <a:avLst>
              <a:gd name="adj1" fmla="val 56449"/>
              <a:gd name="adj2" fmla="val 5829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Do the same trick again.</a:t>
            </a:r>
          </a:p>
        </p:txBody>
      </p:sp>
    </p:spTree>
    <p:extLst>
      <p:ext uri="{BB962C8B-B14F-4D97-AF65-F5344CB8AC3E}">
        <p14:creationId xmlns:p14="http://schemas.microsoft.com/office/powerpoint/2010/main" val="295894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7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Insertion in a red-black tree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90601" y="1600200"/>
            <a:ext cx="6723747" cy="3810000"/>
            <a:chOff x="990601" y="1600200"/>
            <a:chExt cx="6723747" cy="3810000"/>
          </a:xfrm>
        </p:grpSpPr>
        <p:grpSp>
          <p:nvGrpSpPr>
            <p:cNvPr id="21" name="Group 20"/>
            <p:cNvGrpSpPr/>
            <p:nvPr/>
          </p:nvGrpSpPr>
          <p:grpSpPr>
            <a:xfrm>
              <a:off x="990601" y="4845369"/>
              <a:ext cx="225309" cy="564831"/>
              <a:chOff x="853448" y="1644969"/>
              <a:chExt cx="255680" cy="559397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3" name="Straight Arrow Connector 22"/>
              <p:cNvCxnSpPr>
                <a:endCxn id="24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/>
            <p:cNvGrpSpPr/>
            <p:nvPr/>
          </p:nvGrpSpPr>
          <p:grpSpPr>
            <a:xfrm>
              <a:off x="1349682" y="4845369"/>
              <a:ext cx="232681" cy="564831"/>
              <a:chOff x="780160" y="1648024"/>
              <a:chExt cx="274457" cy="556342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82" name="Rectangle 8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3" name="Group 8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84" name="Straight Connector 83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1" name="Straight Arrow Connector 80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Group 122"/>
            <p:cNvGrpSpPr/>
            <p:nvPr/>
          </p:nvGrpSpPr>
          <p:grpSpPr>
            <a:xfrm>
              <a:off x="20574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31" name="Group 13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33" name="Rectangle 13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4" name="Group 13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35" name="Straight Connector 13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2" name="Straight Arrow Connector 131"/>
              <p:cNvCxnSpPr>
                <a:endCxn id="133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/>
            <p:cNvGrpSpPr/>
            <p:nvPr/>
          </p:nvGrpSpPr>
          <p:grpSpPr>
            <a:xfrm>
              <a:off x="24164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27" name="Rectangle 126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8" name="Group 127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29" name="Straight Connector 128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6" name="Straight Arrow Connector 125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/>
            <p:cNvGrpSpPr/>
            <p:nvPr/>
          </p:nvGrpSpPr>
          <p:grpSpPr>
            <a:xfrm>
              <a:off x="31242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47" name="Group 14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0" name="Group 14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1" name="Straight Connector 15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8" name="Straight Arrow Connector 147"/>
              <p:cNvCxnSpPr>
                <a:endCxn id="149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/>
            <p:cNvGrpSpPr/>
            <p:nvPr/>
          </p:nvGrpSpPr>
          <p:grpSpPr>
            <a:xfrm>
              <a:off x="34832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3" name="Rectangle 14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4" name="Group 14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45" name="Straight Connector 14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2" name="Straight Arrow Connector 141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/>
            <p:cNvGrpSpPr/>
            <p:nvPr/>
          </p:nvGrpSpPr>
          <p:grpSpPr>
            <a:xfrm>
              <a:off x="40386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63" name="Group 162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65" name="Rectangle 164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6" name="Group 165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7" name="Straight Connector 166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4" name="Straight Arrow Connector 163"/>
              <p:cNvCxnSpPr>
                <a:endCxn id="165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>
              <a:off x="43976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57" name="Group 15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9" name="Rectangle 15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0" name="Group 15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1" name="Straight Connector 16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8" name="Straight Arrow Connector 157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>
            <a:xfrm>
              <a:off x="5080527" y="4683435"/>
              <a:ext cx="177273" cy="225334"/>
              <a:chOff x="2447520" y="2514600"/>
              <a:chExt cx="201169" cy="223166"/>
            </a:xfrm>
          </p:grpSpPr>
          <p:sp>
            <p:nvSpPr>
              <p:cNvPr id="181" name="Rectangle 18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83" name="Straight Connector 18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9" name="Group 188"/>
            <p:cNvGrpSpPr/>
            <p:nvPr/>
          </p:nvGrpSpPr>
          <p:grpSpPr>
            <a:xfrm>
              <a:off x="6113452" y="4682198"/>
              <a:ext cx="170548" cy="226571"/>
              <a:chOff x="2447520" y="2514600"/>
              <a:chExt cx="201169" cy="223166"/>
            </a:xfrm>
          </p:grpSpPr>
          <p:sp>
            <p:nvSpPr>
              <p:cNvPr id="191" name="Rectangle 19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" name="Group 19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1" name="Group 220"/>
            <p:cNvGrpSpPr/>
            <p:nvPr/>
          </p:nvGrpSpPr>
          <p:grpSpPr>
            <a:xfrm>
              <a:off x="7543800" y="3810000"/>
              <a:ext cx="170548" cy="226571"/>
              <a:chOff x="2447520" y="2514600"/>
              <a:chExt cx="201169" cy="223166"/>
            </a:xfrm>
          </p:grpSpPr>
          <p:sp>
            <p:nvSpPr>
              <p:cNvPr id="223" name="Rectangle 22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4" name="Group 22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5" name="Oval 234"/>
            <p:cNvSpPr/>
            <p:nvPr/>
          </p:nvSpPr>
          <p:spPr>
            <a:xfrm>
              <a:off x="4514094" y="22529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7" name="Oval 236"/>
            <p:cNvSpPr/>
            <p:nvPr/>
          </p:nvSpPr>
          <p:spPr>
            <a:xfrm>
              <a:off x="6419094" y="304642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9" name="Oval 238"/>
            <p:cNvSpPr/>
            <p:nvPr/>
          </p:nvSpPr>
          <p:spPr>
            <a:xfrm>
              <a:off x="1770894" y="384143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0" name="Oval 239"/>
            <p:cNvSpPr/>
            <p:nvPr/>
          </p:nvSpPr>
          <p:spPr>
            <a:xfrm>
              <a:off x="5504694" y="3816182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3" name="Oval 242"/>
            <p:cNvSpPr/>
            <p:nvPr/>
          </p:nvSpPr>
          <p:spPr>
            <a:xfrm>
              <a:off x="3752094" y="38531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5" name="Oval 244"/>
            <p:cNvSpPr/>
            <p:nvPr/>
          </p:nvSpPr>
          <p:spPr>
            <a:xfrm>
              <a:off x="2819400" y="304642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6" name="Oval 245"/>
            <p:cNvSpPr/>
            <p:nvPr/>
          </p:nvSpPr>
          <p:spPr>
            <a:xfrm>
              <a:off x="1161294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7" name="Oval 246"/>
            <p:cNvSpPr/>
            <p:nvPr/>
          </p:nvSpPr>
          <p:spPr>
            <a:xfrm>
              <a:off x="22280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8" name="Oval 247"/>
            <p:cNvSpPr/>
            <p:nvPr/>
          </p:nvSpPr>
          <p:spPr>
            <a:xfrm>
              <a:off x="3294893" y="46913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9" name="Oval 248"/>
            <p:cNvSpPr/>
            <p:nvPr/>
          </p:nvSpPr>
          <p:spPr>
            <a:xfrm>
              <a:off x="4209293" y="46913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55" name="Straight Arrow Connector 254"/>
            <p:cNvCxnSpPr/>
            <p:nvPr/>
          </p:nvCxnSpPr>
          <p:spPr>
            <a:xfrm flipH="1">
              <a:off x="2962653" y="235157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/>
            <p:cNvCxnSpPr/>
            <p:nvPr/>
          </p:nvCxnSpPr>
          <p:spPr>
            <a:xfrm flipH="1">
              <a:off x="1953760" y="322120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/>
            <p:cNvCxnSpPr>
              <a:stCxn id="243" idx="3"/>
            </p:cNvCxnSpPr>
            <p:nvPr/>
          </p:nvCxnSpPr>
          <p:spPr>
            <a:xfrm flipH="1">
              <a:off x="3438147" y="402148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/>
            <p:cNvCxnSpPr>
              <a:endCxn id="246" idx="7"/>
            </p:cNvCxnSpPr>
            <p:nvPr/>
          </p:nvCxnSpPr>
          <p:spPr>
            <a:xfrm flipH="1">
              <a:off x="1405842" y="400559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/>
            <p:cNvCxnSpPr/>
            <p:nvPr/>
          </p:nvCxnSpPr>
          <p:spPr>
            <a:xfrm flipH="1">
              <a:off x="5181600" y="402148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/>
            <p:cNvCxnSpPr/>
            <p:nvPr/>
          </p:nvCxnSpPr>
          <p:spPr>
            <a:xfrm flipH="1">
              <a:off x="5647948" y="324359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/>
            <p:cNvCxnSpPr/>
            <p:nvPr/>
          </p:nvCxnSpPr>
          <p:spPr>
            <a:xfrm>
              <a:off x="30480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/>
            <p:nvPr/>
          </p:nvCxnSpPr>
          <p:spPr>
            <a:xfrm>
              <a:off x="67056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/>
            <p:cNvCxnSpPr/>
            <p:nvPr/>
          </p:nvCxnSpPr>
          <p:spPr>
            <a:xfrm>
              <a:off x="2029959" y="400559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/>
            <p:cNvCxnSpPr/>
            <p:nvPr/>
          </p:nvCxnSpPr>
          <p:spPr>
            <a:xfrm>
              <a:off x="3942770" y="4013351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/>
            <p:cNvCxnSpPr/>
            <p:nvPr/>
          </p:nvCxnSpPr>
          <p:spPr>
            <a:xfrm>
              <a:off x="5763759" y="400559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/>
            <p:cNvCxnSpPr/>
            <p:nvPr/>
          </p:nvCxnSpPr>
          <p:spPr>
            <a:xfrm>
              <a:off x="4800600" y="239634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6" name="Group 275"/>
            <p:cNvGrpSpPr/>
            <p:nvPr/>
          </p:nvGrpSpPr>
          <p:grpSpPr>
            <a:xfrm>
              <a:off x="4419600" y="1600200"/>
              <a:ext cx="502924" cy="621357"/>
              <a:chOff x="1203952" y="3870811"/>
              <a:chExt cx="502924" cy="621357"/>
            </a:xfrm>
          </p:grpSpPr>
          <p:cxnSp>
            <p:nvCxnSpPr>
              <p:cNvPr id="313" name="Elbow Connector 31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TextBox 313"/>
              <p:cNvSpPr txBox="1"/>
              <p:nvPr/>
            </p:nvSpPr>
            <p:spPr>
              <a:xfrm>
                <a:off x="1203952" y="3870811"/>
                <a:ext cx="5029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  T</a:t>
                </a:r>
              </a:p>
            </p:txBody>
          </p:sp>
        </p:grpSp>
        <p:sp>
          <p:nvSpPr>
            <p:cNvPr id="277" name="TextBox 276"/>
            <p:cNvSpPr txBox="1"/>
            <p:nvPr/>
          </p:nvSpPr>
          <p:spPr>
            <a:xfrm>
              <a:off x="1143000" y="464820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28194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28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4471664" y="2209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46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64008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67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22098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25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1770894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31</a:t>
              </a: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41</a:t>
              </a: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3733800" y="38100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35</a:t>
              </a: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54864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49</a:t>
              </a: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7239000" y="3810000"/>
            <a:ext cx="762000" cy="717234"/>
            <a:chOff x="5562600" y="5410200"/>
            <a:chExt cx="762000" cy="717234"/>
          </a:xfrm>
        </p:grpSpPr>
        <p:grpSp>
          <p:nvGrpSpPr>
            <p:cNvPr id="114" name="Group 113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154" name="Group 15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71" name="Group 17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72" name="Straight Connector 17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69" name="Straight Arrow Connector 168"/>
                <p:cNvCxnSpPr>
                  <a:stCxn id="116" idx="3"/>
                  <a:endCxn id="170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20" name="Group 119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2" name="Rectangle 121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7" name="Group 13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38" name="Straight Connector 13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Straight Connector 15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1" name="Straight Arrow Connector 120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83</a:t>
                </a:r>
              </a:p>
            </p:txBody>
          </p:sp>
        </p:grpSp>
      </p:grpSp>
      <p:grpSp>
        <p:nvGrpSpPr>
          <p:cNvPr id="178" name="Group 177"/>
          <p:cNvGrpSpPr/>
          <p:nvPr/>
        </p:nvGrpSpPr>
        <p:grpSpPr>
          <a:xfrm>
            <a:off x="5791200" y="4692966"/>
            <a:ext cx="762000" cy="717234"/>
            <a:chOff x="5562600" y="5410200"/>
            <a:chExt cx="762000" cy="717234"/>
          </a:xfrm>
        </p:grpSpPr>
        <p:grpSp>
          <p:nvGrpSpPr>
            <p:cNvPr id="180" name="Group 179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88" name="Group 18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01" name="Group 200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03" name="Rectangle 202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04" name="Group 203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05" name="Straight Connector 204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6" name="Straight Connector 205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02" name="Straight Arrow Connector 201"/>
                <p:cNvCxnSpPr>
                  <a:stCxn id="186" idx="3"/>
                  <a:endCxn id="203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97" name="Rectangle 19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98" name="Group 19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99" name="Straight Connector 19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" name="Straight Connector 19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96" name="Straight Arrow Connector 19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5" name="Group 18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86" name="Oval 18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54</a:t>
                </a:r>
              </a:p>
            </p:txBody>
          </p:sp>
        </p:grpSp>
      </p:grpSp>
      <p:grpSp>
        <p:nvGrpSpPr>
          <p:cNvPr id="208" name="Group 207"/>
          <p:cNvGrpSpPr/>
          <p:nvPr/>
        </p:nvGrpSpPr>
        <p:grpSpPr>
          <a:xfrm>
            <a:off x="4191000" y="5181600"/>
            <a:ext cx="762000" cy="717234"/>
            <a:chOff x="5562600" y="5410200"/>
            <a:chExt cx="762000" cy="717234"/>
          </a:xfrm>
        </p:grpSpPr>
        <p:grpSp>
          <p:nvGrpSpPr>
            <p:cNvPr id="209" name="Group 208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213" name="Group 212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22" name="Group 221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28" name="Rectangle 227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29" name="Group 228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30" name="Straight Connector 229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1" name="Straight Connector 230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27" name="Straight Arrow Connector 226"/>
                <p:cNvCxnSpPr>
                  <a:stCxn id="211" idx="3"/>
                  <a:endCxn id="228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215" name="Group 21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17" name="Rectangle 21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18" name="Group 21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19" name="Straight Connector 21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0" name="Straight Connector 21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16" name="Straight Arrow Connector 21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0" name="Group 209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211" name="Oval 210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12" name="TextBox 211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44</a:t>
                </a:r>
              </a:p>
            </p:txBody>
          </p:sp>
        </p:grpSp>
      </p:grpSp>
      <p:sp>
        <p:nvSpPr>
          <p:cNvPr id="177" name="Line Callout 2 176"/>
          <p:cNvSpPr/>
          <p:nvPr/>
        </p:nvSpPr>
        <p:spPr>
          <a:xfrm>
            <a:off x="5743895" y="1966332"/>
            <a:ext cx="3268966" cy="534905"/>
          </a:xfrm>
          <a:prstGeom prst="borderCallout2">
            <a:avLst>
              <a:gd name="adj1" fmla="val 49290"/>
              <a:gd name="adj2" fmla="val 220"/>
              <a:gd name="adj3" fmla="val 52824"/>
              <a:gd name="adj4" fmla="val -12002"/>
              <a:gd name="adj5" fmla="val 55486"/>
              <a:gd name="adj6" fmla="val -3044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Color imbalance is removed. But the root is </a:t>
            </a:r>
            <a:r>
              <a:rPr lang="en-US" sz="1600" b="1" dirty="0">
                <a:solidFill>
                  <a:srgbClr val="FF0000"/>
                </a:solidFill>
              </a:rPr>
              <a:t>red</a:t>
            </a:r>
            <a:r>
              <a:rPr lang="en-US" sz="1600" dirty="0">
                <a:solidFill>
                  <a:srgbClr val="7030A0"/>
                </a:solidFill>
              </a:rPr>
              <a:t> now. </a:t>
            </a:r>
          </a:p>
        </p:txBody>
      </p:sp>
      <p:sp>
        <p:nvSpPr>
          <p:cNvPr id="174" name="Cloud Callout 173"/>
          <p:cNvSpPr/>
          <p:nvPr/>
        </p:nvSpPr>
        <p:spPr>
          <a:xfrm>
            <a:off x="2145595" y="1082190"/>
            <a:ext cx="2197805" cy="1051410"/>
          </a:xfrm>
          <a:prstGeom prst="cloudCallout">
            <a:avLst>
              <a:gd name="adj1" fmla="val 56449"/>
              <a:gd name="adj2" fmla="val 5829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can color it </a:t>
            </a:r>
            <a:r>
              <a:rPr lang="en-US" b="1" dirty="0">
                <a:solidFill>
                  <a:schemeClr val="tx1"/>
                </a:solidFill>
              </a:rPr>
              <a:t>black.</a:t>
            </a:r>
          </a:p>
        </p:txBody>
      </p:sp>
    </p:spTree>
    <p:extLst>
      <p:ext uri="{BB962C8B-B14F-4D97-AF65-F5344CB8AC3E}">
        <p14:creationId xmlns:p14="http://schemas.microsoft.com/office/powerpoint/2010/main" val="34583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7" grpId="1" animBg="1"/>
      <p:bldP spid="174" grpId="0" animBg="1"/>
      <p:bldP spid="174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Insertion in a red-black tree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90601" y="1600200"/>
            <a:ext cx="6723747" cy="3810000"/>
            <a:chOff x="990601" y="1600200"/>
            <a:chExt cx="6723747" cy="3810000"/>
          </a:xfrm>
        </p:grpSpPr>
        <p:grpSp>
          <p:nvGrpSpPr>
            <p:cNvPr id="21" name="Group 20"/>
            <p:cNvGrpSpPr/>
            <p:nvPr/>
          </p:nvGrpSpPr>
          <p:grpSpPr>
            <a:xfrm>
              <a:off x="990601" y="4845369"/>
              <a:ext cx="225309" cy="564831"/>
              <a:chOff x="853448" y="1644969"/>
              <a:chExt cx="255680" cy="559397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3" name="Straight Arrow Connector 22"/>
              <p:cNvCxnSpPr>
                <a:endCxn id="24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/>
            <p:cNvGrpSpPr/>
            <p:nvPr/>
          </p:nvGrpSpPr>
          <p:grpSpPr>
            <a:xfrm>
              <a:off x="1349682" y="4845369"/>
              <a:ext cx="232681" cy="564831"/>
              <a:chOff x="780160" y="1648024"/>
              <a:chExt cx="274457" cy="556342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82" name="Rectangle 8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3" name="Group 8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84" name="Straight Connector 83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1" name="Straight Arrow Connector 80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Group 122"/>
            <p:cNvGrpSpPr/>
            <p:nvPr/>
          </p:nvGrpSpPr>
          <p:grpSpPr>
            <a:xfrm>
              <a:off x="20574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31" name="Group 13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33" name="Rectangle 13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4" name="Group 13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35" name="Straight Connector 13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2" name="Straight Arrow Connector 131"/>
              <p:cNvCxnSpPr>
                <a:endCxn id="133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/>
            <p:cNvGrpSpPr/>
            <p:nvPr/>
          </p:nvGrpSpPr>
          <p:grpSpPr>
            <a:xfrm>
              <a:off x="24164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27" name="Rectangle 126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8" name="Group 127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29" name="Straight Connector 128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6" name="Straight Arrow Connector 125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/>
            <p:cNvGrpSpPr/>
            <p:nvPr/>
          </p:nvGrpSpPr>
          <p:grpSpPr>
            <a:xfrm>
              <a:off x="31242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47" name="Group 14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0" name="Group 14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1" name="Straight Connector 15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8" name="Straight Arrow Connector 147"/>
              <p:cNvCxnSpPr>
                <a:endCxn id="149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/>
            <p:cNvGrpSpPr/>
            <p:nvPr/>
          </p:nvGrpSpPr>
          <p:grpSpPr>
            <a:xfrm>
              <a:off x="34832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3" name="Rectangle 14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4" name="Group 14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45" name="Straight Connector 14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2" name="Straight Arrow Connector 141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/>
            <p:cNvGrpSpPr/>
            <p:nvPr/>
          </p:nvGrpSpPr>
          <p:grpSpPr>
            <a:xfrm>
              <a:off x="40386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63" name="Group 162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65" name="Rectangle 164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6" name="Group 165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7" name="Straight Connector 166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4" name="Straight Arrow Connector 163"/>
              <p:cNvCxnSpPr>
                <a:endCxn id="165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>
              <a:off x="43976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57" name="Group 15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9" name="Rectangle 15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0" name="Group 15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1" name="Straight Connector 16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8" name="Straight Arrow Connector 157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>
            <a:xfrm>
              <a:off x="5080527" y="4683435"/>
              <a:ext cx="177273" cy="225334"/>
              <a:chOff x="2447520" y="2514600"/>
              <a:chExt cx="201169" cy="223166"/>
            </a:xfrm>
          </p:grpSpPr>
          <p:sp>
            <p:nvSpPr>
              <p:cNvPr id="181" name="Rectangle 18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83" name="Straight Connector 18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9" name="Group 188"/>
            <p:cNvGrpSpPr/>
            <p:nvPr/>
          </p:nvGrpSpPr>
          <p:grpSpPr>
            <a:xfrm>
              <a:off x="6113452" y="4682198"/>
              <a:ext cx="170548" cy="226571"/>
              <a:chOff x="2447520" y="2514600"/>
              <a:chExt cx="201169" cy="223166"/>
            </a:xfrm>
          </p:grpSpPr>
          <p:sp>
            <p:nvSpPr>
              <p:cNvPr id="191" name="Rectangle 19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" name="Group 19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1" name="Group 220"/>
            <p:cNvGrpSpPr/>
            <p:nvPr/>
          </p:nvGrpSpPr>
          <p:grpSpPr>
            <a:xfrm>
              <a:off x="7543800" y="3810000"/>
              <a:ext cx="170548" cy="226571"/>
              <a:chOff x="2447520" y="2514600"/>
              <a:chExt cx="201169" cy="223166"/>
            </a:xfrm>
          </p:grpSpPr>
          <p:sp>
            <p:nvSpPr>
              <p:cNvPr id="223" name="Rectangle 22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4" name="Group 22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5" name="Oval 234"/>
            <p:cNvSpPr/>
            <p:nvPr/>
          </p:nvSpPr>
          <p:spPr>
            <a:xfrm>
              <a:off x="4514094" y="22529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7" name="Oval 236"/>
            <p:cNvSpPr/>
            <p:nvPr/>
          </p:nvSpPr>
          <p:spPr>
            <a:xfrm>
              <a:off x="6419094" y="304642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9" name="Oval 238"/>
            <p:cNvSpPr/>
            <p:nvPr/>
          </p:nvSpPr>
          <p:spPr>
            <a:xfrm>
              <a:off x="1770894" y="384143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0" name="Oval 239"/>
            <p:cNvSpPr/>
            <p:nvPr/>
          </p:nvSpPr>
          <p:spPr>
            <a:xfrm>
              <a:off x="5504694" y="3816182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3" name="Oval 242"/>
            <p:cNvSpPr/>
            <p:nvPr/>
          </p:nvSpPr>
          <p:spPr>
            <a:xfrm>
              <a:off x="3752094" y="38531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5" name="Oval 244"/>
            <p:cNvSpPr/>
            <p:nvPr/>
          </p:nvSpPr>
          <p:spPr>
            <a:xfrm>
              <a:off x="2819400" y="304642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6" name="Oval 245"/>
            <p:cNvSpPr/>
            <p:nvPr/>
          </p:nvSpPr>
          <p:spPr>
            <a:xfrm>
              <a:off x="1161294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7" name="Oval 246"/>
            <p:cNvSpPr/>
            <p:nvPr/>
          </p:nvSpPr>
          <p:spPr>
            <a:xfrm>
              <a:off x="22280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8" name="Oval 247"/>
            <p:cNvSpPr/>
            <p:nvPr/>
          </p:nvSpPr>
          <p:spPr>
            <a:xfrm>
              <a:off x="3294893" y="46913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9" name="Oval 248"/>
            <p:cNvSpPr/>
            <p:nvPr/>
          </p:nvSpPr>
          <p:spPr>
            <a:xfrm>
              <a:off x="4209293" y="46913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55" name="Straight Arrow Connector 254"/>
            <p:cNvCxnSpPr/>
            <p:nvPr/>
          </p:nvCxnSpPr>
          <p:spPr>
            <a:xfrm flipH="1">
              <a:off x="2962653" y="235157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/>
            <p:cNvCxnSpPr/>
            <p:nvPr/>
          </p:nvCxnSpPr>
          <p:spPr>
            <a:xfrm flipH="1">
              <a:off x="1953760" y="322120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/>
            <p:cNvCxnSpPr>
              <a:stCxn id="243" idx="3"/>
            </p:cNvCxnSpPr>
            <p:nvPr/>
          </p:nvCxnSpPr>
          <p:spPr>
            <a:xfrm flipH="1">
              <a:off x="3438147" y="402148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/>
            <p:cNvCxnSpPr>
              <a:endCxn id="246" idx="7"/>
            </p:cNvCxnSpPr>
            <p:nvPr/>
          </p:nvCxnSpPr>
          <p:spPr>
            <a:xfrm flipH="1">
              <a:off x="1405842" y="400559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/>
            <p:cNvCxnSpPr/>
            <p:nvPr/>
          </p:nvCxnSpPr>
          <p:spPr>
            <a:xfrm flipH="1">
              <a:off x="5181600" y="402148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/>
            <p:cNvCxnSpPr/>
            <p:nvPr/>
          </p:nvCxnSpPr>
          <p:spPr>
            <a:xfrm flipH="1">
              <a:off x="5647948" y="324359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/>
            <p:cNvCxnSpPr/>
            <p:nvPr/>
          </p:nvCxnSpPr>
          <p:spPr>
            <a:xfrm>
              <a:off x="30480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/>
            <p:nvPr/>
          </p:nvCxnSpPr>
          <p:spPr>
            <a:xfrm>
              <a:off x="67056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/>
            <p:cNvCxnSpPr/>
            <p:nvPr/>
          </p:nvCxnSpPr>
          <p:spPr>
            <a:xfrm>
              <a:off x="2029959" y="400559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/>
            <p:cNvCxnSpPr/>
            <p:nvPr/>
          </p:nvCxnSpPr>
          <p:spPr>
            <a:xfrm>
              <a:off x="3942770" y="4013351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/>
            <p:cNvCxnSpPr/>
            <p:nvPr/>
          </p:nvCxnSpPr>
          <p:spPr>
            <a:xfrm>
              <a:off x="5763759" y="400559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/>
            <p:cNvCxnSpPr/>
            <p:nvPr/>
          </p:nvCxnSpPr>
          <p:spPr>
            <a:xfrm>
              <a:off x="4800600" y="239634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6" name="Group 275"/>
            <p:cNvGrpSpPr/>
            <p:nvPr/>
          </p:nvGrpSpPr>
          <p:grpSpPr>
            <a:xfrm>
              <a:off x="4419600" y="1600200"/>
              <a:ext cx="502924" cy="621357"/>
              <a:chOff x="1203952" y="3870811"/>
              <a:chExt cx="502924" cy="621357"/>
            </a:xfrm>
          </p:grpSpPr>
          <p:cxnSp>
            <p:nvCxnSpPr>
              <p:cNvPr id="313" name="Elbow Connector 31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TextBox 313"/>
              <p:cNvSpPr txBox="1"/>
              <p:nvPr/>
            </p:nvSpPr>
            <p:spPr>
              <a:xfrm>
                <a:off x="1203952" y="3870811"/>
                <a:ext cx="5029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  T</a:t>
                </a:r>
              </a:p>
            </p:txBody>
          </p:sp>
        </p:grpSp>
        <p:sp>
          <p:nvSpPr>
            <p:cNvPr id="277" name="TextBox 276"/>
            <p:cNvSpPr txBox="1"/>
            <p:nvPr/>
          </p:nvSpPr>
          <p:spPr>
            <a:xfrm>
              <a:off x="1143000" y="464820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28194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28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4495800" y="2209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46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64008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67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22098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25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1770894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31</a:t>
              </a: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41</a:t>
              </a: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3733800" y="38100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35</a:t>
              </a: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54864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49</a:t>
              </a: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7239000" y="3810000"/>
            <a:ext cx="762000" cy="717234"/>
            <a:chOff x="5562600" y="5410200"/>
            <a:chExt cx="762000" cy="717234"/>
          </a:xfrm>
        </p:grpSpPr>
        <p:grpSp>
          <p:nvGrpSpPr>
            <p:cNvPr id="114" name="Group 113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154" name="Group 15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71" name="Group 17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72" name="Straight Connector 17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69" name="Straight Arrow Connector 168"/>
                <p:cNvCxnSpPr>
                  <a:stCxn id="116" idx="3"/>
                  <a:endCxn id="170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20" name="Group 119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2" name="Rectangle 121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7" name="Group 13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38" name="Straight Connector 13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Straight Connector 15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1" name="Straight Arrow Connector 120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83</a:t>
                </a:r>
              </a:p>
            </p:txBody>
          </p:sp>
        </p:grpSp>
      </p:grpSp>
      <p:grpSp>
        <p:nvGrpSpPr>
          <p:cNvPr id="178" name="Group 177"/>
          <p:cNvGrpSpPr/>
          <p:nvPr/>
        </p:nvGrpSpPr>
        <p:grpSpPr>
          <a:xfrm>
            <a:off x="5791200" y="4692966"/>
            <a:ext cx="762000" cy="717234"/>
            <a:chOff x="5562600" y="5410200"/>
            <a:chExt cx="762000" cy="717234"/>
          </a:xfrm>
        </p:grpSpPr>
        <p:grpSp>
          <p:nvGrpSpPr>
            <p:cNvPr id="180" name="Group 179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88" name="Group 18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01" name="Group 200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03" name="Rectangle 202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04" name="Group 203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05" name="Straight Connector 204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6" name="Straight Connector 205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02" name="Straight Arrow Connector 201"/>
                <p:cNvCxnSpPr>
                  <a:stCxn id="186" idx="3"/>
                  <a:endCxn id="203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97" name="Rectangle 19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98" name="Group 19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99" name="Straight Connector 19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" name="Straight Connector 19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96" name="Straight Arrow Connector 19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5" name="Group 18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86" name="Oval 18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54</a:t>
                </a:r>
              </a:p>
            </p:txBody>
          </p:sp>
        </p:grpSp>
      </p:grpSp>
      <p:grpSp>
        <p:nvGrpSpPr>
          <p:cNvPr id="208" name="Group 207"/>
          <p:cNvGrpSpPr/>
          <p:nvPr/>
        </p:nvGrpSpPr>
        <p:grpSpPr>
          <a:xfrm>
            <a:off x="4191000" y="5181600"/>
            <a:ext cx="762000" cy="717234"/>
            <a:chOff x="5562600" y="5410200"/>
            <a:chExt cx="762000" cy="717234"/>
          </a:xfrm>
        </p:grpSpPr>
        <p:grpSp>
          <p:nvGrpSpPr>
            <p:cNvPr id="209" name="Group 208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213" name="Group 212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22" name="Group 221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28" name="Rectangle 227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29" name="Group 228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30" name="Straight Connector 229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1" name="Straight Connector 230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27" name="Straight Arrow Connector 226"/>
                <p:cNvCxnSpPr>
                  <a:stCxn id="211" idx="3"/>
                  <a:endCxn id="228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215" name="Group 21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17" name="Rectangle 21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18" name="Group 21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19" name="Straight Connector 21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0" name="Straight Connector 21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16" name="Straight Arrow Connector 21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0" name="Group 209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211" name="Oval 210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12" name="TextBox 211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44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152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Insertion in a red-black tree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2800" b="1" dirty="0">
                <a:solidFill>
                  <a:srgbClr val="C00000"/>
                </a:solidFill>
              </a:rPr>
              <a:t>summary till now …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Let 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dirty="0"/>
              <a:t> be the newly inserted node. Assign </a:t>
            </a:r>
            <a:r>
              <a:rPr lang="en-US" sz="2000" b="1" dirty="0">
                <a:solidFill>
                  <a:srgbClr val="FF0000"/>
                </a:solidFill>
              </a:rPr>
              <a:t>red</a:t>
            </a:r>
            <a:r>
              <a:rPr lang="en-US" sz="2000" dirty="0"/>
              <a:t> color to 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Case 1:</a:t>
            </a:r>
            <a:r>
              <a:rPr lang="en-US" sz="2000" dirty="0"/>
              <a:t> </a:t>
            </a:r>
            <a:r>
              <a:rPr lang="en-US" sz="2000" b="1" i="1" dirty="0"/>
              <a:t>parent</a:t>
            </a:r>
            <a:r>
              <a:rPr lang="en-US" sz="2000" dirty="0"/>
              <a:t>(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dirty="0"/>
              <a:t>) is </a:t>
            </a:r>
            <a:r>
              <a:rPr lang="en-US" sz="2000" b="1" dirty="0"/>
              <a:t>black</a:t>
            </a:r>
            <a:r>
              <a:rPr lang="en-US" sz="2000" dirty="0"/>
              <a:t>  </a:t>
            </a:r>
          </a:p>
          <a:p>
            <a:pPr marL="0" indent="0">
              <a:buNone/>
            </a:pPr>
            <a:r>
              <a:rPr lang="en-US" sz="2000" dirty="0"/>
              <a:t>                                    nothing needs to be done.</a:t>
            </a: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Case 2:</a:t>
            </a:r>
            <a:r>
              <a:rPr lang="en-US" sz="2000" dirty="0"/>
              <a:t> </a:t>
            </a:r>
            <a:r>
              <a:rPr lang="en-US" sz="2000" b="1" i="1" dirty="0"/>
              <a:t>parent</a:t>
            </a:r>
            <a:r>
              <a:rPr lang="en-US" sz="2000" dirty="0"/>
              <a:t>(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dirty="0"/>
              <a:t>) is </a:t>
            </a:r>
            <a:r>
              <a:rPr lang="en-US" sz="2000" b="1" dirty="0">
                <a:solidFill>
                  <a:srgbClr val="FF0000"/>
                </a:solidFill>
              </a:rPr>
              <a:t>red</a:t>
            </a:r>
            <a:r>
              <a:rPr lang="en-US" sz="2000" dirty="0"/>
              <a:t>  and </a:t>
            </a:r>
            <a:r>
              <a:rPr lang="en-US" sz="2000" b="1" i="1" dirty="0"/>
              <a:t>uncle</a:t>
            </a:r>
            <a:r>
              <a:rPr lang="en-US" sz="2000" dirty="0"/>
              <a:t>(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dirty="0"/>
              <a:t>) is </a:t>
            </a:r>
            <a:r>
              <a:rPr lang="en-US" sz="2000" b="1" dirty="0">
                <a:solidFill>
                  <a:srgbClr val="FF0000"/>
                </a:solidFill>
              </a:rPr>
              <a:t>red</a:t>
            </a:r>
            <a:r>
              <a:rPr lang="en-US" sz="2000" dirty="0"/>
              <a:t>, </a:t>
            </a:r>
          </a:p>
          <a:p>
            <a:pPr marL="0" indent="0">
              <a:buNone/>
            </a:pPr>
            <a:r>
              <a:rPr lang="en-US" sz="2000" dirty="0"/>
              <a:t>     Swap colors of </a:t>
            </a:r>
            <a:r>
              <a:rPr lang="en-US" sz="2000" b="1" i="1" dirty="0"/>
              <a:t>parent</a:t>
            </a:r>
            <a:r>
              <a:rPr lang="en-US" sz="2000" dirty="0"/>
              <a:t> (and </a:t>
            </a:r>
            <a:r>
              <a:rPr lang="en-US" sz="2000" b="1" i="1" dirty="0"/>
              <a:t>uncle</a:t>
            </a:r>
            <a:r>
              <a:rPr lang="en-US" sz="2000" dirty="0"/>
              <a:t>) with </a:t>
            </a:r>
            <a:r>
              <a:rPr lang="en-US" sz="2000" b="1" i="1" dirty="0"/>
              <a:t>grandparent</a:t>
            </a:r>
            <a:r>
              <a:rPr lang="en-US" sz="2000" dirty="0"/>
              <a:t>(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dirty="0"/>
              <a:t>).</a:t>
            </a:r>
          </a:p>
          <a:p>
            <a:pPr marL="0" indent="0">
              <a:buNone/>
            </a:pPr>
            <a:r>
              <a:rPr lang="en-US" sz="2000" dirty="0"/>
              <a:t>     This balances the color at 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dirty="0"/>
              <a:t> but may lead to </a:t>
            </a:r>
            <a:r>
              <a:rPr lang="en-US" sz="2000" u="sng" dirty="0"/>
              <a:t>imbalance</a:t>
            </a:r>
            <a:r>
              <a:rPr lang="en-US" sz="2000" dirty="0"/>
              <a:t> of color at</a:t>
            </a:r>
          </a:p>
          <a:p>
            <a:pPr marL="0" indent="0">
              <a:buNone/>
            </a:pPr>
            <a:r>
              <a:rPr lang="en-US" sz="2000" dirty="0"/>
              <a:t>     grandparent of 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dirty="0"/>
              <a:t>. So 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dirty="0">
                <a:sym typeface="Wingdings" pitchFamily="2" charset="2"/>
              </a:rPr>
              <a:t></a:t>
            </a:r>
            <a:r>
              <a:rPr lang="en-US" sz="2000" dirty="0"/>
              <a:t> </a:t>
            </a:r>
            <a:r>
              <a:rPr lang="en-US" sz="2000" b="1" i="1" dirty="0"/>
              <a:t>grandparent</a:t>
            </a:r>
            <a:r>
              <a:rPr lang="en-US" sz="2000" dirty="0"/>
              <a:t>(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dirty="0"/>
              <a:t>), and proceed upwards similarly. </a:t>
            </a:r>
          </a:p>
          <a:p>
            <a:pPr marL="0" indent="0">
              <a:buNone/>
            </a:pPr>
            <a:r>
              <a:rPr lang="en-US" sz="2000" dirty="0"/>
              <a:t>     If in this manner </a:t>
            </a:r>
            <a:r>
              <a:rPr lang="en-US" sz="2000" i="1" dirty="0">
                <a:solidFill>
                  <a:srgbClr val="0070C0"/>
                </a:solidFill>
              </a:rPr>
              <a:t>p </a:t>
            </a:r>
            <a:r>
              <a:rPr lang="en-US" sz="2000" dirty="0"/>
              <a:t>becomes </a:t>
            </a:r>
            <a:r>
              <a:rPr lang="en-US" sz="2000" b="1" dirty="0"/>
              <a:t>root</a:t>
            </a:r>
            <a:r>
              <a:rPr lang="en-US" sz="2000" dirty="0"/>
              <a:t>, then we color it </a:t>
            </a:r>
            <a:r>
              <a:rPr lang="en-US" sz="2000" b="1" dirty="0"/>
              <a:t>black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Case 3:</a:t>
            </a:r>
            <a:r>
              <a:rPr lang="en-US" sz="2000" dirty="0"/>
              <a:t> </a:t>
            </a:r>
            <a:r>
              <a:rPr lang="en-US" sz="2000" b="1" i="1" dirty="0"/>
              <a:t>parent</a:t>
            </a:r>
            <a:r>
              <a:rPr lang="en-US" sz="2000" dirty="0"/>
              <a:t>(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dirty="0"/>
              <a:t>) is </a:t>
            </a:r>
            <a:r>
              <a:rPr lang="en-US" sz="2000" b="1" dirty="0">
                <a:solidFill>
                  <a:srgbClr val="FF0000"/>
                </a:solidFill>
              </a:rPr>
              <a:t>red</a:t>
            </a:r>
            <a:r>
              <a:rPr lang="en-US" sz="2000" dirty="0"/>
              <a:t>  and </a:t>
            </a:r>
            <a:r>
              <a:rPr lang="en-US" sz="2000" b="1" i="1" dirty="0"/>
              <a:t>uncle</a:t>
            </a:r>
            <a:r>
              <a:rPr lang="en-US" sz="2000" dirty="0"/>
              <a:t>(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dirty="0"/>
              <a:t>) is </a:t>
            </a:r>
            <a:r>
              <a:rPr lang="en-US" sz="2000" b="1" dirty="0"/>
              <a:t>black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en-US" sz="2000" dirty="0"/>
              <a:t>                            </a:t>
            </a:r>
            <a:r>
              <a:rPr lang="en-US" sz="2000" b="1" dirty="0">
                <a:solidFill>
                  <a:srgbClr val="7030A0"/>
                </a:solidFill>
              </a:rPr>
              <a:t>This is a nontrivial case. So we need some more tools ….</a:t>
            </a:r>
          </a:p>
          <a:p>
            <a:pPr marL="0" indent="0">
              <a:buNone/>
            </a:pPr>
            <a:r>
              <a:rPr lang="en-US" sz="2000" dirty="0"/>
              <a:t>    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3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 </a:t>
            </a:r>
            <a:r>
              <a:rPr lang="en-US" sz="3200" b="1" dirty="0">
                <a:solidFill>
                  <a:srgbClr val="7030A0"/>
                </a:solidFill>
              </a:rPr>
              <a:t>Handling case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4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Description of Case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endParaRPr lang="en-US" sz="2400" i="1" dirty="0">
              <a:solidFill>
                <a:srgbClr val="0070C0"/>
              </a:solidFill>
            </a:endParaRPr>
          </a:p>
          <a:p>
            <a:r>
              <a:rPr lang="en-US" sz="2400" i="1" dirty="0">
                <a:solidFill>
                  <a:srgbClr val="0070C0"/>
                </a:solidFill>
              </a:rPr>
              <a:t>p</a:t>
            </a:r>
            <a:r>
              <a:rPr lang="en-US" sz="2400" i="1" dirty="0"/>
              <a:t> </a:t>
            </a:r>
            <a:r>
              <a:rPr lang="en-US" sz="2400" dirty="0"/>
              <a:t>is a </a:t>
            </a:r>
            <a:r>
              <a:rPr lang="en-US" sz="2400" b="1" dirty="0">
                <a:solidFill>
                  <a:srgbClr val="FF0000"/>
                </a:solidFill>
              </a:rPr>
              <a:t>red</a:t>
            </a:r>
            <a:r>
              <a:rPr lang="en-US" sz="2400" dirty="0"/>
              <a:t> colored node.</a:t>
            </a:r>
          </a:p>
          <a:p>
            <a:r>
              <a:rPr lang="en-US" sz="2400" b="1" i="1" dirty="0"/>
              <a:t>parent</a:t>
            </a:r>
            <a:r>
              <a:rPr lang="en-US" sz="2400" i="1" dirty="0"/>
              <a:t>(</a:t>
            </a:r>
            <a:r>
              <a:rPr lang="en-US" sz="2400" i="1" dirty="0">
                <a:solidFill>
                  <a:srgbClr val="0070C0"/>
                </a:solidFill>
              </a:rPr>
              <a:t>p</a:t>
            </a:r>
            <a:r>
              <a:rPr lang="en-US" sz="2400" i="1" dirty="0"/>
              <a:t>) </a:t>
            </a:r>
            <a:r>
              <a:rPr lang="en-US" sz="2400" dirty="0"/>
              <a:t>is also </a:t>
            </a:r>
            <a:r>
              <a:rPr lang="en-US" sz="2400" b="1" dirty="0">
                <a:solidFill>
                  <a:srgbClr val="FF0000"/>
                </a:solidFill>
              </a:rPr>
              <a:t>red</a:t>
            </a:r>
            <a:r>
              <a:rPr lang="en-US" sz="2400" i="1" dirty="0"/>
              <a:t>.</a:t>
            </a:r>
          </a:p>
          <a:p>
            <a:r>
              <a:rPr lang="en-US" sz="2400" b="1" i="1" dirty="0"/>
              <a:t>uncle</a:t>
            </a:r>
            <a:r>
              <a:rPr lang="en-US" sz="2400" i="1" dirty="0"/>
              <a:t>(</a:t>
            </a:r>
            <a:r>
              <a:rPr lang="en-US" sz="2400" i="1" dirty="0">
                <a:solidFill>
                  <a:srgbClr val="0070C0"/>
                </a:solidFill>
              </a:rPr>
              <a:t>p</a:t>
            </a:r>
            <a:r>
              <a:rPr lang="en-US" sz="2400" i="1" dirty="0"/>
              <a:t>) </a:t>
            </a:r>
            <a:r>
              <a:rPr lang="en-US" sz="2400" dirty="0"/>
              <a:t>is</a:t>
            </a:r>
            <a:r>
              <a:rPr lang="en-US" sz="2400" i="1" dirty="0"/>
              <a:t> </a:t>
            </a:r>
            <a:r>
              <a:rPr lang="en-US" sz="2400" b="1" dirty="0"/>
              <a:t>black</a:t>
            </a:r>
            <a:r>
              <a:rPr lang="en-US" sz="2400" i="1" dirty="0"/>
              <a:t>.</a:t>
            </a:r>
          </a:p>
          <a:p>
            <a:endParaRPr lang="en-US" sz="2400" i="1" dirty="0"/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Without loss of generality assume: </a:t>
            </a:r>
            <a:r>
              <a:rPr lang="en-US" sz="2000" dirty="0"/>
              <a:t> </a:t>
            </a:r>
            <a:r>
              <a:rPr lang="en-US" sz="2000" b="1" i="1" dirty="0"/>
              <a:t>parent</a:t>
            </a:r>
            <a:r>
              <a:rPr lang="en-US" sz="2000" i="1" dirty="0"/>
              <a:t>(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i="1" dirty="0"/>
              <a:t>) </a:t>
            </a:r>
            <a:r>
              <a:rPr lang="en-US" sz="2000" dirty="0">
                <a:solidFill>
                  <a:srgbClr val="7030A0"/>
                </a:solidFill>
              </a:rPr>
              <a:t>is</a:t>
            </a:r>
            <a:r>
              <a:rPr lang="en-US" sz="2000" i="1" dirty="0"/>
              <a:t> </a:t>
            </a:r>
            <a:r>
              <a:rPr lang="en-US" sz="2000" b="1" i="1" dirty="0"/>
              <a:t>left child </a:t>
            </a:r>
            <a:r>
              <a:rPr lang="en-US" sz="2000" dirty="0">
                <a:solidFill>
                  <a:srgbClr val="7030A0"/>
                </a:solidFill>
              </a:rPr>
              <a:t>of</a:t>
            </a:r>
            <a:r>
              <a:rPr lang="en-US" sz="2000" dirty="0"/>
              <a:t> g</a:t>
            </a:r>
            <a:r>
              <a:rPr lang="en-US" sz="2000" b="1" i="1" dirty="0"/>
              <a:t>randparent</a:t>
            </a:r>
            <a:r>
              <a:rPr lang="en-US" sz="2000" i="1" dirty="0"/>
              <a:t>(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i="1" dirty="0"/>
              <a:t>). </a:t>
            </a:r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r>
              <a:rPr lang="en-US" sz="2000" dirty="0"/>
              <a:t>(The case when </a:t>
            </a:r>
            <a:r>
              <a:rPr lang="en-US" sz="2000" b="1" i="1" dirty="0"/>
              <a:t>parent</a:t>
            </a:r>
            <a:r>
              <a:rPr lang="en-US" sz="2000" i="1" dirty="0"/>
              <a:t>(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i="1" dirty="0"/>
              <a:t>) </a:t>
            </a:r>
            <a:r>
              <a:rPr lang="en-US" sz="2000" dirty="0"/>
              <a:t>is</a:t>
            </a:r>
            <a:r>
              <a:rPr lang="en-US" sz="2000" i="1" dirty="0"/>
              <a:t> </a:t>
            </a:r>
            <a:r>
              <a:rPr lang="en-US" sz="2000" b="1" i="1" dirty="0"/>
              <a:t>right child </a:t>
            </a:r>
            <a:r>
              <a:rPr lang="en-US" sz="2000" dirty="0"/>
              <a:t>of </a:t>
            </a:r>
            <a:r>
              <a:rPr lang="en-US" sz="2000" b="1" i="1" dirty="0"/>
              <a:t>grandparent</a:t>
            </a:r>
            <a:r>
              <a:rPr lang="en-US" sz="2000" i="1" dirty="0"/>
              <a:t>(</a:t>
            </a:r>
            <a:r>
              <a:rPr lang="en-US" sz="2000" i="1" dirty="0">
                <a:solidFill>
                  <a:srgbClr val="0070C0"/>
                </a:solidFill>
              </a:rPr>
              <a:t>p</a:t>
            </a:r>
            <a:r>
              <a:rPr lang="en-US" sz="2000" i="1" dirty="0"/>
              <a:t>) </a:t>
            </a:r>
            <a:r>
              <a:rPr lang="en-US" sz="2000" dirty="0"/>
              <a:t>is handled similarly.)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743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Handling the case 3</a:t>
            </a:r>
            <a:br>
              <a:rPr lang="en-US" sz="3200" b="1" dirty="0"/>
            </a:br>
            <a:r>
              <a:rPr lang="en-US" sz="2000" b="1" dirty="0">
                <a:solidFill>
                  <a:srgbClr val="7030A0"/>
                </a:solidFill>
              </a:rPr>
              <a:t>two cases arise depending upon whether p is left/right child of its parent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455506" y="2133600"/>
            <a:ext cx="3125894" cy="2590800"/>
            <a:chOff x="455506" y="2133600"/>
            <a:chExt cx="3125894" cy="2590800"/>
          </a:xfrm>
        </p:grpSpPr>
        <p:grpSp>
          <p:nvGrpSpPr>
            <p:cNvPr id="138" name="Group 137"/>
            <p:cNvGrpSpPr/>
            <p:nvPr/>
          </p:nvGrpSpPr>
          <p:grpSpPr>
            <a:xfrm>
              <a:off x="1138592" y="2133600"/>
              <a:ext cx="2442808" cy="2590800"/>
              <a:chOff x="1062392" y="1295400"/>
              <a:chExt cx="2442808" cy="2590800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 flipH="1">
                <a:off x="1829175" y="2407404"/>
                <a:ext cx="593796" cy="54373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Oval 4"/>
              <p:cNvSpPr/>
              <p:nvPr/>
            </p:nvSpPr>
            <p:spPr>
              <a:xfrm>
                <a:off x="2371436" y="2286000"/>
                <a:ext cx="309209" cy="21180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2"/>
                    </a:solidFill>
                  </a:rPr>
                  <a:t>g</a:t>
                </a:r>
              </a:p>
            </p:txBody>
          </p:sp>
          <p:cxnSp>
            <p:nvCxnSpPr>
              <p:cNvPr id="14" name="Straight Arrow Connector 13"/>
              <p:cNvCxnSpPr>
                <a:endCxn id="79" idx="0"/>
              </p:cNvCxnSpPr>
              <p:nvPr/>
            </p:nvCxnSpPr>
            <p:spPr>
              <a:xfrm>
                <a:off x="2627048" y="2407404"/>
                <a:ext cx="651756" cy="56439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Oval 31"/>
              <p:cNvSpPr/>
              <p:nvPr/>
            </p:nvSpPr>
            <p:spPr>
              <a:xfrm>
                <a:off x="1622206" y="2951137"/>
                <a:ext cx="309208" cy="21181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d</a:t>
                </a:r>
              </a:p>
            </p:txBody>
          </p:sp>
          <p:cxnSp>
            <p:nvCxnSpPr>
              <p:cNvPr id="37" name="Straight Arrow Connector 36"/>
              <p:cNvCxnSpPr>
                <a:stCxn id="32" idx="3"/>
                <a:endCxn id="64" idx="0"/>
              </p:cNvCxnSpPr>
              <p:nvPr/>
            </p:nvCxnSpPr>
            <p:spPr>
              <a:xfrm flipH="1">
                <a:off x="1216996" y="3131928"/>
                <a:ext cx="450492" cy="54246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Oval 44"/>
              <p:cNvSpPr/>
              <p:nvPr/>
            </p:nvSpPr>
            <p:spPr>
              <a:xfrm>
                <a:off x="2962109" y="1507210"/>
                <a:ext cx="309208" cy="2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x</a:t>
                </a:r>
              </a:p>
            </p:txBody>
          </p:sp>
          <p:cxnSp>
            <p:nvCxnSpPr>
              <p:cNvPr id="46" name="Straight Arrow Connector 45"/>
              <p:cNvCxnSpPr>
                <a:endCxn id="5" idx="0"/>
              </p:cNvCxnSpPr>
              <p:nvPr/>
            </p:nvCxnSpPr>
            <p:spPr>
              <a:xfrm flipH="1">
                <a:off x="2526041" y="1719021"/>
                <a:ext cx="534185" cy="56697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>
                <a:stCxn id="45" idx="7"/>
              </p:cNvCxnSpPr>
              <p:nvPr/>
            </p:nvCxnSpPr>
            <p:spPr>
              <a:xfrm flipV="1">
                <a:off x="3226035" y="1295400"/>
                <a:ext cx="279165" cy="242829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>
                <a:stCxn id="45" idx="5"/>
              </p:cNvCxnSpPr>
              <p:nvPr/>
            </p:nvCxnSpPr>
            <p:spPr>
              <a:xfrm>
                <a:off x="3226035" y="1688002"/>
                <a:ext cx="279165" cy="29578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Oval 63"/>
              <p:cNvSpPr/>
              <p:nvPr/>
            </p:nvSpPr>
            <p:spPr>
              <a:xfrm>
                <a:off x="1062392" y="3674390"/>
                <a:ext cx="309208" cy="21181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b</a:t>
                </a:r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3124200" y="2971800"/>
                <a:ext cx="309208" cy="21181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k</a:t>
                </a:r>
              </a:p>
            </p:txBody>
          </p:sp>
        </p:grpSp>
        <p:grpSp>
          <p:nvGrpSpPr>
            <p:cNvPr id="87" name="Group 86"/>
            <p:cNvGrpSpPr/>
            <p:nvPr/>
          </p:nvGrpSpPr>
          <p:grpSpPr>
            <a:xfrm>
              <a:off x="455506" y="3745468"/>
              <a:ext cx="710778" cy="738664"/>
              <a:chOff x="988906" y="2357145"/>
              <a:chExt cx="710778" cy="738664"/>
            </a:xfrm>
          </p:grpSpPr>
          <p:cxnSp>
            <p:nvCxnSpPr>
              <p:cNvPr id="88" name="Straight Arrow Connector 87"/>
              <p:cNvCxnSpPr>
                <a:endCxn id="64" idx="1"/>
              </p:cNvCxnSpPr>
              <p:nvPr/>
            </p:nvCxnSpPr>
            <p:spPr>
              <a:xfrm>
                <a:off x="1219200" y="2590800"/>
                <a:ext cx="480484" cy="505009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/>
              <p:cNvSpPr txBox="1"/>
              <p:nvPr/>
            </p:nvSpPr>
            <p:spPr>
              <a:xfrm>
                <a:off x="988906" y="2357145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</a:t>
                </a: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5889406" y="1883024"/>
            <a:ext cx="1882994" cy="2536576"/>
            <a:chOff x="5889406" y="1883024"/>
            <a:chExt cx="1882994" cy="2536576"/>
          </a:xfrm>
        </p:grpSpPr>
        <p:grpSp>
          <p:nvGrpSpPr>
            <p:cNvPr id="40" name="Group 39"/>
            <p:cNvGrpSpPr/>
            <p:nvPr/>
          </p:nvGrpSpPr>
          <p:grpSpPr>
            <a:xfrm>
              <a:off x="5889406" y="1883024"/>
              <a:ext cx="1882994" cy="2536576"/>
              <a:chOff x="5889406" y="1273424"/>
              <a:chExt cx="1882994" cy="2536576"/>
            </a:xfrm>
          </p:grpSpPr>
          <p:cxnSp>
            <p:nvCxnSpPr>
              <p:cNvPr id="91" name="Straight Arrow Connector 90"/>
              <p:cNvCxnSpPr/>
              <p:nvPr/>
            </p:nvCxnSpPr>
            <p:spPr>
              <a:xfrm flipH="1">
                <a:off x="6096375" y="2385428"/>
                <a:ext cx="593796" cy="54373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Oval 91"/>
              <p:cNvSpPr/>
              <p:nvPr/>
            </p:nvSpPr>
            <p:spPr>
              <a:xfrm>
                <a:off x="6638636" y="2264024"/>
                <a:ext cx="309209" cy="21180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2"/>
                    </a:solidFill>
                  </a:rPr>
                  <a:t>g</a:t>
                </a:r>
              </a:p>
            </p:txBody>
          </p:sp>
          <p:cxnSp>
            <p:nvCxnSpPr>
              <p:cNvPr id="93" name="Straight Arrow Connector 92"/>
              <p:cNvCxnSpPr>
                <a:endCxn id="131" idx="0"/>
              </p:cNvCxnSpPr>
              <p:nvPr/>
            </p:nvCxnSpPr>
            <p:spPr>
              <a:xfrm>
                <a:off x="6894248" y="2385428"/>
                <a:ext cx="651756" cy="56439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Oval 93"/>
              <p:cNvSpPr/>
              <p:nvPr/>
            </p:nvSpPr>
            <p:spPr>
              <a:xfrm>
                <a:off x="5889406" y="2929161"/>
                <a:ext cx="309208" cy="21181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d</a:t>
                </a:r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7229309" y="1485234"/>
                <a:ext cx="309208" cy="2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x</a:t>
                </a:r>
              </a:p>
            </p:txBody>
          </p:sp>
          <p:cxnSp>
            <p:nvCxnSpPr>
              <p:cNvPr id="111" name="Straight Arrow Connector 110"/>
              <p:cNvCxnSpPr>
                <a:endCxn id="92" idx="0"/>
              </p:cNvCxnSpPr>
              <p:nvPr/>
            </p:nvCxnSpPr>
            <p:spPr>
              <a:xfrm flipH="1">
                <a:off x="6793241" y="1697045"/>
                <a:ext cx="534185" cy="56697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>
                <a:stCxn id="110" idx="7"/>
              </p:cNvCxnSpPr>
              <p:nvPr/>
            </p:nvCxnSpPr>
            <p:spPr>
              <a:xfrm flipV="1">
                <a:off x="7493235" y="1273424"/>
                <a:ext cx="279165" cy="242829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>
                <a:stCxn id="110" idx="5"/>
              </p:cNvCxnSpPr>
              <p:nvPr/>
            </p:nvCxnSpPr>
            <p:spPr>
              <a:xfrm>
                <a:off x="7493235" y="1666026"/>
                <a:ext cx="279165" cy="29578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Oval 130"/>
              <p:cNvSpPr/>
              <p:nvPr/>
            </p:nvSpPr>
            <p:spPr>
              <a:xfrm>
                <a:off x="7391400" y="2949824"/>
                <a:ext cx="309208" cy="21181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k</a:t>
                </a:r>
              </a:p>
            </p:txBody>
          </p:sp>
          <p:cxnSp>
            <p:nvCxnSpPr>
              <p:cNvPr id="134" name="Straight Arrow Connector 133"/>
              <p:cNvCxnSpPr/>
              <p:nvPr/>
            </p:nvCxnSpPr>
            <p:spPr>
              <a:xfrm>
                <a:off x="6132371" y="3102224"/>
                <a:ext cx="497029" cy="50885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Oval 136"/>
              <p:cNvSpPr/>
              <p:nvPr/>
            </p:nvSpPr>
            <p:spPr>
              <a:xfrm>
                <a:off x="6490182" y="3611083"/>
                <a:ext cx="291618" cy="19891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f</a:t>
                </a:r>
              </a:p>
            </p:txBody>
          </p:sp>
        </p:grpSp>
        <p:grpSp>
          <p:nvGrpSpPr>
            <p:cNvPr id="143" name="Group 142"/>
            <p:cNvGrpSpPr/>
            <p:nvPr/>
          </p:nvGrpSpPr>
          <p:grpSpPr>
            <a:xfrm>
              <a:off x="6878370" y="3791985"/>
              <a:ext cx="665430" cy="475215"/>
              <a:chOff x="119854" y="1354877"/>
              <a:chExt cx="665430" cy="475215"/>
            </a:xfrm>
          </p:grpSpPr>
          <p:cxnSp>
            <p:nvCxnSpPr>
              <p:cNvPr id="144" name="Straight Arrow Connector 143"/>
              <p:cNvCxnSpPr/>
              <p:nvPr/>
            </p:nvCxnSpPr>
            <p:spPr>
              <a:xfrm flipH="1">
                <a:off x="119854" y="1600192"/>
                <a:ext cx="405212" cy="229900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TextBox 144"/>
              <p:cNvSpPr txBox="1"/>
              <p:nvPr/>
            </p:nvSpPr>
            <p:spPr>
              <a:xfrm>
                <a:off x="478790" y="1354877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</a:t>
                </a:r>
              </a:p>
            </p:txBody>
          </p:sp>
        </p:grpSp>
      </p:grpSp>
      <p:sp>
        <p:nvSpPr>
          <p:cNvPr id="47" name="TextBox 46"/>
          <p:cNvSpPr txBox="1"/>
          <p:nvPr/>
        </p:nvSpPr>
        <p:spPr>
          <a:xfrm>
            <a:off x="533363" y="5754469"/>
            <a:ext cx="2590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Case 3.1:</a:t>
            </a:r>
          </a:p>
          <a:p>
            <a:r>
              <a:rPr lang="en-US" dirty="0"/>
              <a:t>p is </a:t>
            </a:r>
            <a:r>
              <a:rPr lang="en-US" b="1" dirty="0"/>
              <a:t>left child </a:t>
            </a:r>
            <a:r>
              <a:rPr lang="en-US" dirty="0"/>
              <a:t>of its </a:t>
            </a:r>
            <a:r>
              <a:rPr lang="en-US" b="1" dirty="0"/>
              <a:t>parent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181563" y="5791200"/>
            <a:ext cx="2715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Case 3.2:</a:t>
            </a:r>
          </a:p>
          <a:p>
            <a:r>
              <a:rPr lang="en-US" dirty="0"/>
              <a:t>p is </a:t>
            </a:r>
            <a:r>
              <a:rPr lang="en-US" b="1" dirty="0"/>
              <a:t>right child </a:t>
            </a:r>
            <a:r>
              <a:rPr lang="en-US" dirty="0"/>
              <a:t>of its </a:t>
            </a:r>
            <a:r>
              <a:rPr lang="en-US" b="1" dirty="0"/>
              <a:t>parent</a:t>
            </a:r>
          </a:p>
        </p:txBody>
      </p:sp>
      <p:sp>
        <p:nvSpPr>
          <p:cNvPr id="55" name="Cloud Callout 54"/>
          <p:cNvSpPr/>
          <p:nvPr/>
        </p:nvSpPr>
        <p:spPr>
          <a:xfrm>
            <a:off x="2602241" y="4724400"/>
            <a:ext cx="2655559" cy="1296819"/>
          </a:xfrm>
          <a:prstGeom prst="cloudCallout">
            <a:avLst>
              <a:gd name="adj1" fmla="val 21947"/>
              <a:gd name="adj2" fmla="val 6469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Can you transform </a:t>
            </a:r>
            <a:r>
              <a:rPr lang="en-US" sz="1600" b="1" dirty="0">
                <a:solidFill>
                  <a:srgbClr val="7030A0"/>
                </a:solidFill>
              </a:rPr>
              <a:t>Case 3.2 </a:t>
            </a:r>
            <a:r>
              <a:rPr lang="en-US" sz="1600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rgbClr val="7030A0"/>
                </a:solidFill>
              </a:rPr>
              <a:t>Case 3.1</a:t>
            </a:r>
            <a:r>
              <a:rPr lang="en-US" sz="1600" dirty="0">
                <a:solidFill>
                  <a:schemeClr val="tx1"/>
                </a:solidFill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204392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7" grpId="0"/>
      <p:bldP spid="146" grpId="0"/>
      <p:bldP spid="55" grpId="0" animBg="1"/>
      <p:bldP spid="55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Handling the case 3</a:t>
            </a:r>
            <a:br>
              <a:rPr lang="en-US" sz="3200" b="1" dirty="0"/>
            </a:br>
            <a:r>
              <a:rPr lang="en-US" sz="2000" b="1" dirty="0">
                <a:solidFill>
                  <a:srgbClr val="7030A0"/>
                </a:solidFill>
              </a:rPr>
              <a:t>two cases arise depending upon whether p is left/right child of its parent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146" name="TextBox 145"/>
          <p:cNvSpPr txBox="1"/>
          <p:nvPr/>
        </p:nvSpPr>
        <p:spPr>
          <a:xfrm>
            <a:off x="5181563" y="5791200"/>
            <a:ext cx="2715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Case 3.2:</a:t>
            </a:r>
          </a:p>
          <a:p>
            <a:r>
              <a:rPr lang="en-US" dirty="0"/>
              <a:t>p is </a:t>
            </a:r>
            <a:r>
              <a:rPr lang="en-US" b="1" dirty="0"/>
              <a:t>right child </a:t>
            </a:r>
            <a:r>
              <a:rPr lang="en-US" dirty="0"/>
              <a:t>of its </a:t>
            </a:r>
            <a:r>
              <a:rPr lang="en-US" b="1" dirty="0"/>
              <a:t>parent</a:t>
            </a:r>
          </a:p>
        </p:txBody>
      </p:sp>
      <p:sp>
        <p:nvSpPr>
          <p:cNvPr id="48" name="Right Arrow 47"/>
          <p:cNvSpPr/>
          <p:nvPr/>
        </p:nvSpPr>
        <p:spPr>
          <a:xfrm flipH="1">
            <a:off x="4155822" y="2971800"/>
            <a:ext cx="1101977" cy="40938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59859" y="1828800"/>
            <a:ext cx="3404335" cy="3886200"/>
            <a:chOff x="459859" y="1828800"/>
            <a:chExt cx="3404335" cy="3886200"/>
          </a:xfrm>
        </p:grpSpPr>
        <p:grpSp>
          <p:nvGrpSpPr>
            <p:cNvPr id="13" name="Group 12"/>
            <p:cNvGrpSpPr/>
            <p:nvPr/>
          </p:nvGrpSpPr>
          <p:grpSpPr>
            <a:xfrm>
              <a:off x="459859" y="1828800"/>
              <a:ext cx="3404335" cy="3886200"/>
              <a:chOff x="459859" y="1219200"/>
              <a:chExt cx="3404335" cy="3886200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1219200" y="1219200"/>
                <a:ext cx="2644994" cy="2536576"/>
                <a:chOff x="5127406" y="1273424"/>
                <a:chExt cx="2644994" cy="2536576"/>
              </a:xfrm>
            </p:grpSpPr>
            <p:cxnSp>
              <p:nvCxnSpPr>
                <p:cNvPr id="50" name="Straight Arrow Connector 49"/>
                <p:cNvCxnSpPr/>
                <p:nvPr/>
              </p:nvCxnSpPr>
              <p:spPr>
                <a:xfrm flipH="1">
                  <a:off x="6096375" y="2385428"/>
                  <a:ext cx="593796" cy="54373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Oval 50"/>
                <p:cNvSpPr/>
                <p:nvPr/>
              </p:nvSpPr>
              <p:spPr>
                <a:xfrm>
                  <a:off x="6638636" y="2264024"/>
                  <a:ext cx="309209" cy="21180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bg2"/>
                      </a:solidFill>
                    </a:rPr>
                    <a:t>g</a:t>
                  </a:r>
                </a:p>
              </p:txBody>
            </p:sp>
            <p:cxnSp>
              <p:nvCxnSpPr>
                <p:cNvPr id="52" name="Straight Arrow Connector 51"/>
                <p:cNvCxnSpPr>
                  <a:endCxn id="58" idx="0"/>
                </p:cNvCxnSpPr>
                <p:nvPr/>
              </p:nvCxnSpPr>
              <p:spPr>
                <a:xfrm>
                  <a:off x="6894248" y="2385428"/>
                  <a:ext cx="651756" cy="56439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/>
                <p:cNvSpPr/>
                <p:nvPr/>
              </p:nvSpPr>
              <p:spPr>
                <a:xfrm>
                  <a:off x="5889406" y="2929161"/>
                  <a:ext cx="309208" cy="211810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f</a:t>
                  </a: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7229309" y="1485234"/>
                  <a:ext cx="309208" cy="21181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rgbClr val="0070C0"/>
                      </a:solidFill>
                    </a:rPr>
                    <a:t>x</a:t>
                  </a:r>
                </a:p>
              </p:txBody>
            </p:sp>
            <p:cxnSp>
              <p:nvCxnSpPr>
                <p:cNvPr id="55" name="Straight Arrow Connector 54"/>
                <p:cNvCxnSpPr>
                  <a:endCxn id="51" idx="0"/>
                </p:cNvCxnSpPr>
                <p:nvPr/>
              </p:nvCxnSpPr>
              <p:spPr>
                <a:xfrm flipH="1">
                  <a:off x="6793241" y="1697045"/>
                  <a:ext cx="534185" cy="566979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>
                  <a:stCxn id="54" idx="7"/>
                </p:cNvCxnSpPr>
                <p:nvPr/>
              </p:nvCxnSpPr>
              <p:spPr>
                <a:xfrm flipV="1">
                  <a:off x="7493235" y="1273424"/>
                  <a:ext cx="279165" cy="24282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>
                  <a:stCxn id="54" idx="5"/>
                </p:cNvCxnSpPr>
                <p:nvPr/>
              </p:nvCxnSpPr>
              <p:spPr>
                <a:xfrm>
                  <a:off x="7493235" y="1666026"/>
                  <a:ext cx="279165" cy="29578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/>
                <p:cNvSpPr/>
                <p:nvPr/>
              </p:nvSpPr>
              <p:spPr>
                <a:xfrm>
                  <a:off x="7391400" y="2949824"/>
                  <a:ext cx="309208" cy="21181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k</a:t>
                  </a:r>
                </a:p>
              </p:txBody>
            </p:sp>
            <p:sp>
              <p:nvSpPr>
                <p:cNvPr id="60" name="Oval 59"/>
                <p:cNvSpPr/>
                <p:nvPr/>
              </p:nvSpPr>
              <p:spPr>
                <a:xfrm>
                  <a:off x="5127406" y="3611083"/>
                  <a:ext cx="291618" cy="198917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d</a:t>
                  </a:r>
                </a:p>
              </p:txBody>
            </p:sp>
          </p:grpSp>
          <p:grpSp>
            <p:nvGrpSpPr>
              <p:cNvPr id="61" name="Group 60"/>
              <p:cNvGrpSpPr/>
              <p:nvPr/>
            </p:nvGrpSpPr>
            <p:grpSpPr>
              <a:xfrm>
                <a:off x="459859" y="3041480"/>
                <a:ext cx="2457010" cy="2063920"/>
                <a:chOff x="4495800" y="3109952"/>
                <a:chExt cx="2457010" cy="2063920"/>
              </a:xfrm>
            </p:grpSpPr>
            <p:sp>
              <p:nvSpPr>
                <p:cNvPr id="62" name="Isosceles Triangle 61"/>
                <p:cNvSpPr/>
                <p:nvPr/>
              </p:nvSpPr>
              <p:spPr>
                <a:xfrm>
                  <a:off x="5410200" y="4356336"/>
                  <a:ext cx="684369" cy="817536"/>
                </a:xfrm>
                <a:prstGeom prst="triangl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65" name="Isosceles Triangle 64"/>
                <p:cNvSpPr/>
                <p:nvPr/>
              </p:nvSpPr>
              <p:spPr>
                <a:xfrm>
                  <a:off x="4495800" y="4426016"/>
                  <a:ext cx="614294" cy="741336"/>
                </a:xfrm>
                <a:prstGeom prst="triangl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66" name="Isosceles Triangle 65"/>
                <p:cNvSpPr/>
                <p:nvPr/>
              </p:nvSpPr>
              <p:spPr>
                <a:xfrm>
                  <a:off x="6272293" y="3625331"/>
                  <a:ext cx="680517" cy="817536"/>
                </a:xfrm>
                <a:prstGeom prst="triangl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</a:t>
                  </a:r>
                </a:p>
                <a:p>
                  <a:pPr algn="ctr"/>
                  <a:endParaRPr lang="en-US" sz="700" dirty="0"/>
                </a:p>
              </p:txBody>
            </p:sp>
            <p:cxnSp>
              <p:nvCxnSpPr>
                <p:cNvPr id="67" name="Straight Arrow Connector 66"/>
                <p:cNvCxnSpPr>
                  <a:endCxn id="60" idx="7"/>
                </p:cNvCxnSpPr>
                <p:nvPr/>
              </p:nvCxnSpPr>
              <p:spPr>
                <a:xfrm flipH="1">
                  <a:off x="5506712" y="3109952"/>
                  <a:ext cx="513088" cy="53799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/>
                <p:cNvCxnSpPr>
                  <a:stCxn id="60" idx="5"/>
                  <a:endCxn id="62" idx="0"/>
                </p:cNvCxnSpPr>
                <p:nvPr/>
              </p:nvCxnSpPr>
              <p:spPr>
                <a:xfrm>
                  <a:off x="5506712" y="3788597"/>
                  <a:ext cx="245673" cy="567739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Arrow Connector 68"/>
                <p:cNvCxnSpPr/>
                <p:nvPr/>
              </p:nvCxnSpPr>
              <p:spPr>
                <a:xfrm>
                  <a:off x="6283859" y="3116472"/>
                  <a:ext cx="345541" cy="53282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0" name="Straight Arrow Connector 69"/>
            <p:cNvCxnSpPr>
              <a:stCxn id="60" idx="3"/>
            </p:cNvCxnSpPr>
            <p:nvPr/>
          </p:nvCxnSpPr>
          <p:spPr>
            <a:xfrm flipH="1">
              <a:off x="764347" y="4336245"/>
              <a:ext cx="497559" cy="61675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Up Ribbon 73"/>
          <p:cNvSpPr/>
          <p:nvPr/>
        </p:nvSpPr>
        <p:spPr>
          <a:xfrm>
            <a:off x="304800" y="5943601"/>
            <a:ext cx="3590322" cy="838199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Vow!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This is exactly </a:t>
            </a:r>
            <a:r>
              <a:rPr lang="en-US" b="1" dirty="0">
                <a:solidFill>
                  <a:srgbClr val="7030A0"/>
                </a:solidFill>
              </a:rPr>
              <a:t>Case 3.1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5889406" y="1883024"/>
            <a:ext cx="1882994" cy="2536576"/>
            <a:chOff x="5889406" y="1273424"/>
            <a:chExt cx="1882994" cy="2536576"/>
          </a:xfrm>
        </p:grpSpPr>
        <p:cxnSp>
          <p:nvCxnSpPr>
            <p:cNvPr id="63" name="Straight Arrow Connector 62"/>
            <p:cNvCxnSpPr/>
            <p:nvPr/>
          </p:nvCxnSpPr>
          <p:spPr>
            <a:xfrm flipH="1">
              <a:off x="6096375" y="2385428"/>
              <a:ext cx="593796" cy="5437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6638636" y="2264024"/>
              <a:ext cx="309209" cy="21180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2"/>
                  </a:solidFill>
                </a:rPr>
                <a:t>g</a:t>
              </a:r>
            </a:p>
          </p:txBody>
        </p:sp>
        <p:cxnSp>
          <p:nvCxnSpPr>
            <p:cNvPr id="71" name="Straight Arrow Connector 70"/>
            <p:cNvCxnSpPr>
              <a:endCxn id="78" idx="0"/>
            </p:cNvCxnSpPr>
            <p:nvPr/>
          </p:nvCxnSpPr>
          <p:spPr>
            <a:xfrm>
              <a:off x="6894248" y="2385428"/>
              <a:ext cx="651756" cy="5643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/>
            <p:cNvSpPr/>
            <p:nvPr/>
          </p:nvSpPr>
          <p:spPr>
            <a:xfrm>
              <a:off x="5889406" y="2929161"/>
              <a:ext cx="309208" cy="211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d</a:t>
              </a:r>
            </a:p>
          </p:txBody>
        </p:sp>
        <p:sp>
          <p:nvSpPr>
            <p:cNvPr id="73" name="Oval 72"/>
            <p:cNvSpPr/>
            <p:nvPr/>
          </p:nvSpPr>
          <p:spPr>
            <a:xfrm>
              <a:off x="7229309" y="1485234"/>
              <a:ext cx="309208" cy="21181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x</a:t>
              </a:r>
            </a:p>
          </p:txBody>
        </p:sp>
        <p:cxnSp>
          <p:nvCxnSpPr>
            <p:cNvPr id="75" name="Straight Arrow Connector 74"/>
            <p:cNvCxnSpPr>
              <a:endCxn id="64" idx="0"/>
            </p:cNvCxnSpPr>
            <p:nvPr/>
          </p:nvCxnSpPr>
          <p:spPr>
            <a:xfrm flipH="1">
              <a:off x="6793241" y="1697045"/>
              <a:ext cx="534185" cy="5669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73" idx="7"/>
            </p:cNvCxnSpPr>
            <p:nvPr/>
          </p:nvCxnSpPr>
          <p:spPr>
            <a:xfrm flipV="1">
              <a:off x="7493235" y="1273424"/>
              <a:ext cx="279165" cy="242829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73" idx="5"/>
            </p:cNvCxnSpPr>
            <p:nvPr/>
          </p:nvCxnSpPr>
          <p:spPr>
            <a:xfrm>
              <a:off x="7493235" y="1666026"/>
              <a:ext cx="279165" cy="29578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/>
            <p:cNvSpPr/>
            <p:nvPr/>
          </p:nvSpPr>
          <p:spPr>
            <a:xfrm>
              <a:off x="7391400" y="2949824"/>
              <a:ext cx="309208" cy="21181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k</a:t>
              </a:r>
            </a:p>
          </p:txBody>
        </p:sp>
        <p:cxnSp>
          <p:nvCxnSpPr>
            <p:cNvPr id="79" name="Straight Arrow Connector 78"/>
            <p:cNvCxnSpPr/>
            <p:nvPr/>
          </p:nvCxnSpPr>
          <p:spPr>
            <a:xfrm>
              <a:off x="6132371" y="3102224"/>
              <a:ext cx="497029" cy="5088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79"/>
            <p:cNvSpPr/>
            <p:nvPr/>
          </p:nvSpPr>
          <p:spPr>
            <a:xfrm>
              <a:off x="6490182" y="3611083"/>
              <a:ext cx="291618" cy="19891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f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5105400" y="3733800"/>
            <a:ext cx="2280717" cy="1981200"/>
            <a:chOff x="5105400" y="3345072"/>
            <a:chExt cx="2280717" cy="1981200"/>
          </a:xfrm>
        </p:grpSpPr>
        <p:sp>
          <p:nvSpPr>
            <p:cNvPr id="82" name="Isosceles Triangle 81"/>
            <p:cNvSpPr/>
            <p:nvPr/>
          </p:nvSpPr>
          <p:spPr>
            <a:xfrm>
              <a:off x="5945031" y="4508736"/>
              <a:ext cx="684369" cy="8175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3" name="Isosceles Triangle 82"/>
            <p:cNvSpPr/>
            <p:nvPr/>
          </p:nvSpPr>
          <p:spPr>
            <a:xfrm>
              <a:off x="5105400" y="3899136"/>
              <a:ext cx="614294" cy="7413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4" name="Isosceles Triangle 83"/>
            <p:cNvSpPr/>
            <p:nvPr/>
          </p:nvSpPr>
          <p:spPr>
            <a:xfrm>
              <a:off x="6705600" y="4508736"/>
              <a:ext cx="680517" cy="8175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endParaRPr lang="en-US" sz="700" dirty="0"/>
            </a:p>
          </p:txBody>
        </p:sp>
        <p:cxnSp>
          <p:nvCxnSpPr>
            <p:cNvPr id="85" name="Straight Arrow Connector 84"/>
            <p:cNvCxnSpPr/>
            <p:nvPr/>
          </p:nvCxnSpPr>
          <p:spPr>
            <a:xfrm flipH="1">
              <a:off x="5410200" y="3345072"/>
              <a:ext cx="534831" cy="609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>
              <a:endCxn id="82" idx="0"/>
            </p:cNvCxnSpPr>
            <p:nvPr/>
          </p:nvCxnSpPr>
          <p:spPr>
            <a:xfrm flipH="1">
              <a:off x="6287216" y="4030872"/>
              <a:ext cx="252058" cy="4778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endCxn id="84" idx="0"/>
            </p:cNvCxnSpPr>
            <p:nvPr/>
          </p:nvCxnSpPr>
          <p:spPr>
            <a:xfrm>
              <a:off x="6705600" y="4030872"/>
              <a:ext cx="340259" cy="4778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/>
          <p:cNvGrpSpPr/>
          <p:nvPr/>
        </p:nvGrpSpPr>
        <p:grpSpPr>
          <a:xfrm>
            <a:off x="5547565" y="2958941"/>
            <a:ext cx="1081835" cy="774859"/>
            <a:chOff x="361815" y="2069068"/>
            <a:chExt cx="1761453" cy="1055132"/>
          </a:xfrm>
        </p:grpSpPr>
        <p:sp>
          <p:nvSpPr>
            <p:cNvPr id="96" name="Curved Down Arrow 95"/>
            <p:cNvSpPr/>
            <p:nvPr/>
          </p:nvSpPr>
          <p:spPr>
            <a:xfrm flipH="1">
              <a:off x="399728" y="2438400"/>
              <a:ext cx="1443501" cy="685800"/>
            </a:xfrm>
            <a:prstGeom prst="curvedDow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361815" y="2069068"/>
              <a:ext cx="1761453" cy="41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left rotation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810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7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 We need to handle only</a:t>
            </a:r>
            <a:r>
              <a:rPr lang="en-US" sz="3200" b="1" dirty="0">
                <a:solidFill>
                  <a:srgbClr val="7030A0"/>
                </a:solidFill>
              </a:rPr>
              <a:t> case 3.1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0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Handling the case 3.1</a:t>
            </a:r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grpSp>
        <p:nvGrpSpPr>
          <p:cNvPr id="138" name="Group 137"/>
          <p:cNvGrpSpPr/>
          <p:nvPr/>
        </p:nvGrpSpPr>
        <p:grpSpPr>
          <a:xfrm>
            <a:off x="1062392" y="1295400"/>
            <a:ext cx="2442808" cy="2590800"/>
            <a:chOff x="1062392" y="1295400"/>
            <a:chExt cx="2442808" cy="2590800"/>
          </a:xfrm>
        </p:grpSpPr>
        <p:cxnSp>
          <p:nvCxnSpPr>
            <p:cNvPr id="9" name="Straight Arrow Connector 8"/>
            <p:cNvCxnSpPr/>
            <p:nvPr/>
          </p:nvCxnSpPr>
          <p:spPr>
            <a:xfrm flipH="1">
              <a:off x="1829175" y="2407404"/>
              <a:ext cx="593796" cy="5437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2371436" y="2286000"/>
              <a:ext cx="309209" cy="21180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2"/>
                  </a:solidFill>
                </a:rPr>
                <a:t>g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2627048" y="2407404"/>
              <a:ext cx="568944" cy="529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1622206" y="2951137"/>
              <a:ext cx="309208" cy="211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d</a:t>
              </a:r>
            </a:p>
          </p:txBody>
        </p:sp>
        <p:cxnSp>
          <p:nvCxnSpPr>
            <p:cNvPr id="37" name="Straight Arrow Connector 36"/>
            <p:cNvCxnSpPr>
              <a:stCxn id="32" idx="3"/>
              <a:endCxn id="64" idx="0"/>
            </p:cNvCxnSpPr>
            <p:nvPr/>
          </p:nvCxnSpPr>
          <p:spPr>
            <a:xfrm flipH="1">
              <a:off x="1216996" y="3131928"/>
              <a:ext cx="450492" cy="5424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>
            <a:xfrm>
              <a:off x="2962109" y="1507210"/>
              <a:ext cx="309208" cy="21181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x</a:t>
              </a:r>
            </a:p>
          </p:txBody>
        </p:sp>
        <p:cxnSp>
          <p:nvCxnSpPr>
            <p:cNvPr id="46" name="Straight Arrow Connector 45"/>
            <p:cNvCxnSpPr>
              <a:endCxn id="5" idx="0"/>
            </p:cNvCxnSpPr>
            <p:nvPr/>
          </p:nvCxnSpPr>
          <p:spPr>
            <a:xfrm flipH="1">
              <a:off x="2526041" y="1719021"/>
              <a:ext cx="534185" cy="5669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45" idx="7"/>
            </p:cNvCxnSpPr>
            <p:nvPr/>
          </p:nvCxnSpPr>
          <p:spPr>
            <a:xfrm flipV="1">
              <a:off x="3226035" y="1295400"/>
              <a:ext cx="279165" cy="242829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45" idx="5"/>
            </p:cNvCxnSpPr>
            <p:nvPr/>
          </p:nvCxnSpPr>
          <p:spPr>
            <a:xfrm>
              <a:off x="3226035" y="1688002"/>
              <a:ext cx="279165" cy="29578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1062392" y="3674390"/>
              <a:ext cx="309208" cy="211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b</a:t>
              </a:r>
            </a:p>
          </p:txBody>
        </p:sp>
        <p:sp>
          <p:nvSpPr>
            <p:cNvPr id="79" name="Oval 78"/>
            <p:cNvSpPr/>
            <p:nvPr/>
          </p:nvSpPr>
          <p:spPr>
            <a:xfrm>
              <a:off x="3124200" y="2971800"/>
              <a:ext cx="309208" cy="21181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k</a:t>
              </a:r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909706" y="3131928"/>
            <a:ext cx="2747894" cy="1516272"/>
            <a:chOff x="914114" y="3148740"/>
            <a:chExt cx="2747894" cy="1516272"/>
          </a:xfrm>
        </p:grpSpPr>
        <p:sp>
          <p:nvSpPr>
            <p:cNvPr id="34" name="Isosceles Triangle 33"/>
            <p:cNvSpPr/>
            <p:nvPr/>
          </p:nvSpPr>
          <p:spPr>
            <a:xfrm>
              <a:off x="1906431" y="3847476"/>
              <a:ext cx="684369" cy="8175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1864885" y="3148740"/>
              <a:ext cx="351946" cy="5088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Isosceles Triangle 35"/>
            <p:cNvSpPr/>
            <p:nvPr/>
          </p:nvSpPr>
          <p:spPr>
            <a:xfrm>
              <a:off x="914114" y="3923676"/>
              <a:ext cx="614294" cy="7413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2895600" y="3217213"/>
              <a:ext cx="766408" cy="9144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endParaRPr lang="en-US" sz="700" dirty="0"/>
            </a:p>
          </p:txBody>
        </p:sp>
        <p:sp>
          <p:nvSpPr>
            <p:cNvPr id="86" name="Oval 85"/>
            <p:cNvSpPr/>
            <p:nvPr/>
          </p:nvSpPr>
          <p:spPr>
            <a:xfrm>
              <a:off x="2133600" y="3657599"/>
              <a:ext cx="291618" cy="19891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f</a:t>
              </a: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398590" y="2971800"/>
            <a:ext cx="709084" cy="733609"/>
            <a:chOff x="914400" y="1524000"/>
            <a:chExt cx="709084" cy="733609"/>
          </a:xfrm>
        </p:grpSpPr>
        <p:cxnSp>
          <p:nvCxnSpPr>
            <p:cNvPr id="88" name="Straight Arrow Connector 87"/>
            <p:cNvCxnSpPr>
              <a:endCxn id="64" idx="1"/>
            </p:cNvCxnSpPr>
            <p:nvPr/>
          </p:nvCxnSpPr>
          <p:spPr>
            <a:xfrm>
              <a:off x="1143000" y="1752600"/>
              <a:ext cx="480484" cy="50500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/>
            <p:cNvSpPr txBox="1"/>
            <p:nvPr/>
          </p:nvSpPr>
          <p:spPr>
            <a:xfrm>
              <a:off x="914400" y="15240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sp>
        <p:nvSpPr>
          <p:cNvPr id="6" name="Cloud Callout 5"/>
          <p:cNvSpPr/>
          <p:nvPr/>
        </p:nvSpPr>
        <p:spPr>
          <a:xfrm>
            <a:off x="5105400" y="2951138"/>
            <a:ext cx="2819400" cy="1326394"/>
          </a:xfrm>
          <a:prstGeom prst="cloudCallout">
            <a:avLst>
              <a:gd name="adj1" fmla="val 32660"/>
              <a:gd name="adj2" fmla="val 7955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we say anything about color of  node 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7200" y="3370913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black</a:t>
            </a:r>
          </a:p>
        </p:txBody>
      </p:sp>
    </p:spTree>
    <p:extLst>
      <p:ext uri="{BB962C8B-B14F-4D97-AF65-F5344CB8AC3E}">
        <p14:creationId xmlns:p14="http://schemas.microsoft.com/office/powerpoint/2010/main" val="9089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Handling the case 3.1</a:t>
            </a:r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grpSp>
        <p:nvGrpSpPr>
          <p:cNvPr id="138" name="Group 137"/>
          <p:cNvGrpSpPr/>
          <p:nvPr/>
        </p:nvGrpSpPr>
        <p:grpSpPr>
          <a:xfrm>
            <a:off x="1062392" y="1295400"/>
            <a:ext cx="2442808" cy="2590800"/>
            <a:chOff x="1062392" y="1295400"/>
            <a:chExt cx="2442808" cy="2590800"/>
          </a:xfrm>
        </p:grpSpPr>
        <p:cxnSp>
          <p:nvCxnSpPr>
            <p:cNvPr id="9" name="Straight Arrow Connector 8"/>
            <p:cNvCxnSpPr/>
            <p:nvPr/>
          </p:nvCxnSpPr>
          <p:spPr>
            <a:xfrm flipH="1">
              <a:off x="1829175" y="2407404"/>
              <a:ext cx="593796" cy="5437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2371436" y="2286000"/>
              <a:ext cx="309209" cy="21180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2"/>
                  </a:solidFill>
                </a:rPr>
                <a:t>g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2627048" y="2407404"/>
              <a:ext cx="568944" cy="529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1622206" y="2951137"/>
              <a:ext cx="309208" cy="211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d</a:t>
              </a:r>
            </a:p>
          </p:txBody>
        </p:sp>
        <p:cxnSp>
          <p:nvCxnSpPr>
            <p:cNvPr id="37" name="Straight Arrow Connector 36"/>
            <p:cNvCxnSpPr>
              <a:stCxn id="32" idx="3"/>
              <a:endCxn id="64" idx="0"/>
            </p:cNvCxnSpPr>
            <p:nvPr/>
          </p:nvCxnSpPr>
          <p:spPr>
            <a:xfrm flipH="1">
              <a:off x="1216996" y="3131928"/>
              <a:ext cx="450492" cy="5424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>
            <a:xfrm>
              <a:off x="2962109" y="1507210"/>
              <a:ext cx="309208" cy="21181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x</a:t>
              </a:r>
            </a:p>
          </p:txBody>
        </p:sp>
        <p:cxnSp>
          <p:nvCxnSpPr>
            <p:cNvPr id="46" name="Straight Arrow Connector 45"/>
            <p:cNvCxnSpPr>
              <a:endCxn id="5" idx="0"/>
            </p:cNvCxnSpPr>
            <p:nvPr/>
          </p:nvCxnSpPr>
          <p:spPr>
            <a:xfrm flipH="1">
              <a:off x="2526041" y="1719021"/>
              <a:ext cx="534185" cy="5669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45" idx="7"/>
            </p:cNvCxnSpPr>
            <p:nvPr/>
          </p:nvCxnSpPr>
          <p:spPr>
            <a:xfrm flipV="1">
              <a:off x="3226035" y="1295400"/>
              <a:ext cx="279165" cy="242829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45" idx="5"/>
            </p:cNvCxnSpPr>
            <p:nvPr/>
          </p:nvCxnSpPr>
          <p:spPr>
            <a:xfrm>
              <a:off x="3226035" y="1688002"/>
              <a:ext cx="279165" cy="29578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1062392" y="3674390"/>
              <a:ext cx="309208" cy="211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b</a:t>
              </a:r>
            </a:p>
          </p:txBody>
        </p:sp>
        <p:sp>
          <p:nvSpPr>
            <p:cNvPr id="79" name="Oval 78"/>
            <p:cNvSpPr/>
            <p:nvPr/>
          </p:nvSpPr>
          <p:spPr>
            <a:xfrm>
              <a:off x="3124200" y="2971800"/>
              <a:ext cx="309208" cy="21181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k</a:t>
              </a:r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909706" y="3131928"/>
            <a:ext cx="2747894" cy="1516272"/>
            <a:chOff x="914114" y="3148740"/>
            <a:chExt cx="2747894" cy="1516272"/>
          </a:xfrm>
        </p:grpSpPr>
        <p:sp>
          <p:nvSpPr>
            <p:cNvPr id="34" name="Isosceles Triangle 33"/>
            <p:cNvSpPr/>
            <p:nvPr/>
          </p:nvSpPr>
          <p:spPr>
            <a:xfrm>
              <a:off x="1906431" y="3847476"/>
              <a:ext cx="684369" cy="8175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1864885" y="3148740"/>
              <a:ext cx="351946" cy="5088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Isosceles Triangle 35"/>
            <p:cNvSpPr/>
            <p:nvPr/>
          </p:nvSpPr>
          <p:spPr>
            <a:xfrm>
              <a:off x="914114" y="3923676"/>
              <a:ext cx="614294" cy="7413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2895600" y="3217213"/>
              <a:ext cx="766408" cy="9144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endParaRPr lang="en-US" sz="700" dirty="0"/>
            </a:p>
          </p:txBody>
        </p:sp>
        <p:sp>
          <p:nvSpPr>
            <p:cNvPr id="86" name="Oval 85"/>
            <p:cNvSpPr/>
            <p:nvPr/>
          </p:nvSpPr>
          <p:spPr>
            <a:xfrm>
              <a:off x="2133600" y="3657599"/>
              <a:ext cx="291618" cy="1989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f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98590" y="2971800"/>
            <a:ext cx="709084" cy="733609"/>
            <a:chOff x="914400" y="1524000"/>
            <a:chExt cx="709084" cy="733609"/>
          </a:xfrm>
        </p:grpSpPr>
        <p:cxnSp>
          <p:nvCxnSpPr>
            <p:cNvPr id="24" name="Straight Arrow Connector 23"/>
            <p:cNvCxnSpPr/>
            <p:nvPr/>
          </p:nvCxnSpPr>
          <p:spPr>
            <a:xfrm>
              <a:off x="1143000" y="1752600"/>
              <a:ext cx="480484" cy="50500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914400" y="15240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535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Handling the case 3.1</a:t>
            </a:r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4343400" y="2667000"/>
            <a:ext cx="978408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1906431" y="1752600"/>
            <a:ext cx="1217769" cy="774859"/>
            <a:chOff x="1604840" y="2069068"/>
            <a:chExt cx="1982782" cy="1055132"/>
          </a:xfrm>
        </p:grpSpPr>
        <p:sp>
          <p:nvSpPr>
            <p:cNvPr id="70" name="Curved Down Arrow 69"/>
            <p:cNvSpPr/>
            <p:nvPr/>
          </p:nvSpPr>
          <p:spPr>
            <a:xfrm>
              <a:off x="1843228" y="2438400"/>
              <a:ext cx="1498585" cy="685800"/>
            </a:xfrm>
            <a:prstGeom prst="curvedDow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04840" y="2069068"/>
              <a:ext cx="1982782" cy="41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Right rotation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1062392" y="1295400"/>
            <a:ext cx="2442808" cy="2590800"/>
            <a:chOff x="1062392" y="1295400"/>
            <a:chExt cx="2442808" cy="2590800"/>
          </a:xfrm>
        </p:grpSpPr>
        <p:cxnSp>
          <p:nvCxnSpPr>
            <p:cNvPr id="9" name="Straight Arrow Connector 8"/>
            <p:cNvCxnSpPr/>
            <p:nvPr/>
          </p:nvCxnSpPr>
          <p:spPr>
            <a:xfrm flipH="1">
              <a:off x="1829175" y="2407404"/>
              <a:ext cx="593796" cy="5437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2371436" y="2286000"/>
              <a:ext cx="309209" cy="21180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2"/>
                  </a:solidFill>
                </a:rPr>
                <a:t>g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2627048" y="2407404"/>
              <a:ext cx="568944" cy="529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1622206" y="2951137"/>
              <a:ext cx="309208" cy="211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d</a:t>
              </a:r>
            </a:p>
          </p:txBody>
        </p:sp>
        <p:cxnSp>
          <p:nvCxnSpPr>
            <p:cNvPr id="37" name="Straight Arrow Connector 36"/>
            <p:cNvCxnSpPr>
              <a:stCxn id="32" idx="3"/>
              <a:endCxn id="64" idx="0"/>
            </p:cNvCxnSpPr>
            <p:nvPr/>
          </p:nvCxnSpPr>
          <p:spPr>
            <a:xfrm flipH="1">
              <a:off x="1216996" y="3131928"/>
              <a:ext cx="450492" cy="5424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>
            <a:xfrm>
              <a:off x="2962109" y="1507210"/>
              <a:ext cx="309208" cy="21181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x</a:t>
              </a:r>
            </a:p>
          </p:txBody>
        </p:sp>
        <p:cxnSp>
          <p:nvCxnSpPr>
            <p:cNvPr id="46" name="Straight Arrow Connector 45"/>
            <p:cNvCxnSpPr>
              <a:endCxn id="5" idx="0"/>
            </p:cNvCxnSpPr>
            <p:nvPr/>
          </p:nvCxnSpPr>
          <p:spPr>
            <a:xfrm flipH="1">
              <a:off x="2526041" y="1719021"/>
              <a:ext cx="534185" cy="5669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45" idx="7"/>
            </p:cNvCxnSpPr>
            <p:nvPr/>
          </p:nvCxnSpPr>
          <p:spPr>
            <a:xfrm flipV="1">
              <a:off x="3226035" y="1295400"/>
              <a:ext cx="279165" cy="242829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45" idx="5"/>
            </p:cNvCxnSpPr>
            <p:nvPr/>
          </p:nvCxnSpPr>
          <p:spPr>
            <a:xfrm>
              <a:off x="3226035" y="1688002"/>
              <a:ext cx="279165" cy="29578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1062392" y="3674390"/>
              <a:ext cx="309208" cy="211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b</a:t>
              </a:r>
            </a:p>
          </p:txBody>
        </p:sp>
        <p:sp>
          <p:nvSpPr>
            <p:cNvPr id="79" name="Oval 78"/>
            <p:cNvSpPr/>
            <p:nvPr/>
          </p:nvSpPr>
          <p:spPr>
            <a:xfrm>
              <a:off x="3124200" y="2971800"/>
              <a:ext cx="309208" cy="21181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k</a:t>
              </a:r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909706" y="3131928"/>
            <a:ext cx="2747894" cy="1516272"/>
            <a:chOff x="914114" y="3148740"/>
            <a:chExt cx="2747894" cy="1516272"/>
          </a:xfrm>
        </p:grpSpPr>
        <p:sp>
          <p:nvSpPr>
            <p:cNvPr id="34" name="Isosceles Triangle 33"/>
            <p:cNvSpPr/>
            <p:nvPr/>
          </p:nvSpPr>
          <p:spPr>
            <a:xfrm>
              <a:off x="1906431" y="3847476"/>
              <a:ext cx="684369" cy="8175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1864885" y="3148740"/>
              <a:ext cx="351946" cy="5088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Isosceles Triangle 35"/>
            <p:cNvSpPr/>
            <p:nvPr/>
          </p:nvSpPr>
          <p:spPr>
            <a:xfrm>
              <a:off x="914114" y="3923676"/>
              <a:ext cx="614294" cy="7413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2895600" y="3217213"/>
              <a:ext cx="766408" cy="9144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endParaRPr lang="en-US" sz="700" dirty="0"/>
            </a:p>
          </p:txBody>
        </p:sp>
        <p:sp>
          <p:nvSpPr>
            <p:cNvPr id="86" name="Oval 85"/>
            <p:cNvSpPr/>
            <p:nvPr/>
          </p:nvSpPr>
          <p:spPr>
            <a:xfrm>
              <a:off x="2133600" y="3657599"/>
              <a:ext cx="291618" cy="1989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f</a:t>
              </a:r>
            </a:p>
          </p:txBody>
        </p:sp>
      </p:grpSp>
      <p:sp>
        <p:nvSpPr>
          <p:cNvPr id="7" name="Line Callout 2 6"/>
          <p:cNvSpPr/>
          <p:nvPr/>
        </p:nvSpPr>
        <p:spPr>
          <a:xfrm>
            <a:off x="2052842" y="4843346"/>
            <a:ext cx="3268966" cy="1295400"/>
          </a:xfrm>
          <a:prstGeom prst="borderCallout2">
            <a:avLst>
              <a:gd name="adj1" fmla="val -4912"/>
              <a:gd name="adj2" fmla="val 66057"/>
              <a:gd name="adj3" fmla="val -72259"/>
              <a:gd name="adj4" fmla="val 67480"/>
              <a:gd name="adj5" fmla="val -136308"/>
              <a:gd name="adj6" fmla="val 132611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Now every node in tree 1 has one less </a:t>
            </a:r>
            <a:r>
              <a:rPr lang="en-US" sz="1600" b="1" dirty="0">
                <a:solidFill>
                  <a:schemeClr val="tx1"/>
                </a:solidFill>
              </a:rPr>
              <a:t>black</a:t>
            </a:r>
            <a:r>
              <a:rPr lang="en-US" sz="1600" dirty="0">
                <a:solidFill>
                  <a:srgbClr val="7030A0"/>
                </a:solidFill>
              </a:rPr>
              <a:t> node on the path to root ! We must restore it. Moreover, the color imbalance exists even now.  What to do ?</a:t>
            </a:r>
          </a:p>
        </p:txBody>
      </p:sp>
      <p:sp>
        <p:nvSpPr>
          <p:cNvPr id="47" name="Cloud Callout 46"/>
          <p:cNvSpPr/>
          <p:nvPr/>
        </p:nvSpPr>
        <p:spPr>
          <a:xfrm>
            <a:off x="5122321" y="5115732"/>
            <a:ext cx="3107279" cy="1132668"/>
          </a:xfrm>
          <a:prstGeom prst="cloudCallout">
            <a:avLst>
              <a:gd name="adj1" fmla="val 45906"/>
              <a:gd name="adj2" fmla="val 6997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Change color of node d to </a:t>
            </a:r>
            <a:r>
              <a:rPr lang="en-US" b="1" dirty="0">
                <a:solidFill>
                  <a:schemeClr val="tx1"/>
                </a:solidFill>
              </a:rPr>
              <a:t>black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398590" y="2971800"/>
            <a:ext cx="709084" cy="733609"/>
            <a:chOff x="914400" y="1524000"/>
            <a:chExt cx="709084" cy="733609"/>
          </a:xfrm>
        </p:grpSpPr>
        <p:cxnSp>
          <p:nvCxnSpPr>
            <p:cNvPr id="49" name="Straight Arrow Connector 48"/>
            <p:cNvCxnSpPr/>
            <p:nvPr/>
          </p:nvCxnSpPr>
          <p:spPr>
            <a:xfrm>
              <a:off x="1143000" y="1752600"/>
              <a:ext cx="480484" cy="50500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914400" y="15240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615516" y="1295400"/>
            <a:ext cx="3075692" cy="3505201"/>
            <a:chOff x="5615516" y="1295400"/>
            <a:chExt cx="3075692" cy="3505201"/>
          </a:xfrm>
        </p:grpSpPr>
        <p:grpSp>
          <p:nvGrpSpPr>
            <p:cNvPr id="6" name="Group 5"/>
            <p:cNvGrpSpPr/>
            <p:nvPr/>
          </p:nvGrpSpPr>
          <p:grpSpPr>
            <a:xfrm>
              <a:off x="6167506" y="1295400"/>
              <a:ext cx="2523702" cy="3505201"/>
              <a:chOff x="6167506" y="1295400"/>
              <a:chExt cx="2523702" cy="3505201"/>
            </a:xfrm>
          </p:grpSpPr>
          <p:grpSp>
            <p:nvGrpSpPr>
              <p:cNvPr id="142" name="Group 141"/>
              <p:cNvGrpSpPr/>
              <p:nvPr/>
            </p:nvGrpSpPr>
            <p:grpSpPr>
              <a:xfrm>
                <a:off x="6315498" y="1295400"/>
                <a:ext cx="2147110" cy="3505200"/>
                <a:chOff x="6315498" y="1295400"/>
                <a:chExt cx="2147110" cy="3505200"/>
              </a:xfrm>
            </p:grpSpPr>
            <p:cxnSp>
              <p:nvCxnSpPr>
                <p:cNvPr id="99" name="Straight Arrow Connector 98"/>
                <p:cNvCxnSpPr>
                  <a:stCxn id="108" idx="3"/>
                  <a:endCxn id="126" idx="7"/>
                </p:cNvCxnSpPr>
                <p:nvPr/>
              </p:nvCxnSpPr>
              <p:spPr>
                <a:xfrm flipH="1">
                  <a:off x="7585496" y="3169383"/>
                  <a:ext cx="232187" cy="54677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0" name="Group 99"/>
                <p:cNvGrpSpPr/>
                <p:nvPr/>
              </p:nvGrpSpPr>
              <p:grpSpPr>
                <a:xfrm>
                  <a:off x="7772400" y="2988593"/>
                  <a:ext cx="535604" cy="745207"/>
                  <a:chOff x="3142215" y="3960550"/>
                  <a:chExt cx="791952" cy="1072372"/>
                </a:xfrm>
              </p:grpSpPr>
              <p:sp>
                <p:nvSpPr>
                  <p:cNvPr id="108" name="Oval 107"/>
                  <p:cNvSpPr/>
                  <p:nvPr/>
                </p:nvSpPr>
                <p:spPr>
                  <a:xfrm>
                    <a:off x="3142215" y="3960550"/>
                    <a:ext cx="457201" cy="304799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bg2"/>
                        </a:solidFill>
                      </a:rPr>
                      <a:t>g</a:t>
                    </a:r>
                  </a:p>
                </p:txBody>
              </p:sp>
              <p:cxnSp>
                <p:nvCxnSpPr>
                  <p:cNvPr id="109" name="Straight Arrow Connector 108"/>
                  <p:cNvCxnSpPr>
                    <a:stCxn id="108" idx="5"/>
                    <a:endCxn id="119" idx="0"/>
                  </p:cNvCxnSpPr>
                  <p:nvPr/>
                </p:nvCxnSpPr>
                <p:spPr>
                  <a:xfrm>
                    <a:off x="3532460" y="4220711"/>
                    <a:ext cx="401707" cy="812211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1" name="Isosceles Triangle 100"/>
                <p:cNvSpPr/>
                <p:nvPr/>
              </p:nvSpPr>
              <p:spPr>
                <a:xfrm>
                  <a:off x="7127474" y="3906864"/>
                  <a:ext cx="721126" cy="893736"/>
                </a:xfrm>
                <a:prstGeom prst="triangl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cxnSp>
              <p:nvCxnSpPr>
                <p:cNvPr id="102" name="Straight Arrow Connector 101"/>
                <p:cNvCxnSpPr>
                  <a:endCxn id="108" idx="1"/>
                </p:cNvCxnSpPr>
                <p:nvPr/>
              </p:nvCxnSpPr>
              <p:spPr>
                <a:xfrm>
                  <a:off x="7268054" y="2462940"/>
                  <a:ext cx="549629" cy="556672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Oval 103"/>
                <p:cNvSpPr/>
                <p:nvPr/>
              </p:nvSpPr>
              <p:spPr>
                <a:xfrm>
                  <a:off x="7005992" y="2286000"/>
                  <a:ext cx="309208" cy="211810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d</a:t>
                  </a:r>
                </a:p>
              </p:txBody>
            </p:sp>
            <p:cxnSp>
              <p:nvCxnSpPr>
                <p:cNvPr id="106" name="Straight Arrow Connector 105"/>
                <p:cNvCxnSpPr>
                  <a:stCxn id="104" idx="3"/>
                </p:cNvCxnSpPr>
                <p:nvPr/>
              </p:nvCxnSpPr>
              <p:spPr>
                <a:xfrm flipH="1">
                  <a:off x="6542180" y="2466791"/>
                  <a:ext cx="509094" cy="54633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5" name="Oval 94"/>
                <p:cNvSpPr/>
                <p:nvPr/>
              </p:nvSpPr>
              <p:spPr>
                <a:xfrm>
                  <a:off x="7681815" y="1507210"/>
                  <a:ext cx="309208" cy="21181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rgbClr val="0070C0"/>
                      </a:solidFill>
                    </a:rPr>
                    <a:t>x</a:t>
                  </a:r>
                </a:p>
              </p:txBody>
            </p:sp>
            <p:cxnSp>
              <p:nvCxnSpPr>
                <p:cNvPr id="96" name="Straight Arrow Connector 95"/>
                <p:cNvCxnSpPr>
                  <a:endCxn id="104" idx="7"/>
                </p:cNvCxnSpPr>
                <p:nvPr/>
              </p:nvCxnSpPr>
              <p:spPr>
                <a:xfrm flipH="1">
                  <a:off x="7269918" y="1719021"/>
                  <a:ext cx="510014" cy="59799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>
                  <a:stCxn id="95" idx="7"/>
                </p:cNvCxnSpPr>
                <p:nvPr/>
              </p:nvCxnSpPr>
              <p:spPr>
                <a:xfrm flipV="1">
                  <a:off x="7945741" y="1295400"/>
                  <a:ext cx="279165" cy="24282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>
                  <a:stCxn id="95" idx="5"/>
                </p:cNvCxnSpPr>
                <p:nvPr/>
              </p:nvCxnSpPr>
              <p:spPr>
                <a:xfrm>
                  <a:off x="7945741" y="1688002"/>
                  <a:ext cx="279165" cy="29578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3" name="Oval 112"/>
                <p:cNvSpPr/>
                <p:nvPr/>
              </p:nvSpPr>
              <p:spPr>
                <a:xfrm>
                  <a:off x="6315498" y="2971800"/>
                  <a:ext cx="309208" cy="211810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b</a:t>
                  </a:r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8153400" y="3733800"/>
                  <a:ext cx="309208" cy="21181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k</a:t>
                  </a:r>
                </a:p>
              </p:txBody>
            </p:sp>
            <p:sp>
              <p:nvSpPr>
                <p:cNvPr id="126" name="Oval 125"/>
                <p:cNvSpPr/>
                <p:nvPr/>
              </p:nvSpPr>
              <p:spPr>
                <a:xfrm>
                  <a:off x="7315200" y="3686987"/>
                  <a:ext cx="316671" cy="199213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2"/>
                      </a:solidFill>
                    </a:rPr>
                    <a:t>f</a:t>
                  </a:r>
                </a:p>
              </p:txBody>
            </p:sp>
          </p:grpSp>
          <p:sp>
            <p:nvSpPr>
              <p:cNvPr id="72" name="Isosceles Triangle 71"/>
              <p:cNvSpPr/>
              <p:nvPr/>
            </p:nvSpPr>
            <p:spPr>
              <a:xfrm>
                <a:off x="6167506" y="3200400"/>
                <a:ext cx="614294" cy="741336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73" name="Isosceles Triangle 72"/>
              <p:cNvSpPr/>
              <p:nvPr/>
            </p:nvSpPr>
            <p:spPr>
              <a:xfrm>
                <a:off x="7924800" y="3962401"/>
                <a:ext cx="766408" cy="838200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  <a:p>
                <a:pPr algn="ctr"/>
                <a:endParaRPr lang="en-US" sz="700" dirty="0"/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5615516" y="2286000"/>
              <a:ext cx="709084" cy="733609"/>
              <a:chOff x="914400" y="1524000"/>
              <a:chExt cx="709084" cy="733609"/>
            </a:xfrm>
          </p:grpSpPr>
          <p:cxnSp>
            <p:nvCxnSpPr>
              <p:cNvPr id="52" name="Straight Arrow Connector 51"/>
              <p:cNvCxnSpPr/>
              <p:nvPr/>
            </p:nvCxnSpPr>
            <p:spPr>
              <a:xfrm>
                <a:off x="1143000" y="1752600"/>
                <a:ext cx="480484" cy="505009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/>
              <p:cNvSpPr txBox="1"/>
              <p:nvPr/>
            </p:nvSpPr>
            <p:spPr>
              <a:xfrm>
                <a:off x="914400" y="15240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16124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7" grpId="0" animBg="1"/>
      <p:bldP spid="7" grpId="1" animBg="1"/>
      <p:bldP spid="4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Handling the case 3.1</a:t>
            </a:r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4343400" y="2667000"/>
            <a:ext cx="978408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" name="Group 137"/>
          <p:cNvGrpSpPr/>
          <p:nvPr/>
        </p:nvGrpSpPr>
        <p:grpSpPr>
          <a:xfrm>
            <a:off x="1062392" y="1295400"/>
            <a:ext cx="2442808" cy="2590800"/>
            <a:chOff x="1062392" y="1295400"/>
            <a:chExt cx="2442808" cy="2590800"/>
          </a:xfrm>
        </p:grpSpPr>
        <p:cxnSp>
          <p:nvCxnSpPr>
            <p:cNvPr id="9" name="Straight Arrow Connector 8"/>
            <p:cNvCxnSpPr/>
            <p:nvPr/>
          </p:nvCxnSpPr>
          <p:spPr>
            <a:xfrm flipH="1">
              <a:off x="1829175" y="2407404"/>
              <a:ext cx="593796" cy="5437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2371436" y="2286000"/>
              <a:ext cx="309209" cy="21180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2"/>
                  </a:solidFill>
                </a:rPr>
                <a:t>g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2627048" y="2407404"/>
              <a:ext cx="568944" cy="529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1622206" y="2951137"/>
              <a:ext cx="309208" cy="211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d</a:t>
              </a:r>
            </a:p>
          </p:txBody>
        </p:sp>
        <p:cxnSp>
          <p:nvCxnSpPr>
            <p:cNvPr id="37" name="Straight Arrow Connector 36"/>
            <p:cNvCxnSpPr>
              <a:stCxn id="32" idx="3"/>
              <a:endCxn id="64" idx="0"/>
            </p:cNvCxnSpPr>
            <p:nvPr/>
          </p:nvCxnSpPr>
          <p:spPr>
            <a:xfrm flipH="1">
              <a:off x="1216996" y="3131928"/>
              <a:ext cx="450492" cy="5424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>
            <a:xfrm>
              <a:off x="2962109" y="1507210"/>
              <a:ext cx="309208" cy="21181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x</a:t>
              </a:r>
            </a:p>
          </p:txBody>
        </p:sp>
        <p:cxnSp>
          <p:nvCxnSpPr>
            <p:cNvPr id="46" name="Straight Arrow Connector 45"/>
            <p:cNvCxnSpPr>
              <a:endCxn id="5" idx="0"/>
            </p:cNvCxnSpPr>
            <p:nvPr/>
          </p:nvCxnSpPr>
          <p:spPr>
            <a:xfrm flipH="1">
              <a:off x="2526041" y="1719021"/>
              <a:ext cx="534185" cy="5669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45" idx="7"/>
            </p:cNvCxnSpPr>
            <p:nvPr/>
          </p:nvCxnSpPr>
          <p:spPr>
            <a:xfrm flipV="1">
              <a:off x="3226035" y="1295400"/>
              <a:ext cx="279165" cy="242829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45" idx="5"/>
            </p:cNvCxnSpPr>
            <p:nvPr/>
          </p:nvCxnSpPr>
          <p:spPr>
            <a:xfrm>
              <a:off x="3226035" y="1688002"/>
              <a:ext cx="279165" cy="29578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1062392" y="3674390"/>
              <a:ext cx="309208" cy="211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b</a:t>
              </a:r>
            </a:p>
          </p:txBody>
        </p:sp>
        <p:sp>
          <p:nvSpPr>
            <p:cNvPr id="79" name="Oval 78"/>
            <p:cNvSpPr/>
            <p:nvPr/>
          </p:nvSpPr>
          <p:spPr>
            <a:xfrm>
              <a:off x="3124200" y="2971800"/>
              <a:ext cx="309208" cy="21181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k</a:t>
              </a:r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909706" y="3131928"/>
            <a:ext cx="2747894" cy="1516272"/>
            <a:chOff x="914114" y="3148740"/>
            <a:chExt cx="2747894" cy="1516272"/>
          </a:xfrm>
        </p:grpSpPr>
        <p:sp>
          <p:nvSpPr>
            <p:cNvPr id="34" name="Isosceles Triangle 33"/>
            <p:cNvSpPr/>
            <p:nvPr/>
          </p:nvSpPr>
          <p:spPr>
            <a:xfrm>
              <a:off x="1906431" y="3847476"/>
              <a:ext cx="684369" cy="8175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1864885" y="3148740"/>
              <a:ext cx="351946" cy="5088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Isosceles Triangle 35"/>
            <p:cNvSpPr/>
            <p:nvPr/>
          </p:nvSpPr>
          <p:spPr>
            <a:xfrm>
              <a:off x="914114" y="3923676"/>
              <a:ext cx="614294" cy="7413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2895600" y="3217213"/>
              <a:ext cx="766408" cy="9144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endParaRPr lang="en-US" sz="700" dirty="0"/>
            </a:p>
          </p:txBody>
        </p:sp>
        <p:sp>
          <p:nvSpPr>
            <p:cNvPr id="86" name="Oval 85"/>
            <p:cNvSpPr/>
            <p:nvPr/>
          </p:nvSpPr>
          <p:spPr>
            <a:xfrm>
              <a:off x="2133600" y="3657599"/>
              <a:ext cx="291618" cy="1989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f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167506" y="1295400"/>
            <a:ext cx="2523702" cy="3505201"/>
            <a:chOff x="6167506" y="1295400"/>
            <a:chExt cx="2523702" cy="3505201"/>
          </a:xfrm>
        </p:grpSpPr>
        <p:grpSp>
          <p:nvGrpSpPr>
            <p:cNvPr id="142" name="Group 141"/>
            <p:cNvGrpSpPr/>
            <p:nvPr/>
          </p:nvGrpSpPr>
          <p:grpSpPr>
            <a:xfrm>
              <a:off x="6315498" y="1295400"/>
              <a:ext cx="2147110" cy="3505200"/>
              <a:chOff x="6315498" y="1295400"/>
              <a:chExt cx="2147110" cy="3505200"/>
            </a:xfrm>
          </p:grpSpPr>
          <p:cxnSp>
            <p:nvCxnSpPr>
              <p:cNvPr id="99" name="Straight Arrow Connector 98"/>
              <p:cNvCxnSpPr>
                <a:stCxn id="108" idx="3"/>
                <a:endCxn id="126" idx="7"/>
              </p:cNvCxnSpPr>
              <p:nvPr/>
            </p:nvCxnSpPr>
            <p:spPr>
              <a:xfrm flipH="1">
                <a:off x="7585496" y="3169383"/>
                <a:ext cx="232187" cy="54677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0" name="Group 99"/>
              <p:cNvGrpSpPr/>
              <p:nvPr/>
            </p:nvGrpSpPr>
            <p:grpSpPr>
              <a:xfrm>
                <a:off x="7772400" y="2988593"/>
                <a:ext cx="535604" cy="745207"/>
                <a:chOff x="3142215" y="3960550"/>
                <a:chExt cx="791952" cy="1072372"/>
              </a:xfrm>
            </p:grpSpPr>
            <p:sp>
              <p:nvSpPr>
                <p:cNvPr id="108" name="Oval 107"/>
                <p:cNvSpPr/>
                <p:nvPr/>
              </p:nvSpPr>
              <p:spPr>
                <a:xfrm>
                  <a:off x="3142215" y="3960550"/>
                  <a:ext cx="457201" cy="30479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bg2"/>
                      </a:solidFill>
                    </a:rPr>
                    <a:t>g</a:t>
                  </a:r>
                </a:p>
              </p:txBody>
            </p:sp>
            <p:cxnSp>
              <p:nvCxnSpPr>
                <p:cNvPr id="109" name="Straight Arrow Connector 108"/>
                <p:cNvCxnSpPr>
                  <a:stCxn id="108" idx="5"/>
                  <a:endCxn id="119" idx="0"/>
                </p:cNvCxnSpPr>
                <p:nvPr/>
              </p:nvCxnSpPr>
              <p:spPr>
                <a:xfrm>
                  <a:off x="3532460" y="4220711"/>
                  <a:ext cx="401707" cy="81221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1" name="Isosceles Triangle 100"/>
              <p:cNvSpPr/>
              <p:nvPr/>
            </p:nvSpPr>
            <p:spPr>
              <a:xfrm>
                <a:off x="7127474" y="3906864"/>
                <a:ext cx="721126" cy="893736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cxnSp>
            <p:nvCxnSpPr>
              <p:cNvPr id="102" name="Straight Arrow Connector 101"/>
              <p:cNvCxnSpPr>
                <a:endCxn id="108" idx="1"/>
              </p:cNvCxnSpPr>
              <p:nvPr/>
            </p:nvCxnSpPr>
            <p:spPr>
              <a:xfrm>
                <a:off x="7268054" y="2462940"/>
                <a:ext cx="549629" cy="5566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Oval 103"/>
              <p:cNvSpPr/>
              <p:nvPr/>
            </p:nvSpPr>
            <p:spPr>
              <a:xfrm>
                <a:off x="7005992" y="2286000"/>
                <a:ext cx="309208" cy="21181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d</a:t>
                </a:r>
              </a:p>
            </p:txBody>
          </p:sp>
          <p:cxnSp>
            <p:nvCxnSpPr>
              <p:cNvPr id="106" name="Straight Arrow Connector 105"/>
              <p:cNvCxnSpPr>
                <a:stCxn id="104" idx="3"/>
              </p:cNvCxnSpPr>
              <p:nvPr/>
            </p:nvCxnSpPr>
            <p:spPr>
              <a:xfrm flipH="1">
                <a:off x="6542180" y="2466791"/>
                <a:ext cx="509094" cy="54633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Oval 94"/>
              <p:cNvSpPr/>
              <p:nvPr/>
            </p:nvSpPr>
            <p:spPr>
              <a:xfrm>
                <a:off x="7681815" y="1507210"/>
                <a:ext cx="309208" cy="2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x</a:t>
                </a:r>
              </a:p>
            </p:txBody>
          </p:sp>
          <p:cxnSp>
            <p:nvCxnSpPr>
              <p:cNvPr id="96" name="Straight Arrow Connector 95"/>
              <p:cNvCxnSpPr>
                <a:endCxn id="104" idx="7"/>
              </p:cNvCxnSpPr>
              <p:nvPr/>
            </p:nvCxnSpPr>
            <p:spPr>
              <a:xfrm flipH="1">
                <a:off x="7269918" y="1719021"/>
                <a:ext cx="510014" cy="59799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>
                <a:stCxn id="95" idx="7"/>
              </p:cNvCxnSpPr>
              <p:nvPr/>
            </p:nvCxnSpPr>
            <p:spPr>
              <a:xfrm flipV="1">
                <a:off x="7945741" y="1295400"/>
                <a:ext cx="279165" cy="242829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>
                <a:stCxn id="95" idx="5"/>
              </p:cNvCxnSpPr>
              <p:nvPr/>
            </p:nvCxnSpPr>
            <p:spPr>
              <a:xfrm>
                <a:off x="7945741" y="1688002"/>
                <a:ext cx="279165" cy="29578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/>
              <p:cNvSpPr/>
              <p:nvPr/>
            </p:nvSpPr>
            <p:spPr>
              <a:xfrm>
                <a:off x="6315498" y="2971800"/>
                <a:ext cx="309208" cy="21181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b</a:t>
                </a:r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8153400" y="3733800"/>
                <a:ext cx="309208" cy="21181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k</a:t>
                </a:r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7315200" y="3686987"/>
                <a:ext cx="316671" cy="199213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f</a:t>
                </a:r>
              </a:p>
            </p:txBody>
          </p:sp>
        </p:grpSp>
        <p:sp>
          <p:nvSpPr>
            <p:cNvPr id="72" name="Isosceles Triangle 71"/>
            <p:cNvSpPr/>
            <p:nvPr/>
          </p:nvSpPr>
          <p:spPr>
            <a:xfrm>
              <a:off x="6167506" y="3200400"/>
              <a:ext cx="614294" cy="7413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3" name="Isosceles Triangle 72"/>
            <p:cNvSpPr/>
            <p:nvPr/>
          </p:nvSpPr>
          <p:spPr>
            <a:xfrm>
              <a:off x="7924800" y="3962401"/>
              <a:ext cx="766408" cy="8382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endParaRPr lang="en-US" sz="7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364846" y="4816886"/>
            <a:ext cx="6245754" cy="1736314"/>
            <a:chOff x="2454691" y="4893086"/>
            <a:chExt cx="6245754" cy="1736314"/>
          </a:xfrm>
        </p:grpSpPr>
        <p:sp>
          <p:nvSpPr>
            <p:cNvPr id="47" name="Line Callout 2 46"/>
            <p:cNvSpPr/>
            <p:nvPr/>
          </p:nvSpPr>
          <p:spPr>
            <a:xfrm>
              <a:off x="2454691" y="5410200"/>
              <a:ext cx="4950354" cy="1219200"/>
            </a:xfrm>
            <a:prstGeom prst="borderCallout2">
              <a:avLst>
                <a:gd name="adj1" fmla="val 576"/>
                <a:gd name="adj2" fmla="val 64530"/>
                <a:gd name="adj3" fmla="val -16818"/>
                <a:gd name="adj4" fmla="val 77049"/>
                <a:gd name="adj5" fmla="val -18320"/>
                <a:gd name="adj6" fmla="val 109963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7030A0"/>
                  </a:solidFill>
                </a:rPr>
                <a:t>The number of </a:t>
              </a:r>
              <a:r>
                <a:rPr lang="en-US" sz="1600" b="1" dirty="0">
                  <a:solidFill>
                    <a:schemeClr val="tx1"/>
                  </a:solidFill>
                </a:rPr>
                <a:t>black</a:t>
              </a:r>
              <a:r>
                <a:rPr lang="en-US" sz="1600" dirty="0">
                  <a:solidFill>
                    <a:srgbClr val="7030A0"/>
                  </a:solidFill>
                </a:rPr>
                <a:t> nodes on the path to root  are restored for tree 1. Color imbalance is also removed. </a:t>
              </a:r>
            </a:p>
            <a:p>
              <a:pPr algn="ctr"/>
              <a:r>
                <a:rPr lang="en-US" sz="1600" dirty="0">
                  <a:solidFill>
                    <a:srgbClr val="7030A0"/>
                  </a:solidFill>
                </a:rPr>
                <a:t>But the number of </a:t>
              </a:r>
              <a:r>
                <a:rPr lang="en-US" sz="1600" b="1" dirty="0">
                  <a:solidFill>
                    <a:schemeClr val="tx1"/>
                  </a:solidFill>
                </a:rPr>
                <a:t>black</a:t>
              </a:r>
              <a:r>
                <a:rPr lang="en-US" sz="1600" dirty="0">
                  <a:solidFill>
                    <a:srgbClr val="7030A0"/>
                  </a:solidFill>
                </a:rPr>
                <a:t> nodes on the path to root has increased by one for trees 2 and 3. What to do now ?</a:t>
              </a:r>
            </a:p>
          </p:txBody>
        </p:sp>
        <p:sp>
          <p:nvSpPr>
            <p:cNvPr id="10" name="Left Brace 9"/>
            <p:cNvSpPr/>
            <p:nvPr/>
          </p:nvSpPr>
          <p:spPr>
            <a:xfrm rot="16200000">
              <a:off x="7715784" y="4273139"/>
              <a:ext cx="364714" cy="1604608"/>
            </a:xfrm>
            <a:prstGeom prst="lef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Cloud Callout 47"/>
          <p:cNvSpPr/>
          <p:nvPr/>
        </p:nvSpPr>
        <p:spPr>
          <a:xfrm>
            <a:off x="5766027" y="5181600"/>
            <a:ext cx="3107279" cy="1132668"/>
          </a:xfrm>
          <a:prstGeom prst="cloudCallout">
            <a:avLst>
              <a:gd name="adj1" fmla="val 39447"/>
              <a:gd name="adj2" fmla="val 5816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Color node g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5612780" y="2279520"/>
            <a:ext cx="709084" cy="762333"/>
            <a:chOff x="914400" y="1524000"/>
            <a:chExt cx="709084" cy="762333"/>
          </a:xfrm>
        </p:grpSpPr>
        <p:cxnSp>
          <p:nvCxnSpPr>
            <p:cNvPr id="50" name="Straight Arrow Connector 49"/>
            <p:cNvCxnSpPr/>
            <p:nvPr/>
          </p:nvCxnSpPr>
          <p:spPr>
            <a:xfrm>
              <a:off x="1143000" y="1781324"/>
              <a:ext cx="480484" cy="50500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914400" y="15240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98590" y="2971800"/>
            <a:ext cx="709084" cy="733609"/>
            <a:chOff x="914400" y="1524000"/>
            <a:chExt cx="709084" cy="733609"/>
          </a:xfrm>
        </p:grpSpPr>
        <p:cxnSp>
          <p:nvCxnSpPr>
            <p:cNvPr id="53" name="Straight Arrow Connector 52"/>
            <p:cNvCxnSpPr/>
            <p:nvPr/>
          </p:nvCxnSpPr>
          <p:spPr>
            <a:xfrm>
              <a:off x="1143000" y="1752600"/>
              <a:ext cx="480484" cy="50500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914400" y="15240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399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Handling the case 3.1</a:t>
            </a:r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4343400" y="2667000"/>
            <a:ext cx="978408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" name="Group 137"/>
          <p:cNvGrpSpPr/>
          <p:nvPr/>
        </p:nvGrpSpPr>
        <p:grpSpPr>
          <a:xfrm>
            <a:off x="1062392" y="1295400"/>
            <a:ext cx="2442808" cy="2590800"/>
            <a:chOff x="1062392" y="1295400"/>
            <a:chExt cx="2442808" cy="2590800"/>
          </a:xfrm>
        </p:grpSpPr>
        <p:cxnSp>
          <p:nvCxnSpPr>
            <p:cNvPr id="9" name="Straight Arrow Connector 8"/>
            <p:cNvCxnSpPr/>
            <p:nvPr/>
          </p:nvCxnSpPr>
          <p:spPr>
            <a:xfrm flipH="1">
              <a:off x="1829175" y="2407404"/>
              <a:ext cx="593796" cy="5437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2371436" y="2286000"/>
              <a:ext cx="309209" cy="21180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2"/>
                  </a:solidFill>
                </a:rPr>
                <a:t>g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2627048" y="2407404"/>
              <a:ext cx="568944" cy="5295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1622206" y="2951137"/>
              <a:ext cx="309208" cy="211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d</a:t>
              </a:r>
            </a:p>
          </p:txBody>
        </p:sp>
        <p:cxnSp>
          <p:nvCxnSpPr>
            <p:cNvPr id="37" name="Straight Arrow Connector 36"/>
            <p:cNvCxnSpPr>
              <a:stCxn id="32" idx="3"/>
              <a:endCxn id="64" idx="0"/>
            </p:cNvCxnSpPr>
            <p:nvPr/>
          </p:nvCxnSpPr>
          <p:spPr>
            <a:xfrm flipH="1">
              <a:off x="1216996" y="3131928"/>
              <a:ext cx="450492" cy="5424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>
            <a:xfrm>
              <a:off x="2962109" y="1507210"/>
              <a:ext cx="309208" cy="21181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x</a:t>
              </a:r>
            </a:p>
          </p:txBody>
        </p:sp>
        <p:cxnSp>
          <p:nvCxnSpPr>
            <p:cNvPr id="46" name="Straight Arrow Connector 45"/>
            <p:cNvCxnSpPr>
              <a:endCxn id="5" idx="0"/>
            </p:cNvCxnSpPr>
            <p:nvPr/>
          </p:nvCxnSpPr>
          <p:spPr>
            <a:xfrm flipH="1">
              <a:off x="2526041" y="1719021"/>
              <a:ext cx="534185" cy="5669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45" idx="7"/>
            </p:cNvCxnSpPr>
            <p:nvPr/>
          </p:nvCxnSpPr>
          <p:spPr>
            <a:xfrm flipV="1">
              <a:off x="3226035" y="1295400"/>
              <a:ext cx="279165" cy="242829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45" idx="5"/>
            </p:cNvCxnSpPr>
            <p:nvPr/>
          </p:nvCxnSpPr>
          <p:spPr>
            <a:xfrm>
              <a:off x="3226035" y="1688002"/>
              <a:ext cx="279165" cy="29578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1062392" y="3674390"/>
              <a:ext cx="309208" cy="211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b</a:t>
              </a:r>
            </a:p>
          </p:txBody>
        </p:sp>
        <p:sp>
          <p:nvSpPr>
            <p:cNvPr id="79" name="Oval 78"/>
            <p:cNvSpPr/>
            <p:nvPr/>
          </p:nvSpPr>
          <p:spPr>
            <a:xfrm>
              <a:off x="3124200" y="2971800"/>
              <a:ext cx="309208" cy="21181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k</a:t>
              </a:r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909706" y="3131928"/>
            <a:ext cx="2747894" cy="1516272"/>
            <a:chOff x="914114" y="3148740"/>
            <a:chExt cx="2747894" cy="1516272"/>
          </a:xfrm>
        </p:grpSpPr>
        <p:sp>
          <p:nvSpPr>
            <p:cNvPr id="34" name="Isosceles Triangle 33"/>
            <p:cNvSpPr/>
            <p:nvPr/>
          </p:nvSpPr>
          <p:spPr>
            <a:xfrm>
              <a:off x="1906431" y="3847476"/>
              <a:ext cx="684369" cy="8175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1864885" y="3148740"/>
              <a:ext cx="351946" cy="5088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Isosceles Triangle 35"/>
            <p:cNvSpPr/>
            <p:nvPr/>
          </p:nvSpPr>
          <p:spPr>
            <a:xfrm>
              <a:off x="914114" y="3923676"/>
              <a:ext cx="614294" cy="7413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2895600" y="3217213"/>
              <a:ext cx="766408" cy="9144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endParaRPr lang="en-US" sz="700" dirty="0"/>
            </a:p>
          </p:txBody>
        </p:sp>
        <p:sp>
          <p:nvSpPr>
            <p:cNvPr id="86" name="Oval 85"/>
            <p:cNvSpPr/>
            <p:nvPr/>
          </p:nvSpPr>
          <p:spPr>
            <a:xfrm>
              <a:off x="2133600" y="3657599"/>
              <a:ext cx="291618" cy="19891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2"/>
                  </a:solidFill>
                </a:rPr>
                <a:t>f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167506" y="1295400"/>
            <a:ext cx="2523702" cy="3505201"/>
            <a:chOff x="6167506" y="1295400"/>
            <a:chExt cx="2523702" cy="3505201"/>
          </a:xfrm>
        </p:grpSpPr>
        <p:grpSp>
          <p:nvGrpSpPr>
            <p:cNvPr id="142" name="Group 141"/>
            <p:cNvGrpSpPr/>
            <p:nvPr/>
          </p:nvGrpSpPr>
          <p:grpSpPr>
            <a:xfrm>
              <a:off x="6315498" y="1295400"/>
              <a:ext cx="2147110" cy="3505200"/>
              <a:chOff x="6315498" y="1295400"/>
              <a:chExt cx="2147110" cy="3505200"/>
            </a:xfrm>
          </p:grpSpPr>
          <p:cxnSp>
            <p:nvCxnSpPr>
              <p:cNvPr id="99" name="Straight Arrow Connector 98"/>
              <p:cNvCxnSpPr>
                <a:stCxn id="108" idx="3"/>
                <a:endCxn id="126" idx="7"/>
              </p:cNvCxnSpPr>
              <p:nvPr/>
            </p:nvCxnSpPr>
            <p:spPr>
              <a:xfrm flipH="1">
                <a:off x="7585496" y="3169383"/>
                <a:ext cx="232187" cy="54677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0" name="Group 99"/>
              <p:cNvGrpSpPr/>
              <p:nvPr/>
            </p:nvGrpSpPr>
            <p:grpSpPr>
              <a:xfrm>
                <a:off x="7772400" y="2988593"/>
                <a:ext cx="535604" cy="745207"/>
                <a:chOff x="3142215" y="3960550"/>
                <a:chExt cx="791952" cy="1072372"/>
              </a:xfrm>
            </p:grpSpPr>
            <p:sp>
              <p:nvSpPr>
                <p:cNvPr id="108" name="Oval 107"/>
                <p:cNvSpPr/>
                <p:nvPr/>
              </p:nvSpPr>
              <p:spPr>
                <a:xfrm>
                  <a:off x="3142215" y="3960550"/>
                  <a:ext cx="457201" cy="304799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bg2"/>
                      </a:solidFill>
                    </a:rPr>
                    <a:t>g</a:t>
                  </a:r>
                </a:p>
              </p:txBody>
            </p:sp>
            <p:cxnSp>
              <p:nvCxnSpPr>
                <p:cNvPr id="109" name="Straight Arrow Connector 108"/>
                <p:cNvCxnSpPr>
                  <a:stCxn id="108" idx="5"/>
                  <a:endCxn id="119" idx="0"/>
                </p:cNvCxnSpPr>
                <p:nvPr/>
              </p:nvCxnSpPr>
              <p:spPr>
                <a:xfrm>
                  <a:off x="3532460" y="4220711"/>
                  <a:ext cx="401707" cy="81221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1" name="Isosceles Triangle 100"/>
              <p:cNvSpPr/>
              <p:nvPr/>
            </p:nvSpPr>
            <p:spPr>
              <a:xfrm>
                <a:off x="7127474" y="3906864"/>
                <a:ext cx="721126" cy="893736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cxnSp>
            <p:nvCxnSpPr>
              <p:cNvPr id="102" name="Straight Arrow Connector 101"/>
              <p:cNvCxnSpPr>
                <a:endCxn id="108" idx="1"/>
              </p:cNvCxnSpPr>
              <p:nvPr/>
            </p:nvCxnSpPr>
            <p:spPr>
              <a:xfrm>
                <a:off x="7268054" y="2462940"/>
                <a:ext cx="549629" cy="5566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Oval 103"/>
              <p:cNvSpPr/>
              <p:nvPr/>
            </p:nvSpPr>
            <p:spPr>
              <a:xfrm>
                <a:off x="7005992" y="2286000"/>
                <a:ext cx="309208" cy="21181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d</a:t>
                </a:r>
              </a:p>
            </p:txBody>
          </p:sp>
          <p:cxnSp>
            <p:nvCxnSpPr>
              <p:cNvPr id="106" name="Straight Arrow Connector 105"/>
              <p:cNvCxnSpPr>
                <a:stCxn id="104" idx="3"/>
              </p:cNvCxnSpPr>
              <p:nvPr/>
            </p:nvCxnSpPr>
            <p:spPr>
              <a:xfrm flipH="1">
                <a:off x="6542180" y="2466791"/>
                <a:ext cx="509094" cy="54633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Oval 94"/>
              <p:cNvSpPr/>
              <p:nvPr/>
            </p:nvSpPr>
            <p:spPr>
              <a:xfrm>
                <a:off x="7681815" y="1507210"/>
                <a:ext cx="309208" cy="21181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x</a:t>
                </a:r>
              </a:p>
            </p:txBody>
          </p:sp>
          <p:cxnSp>
            <p:nvCxnSpPr>
              <p:cNvPr id="96" name="Straight Arrow Connector 95"/>
              <p:cNvCxnSpPr>
                <a:endCxn id="104" idx="7"/>
              </p:cNvCxnSpPr>
              <p:nvPr/>
            </p:nvCxnSpPr>
            <p:spPr>
              <a:xfrm flipH="1">
                <a:off x="7269918" y="1719021"/>
                <a:ext cx="510014" cy="59799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>
                <a:stCxn id="95" idx="7"/>
              </p:cNvCxnSpPr>
              <p:nvPr/>
            </p:nvCxnSpPr>
            <p:spPr>
              <a:xfrm flipV="1">
                <a:off x="7945741" y="1295400"/>
                <a:ext cx="279165" cy="242829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>
                <a:stCxn id="95" idx="5"/>
              </p:cNvCxnSpPr>
              <p:nvPr/>
            </p:nvCxnSpPr>
            <p:spPr>
              <a:xfrm>
                <a:off x="7945741" y="1688002"/>
                <a:ext cx="279165" cy="29578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/>
              <p:cNvSpPr/>
              <p:nvPr/>
            </p:nvSpPr>
            <p:spPr>
              <a:xfrm>
                <a:off x="6315498" y="2971800"/>
                <a:ext cx="309208" cy="21181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b</a:t>
                </a:r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8153400" y="3733800"/>
                <a:ext cx="309208" cy="21181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k</a:t>
                </a:r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7315200" y="3686987"/>
                <a:ext cx="316671" cy="199213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2"/>
                    </a:solidFill>
                  </a:rPr>
                  <a:t>f</a:t>
                </a:r>
              </a:p>
            </p:txBody>
          </p:sp>
        </p:grpSp>
        <p:sp>
          <p:nvSpPr>
            <p:cNvPr id="72" name="Isosceles Triangle 71"/>
            <p:cNvSpPr/>
            <p:nvPr/>
          </p:nvSpPr>
          <p:spPr>
            <a:xfrm>
              <a:off x="6167506" y="3200400"/>
              <a:ext cx="614294" cy="74133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3" name="Isosceles Triangle 72"/>
            <p:cNvSpPr/>
            <p:nvPr/>
          </p:nvSpPr>
          <p:spPr>
            <a:xfrm>
              <a:off x="7924800" y="3962401"/>
              <a:ext cx="766408" cy="83820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endParaRPr lang="en-US" sz="700" dirty="0"/>
            </a:p>
          </p:txBody>
        </p:sp>
      </p:grpSp>
      <p:sp>
        <p:nvSpPr>
          <p:cNvPr id="3" name="Cloud Callout 2"/>
          <p:cNvSpPr/>
          <p:nvPr/>
        </p:nvSpPr>
        <p:spPr>
          <a:xfrm>
            <a:off x="4756970" y="4947125"/>
            <a:ext cx="3735472" cy="1285068"/>
          </a:xfrm>
          <a:prstGeom prst="cloudCallout">
            <a:avLst>
              <a:gd name="adj1" fmla="val 38914"/>
              <a:gd name="adj2" fmla="val 7304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The black height is restored for all trees.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  This completes </a:t>
            </a:r>
            <a:r>
              <a:rPr lang="en-US" sz="1600" b="1" dirty="0">
                <a:solidFill>
                  <a:srgbClr val="7030A0"/>
                </a:solidFill>
              </a:rPr>
              <a:t>Case 3.1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398590" y="2971800"/>
            <a:ext cx="709084" cy="733609"/>
            <a:chOff x="914400" y="1524000"/>
            <a:chExt cx="709084" cy="733609"/>
          </a:xfrm>
        </p:grpSpPr>
        <p:cxnSp>
          <p:nvCxnSpPr>
            <p:cNvPr id="47" name="Straight Arrow Connector 46"/>
            <p:cNvCxnSpPr/>
            <p:nvPr/>
          </p:nvCxnSpPr>
          <p:spPr>
            <a:xfrm>
              <a:off x="1143000" y="1752600"/>
              <a:ext cx="480484" cy="50500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914400" y="15240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5612780" y="2279520"/>
            <a:ext cx="709084" cy="762333"/>
            <a:chOff x="914400" y="1524000"/>
            <a:chExt cx="709084" cy="762333"/>
          </a:xfrm>
        </p:grpSpPr>
        <p:cxnSp>
          <p:nvCxnSpPr>
            <p:cNvPr id="53" name="Straight Arrow Connector 52"/>
            <p:cNvCxnSpPr/>
            <p:nvPr/>
          </p:nvCxnSpPr>
          <p:spPr>
            <a:xfrm>
              <a:off x="1143000" y="1781324"/>
              <a:ext cx="480484" cy="50500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914400" y="15240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424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b="1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We can maintain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red</a:t>
                </a:r>
                <a:r>
                  <a:rPr lang="en-US" sz="2000" b="1" dirty="0"/>
                  <a:t>-black</a:t>
                </a:r>
                <a:r>
                  <a:rPr lang="en-US" sz="2000" dirty="0"/>
                  <a:t> trees under insertion of nodes in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(log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time </a:t>
                </a:r>
              </a:p>
              <a:p>
                <a:pPr marL="0" indent="0">
                  <a:buNone/>
                </a:pPr>
                <a:r>
                  <a:rPr lang="en-US" sz="2000" dirty="0"/>
                  <a:t>per </a:t>
                </a:r>
                <a:r>
                  <a:rPr lang="en-US" sz="2000" u="sng" dirty="0"/>
                  <a:t>insert/search</a:t>
                </a:r>
                <a:r>
                  <a:rPr lang="en-US" sz="2000" dirty="0"/>
                  <a:t> operation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is the number of the nodes in the tree.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 hope you enjoyed the real fun in handling insertion in a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red </a:t>
                </a:r>
                <a:r>
                  <a:rPr lang="en-US" sz="2000" b="1" dirty="0"/>
                  <a:t>black </a:t>
                </a:r>
                <a:r>
                  <a:rPr lang="en-US" sz="2000" dirty="0"/>
                  <a:t>tree.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 following are the natural questions to ask.</a:t>
                </a:r>
              </a:p>
              <a:p>
                <a:endParaRPr lang="en-US" sz="1050" dirty="0"/>
              </a:p>
              <a:p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Why we are handling insertions in “this </a:t>
                </a:r>
                <a:r>
                  <a:rPr lang="en-US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particular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 way” ?</a:t>
                </a:r>
              </a:p>
              <a:p>
                <a:endParaRPr lang="en-US" sz="110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Are there </a:t>
                </a:r>
                <a:r>
                  <a:rPr lang="en-US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alternative and simpler 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ways to handle insertions ?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You are encouraged to explore the answer to both these questions.</a:t>
                </a:r>
              </a:p>
              <a:p>
                <a:pPr marL="0" indent="0">
                  <a:buNone/>
                </a:pPr>
                <a:r>
                  <a:rPr lang="en-US" sz="2000" dirty="0"/>
                  <a:t>You are welcome to discuss them with me.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24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1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Please solve the problem on the following slide.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1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/>
          <a:lstStyle/>
          <a:p>
            <a:r>
              <a:rPr lang="en-US" sz="3200" b="1" dirty="0"/>
              <a:t>How to insert </a:t>
            </a:r>
            <a:r>
              <a:rPr lang="en-US" sz="3200" b="1" dirty="0">
                <a:solidFill>
                  <a:srgbClr val="0070C0"/>
                </a:solidFill>
              </a:rPr>
              <a:t>4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/>
              <a:t>?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grpSp>
        <p:nvGrpSpPr>
          <p:cNvPr id="139" name="Group 138"/>
          <p:cNvGrpSpPr/>
          <p:nvPr/>
        </p:nvGrpSpPr>
        <p:grpSpPr>
          <a:xfrm>
            <a:off x="990600" y="4159569"/>
            <a:ext cx="225309" cy="564831"/>
            <a:chOff x="853448" y="1644969"/>
            <a:chExt cx="255680" cy="559397"/>
          </a:xfrm>
        </p:grpSpPr>
        <p:grpSp>
          <p:nvGrpSpPr>
            <p:cNvPr id="147" name="Group 146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49" name="Rectangle 148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0" name="Group 149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51" name="Straight Connector 150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8" name="Straight Arrow Connector 147"/>
            <p:cNvCxnSpPr>
              <a:endCxn id="149" idx="0"/>
            </p:cNvCxnSpPr>
            <p:nvPr/>
          </p:nvCxnSpPr>
          <p:spPr>
            <a:xfrm flipH="1">
              <a:off x="954033" y="1644969"/>
              <a:ext cx="155095" cy="3465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Group 139"/>
          <p:cNvGrpSpPr/>
          <p:nvPr/>
        </p:nvGrpSpPr>
        <p:grpSpPr>
          <a:xfrm>
            <a:off x="1349681" y="4159569"/>
            <a:ext cx="232681" cy="564831"/>
            <a:chOff x="780160" y="1648024"/>
            <a:chExt cx="274457" cy="556342"/>
          </a:xfrm>
        </p:grpSpPr>
        <p:grpSp>
          <p:nvGrpSpPr>
            <p:cNvPr id="141" name="Group 140"/>
            <p:cNvGrpSpPr/>
            <p:nvPr/>
          </p:nvGrpSpPr>
          <p:grpSpPr>
            <a:xfrm>
              <a:off x="853448" y="1981200"/>
              <a:ext cx="201169" cy="223166"/>
              <a:chOff x="2447520" y="2514600"/>
              <a:chExt cx="201169" cy="223166"/>
            </a:xfrm>
          </p:grpSpPr>
          <p:sp>
            <p:nvSpPr>
              <p:cNvPr id="143" name="Rectangle 14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4" name="Group 14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45" name="Straight Connector 14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2" name="Straight Arrow Connector 141"/>
            <p:cNvCxnSpPr/>
            <p:nvPr/>
          </p:nvCxnSpPr>
          <p:spPr>
            <a:xfrm>
              <a:off x="780160" y="1648024"/>
              <a:ext cx="205617" cy="3331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/>
          <p:cNvGrpSpPr/>
          <p:nvPr/>
        </p:nvGrpSpPr>
        <p:grpSpPr>
          <a:xfrm>
            <a:off x="4284652" y="4834598"/>
            <a:ext cx="170548" cy="226571"/>
            <a:chOff x="2447520" y="2514600"/>
            <a:chExt cx="201169" cy="223166"/>
          </a:xfrm>
        </p:grpSpPr>
        <p:sp>
          <p:nvSpPr>
            <p:cNvPr id="191" name="Rectangle 190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2" name="Group 191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193" name="Straight Connector 192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1" name="Group 220"/>
          <p:cNvGrpSpPr/>
          <p:nvPr/>
        </p:nvGrpSpPr>
        <p:grpSpPr>
          <a:xfrm>
            <a:off x="7315200" y="3886200"/>
            <a:ext cx="170548" cy="226571"/>
            <a:chOff x="2447520" y="2514600"/>
            <a:chExt cx="201169" cy="223166"/>
          </a:xfrm>
        </p:grpSpPr>
        <p:sp>
          <p:nvSpPr>
            <p:cNvPr id="223" name="Rectangle 222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4" name="Group 223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225" name="Straight Connector 224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5" name="Oval 234"/>
          <p:cNvSpPr/>
          <p:nvPr/>
        </p:nvSpPr>
        <p:spPr>
          <a:xfrm>
            <a:off x="4285494" y="2329190"/>
            <a:ext cx="286506" cy="19716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37" name="Oval 236"/>
          <p:cNvSpPr/>
          <p:nvPr/>
        </p:nvSpPr>
        <p:spPr>
          <a:xfrm>
            <a:off x="6190494" y="3122621"/>
            <a:ext cx="286506" cy="19716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40" name="Oval 239"/>
          <p:cNvSpPr/>
          <p:nvPr/>
        </p:nvSpPr>
        <p:spPr>
          <a:xfrm>
            <a:off x="3675894" y="3962400"/>
            <a:ext cx="286506" cy="19716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43" name="Oval 242"/>
          <p:cNvSpPr/>
          <p:nvPr/>
        </p:nvSpPr>
        <p:spPr>
          <a:xfrm>
            <a:off x="2532894" y="3167390"/>
            <a:ext cx="286506" cy="19716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1161293" y="4005590"/>
            <a:ext cx="286506" cy="19716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rgbClr val="C00000"/>
              </a:solidFill>
            </a:endParaRPr>
          </a:p>
        </p:txBody>
      </p:sp>
      <p:cxnSp>
        <p:nvCxnSpPr>
          <p:cNvPr id="255" name="Straight Arrow Connector 254"/>
          <p:cNvCxnSpPr/>
          <p:nvPr/>
        </p:nvCxnSpPr>
        <p:spPr>
          <a:xfrm flipH="1">
            <a:off x="2734053" y="2427775"/>
            <a:ext cx="1551441" cy="6948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stCxn id="243" idx="3"/>
            <a:endCxn id="305" idx="0"/>
          </p:cNvCxnSpPr>
          <p:nvPr/>
        </p:nvCxnSpPr>
        <p:spPr>
          <a:xfrm flipH="1">
            <a:off x="1271401" y="3335684"/>
            <a:ext cx="1303451" cy="62671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/>
          <p:nvPr/>
        </p:nvCxnSpPr>
        <p:spPr>
          <a:xfrm flipH="1">
            <a:off x="3352800" y="4173884"/>
            <a:ext cx="405136" cy="66990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/>
          <p:cNvCxnSpPr/>
          <p:nvPr/>
        </p:nvCxnSpPr>
        <p:spPr>
          <a:xfrm flipH="1">
            <a:off x="5419348" y="3319790"/>
            <a:ext cx="811214" cy="5725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/>
          <p:nvPr/>
        </p:nvCxnSpPr>
        <p:spPr>
          <a:xfrm>
            <a:off x="6477000" y="3297405"/>
            <a:ext cx="838200" cy="6319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/>
          <p:nvPr/>
        </p:nvCxnSpPr>
        <p:spPr>
          <a:xfrm>
            <a:off x="2723570" y="3327551"/>
            <a:ext cx="1034366" cy="63484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/>
          <p:cNvCxnSpPr/>
          <p:nvPr/>
        </p:nvCxnSpPr>
        <p:spPr>
          <a:xfrm>
            <a:off x="3934959" y="4157990"/>
            <a:ext cx="417587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/>
          <p:cNvCxnSpPr/>
          <p:nvPr/>
        </p:nvCxnSpPr>
        <p:spPr>
          <a:xfrm>
            <a:off x="4572000" y="2472544"/>
            <a:ext cx="1658562" cy="6948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TextBox 279"/>
          <p:cNvSpPr txBox="1"/>
          <p:nvPr/>
        </p:nvSpPr>
        <p:spPr>
          <a:xfrm>
            <a:off x="4243064" y="228600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6172200" y="3091190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14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143000" y="396240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2562598" y="312420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3705598" y="392939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7</a:t>
            </a:r>
          </a:p>
        </p:txBody>
      </p:sp>
      <p:grpSp>
        <p:nvGrpSpPr>
          <p:cNvPr id="114" name="Group 113"/>
          <p:cNvGrpSpPr/>
          <p:nvPr/>
        </p:nvGrpSpPr>
        <p:grpSpPr>
          <a:xfrm>
            <a:off x="7010400" y="4038600"/>
            <a:ext cx="762000" cy="564833"/>
            <a:chOff x="1524000" y="3048000"/>
            <a:chExt cx="762000" cy="564833"/>
          </a:xfrm>
        </p:grpSpPr>
        <p:grpSp>
          <p:nvGrpSpPr>
            <p:cNvPr id="118" name="Group 117"/>
            <p:cNvGrpSpPr/>
            <p:nvPr/>
          </p:nvGrpSpPr>
          <p:grpSpPr>
            <a:xfrm>
              <a:off x="1524000" y="3092253"/>
              <a:ext cx="279059" cy="520580"/>
              <a:chOff x="853448" y="1688795"/>
              <a:chExt cx="316675" cy="515571"/>
            </a:xfrm>
          </p:grpSpPr>
          <p:grpSp>
            <p:nvGrpSpPr>
              <p:cNvPr id="154" name="Group 153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70" name="Rectangle 169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71" name="Group 170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72" name="Straight Connector 171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9" name="Straight Arrow Connector 168"/>
              <p:cNvCxnSpPr>
                <a:stCxn id="116" idx="3"/>
                <a:endCxn id="170" idx="0"/>
              </p:cNvCxnSpPr>
              <p:nvPr/>
            </p:nvCxnSpPr>
            <p:spPr>
              <a:xfrm flipH="1">
                <a:off x="954033" y="1688795"/>
                <a:ext cx="216090" cy="3026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9" name="Group 118"/>
            <p:cNvGrpSpPr/>
            <p:nvPr/>
          </p:nvGrpSpPr>
          <p:grpSpPr>
            <a:xfrm>
              <a:off x="2053319" y="3048000"/>
              <a:ext cx="232681" cy="564831"/>
              <a:chOff x="780160" y="1648024"/>
              <a:chExt cx="274457" cy="556342"/>
            </a:xfrm>
          </p:grpSpPr>
          <p:grpSp>
            <p:nvGrpSpPr>
              <p:cNvPr id="120" name="Group 11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22" name="Rectangle 12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7" name="Group 136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38" name="Straight Connector 137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Straight Connector 152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1" name="Straight Arrow Connector 120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5" name="Group 114"/>
          <p:cNvGrpSpPr/>
          <p:nvPr/>
        </p:nvGrpSpPr>
        <p:grpSpPr>
          <a:xfrm>
            <a:off x="7239000" y="3886200"/>
            <a:ext cx="396062" cy="261610"/>
            <a:chOff x="7443464" y="3624590"/>
            <a:chExt cx="396062" cy="261610"/>
          </a:xfrm>
        </p:grpSpPr>
        <p:sp>
          <p:nvSpPr>
            <p:cNvPr id="116" name="Oval 115"/>
            <p:cNvSpPr/>
            <p:nvPr/>
          </p:nvSpPr>
          <p:spPr>
            <a:xfrm>
              <a:off x="7443464" y="3635029"/>
              <a:ext cx="344558" cy="218161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443464" y="3624590"/>
              <a:ext cx="3960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15</a:t>
              </a:r>
            </a:p>
          </p:txBody>
        </p:sp>
      </p:grpSp>
      <p:grpSp>
        <p:nvGrpSpPr>
          <p:cNvPr id="180" name="Group 179"/>
          <p:cNvGrpSpPr/>
          <p:nvPr/>
        </p:nvGrpSpPr>
        <p:grpSpPr>
          <a:xfrm>
            <a:off x="3962400" y="4997766"/>
            <a:ext cx="762000" cy="564834"/>
            <a:chOff x="1524000" y="3048000"/>
            <a:chExt cx="762000" cy="564834"/>
          </a:xfrm>
        </p:grpSpPr>
        <p:grpSp>
          <p:nvGrpSpPr>
            <p:cNvPr id="188" name="Group 187"/>
            <p:cNvGrpSpPr/>
            <p:nvPr/>
          </p:nvGrpSpPr>
          <p:grpSpPr>
            <a:xfrm>
              <a:off x="1524000" y="3092251"/>
              <a:ext cx="279059" cy="520583"/>
              <a:chOff x="853448" y="1688792"/>
              <a:chExt cx="316675" cy="515574"/>
            </a:xfrm>
          </p:grpSpPr>
          <p:grpSp>
            <p:nvGrpSpPr>
              <p:cNvPr id="201" name="Group 20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03" name="Rectangle 20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04" name="Group 20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05" name="Straight Connector 20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02" name="Straight Arrow Connector 201"/>
              <p:cNvCxnSpPr>
                <a:stCxn id="186" idx="3"/>
                <a:endCxn id="203" idx="0"/>
              </p:cNvCxnSpPr>
              <p:nvPr/>
            </p:nvCxnSpPr>
            <p:spPr>
              <a:xfrm flipH="1">
                <a:off x="954033" y="1688792"/>
                <a:ext cx="216090" cy="30269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0" name="Group 189"/>
            <p:cNvGrpSpPr/>
            <p:nvPr/>
          </p:nvGrpSpPr>
          <p:grpSpPr>
            <a:xfrm>
              <a:off x="2053319" y="3048000"/>
              <a:ext cx="232681" cy="564831"/>
              <a:chOff x="780160" y="1648024"/>
              <a:chExt cx="274457" cy="556342"/>
            </a:xfrm>
          </p:grpSpPr>
          <p:grpSp>
            <p:nvGrpSpPr>
              <p:cNvPr id="195" name="Group 194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97" name="Rectangle 196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98" name="Group 197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99" name="Straight Connector 198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Connector 199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96" name="Straight Arrow Connector 195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5" name="Group 184"/>
          <p:cNvGrpSpPr/>
          <p:nvPr/>
        </p:nvGrpSpPr>
        <p:grpSpPr>
          <a:xfrm>
            <a:off x="4191000" y="4843790"/>
            <a:ext cx="457200" cy="261610"/>
            <a:chOff x="7443464" y="3623014"/>
            <a:chExt cx="457200" cy="261610"/>
          </a:xfrm>
        </p:grpSpPr>
        <p:sp>
          <p:nvSpPr>
            <p:cNvPr id="186" name="Oval 185"/>
            <p:cNvSpPr/>
            <p:nvPr/>
          </p:nvSpPr>
          <p:spPr>
            <a:xfrm>
              <a:off x="7443464" y="3635029"/>
              <a:ext cx="344558" cy="218161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7504602" y="3623014"/>
              <a:ext cx="3960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8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953651" y="4800600"/>
            <a:ext cx="780149" cy="706852"/>
            <a:chOff x="2209800" y="5389148"/>
            <a:chExt cx="780149" cy="706852"/>
          </a:xfrm>
        </p:grpSpPr>
        <p:sp>
          <p:nvSpPr>
            <p:cNvPr id="262" name="Oval 261"/>
            <p:cNvSpPr/>
            <p:nvPr/>
          </p:nvSpPr>
          <p:spPr>
            <a:xfrm>
              <a:off x="2438400" y="5420639"/>
              <a:ext cx="344558" cy="218161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65" name="Rectangle 264"/>
            <p:cNvSpPr/>
            <p:nvPr/>
          </p:nvSpPr>
          <p:spPr>
            <a:xfrm>
              <a:off x="2209800" y="5868579"/>
              <a:ext cx="177273" cy="2149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2819400" y="5867400"/>
              <a:ext cx="170549" cy="2161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2209800" y="5389148"/>
              <a:ext cx="762000" cy="706852"/>
              <a:chOff x="4191000" y="5181600"/>
              <a:chExt cx="762000" cy="706852"/>
            </a:xfrm>
          </p:grpSpPr>
          <p:cxnSp>
            <p:nvCxnSpPr>
              <p:cNvPr id="250" name="Straight Connector 249"/>
              <p:cNvCxnSpPr/>
              <p:nvPr/>
            </p:nvCxnSpPr>
            <p:spPr>
              <a:xfrm flipH="1">
                <a:off x="4191000" y="5673500"/>
                <a:ext cx="177273" cy="2149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/>
              <p:cNvCxnSpPr/>
              <p:nvPr/>
            </p:nvCxnSpPr>
            <p:spPr>
              <a:xfrm>
                <a:off x="4191000" y="5673500"/>
                <a:ext cx="177273" cy="2149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Arrow Connector 251"/>
              <p:cNvCxnSpPr/>
              <p:nvPr/>
            </p:nvCxnSpPr>
            <p:spPr>
              <a:xfrm flipH="1">
                <a:off x="4279637" y="5378251"/>
                <a:ext cx="190421" cy="30563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/>
              <p:cNvCxnSpPr/>
              <p:nvPr/>
            </p:nvCxnSpPr>
            <p:spPr>
              <a:xfrm flipH="1">
                <a:off x="4782448" y="5672256"/>
                <a:ext cx="170548" cy="2161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/>
              <p:cNvCxnSpPr/>
              <p:nvPr/>
            </p:nvCxnSpPr>
            <p:spPr>
              <a:xfrm>
                <a:off x="4782452" y="5672260"/>
                <a:ext cx="170548" cy="2161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/>
              <p:cNvCxnSpPr/>
              <p:nvPr/>
            </p:nvCxnSpPr>
            <p:spPr>
              <a:xfrm>
                <a:off x="4720316" y="5333997"/>
                <a:ext cx="174319" cy="33825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9" name="TextBox 258"/>
              <p:cNvSpPr txBox="1"/>
              <p:nvPr/>
            </p:nvSpPr>
            <p:spPr>
              <a:xfrm>
                <a:off x="4422687" y="518160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5</a:t>
                </a:r>
              </a:p>
            </p:txBody>
          </p:sp>
        </p:grpSp>
      </p:grpSp>
      <p:grpSp>
        <p:nvGrpSpPr>
          <p:cNvPr id="124" name="Group 123"/>
          <p:cNvGrpSpPr/>
          <p:nvPr/>
        </p:nvGrpSpPr>
        <p:grpSpPr>
          <a:xfrm>
            <a:off x="5257800" y="3886200"/>
            <a:ext cx="177273" cy="225334"/>
            <a:chOff x="2447520" y="2514600"/>
            <a:chExt cx="201169" cy="223166"/>
          </a:xfrm>
        </p:grpSpPr>
        <p:sp>
          <p:nvSpPr>
            <p:cNvPr id="126" name="Rectangle 125"/>
            <p:cNvSpPr/>
            <p:nvPr/>
          </p:nvSpPr>
          <p:spPr>
            <a:xfrm>
              <a:off x="2447520" y="2524882"/>
              <a:ext cx="201169" cy="2128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7" name="Group 126"/>
            <p:cNvGrpSpPr/>
            <p:nvPr/>
          </p:nvGrpSpPr>
          <p:grpSpPr>
            <a:xfrm>
              <a:off x="2447520" y="2514600"/>
              <a:ext cx="201169" cy="212884"/>
              <a:chOff x="2447520" y="2524882"/>
              <a:chExt cx="201169" cy="212884"/>
            </a:xfrm>
          </p:grpSpPr>
          <p:cxnSp>
            <p:nvCxnSpPr>
              <p:cNvPr id="128" name="Straight Connector 127"/>
              <p:cNvCxnSpPr/>
              <p:nvPr/>
            </p:nvCxnSpPr>
            <p:spPr>
              <a:xfrm flipH="1"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>
              <a:xfrm>
                <a:off x="2447520" y="2524882"/>
                <a:ext cx="201169" cy="2128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101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0070C0"/>
                </a:solidFill>
              </a:rPr>
              <a:t>How do will we handle deletion 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This is going to be a bit more complex.</a:t>
            </a:r>
            <a:endParaRPr lang="en-US" sz="2000" dirty="0">
              <a:sym typeface="Wingdings" pitchFamily="2" charset="2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So please try on your own first before next lecture.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It will still involve playing with colors and rotations </a:t>
            </a:r>
            <a:r>
              <a:rPr lang="en-US" sz="2000" dirty="0">
                <a:sym typeface="Wingdings" pitchFamily="2" charset="2"/>
              </a:rPr>
              <a:t>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5" name="Down Ribbon 4"/>
          <p:cNvSpPr/>
          <p:nvPr/>
        </p:nvSpPr>
        <p:spPr>
          <a:xfrm>
            <a:off x="2362200" y="4724400"/>
            <a:ext cx="3505200" cy="8412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 not miss the next lecture 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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501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7453</TotalTime>
  <Words>1959</Words>
  <Application>Microsoft Macintosh PowerPoint</Application>
  <PresentationFormat>On-screen Show (4:3)</PresentationFormat>
  <Paragraphs>582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Terminologies</vt:lpstr>
      <vt:lpstr>Terminologies</vt:lpstr>
      <vt:lpstr>Binary Search Tree</vt:lpstr>
      <vt:lpstr>Binary Search Tree: a slight change</vt:lpstr>
      <vt:lpstr>A fact we noticed in our previous discussion on BSTs (Lecture 9)</vt:lpstr>
      <vt:lpstr>Searching and inserting in a perfectly balanced BST</vt:lpstr>
      <vt:lpstr>Searching and inserting in a skewed BST on n nodes</vt:lpstr>
      <vt:lpstr>Nearly balanced Binary Search Tree</vt:lpstr>
      <vt:lpstr>Nearly balanced Binary Search Tree</vt:lpstr>
      <vt:lpstr>Can we achieve O(log n) time for search/insert/delete ?</vt:lpstr>
      <vt:lpstr> Rotation around a node </vt:lpstr>
      <vt:lpstr>Rotation around a node</vt:lpstr>
      <vt:lpstr> Red Black Tree A height balanced BST </vt:lpstr>
      <vt:lpstr>Red Black Tree</vt:lpstr>
      <vt:lpstr>A binary search tree</vt:lpstr>
      <vt:lpstr>A binary search tree</vt:lpstr>
      <vt:lpstr>Why is a red black tree height balanced ?</vt:lpstr>
      <vt:lpstr>Insertion in a Red Black tree</vt:lpstr>
      <vt:lpstr>Insertion in a red-black tree</vt:lpstr>
      <vt:lpstr>Insertion in a red-black tree</vt:lpstr>
      <vt:lpstr>Insertion in a red-black tree</vt:lpstr>
      <vt:lpstr>Insertion in a red-black tree</vt:lpstr>
      <vt:lpstr>Insertion in a red-black tree</vt:lpstr>
      <vt:lpstr>Insertion in a red-black tree</vt:lpstr>
      <vt:lpstr>Insertion in a red-black tree</vt:lpstr>
      <vt:lpstr>Insertion in a red-black tree summary till now …</vt:lpstr>
      <vt:lpstr> Handling case 3</vt:lpstr>
      <vt:lpstr>Description of Case 3</vt:lpstr>
      <vt:lpstr>Handling the case 3 two cases arise depending upon whether p is left/right child of its parent</vt:lpstr>
      <vt:lpstr>Handling the case 3 two cases arise depending upon whether p is left/right child of its parent</vt:lpstr>
      <vt:lpstr> We need to handle only case 3.1</vt:lpstr>
      <vt:lpstr>Handling the case 3.1</vt:lpstr>
      <vt:lpstr>Handling the case 3.1</vt:lpstr>
      <vt:lpstr>Handling the case 3.1</vt:lpstr>
      <vt:lpstr>Handling the case 3.1</vt:lpstr>
      <vt:lpstr>Handling the case 3.1</vt:lpstr>
      <vt:lpstr>PowerPoint Presentation</vt:lpstr>
      <vt:lpstr>PowerPoint Presentation</vt:lpstr>
      <vt:lpstr>How to insert 4 ?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768</cp:revision>
  <dcterms:created xsi:type="dcterms:W3CDTF">2011-12-03T04:13:03Z</dcterms:created>
  <dcterms:modified xsi:type="dcterms:W3CDTF">2025-09-08T05:44:30Z</dcterms:modified>
</cp:coreProperties>
</file>