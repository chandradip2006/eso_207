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5"/>
  </p:notesMasterIdLst>
  <p:sldIdLst>
    <p:sldId id="330" r:id="rId2"/>
    <p:sldId id="313" r:id="rId3"/>
    <p:sldId id="349" r:id="rId4"/>
    <p:sldId id="351" r:id="rId5"/>
    <p:sldId id="329" r:id="rId6"/>
    <p:sldId id="300" r:id="rId7"/>
    <p:sldId id="299" r:id="rId8"/>
    <p:sldId id="301" r:id="rId9"/>
    <p:sldId id="303" r:id="rId10"/>
    <p:sldId id="302" r:id="rId11"/>
    <p:sldId id="331" r:id="rId12"/>
    <p:sldId id="304" r:id="rId13"/>
    <p:sldId id="305" r:id="rId14"/>
    <p:sldId id="333" r:id="rId15"/>
    <p:sldId id="311" r:id="rId16"/>
    <p:sldId id="312" r:id="rId17"/>
    <p:sldId id="336" r:id="rId18"/>
    <p:sldId id="307" r:id="rId19"/>
    <p:sldId id="310" r:id="rId20"/>
    <p:sldId id="335" r:id="rId21"/>
    <p:sldId id="298" r:id="rId22"/>
    <p:sldId id="340" r:id="rId23"/>
    <p:sldId id="338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3C670-FE8C-1A42-809C-007D455E98A4}" v="3" dt="2023-09-27T03:02:05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714" autoAdjust="0"/>
  </p:normalViewPr>
  <p:slideViewPr>
    <p:cSldViewPr>
      <p:cViewPr varScale="1">
        <p:scale>
          <a:sx n="115" d="100"/>
          <a:sy n="115" d="100"/>
        </p:scale>
        <p:origin x="17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20AB9468-4067-3A4F-9C0A-EC014669D73D}"/>
    <pc:docChg chg="delSld modSld">
      <pc:chgData name="Raghunath Tewari" userId="2638bdda-d406-4938-a2a6-e4e967acb772" providerId="ADAL" clId="{20AB9468-4067-3A4F-9C0A-EC014669D73D}" dt="2021-03-10T06:40:39.423" v="30"/>
      <pc:docMkLst>
        <pc:docMk/>
      </pc:docMkLst>
      <pc:sldChg chg="modSp mod">
        <pc:chgData name="Raghunath Tewari" userId="2638bdda-d406-4938-a2a6-e4e967acb772" providerId="ADAL" clId="{20AB9468-4067-3A4F-9C0A-EC014669D73D}" dt="2021-03-09T07:13:21.601" v="7" actId="20577"/>
        <pc:sldMkLst>
          <pc:docMk/>
          <pc:sldMk cId="1947741837" sldId="330"/>
        </pc:sldMkLst>
        <pc:spChg chg="mod">
          <ac:chgData name="Raghunath Tewari" userId="2638bdda-d406-4938-a2a6-e4e967acb772" providerId="ADAL" clId="{20AB9468-4067-3A4F-9C0A-EC014669D73D}" dt="2021-03-09T07:13:21.601" v="7" actId="20577"/>
          <ac:spMkLst>
            <pc:docMk/>
            <pc:sldMk cId="1947741837" sldId="330"/>
            <ac:spMk id="2" creationId="{00000000-0000-0000-0000-000000000000}"/>
          </ac:spMkLst>
        </pc:spChg>
      </pc:sldChg>
      <pc:sldChg chg="addSp delSp modSp mod">
        <pc:chgData name="Raghunath Tewari" userId="2638bdda-d406-4938-a2a6-e4e967acb772" providerId="ADAL" clId="{20AB9468-4067-3A4F-9C0A-EC014669D73D}" dt="2021-03-10T06:40:39.423" v="30"/>
        <pc:sldMkLst>
          <pc:docMk/>
          <pc:sldMk cId="1652729952" sldId="333"/>
        </pc:sldMkLst>
        <pc:spChg chg="add del mod">
          <ac:chgData name="Raghunath Tewari" userId="2638bdda-d406-4938-a2a6-e4e967acb772" providerId="ADAL" clId="{20AB9468-4067-3A4F-9C0A-EC014669D73D}" dt="2021-03-10T06:40:39.423" v="30"/>
          <ac:spMkLst>
            <pc:docMk/>
            <pc:sldMk cId="1652729952" sldId="333"/>
            <ac:spMk id="69" creationId="{B49193AA-2AB8-0547-AC31-ED356513D2F5}"/>
          </ac:spMkLst>
        </pc:spChg>
      </pc:sldChg>
      <pc:sldChg chg="modSp">
        <pc:chgData name="Raghunath Tewari" userId="2638bdda-d406-4938-a2a6-e4e967acb772" providerId="ADAL" clId="{20AB9468-4067-3A4F-9C0A-EC014669D73D}" dt="2021-03-10T06:08:25.912" v="26" actId="20577"/>
        <pc:sldMkLst>
          <pc:docMk/>
          <pc:sldMk cId="4092631024" sldId="338"/>
        </pc:sldMkLst>
        <pc:spChg chg="mod">
          <ac:chgData name="Raghunath Tewari" userId="2638bdda-d406-4938-a2a6-e4e967acb772" providerId="ADAL" clId="{20AB9468-4067-3A4F-9C0A-EC014669D73D}" dt="2021-03-10T06:08:25.912" v="26" actId="20577"/>
          <ac:spMkLst>
            <pc:docMk/>
            <pc:sldMk cId="4092631024" sldId="338"/>
            <ac:spMk id="7" creationId="{00000000-0000-0000-0000-000000000000}"/>
          </ac:spMkLst>
        </pc:spChg>
      </pc:sldChg>
      <pc:sldChg chg="del">
        <pc:chgData name="Raghunath Tewari" userId="2638bdda-d406-4938-a2a6-e4e967acb772" providerId="ADAL" clId="{20AB9468-4067-3A4F-9C0A-EC014669D73D}" dt="2021-03-10T06:08:44.755" v="27" actId="2696"/>
        <pc:sldMkLst>
          <pc:docMk/>
          <pc:sldMk cId="3138638440" sldId="350"/>
        </pc:sldMkLst>
      </pc:sldChg>
    </pc:docChg>
  </pc:docChgLst>
  <pc:docChgLst>
    <pc:chgData name="Raghunath Tewari" userId="2638bdda-d406-4938-a2a6-e4e967acb772" providerId="ADAL" clId="{A453C670-FE8C-1A42-809C-007D455E98A4}"/>
    <pc:docChg chg="undo custSel modSld">
      <pc:chgData name="Raghunath Tewari" userId="2638bdda-d406-4938-a2a6-e4e967acb772" providerId="ADAL" clId="{A453C670-FE8C-1A42-809C-007D455E98A4}" dt="2023-09-27T03:02:05.758" v="49"/>
      <pc:docMkLst>
        <pc:docMk/>
      </pc:docMkLst>
      <pc:sldChg chg="addSp modSp mod modAnim">
        <pc:chgData name="Raghunath Tewari" userId="2638bdda-d406-4938-a2a6-e4e967acb772" providerId="ADAL" clId="{A453C670-FE8C-1A42-809C-007D455E98A4}" dt="2023-09-27T03:02:05.758" v="49"/>
        <pc:sldMkLst>
          <pc:docMk/>
          <pc:sldMk cId="1652729952" sldId="333"/>
        </pc:sldMkLst>
        <pc:spChg chg="mod">
          <ac:chgData name="Raghunath Tewari" userId="2638bdda-d406-4938-a2a6-e4e967acb772" providerId="ADAL" clId="{A453C670-FE8C-1A42-809C-007D455E98A4}" dt="2023-09-27T03:00:16.728" v="14" actId="1036"/>
          <ac:spMkLst>
            <pc:docMk/>
            <pc:sldMk cId="1652729952" sldId="333"/>
            <ac:spMk id="68" creationId="{00000000-0000-0000-0000-000000000000}"/>
          </ac:spMkLst>
        </pc:spChg>
        <pc:spChg chg="add mod">
          <ac:chgData name="Raghunath Tewari" userId="2638bdda-d406-4938-a2a6-e4e967acb772" providerId="ADAL" clId="{A453C670-FE8C-1A42-809C-007D455E98A4}" dt="2023-09-27T03:01:35.628" v="47" actId="1035"/>
          <ac:spMkLst>
            <pc:docMk/>
            <pc:sldMk cId="1652729952" sldId="333"/>
            <ac:spMk id="69" creationId="{44CEAE93-FF92-FE63-FF08-C007B95D7AD2}"/>
          </ac:spMkLst>
        </pc:spChg>
        <pc:spChg chg="mod">
          <ac:chgData name="Raghunath Tewari" userId="2638bdda-d406-4938-a2a6-e4e967acb772" providerId="ADAL" clId="{A453C670-FE8C-1A42-809C-007D455E98A4}" dt="2023-09-27T03:01:24.577" v="26" actId="1036"/>
          <ac:spMkLst>
            <pc:docMk/>
            <pc:sldMk cId="1652729952" sldId="333"/>
            <ac:spMk id="70" creationId="{00000000-0000-0000-0000-000000000000}"/>
          </ac:spMkLst>
        </pc:spChg>
        <pc:cxnChg chg="mod">
          <ac:chgData name="Raghunath Tewari" userId="2638bdda-d406-4938-a2a6-e4e967acb772" providerId="ADAL" clId="{A453C670-FE8C-1A42-809C-007D455E98A4}" dt="2023-09-27T03:00:16.728" v="14" actId="1036"/>
          <ac:cxnSpMkLst>
            <pc:docMk/>
            <pc:sldMk cId="1652729952" sldId="333"/>
            <ac:cxnSpMk id="26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2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23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</a:rPr>
              <a:t>Finding a </a:t>
            </a:r>
            <a:r>
              <a:rPr lang="en-US" sz="2400" b="1" dirty="0">
                <a:solidFill>
                  <a:srgbClr val="FF0000"/>
                </a:solidFill>
              </a:rPr>
              <a:t>sink</a:t>
            </a:r>
            <a:r>
              <a:rPr lang="en-US" sz="2400" b="1" dirty="0">
                <a:solidFill>
                  <a:schemeClr val="tx1"/>
                </a:solidFill>
              </a:rPr>
              <a:t> in a directed graph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chemeClr val="tx1"/>
                </a:solidFill>
              </a:rPr>
              <a:t>Graph Traversal</a:t>
            </a:r>
          </a:p>
          <a:p>
            <a:pPr marL="742950" lvl="1" indent="-28575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7030A0"/>
                </a:solidFill>
              </a:rPr>
              <a:t>Breadth First Search </a:t>
            </a:r>
            <a:r>
              <a:rPr lang="en-US" sz="1800" b="1" dirty="0">
                <a:solidFill>
                  <a:schemeClr val="tx1"/>
                </a:solidFill>
              </a:rPr>
              <a:t>Traversal and its simple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4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An</a:t>
            </a:r>
            <a:r>
              <a:rPr lang="en-US" sz="3600" b="1" dirty="0">
                <a:solidFill>
                  <a:srgbClr val="7030A0"/>
                </a:solidFill>
              </a:rPr>
              <a:t> interesting </a:t>
            </a:r>
            <a:r>
              <a:rPr lang="en-US" sz="3600" b="1" dirty="0"/>
              <a:t>problem</a:t>
            </a:r>
            <a:br>
              <a:rPr lang="en-US" sz="3600" b="1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Definition</a:t>
            </a:r>
            <a:r>
              <a:rPr lang="en-US" sz="2000" dirty="0"/>
              <a:t>: A vertex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in a given directed graph is said to be a </a:t>
            </a:r>
            <a:r>
              <a:rPr lang="en-US" sz="2000" b="1" dirty="0">
                <a:solidFill>
                  <a:srgbClr val="C00000"/>
                </a:solidFill>
              </a:rPr>
              <a:t>sink</a:t>
            </a:r>
            <a:r>
              <a:rPr lang="en-US" sz="2000" dirty="0"/>
              <a:t> if </a:t>
            </a:r>
          </a:p>
          <a:p>
            <a:r>
              <a:rPr lang="en-US" sz="2000" dirty="0"/>
              <a:t>There is no edge </a:t>
            </a:r>
            <a:r>
              <a:rPr lang="en-US" sz="2000" b="1" dirty="0"/>
              <a:t>emanating from </a:t>
            </a:r>
            <a:r>
              <a:rPr lang="en-US" sz="2000" dirty="0"/>
              <a:t>(leaving)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</a:p>
          <a:p>
            <a:r>
              <a:rPr lang="en-US" sz="2000" u="sng" dirty="0"/>
              <a:t>Every other vertex </a:t>
            </a:r>
            <a:r>
              <a:rPr lang="en-US" sz="2000" dirty="0"/>
              <a:t>has an edge </a:t>
            </a:r>
            <a:r>
              <a:rPr lang="en-US" sz="2000" b="1" dirty="0"/>
              <a:t>into</a:t>
            </a:r>
            <a:r>
              <a:rPr lang="en-US" sz="2000" dirty="0"/>
              <a:t>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82" name="Group 81"/>
          <p:cNvGrpSpPr/>
          <p:nvPr/>
        </p:nvGrpSpPr>
        <p:grpSpPr>
          <a:xfrm>
            <a:off x="2514600" y="4495800"/>
            <a:ext cx="1066800" cy="369332"/>
            <a:chOff x="2514600" y="4495800"/>
            <a:chExt cx="1066800" cy="369332"/>
          </a:xfrm>
        </p:grpSpPr>
        <p:sp>
          <p:nvSpPr>
            <p:cNvPr id="80" name="Right Arrow 79"/>
            <p:cNvSpPr/>
            <p:nvPr/>
          </p:nvSpPr>
          <p:spPr>
            <a:xfrm>
              <a:off x="3071972" y="4590132"/>
              <a:ext cx="509428" cy="210468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514600" y="4495800"/>
              <a:ext cx="566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sink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2245464" y="2590632"/>
            <a:ext cx="3240936" cy="2525693"/>
            <a:chOff x="2245464" y="2590632"/>
            <a:chExt cx="3240936" cy="2525693"/>
          </a:xfrm>
        </p:grpSpPr>
        <p:grpSp>
          <p:nvGrpSpPr>
            <p:cNvPr id="79" name="Group 78"/>
            <p:cNvGrpSpPr/>
            <p:nvPr/>
          </p:nvGrpSpPr>
          <p:grpSpPr>
            <a:xfrm>
              <a:off x="2245464" y="2590632"/>
              <a:ext cx="3240936" cy="2525693"/>
              <a:chOff x="2245464" y="2590632"/>
              <a:chExt cx="3240936" cy="2525693"/>
            </a:xfrm>
          </p:grpSpPr>
          <p:sp>
            <p:nvSpPr>
              <p:cNvPr id="72" name="Arc 71"/>
              <p:cNvSpPr/>
              <p:nvPr/>
            </p:nvSpPr>
            <p:spPr>
              <a:xfrm rot="4863381">
                <a:off x="3104135" y="2775495"/>
                <a:ext cx="2525693" cy="2155967"/>
              </a:xfrm>
              <a:prstGeom prst="arc">
                <a:avLst>
                  <a:gd name="adj1" fmla="val 16200000"/>
                  <a:gd name="adj2" fmla="val 2918283"/>
                </a:avLst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8" name="Group 77"/>
              <p:cNvGrpSpPr/>
              <p:nvPr/>
            </p:nvGrpSpPr>
            <p:grpSpPr>
              <a:xfrm>
                <a:off x="2245464" y="3088001"/>
                <a:ext cx="3240936" cy="1788799"/>
                <a:chOff x="2245464" y="3088001"/>
                <a:chExt cx="3240936" cy="1788799"/>
              </a:xfrm>
            </p:grpSpPr>
            <p:sp>
              <p:nvSpPr>
                <p:cNvPr id="29" name="Oval 28"/>
                <p:cNvSpPr/>
                <p:nvPr/>
              </p:nvSpPr>
              <p:spPr>
                <a:xfrm>
                  <a:off x="3693264" y="3088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2245464" y="35452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5293464" y="35452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3200400" y="3850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4191000" y="3850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4988664" y="4231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3581400" y="45358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" name="Straight Arrow Connector 36"/>
                <p:cNvCxnSpPr>
                  <a:stCxn id="29" idx="6"/>
                </p:cNvCxnSpPr>
                <p:nvPr/>
              </p:nvCxnSpPr>
              <p:spPr>
                <a:xfrm>
                  <a:off x="3886200" y="3182301"/>
                  <a:ext cx="1407264" cy="457199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/>
                <p:cNvCxnSpPr/>
                <p:nvPr/>
              </p:nvCxnSpPr>
              <p:spPr>
                <a:xfrm flipH="1">
                  <a:off x="2410145" y="3215640"/>
                  <a:ext cx="1283119" cy="39052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/>
                <p:cNvCxnSpPr>
                  <a:stCxn id="29" idx="4"/>
                </p:cNvCxnSpPr>
                <p:nvPr/>
              </p:nvCxnSpPr>
              <p:spPr>
                <a:xfrm flipH="1">
                  <a:off x="3693264" y="3276600"/>
                  <a:ext cx="96468" cy="125920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>
                  <a:stCxn id="34" idx="2"/>
                  <a:endCxn id="35" idx="6"/>
                </p:cNvCxnSpPr>
                <p:nvPr/>
              </p:nvCxnSpPr>
              <p:spPr>
                <a:xfrm flipH="1">
                  <a:off x="3774336" y="4325301"/>
                  <a:ext cx="1214328" cy="3048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>
                  <a:stCxn id="33" idx="3"/>
                  <a:endCxn id="35" idx="7"/>
                </p:cNvCxnSpPr>
                <p:nvPr/>
              </p:nvCxnSpPr>
              <p:spPr>
                <a:xfrm flipH="1">
                  <a:off x="3746081" y="4010980"/>
                  <a:ext cx="473174" cy="55244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>
                  <a:stCxn id="30" idx="5"/>
                </p:cNvCxnSpPr>
                <p:nvPr/>
              </p:nvCxnSpPr>
              <p:spPr>
                <a:xfrm>
                  <a:off x="2410145" y="3706180"/>
                  <a:ext cx="1171255" cy="85724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>
                  <a:stCxn id="32" idx="5"/>
                </p:cNvCxnSpPr>
                <p:nvPr/>
              </p:nvCxnSpPr>
              <p:spPr>
                <a:xfrm>
                  <a:off x="3365081" y="4010980"/>
                  <a:ext cx="266700" cy="52482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/>
                <p:cNvCxnSpPr>
                  <a:stCxn id="33" idx="6"/>
                </p:cNvCxnSpPr>
                <p:nvPr/>
              </p:nvCxnSpPr>
              <p:spPr>
                <a:xfrm flipV="1">
                  <a:off x="4383936" y="3706180"/>
                  <a:ext cx="909528" cy="23812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>
                  <a:stCxn id="31" idx="4"/>
                </p:cNvCxnSpPr>
                <p:nvPr/>
              </p:nvCxnSpPr>
              <p:spPr>
                <a:xfrm flipH="1">
                  <a:off x="4988664" y="3733800"/>
                  <a:ext cx="401268" cy="53959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>
                  <a:endCxn id="33" idx="5"/>
                </p:cNvCxnSpPr>
                <p:nvPr/>
              </p:nvCxnSpPr>
              <p:spPr>
                <a:xfrm flipH="1" flipV="1">
                  <a:off x="4355681" y="4010980"/>
                  <a:ext cx="593325" cy="26241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/>
                <p:cNvCxnSpPr>
                  <a:stCxn id="32" idx="1"/>
                </p:cNvCxnSpPr>
                <p:nvPr/>
              </p:nvCxnSpPr>
              <p:spPr>
                <a:xfrm flipH="1" flipV="1">
                  <a:off x="2514600" y="3657600"/>
                  <a:ext cx="714055" cy="22002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/>
                <p:cNvCxnSpPr>
                  <a:endCxn id="72" idx="2"/>
                </p:cNvCxnSpPr>
                <p:nvPr/>
              </p:nvCxnSpPr>
              <p:spPr>
                <a:xfrm flipH="1" flipV="1">
                  <a:off x="3633667" y="4736936"/>
                  <a:ext cx="156065" cy="13986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3" name="Straight Arrow Connector 82"/>
            <p:cNvCxnSpPr>
              <a:stCxn id="32" idx="0"/>
              <a:endCxn id="29" idx="3"/>
            </p:cNvCxnSpPr>
            <p:nvPr/>
          </p:nvCxnSpPr>
          <p:spPr>
            <a:xfrm flipV="1">
              <a:off x="3296868" y="3248980"/>
              <a:ext cx="424651" cy="60102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Flowchart: Alternate Process 5"/>
          <p:cNvSpPr/>
          <p:nvPr/>
        </p:nvSpPr>
        <p:spPr>
          <a:xfrm>
            <a:off x="2960460" y="5385455"/>
            <a:ext cx="1219200" cy="46958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 most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Cloud Callout 6"/>
          <p:cNvSpPr/>
          <p:nvPr/>
        </p:nvSpPr>
        <p:spPr>
          <a:xfrm>
            <a:off x="228600" y="5004440"/>
            <a:ext cx="2438400" cy="1243960"/>
          </a:xfrm>
          <a:prstGeom prst="cloudCallout">
            <a:avLst>
              <a:gd name="adj1" fmla="val -43552"/>
              <a:gd name="adj2" fmla="val 7313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many </a:t>
            </a:r>
            <a:r>
              <a:rPr lang="en-US" b="1" dirty="0">
                <a:solidFill>
                  <a:srgbClr val="C00000"/>
                </a:solidFill>
              </a:rPr>
              <a:t>sinks</a:t>
            </a:r>
            <a:r>
              <a:rPr lang="en-US" dirty="0">
                <a:solidFill>
                  <a:schemeClr val="tx1"/>
                </a:solidFill>
              </a:rPr>
              <a:t> can there be in </a:t>
            </a:r>
            <a:r>
              <a:rPr lang="en-US" b="1" i="1" dirty="0">
                <a:solidFill>
                  <a:srgbClr val="0070C0"/>
                </a:solidFill>
              </a:rPr>
              <a:t>G</a:t>
            </a:r>
            <a:r>
              <a:rPr lang="en-US" dirty="0">
                <a:solidFill>
                  <a:schemeClr val="tx1"/>
                </a:solidFill>
              </a:rPr>
              <a:t> ?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631808" y="838200"/>
            <a:ext cx="1790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(Finding a </a:t>
            </a:r>
            <a:r>
              <a:rPr lang="en-US" sz="2000" b="1" dirty="0">
                <a:solidFill>
                  <a:srgbClr val="C00000"/>
                </a:solidFill>
              </a:rPr>
              <a:t>sink</a:t>
            </a:r>
            <a:r>
              <a:rPr lang="en-US" sz="2000" b="1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105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7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An</a:t>
            </a:r>
            <a:r>
              <a:rPr lang="en-US" sz="3600" b="1" dirty="0">
                <a:solidFill>
                  <a:srgbClr val="7030A0"/>
                </a:solidFill>
              </a:rPr>
              <a:t> interesting </a:t>
            </a:r>
            <a:r>
              <a:rPr lang="en-US" sz="3600" b="1" dirty="0"/>
              <a:t>problem</a:t>
            </a:r>
            <a:br>
              <a:rPr lang="en-US" sz="36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a directed graph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G</a:t>
                </a:r>
                <a:r>
                  <a:rPr lang="en-US" sz="2000" dirty="0"/>
                  <a:t>=(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,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E</a:t>
                </a:r>
                <a:r>
                  <a:rPr lang="en-US" sz="2000" dirty="0"/>
                  <a:t>) in an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adjacency matrix </a:t>
                </a:r>
                <a:r>
                  <a:rPr lang="en-US" sz="2000" dirty="0"/>
                  <a:t>representation, </a:t>
                </a:r>
              </a:p>
              <a:p>
                <a:pPr marL="0" indent="0">
                  <a:buNone/>
                </a:pPr>
                <a:r>
                  <a:rPr lang="en-US" sz="2000" dirty="0"/>
                  <a:t>design an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 algorithm to determine if there is any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sink</a:t>
                </a:r>
                <a:r>
                  <a:rPr lang="en-US" sz="2000" dirty="0"/>
                  <a:t> in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G</a:t>
                </a:r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verify efficiently whether any given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sink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Yes,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 only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  <a:blipFill rotWithShape="1">
                <a:blip r:embed="rId2"/>
                <a:stretch>
                  <a:fillRect l="-708" t="-674" b="-56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82" name="Group 81"/>
          <p:cNvGrpSpPr/>
          <p:nvPr/>
        </p:nvGrpSpPr>
        <p:grpSpPr>
          <a:xfrm>
            <a:off x="2514600" y="4495800"/>
            <a:ext cx="1066800" cy="369332"/>
            <a:chOff x="2514600" y="4495800"/>
            <a:chExt cx="1066800" cy="369332"/>
          </a:xfrm>
        </p:grpSpPr>
        <p:sp>
          <p:nvSpPr>
            <p:cNvPr id="80" name="Right Arrow 79"/>
            <p:cNvSpPr/>
            <p:nvPr/>
          </p:nvSpPr>
          <p:spPr>
            <a:xfrm>
              <a:off x="3071972" y="4590132"/>
              <a:ext cx="509428" cy="210468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514600" y="44958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Sink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2245464" y="2590632"/>
            <a:ext cx="3240936" cy="2525693"/>
            <a:chOff x="2245464" y="2590632"/>
            <a:chExt cx="3240936" cy="2525693"/>
          </a:xfrm>
        </p:grpSpPr>
        <p:grpSp>
          <p:nvGrpSpPr>
            <p:cNvPr id="79" name="Group 78"/>
            <p:cNvGrpSpPr/>
            <p:nvPr/>
          </p:nvGrpSpPr>
          <p:grpSpPr>
            <a:xfrm>
              <a:off x="2245464" y="2590632"/>
              <a:ext cx="3240936" cy="2525693"/>
              <a:chOff x="2245464" y="2590632"/>
              <a:chExt cx="3240936" cy="2525693"/>
            </a:xfrm>
          </p:grpSpPr>
          <p:sp>
            <p:nvSpPr>
              <p:cNvPr id="72" name="Arc 71"/>
              <p:cNvSpPr/>
              <p:nvPr/>
            </p:nvSpPr>
            <p:spPr>
              <a:xfrm rot="4863381">
                <a:off x="3104135" y="2775495"/>
                <a:ext cx="2525693" cy="2155967"/>
              </a:xfrm>
              <a:prstGeom prst="arc">
                <a:avLst>
                  <a:gd name="adj1" fmla="val 16200000"/>
                  <a:gd name="adj2" fmla="val 2918283"/>
                </a:avLst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8" name="Group 77"/>
              <p:cNvGrpSpPr/>
              <p:nvPr/>
            </p:nvGrpSpPr>
            <p:grpSpPr>
              <a:xfrm>
                <a:off x="2245464" y="3088001"/>
                <a:ext cx="3240936" cy="1788799"/>
                <a:chOff x="2245464" y="3088001"/>
                <a:chExt cx="3240936" cy="1788799"/>
              </a:xfrm>
            </p:grpSpPr>
            <p:sp>
              <p:nvSpPr>
                <p:cNvPr id="29" name="Oval 28"/>
                <p:cNvSpPr/>
                <p:nvPr/>
              </p:nvSpPr>
              <p:spPr>
                <a:xfrm>
                  <a:off x="3693264" y="3088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2245464" y="35452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5293464" y="35452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3200400" y="3850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4191000" y="3850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4988664" y="42310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3581400" y="4535801"/>
                  <a:ext cx="192936" cy="188599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" name="Straight Arrow Connector 36"/>
                <p:cNvCxnSpPr>
                  <a:stCxn id="29" idx="6"/>
                </p:cNvCxnSpPr>
                <p:nvPr/>
              </p:nvCxnSpPr>
              <p:spPr>
                <a:xfrm>
                  <a:off x="3886200" y="3182301"/>
                  <a:ext cx="1407264" cy="457199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/>
                <p:cNvCxnSpPr/>
                <p:nvPr/>
              </p:nvCxnSpPr>
              <p:spPr>
                <a:xfrm flipH="1">
                  <a:off x="2410145" y="3215640"/>
                  <a:ext cx="1283119" cy="39052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/>
                <p:cNvCxnSpPr>
                  <a:stCxn id="29" idx="4"/>
                </p:cNvCxnSpPr>
                <p:nvPr/>
              </p:nvCxnSpPr>
              <p:spPr>
                <a:xfrm flipH="1">
                  <a:off x="3693264" y="3276600"/>
                  <a:ext cx="96468" cy="125920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>
                  <a:stCxn id="34" idx="2"/>
                  <a:endCxn id="35" idx="6"/>
                </p:cNvCxnSpPr>
                <p:nvPr/>
              </p:nvCxnSpPr>
              <p:spPr>
                <a:xfrm flipH="1">
                  <a:off x="3774336" y="4325301"/>
                  <a:ext cx="1214328" cy="3048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>
                  <a:stCxn id="33" idx="3"/>
                  <a:endCxn id="35" idx="7"/>
                </p:cNvCxnSpPr>
                <p:nvPr/>
              </p:nvCxnSpPr>
              <p:spPr>
                <a:xfrm flipH="1">
                  <a:off x="3746081" y="4010980"/>
                  <a:ext cx="473174" cy="55244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>
                  <a:stCxn id="30" idx="5"/>
                </p:cNvCxnSpPr>
                <p:nvPr/>
              </p:nvCxnSpPr>
              <p:spPr>
                <a:xfrm>
                  <a:off x="2410145" y="3706180"/>
                  <a:ext cx="1171255" cy="85724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>
                  <a:stCxn id="32" idx="5"/>
                </p:cNvCxnSpPr>
                <p:nvPr/>
              </p:nvCxnSpPr>
              <p:spPr>
                <a:xfrm>
                  <a:off x="3365081" y="4010980"/>
                  <a:ext cx="266700" cy="52482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/>
                <p:cNvCxnSpPr>
                  <a:stCxn id="33" idx="6"/>
                </p:cNvCxnSpPr>
                <p:nvPr/>
              </p:nvCxnSpPr>
              <p:spPr>
                <a:xfrm flipV="1">
                  <a:off x="4383936" y="3706180"/>
                  <a:ext cx="909528" cy="23812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>
                  <a:stCxn id="31" idx="4"/>
                </p:cNvCxnSpPr>
                <p:nvPr/>
              </p:nvCxnSpPr>
              <p:spPr>
                <a:xfrm flipH="1">
                  <a:off x="4988664" y="3733800"/>
                  <a:ext cx="401268" cy="53959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>
                  <a:endCxn id="33" idx="5"/>
                </p:cNvCxnSpPr>
                <p:nvPr/>
              </p:nvCxnSpPr>
              <p:spPr>
                <a:xfrm flipH="1" flipV="1">
                  <a:off x="4355681" y="4010980"/>
                  <a:ext cx="593325" cy="26241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/>
                <p:cNvCxnSpPr>
                  <a:stCxn id="32" idx="1"/>
                </p:cNvCxnSpPr>
                <p:nvPr/>
              </p:nvCxnSpPr>
              <p:spPr>
                <a:xfrm flipH="1" flipV="1">
                  <a:off x="2514600" y="3657600"/>
                  <a:ext cx="714055" cy="22002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/>
                <p:cNvCxnSpPr>
                  <a:endCxn id="72" idx="2"/>
                </p:cNvCxnSpPr>
                <p:nvPr/>
              </p:nvCxnSpPr>
              <p:spPr>
                <a:xfrm flipH="1" flipV="1">
                  <a:off x="3633667" y="4736936"/>
                  <a:ext cx="156065" cy="13986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3" name="Straight Arrow Connector 82"/>
            <p:cNvCxnSpPr>
              <a:stCxn id="32" idx="0"/>
              <a:endCxn id="29" idx="3"/>
            </p:cNvCxnSpPr>
            <p:nvPr/>
          </p:nvCxnSpPr>
          <p:spPr>
            <a:xfrm flipV="1">
              <a:off x="3296868" y="3248980"/>
              <a:ext cx="424651" cy="60102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/>
              <p:cNvSpPr/>
              <p:nvPr/>
            </p:nvSpPr>
            <p:spPr>
              <a:xfrm>
                <a:off x="4953001" y="2438400"/>
                <a:ext cx="3809999" cy="810580"/>
              </a:xfrm>
              <a:prstGeom prst="borderCallout1">
                <a:avLst>
                  <a:gd name="adj1" fmla="val 47873"/>
                  <a:gd name="adj2" fmla="val 69"/>
                  <a:gd name="adj3" fmla="val -16871"/>
                  <a:gd name="adj4" fmla="val -7276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We are allowed to look into </a:t>
                </a:r>
                <a:r>
                  <a:rPr lang="en-US" u="sng" dirty="0">
                    <a:solidFill>
                      <a:schemeClr val="tx1"/>
                    </a:solidFill>
                  </a:rPr>
                  <a:t>only</a:t>
                </a:r>
                <a:r>
                  <a:rPr lang="en-US" dirty="0">
                    <a:solidFill>
                      <a:schemeClr val="tx1"/>
                    </a:solidFill>
                  </a:rPr>
                  <a:t> 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entries of the </a:t>
                </a:r>
                <a:r>
                  <a:rPr lang="en-US" b="1" dirty="0">
                    <a:solidFill>
                      <a:schemeClr val="tx1"/>
                    </a:solidFill>
                  </a:rPr>
                  <a:t>Adjacency matrix M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en-US" dirty="0"/>
                  <a:t>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Line Callout 1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2438400"/>
                <a:ext cx="3809999" cy="810580"/>
              </a:xfrm>
              <a:prstGeom prst="borderCallout1">
                <a:avLst>
                  <a:gd name="adj1" fmla="val 47873"/>
                  <a:gd name="adj2" fmla="val 69"/>
                  <a:gd name="adj3" fmla="val -16871"/>
                  <a:gd name="adj4" fmla="val -72765"/>
                </a:avLst>
              </a:prstGeom>
              <a:blipFill rotWithShape="1">
                <a:blip r:embed="rId3"/>
                <a:stretch>
                  <a:fillRect r="-1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Line Callout 1 35"/>
              <p:cNvSpPr/>
              <p:nvPr/>
            </p:nvSpPr>
            <p:spPr>
              <a:xfrm>
                <a:off x="5105401" y="5666420"/>
                <a:ext cx="3886199" cy="505780"/>
              </a:xfrm>
              <a:prstGeom prst="borderCallout1">
                <a:avLst>
                  <a:gd name="adj1" fmla="val 47873"/>
                  <a:gd name="adj2" fmla="val 69"/>
                  <a:gd name="adj3" fmla="val 20273"/>
                  <a:gd name="adj4" fmla="val -2857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Look at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th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row</a:t>
                </a:r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th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column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:r>
                  <a:rPr lang="en-US" b="1" dirty="0">
                    <a:solidFill>
                      <a:schemeClr val="tx1"/>
                    </a:solidFill>
                  </a:rPr>
                  <a:t>M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en-US" dirty="0"/>
                  <a:t>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Line Callout 1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1" y="5666420"/>
                <a:ext cx="3886199" cy="505780"/>
              </a:xfrm>
              <a:prstGeom prst="borderCallout1">
                <a:avLst>
                  <a:gd name="adj1" fmla="val 47873"/>
                  <a:gd name="adj2" fmla="val 69"/>
                  <a:gd name="adj3" fmla="val 20273"/>
                  <a:gd name="adj4" fmla="val -28570"/>
                </a:avLst>
              </a:prstGeom>
              <a:blipFill rotWithShape="1">
                <a:blip r:embed="rId4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3631808" y="838200"/>
            <a:ext cx="1790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(Finding a </a:t>
            </a:r>
            <a:r>
              <a:rPr lang="en-US" sz="2000" b="1" dirty="0">
                <a:solidFill>
                  <a:srgbClr val="C00000"/>
                </a:solidFill>
              </a:rPr>
              <a:t>sink</a:t>
            </a:r>
            <a:r>
              <a:rPr lang="en-US" sz="2000" b="1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867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" grpId="1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Key idea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If </a:t>
                </a:r>
                <a:r>
                  <a:rPr lang="en-US" sz="2400" b="1" dirty="0"/>
                  <a:t>M</a:t>
                </a:r>
                <a:r>
                  <a:rPr lang="en-US" sz="2400" dirty="0"/>
                  <a:t>[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400" b="1" i="1" dirty="0" err="1" smtClean="0">
                        <a:latin typeface="Cambria Math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400" dirty="0"/>
                  <a:t>] =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0</a:t>
                </a:r>
                <a:r>
                  <a:rPr lang="en-US" sz="2400" dirty="0"/>
                  <a:t>,   then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??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r>
                  <a:rPr lang="en-US" sz="2400" dirty="0"/>
                  <a:t>If </a:t>
                </a:r>
                <a:r>
                  <a:rPr lang="en-US" sz="2400" b="1" dirty="0"/>
                  <a:t>M</a:t>
                </a:r>
                <a:r>
                  <a:rPr lang="en-US" sz="2400" dirty="0"/>
                  <a:t>[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400" b="1" i="1" dirty="0" err="1" smtClean="0">
                        <a:latin typeface="Cambria Math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400" dirty="0"/>
                  <a:t>] =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/>
                  <a:t> ,  then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??</a:t>
                </a:r>
              </a:p>
            </p:txBody>
          </p:sp>
        </mc:Choice>
        <mc:Fallback xmlns=""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1852" t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2590800" y="1752600"/>
            <a:ext cx="4277539" cy="3204074"/>
            <a:chOff x="2590800" y="1752600"/>
            <a:chExt cx="4277539" cy="3204074"/>
          </a:xfrm>
        </p:grpSpPr>
        <p:grpSp>
          <p:nvGrpSpPr>
            <p:cNvPr id="8" name="Group 7"/>
            <p:cNvGrpSpPr/>
            <p:nvPr/>
          </p:nvGrpSpPr>
          <p:grpSpPr>
            <a:xfrm>
              <a:off x="2590800" y="1752600"/>
              <a:ext cx="3581400" cy="3204074"/>
              <a:chOff x="4953000" y="2438400"/>
              <a:chExt cx="3581400" cy="3204074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4953000" y="2442074"/>
                <a:ext cx="3581400" cy="3200400"/>
                <a:chOff x="4953000" y="2438400"/>
                <a:chExt cx="457200" cy="3276600"/>
              </a:xfrm>
            </p:grpSpPr>
            <p:sp>
              <p:nvSpPr>
                <p:cNvPr id="2" name="Rectangle 1"/>
                <p:cNvSpPr/>
                <p:nvPr/>
              </p:nvSpPr>
              <p:spPr>
                <a:xfrm>
                  <a:off x="4953000" y="2438400"/>
                  <a:ext cx="457200" cy="3276600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5" name="Straight Connector 4"/>
                <p:cNvCxnSpPr/>
                <p:nvPr/>
              </p:nvCxnSpPr>
              <p:spPr>
                <a:xfrm>
                  <a:off x="4953000" y="4038600"/>
                  <a:ext cx="45720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4953000" y="3505200"/>
                  <a:ext cx="45720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4953000" y="2971800"/>
                  <a:ext cx="45720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4953000" y="4572000"/>
                  <a:ext cx="45720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4953000" y="5105400"/>
                  <a:ext cx="45720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8" name="Straight Connector 127"/>
              <p:cNvCxnSpPr/>
              <p:nvPr/>
            </p:nvCxnSpPr>
            <p:spPr>
              <a:xfrm>
                <a:off x="6705600" y="2442074"/>
                <a:ext cx="0" cy="32004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>
                <a:off x="7315200" y="2438400"/>
                <a:ext cx="0" cy="32004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>
                <a:off x="7924800" y="2438400"/>
                <a:ext cx="0" cy="32004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5486400" y="2438400"/>
                <a:ext cx="0" cy="32004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6096000" y="2438400"/>
                <a:ext cx="0" cy="32004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/>
            <p:cNvSpPr txBox="1"/>
            <p:nvPr/>
          </p:nvSpPr>
          <p:spPr>
            <a:xfrm>
              <a:off x="6324600" y="2996625"/>
              <a:ext cx="5437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M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86000" y="3352800"/>
            <a:ext cx="2667000" cy="369332"/>
            <a:chOff x="2286000" y="3352800"/>
            <a:chExt cx="266700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2286000" y="33528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3352800"/>
                  <a:ext cx="32252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/>
            <p:cNvCxnSpPr/>
            <p:nvPr/>
          </p:nvCxnSpPr>
          <p:spPr>
            <a:xfrm>
              <a:off x="2526772" y="3581400"/>
              <a:ext cx="242622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/>
              <p:cNvSpPr/>
              <p:nvPr/>
            </p:nvSpPr>
            <p:spPr>
              <a:xfrm>
                <a:off x="2895599" y="5029200"/>
                <a:ext cx="1981201" cy="4572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can not be sink</a:t>
                </a:r>
              </a:p>
            </p:txBody>
          </p:sp>
        </mc:Choice>
        <mc:Fallback xmlns="">
          <p:sp>
            <p:nvSpPr>
              <p:cNvPr id="32" name="Rounded 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99" y="5029200"/>
                <a:ext cx="1981201" cy="457200"/>
              </a:xfrm>
              <a:prstGeom prst="roundRect">
                <a:avLst/>
              </a:prstGeom>
              <a:blipFill rotWithShape="1">
                <a:blip r:embed="rId5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ounded Rectangle 53"/>
              <p:cNvSpPr/>
              <p:nvPr/>
            </p:nvSpPr>
            <p:spPr>
              <a:xfrm>
                <a:off x="2895600" y="5562600"/>
                <a:ext cx="1981201" cy="4572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can not be sink</a:t>
                </a:r>
              </a:p>
            </p:txBody>
          </p:sp>
        </mc:Choice>
        <mc:Fallback xmlns="">
          <p:sp>
            <p:nvSpPr>
              <p:cNvPr id="54" name="Rounded 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562600"/>
                <a:ext cx="1981201" cy="457200"/>
              </a:xfrm>
              <a:prstGeom prst="roundRect">
                <a:avLst/>
              </a:prstGeom>
              <a:blipFill rotWithShape="1">
                <a:blip r:embed="rId6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miley Face 9"/>
          <p:cNvSpPr/>
          <p:nvPr/>
        </p:nvSpPr>
        <p:spPr>
          <a:xfrm>
            <a:off x="7391400" y="5185274"/>
            <a:ext cx="609600" cy="605926"/>
          </a:xfrm>
          <a:prstGeom prst="smileyFac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4953000" y="3352800"/>
            <a:ext cx="6096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093228" y="1371600"/>
            <a:ext cx="327334" cy="1917412"/>
            <a:chOff x="5093228" y="1371600"/>
            <a:chExt cx="327334" cy="19174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093228" y="1371600"/>
                  <a:ext cx="327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3228" y="1371600"/>
                  <a:ext cx="32733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/>
            <p:cNvCxnSpPr/>
            <p:nvPr/>
          </p:nvCxnSpPr>
          <p:spPr>
            <a:xfrm>
              <a:off x="5257800" y="1752600"/>
              <a:ext cx="0" cy="153641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Down Ribbon 35"/>
              <p:cNvSpPr/>
              <p:nvPr/>
            </p:nvSpPr>
            <p:spPr>
              <a:xfrm>
                <a:off x="1447800" y="2590800"/>
                <a:ext cx="6477000" cy="10668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we eliminate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u="sng" dirty="0">
                    <a:solidFill>
                      <a:schemeClr val="tx1"/>
                    </a:solidFill>
                  </a:rPr>
                  <a:t>non-sink</a:t>
                </a:r>
                <a:r>
                  <a:rPr lang="en-US" dirty="0">
                    <a:solidFill>
                      <a:schemeClr val="tx1"/>
                    </a:solidFill>
                  </a:rPr>
                  <a:t> vertices in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look-up into the Adjacency Matrix </a:t>
                </a:r>
                <a:r>
                  <a:rPr lang="en-US" b="1" dirty="0">
                    <a:solidFill>
                      <a:schemeClr val="tx1"/>
                    </a:solidFill>
                  </a:rPr>
                  <a:t>M</a:t>
                </a:r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Down Ribbon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590800"/>
                <a:ext cx="6477000" cy="10668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60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 uiExpand="1" build="p"/>
      <p:bldP spid="32" grpId="0" animBg="1"/>
      <p:bldP spid="54" grpId="0" animBg="1"/>
      <p:bldP spid="10" grpId="0" animBg="1"/>
      <p:bldP spid="30" grpId="0" animBg="1"/>
      <p:bldP spid="36" grpId="0" animBg="1"/>
      <p:bldP spid="3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Algorithm </a:t>
            </a:r>
            <a:r>
              <a:rPr lang="en-US" sz="3200" b="1" dirty="0"/>
              <a:t>to find a </a:t>
            </a:r>
            <a:r>
              <a:rPr lang="en-US" sz="3200" b="1" dirty="0">
                <a:solidFill>
                  <a:srgbClr val="C00000"/>
                </a:solidFill>
              </a:rPr>
              <a:t>sink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in a graph</a:t>
            </a:r>
            <a:br>
              <a:rPr lang="en-US" sz="3200" b="1" dirty="0"/>
            </a:b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Key ideas: </a:t>
                </a:r>
              </a:p>
              <a:p>
                <a:r>
                  <a:rPr lang="en-US" sz="1800" dirty="0"/>
                  <a:t>Looking at a single entry in </a:t>
                </a:r>
                <a:r>
                  <a:rPr lang="en-US" sz="1800" b="1" dirty="0"/>
                  <a:t>M</a:t>
                </a:r>
                <a:r>
                  <a:rPr lang="en-US" sz="1800" dirty="0"/>
                  <a:t> allows us </a:t>
                </a:r>
              </a:p>
              <a:p>
                <a:r>
                  <a:rPr lang="en-US" sz="1800" dirty="0"/>
                  <a:t>It takes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time to verify if a vertex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 is a sink.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Find-Sink</a:t>
                </a:r>
                <a:r>
                  <a:rPr lang="en-US" sz="2000" dirty="0"/>
                  <a:t>(</a:t>
                </a:r>
                <a:r>
                  <a:rPr lang="en-US" sz="2000" b="1" dirty="0"/>
                  <a:t>M</a:t>
                </a:r>
                <a:r>
                  <a:rPr lang="en-US" sz="2000" dirty="0"/>
                  <a:t>)           // </a:t>
                </a:r>
                <a:r>
                  <a:rPr lang="en-US" sz="2000" b="1" dirty="0"/>
                  <a:t>M</a:t>
                </a:r>
                <a:r>
                  <a:rPr lang="en-US" sz="2000" dirty="0"/>
                  <a:t> is the adjacency matrix of the given directed graph.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</a:t>
                </a:r>
                <a:r>
                  <a:rPr lang="en-US" sz="2000" b="1" dirty="0">
                    <a:solidFill>
                      <a:srgbClr val="006C31"/>
                    </a:solidFill>
                    <a:sym typeface="Wingdings" pitchFamily="2" charset="2"/>
                  </a:rPr>
                  <a:t>s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b="1" dirty="0">
                    <a:sym typeface="Wingdings" pitchFamily="2" charset="2"/>
                  </a:rPr>
                  <a:t>;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For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=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ym typeface="Wingdings" pitchFamily="2" charset="2"/>
                  </a:rPr>
                  <a:t>{</a:t>
                </a:r>
                <a:r>
                  <a:rPr lang="en-US" sz="2000" dirty="0">
                    <a:sym typeface="Wingdings" pitchFamily="2" charset="2"/>
                  </a:rPr>
                  <a:t>       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 (</a:t>
                </a:r>
                <a:r>
                  <a:rPr lang="en-US" sz="2000" b="1" dirty="0">
                    <a:sym typeface="Wingdings" pitchFamily="2" charset="2"/>
                  </a:rPr>
                  <a:t>M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 err="1">
                    <a:solidFill>
                      <a:srgbClr val="006C31"/>
                    </a:solidFill>
                    <a:sym typeface="Wingdings" pitchFamily="2" charset="2"/>
                  </a:rPr>
                  <a:t>s</a:t>
                </a:r>
                <a:r>
                  <a:rPr lang="en-US" sz="2000" dirty="0" err="1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=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r>
                  <a:rPr lang="en-US" sz="2000" dirty="0">
                    <a:sym typeface="Wingdings" pitchFamily="2" charset="2"/>
                  </a:rPr>
                  <a:t>)  ….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...;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}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Verify if </a:t>
                </a:r>
                <a:r>
                  <a:rPr lang="en-US" sz="2000" b="1" dirty="0">
                    <a:solidFill>
                      <a:srgbClr val="006C31"/>
                    </a:solidFill>
                    <a:sym typeface="Wingdings" pitchFamily="2" charset="2"/>
                  </a:rPr>
                  <a:t>s</a:t>
                </a:r>
                <a:r>
                  <a:rPr lang="en-US" sz="2000" b="1" dirty="0">
                    <a:sym typeface="Wingdings" pitchFamily="2" charset="2"/>
                  </a:rPr>
                  <a:t> is a sink and output accordingly.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sym typeface="Wingdings" pitchFamily="2" charset="2"/>
                  </a:rPr>
                  <a:t>(Fill in the details of this pseudo code as a </a:t>
                </a:r>
                <a:r>
                  <a:rPr lang="en-US" sz="2000" b="1" dirty="0">
                    <a:solidFill>
                      <a:srgbClr val="006C31"/>
                    </a:solidFill>
                    <a:sym typeface="Wingdings" pitchFamily="2" charset="2"/>
                  </a:rPr>
                  <a:t>Homework</a:t>
                </a:r>
                <a:r>
                  <a:rPr lang="en-US" sz="2000" dirty="0">
                    <a:sym typeface="Wingdings" pitchFamily="2" charset="2"/>
                  </a:rPr>
                  <a:t>.)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6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31112" y="1936595"/>
            <a:ext cx="3874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discard one vertex from being a sink.</a:t>
            </a:r>
          </a:p>
        </p:txBody>
      </p:sp>
    </p:spTree>
    <p:extLst>
      <p:ext uri="{BB962C8B-B14F-4D97-AF65-F5344CB8AC3E}">
        <p14:creationId xmlns:p14="http://schemas.microsoft.com/office/powerpoint/2010/main" val="421311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What is </a:t>
            </a:r>
            <a:r>
              <a:rPr lang="en-US" sz="4000" b="1" dirty="0">
                <a:solidFill>
                  <a:srgbClr val="7030A0"/>
                </a:solidFill>
              </a:rPr>
              <a:t>Graph traversal </a:t>
            </a:r>
            <a:r>
              <a:rPr lang="en-US" sz="3200" b="1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2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Graph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Definition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A vertex </a:t>
            </a:r>
            <a:r>
              <a:rPr lang="en-US" sz="2000" b="1" i="1" dirty="0">
                <a:solidFill>
                  <a:srgbClr val="00B050"/>
                </a:solidFill>
              </a:rPr>
              <a:t>y</a:t>
            </a:r>
            <a:r>
              <a:rPr lang="en-US" sz="2000" dirty="0"/>
              <a:t> is said to be reachable from</a:t>
            </a:r>
            <a:r>
              <a:rPr lang="en-US" sz="2000" b="1" i="1" dirty="0">
                <a:solidFill>
                  <a:srgbClr val="0070C0"/>
                </a:solidFill>
              </a:rPr>
              <a:t> </a:t>
            </a:r>
            <a:r>
              <a:rPr lang="en-US" sz="2000" b="1" i="1" dirty="0">
                <a:solidFill>
                  <a:srgbClr val="00B050"/>
                </a:solidFill>
              </a:rPr>
              <a:t>x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Graph traversal from vertex 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:  </a:t>
            </a:r>
          </a:p>
          <a:p>
            <a:pPr marL="0" indent="0">
              <a:buNone/>
            </a:pPr>
            <a:r>
              <a:rPr lang="en-US" sz="2000" dirty="0"/>
              <a:t>Starting from a given vertex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, the aim is </a:t>
            </a:r>
          </a:p>
          <a:p>
            <a:pPr marL="0" indent="0">
              <a:buNone/>
            </a:pPr>
            <a:r>
              <a:rPr lang="en-US" sz="2000" dirty="0"/>
              <a:t>to visit all vertices which are reachable from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i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142" name="Group 141"/>
          <p:cNvGrpSpPr/>
          <p:nvPr/>
        </p:nvGrpSpPr>
        <p:grpSpPr>
          <a:xfrm>
            <a:off x="1392137" y="2362200"/>
            <a:ext cx="2722663" cy="2632593"/>
            <a:chOff x="4419600" y="2362200"/>
            <a:chExt cx="3023839" cy="3210622"/>
          </a:xfrm>
        </p:grpSpPr>
        <p:sp>
          <p:nvSpPr>
            <p:cNvPr id="101" name="Oval 100"/>
            <p:cNvSpPr/>
            <p:nvPr/>
          </p:nvSpPr>
          <p:spPr>
            <a:xfrm>
              <a:off x="4419600" y="23622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4419600" y="30480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4800600" y="367711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>
            <a:xfrm>
              <a:off x="4419600" y="437034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5562600" y="321712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5676900" y="42672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5257800" y="53442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7214839" y="48387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6172200" y="37338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>
            <a:xfrm>
              <a:off x="6400800" y="51388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5676900" y="23622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7020622" y="37821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781800" y="282497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Connector 114"/>
            <p:cNvCxnSpPr>
              <a:stCxn id="104" idx="6"/>
              <a:endCxn id="106" idx="2"/>
            </p:cNvCxnSpPr>
            <p:nvPr/>
          </p:nvCxnSpPr>
          <p:spPr>
            <a:xfrm flipV="1">
              <a:off x="4648200" y="4342471"/>
              <a:ext cx="1028700" cy="1031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>
              <a:stCxn id="102" idx="6"/>
              <a:endCxn id="105" idx="2"/>
            </p:cNvCxnSpPr>
            <p:nvPr/>
          </p:nvCxnSpPr>
          <p:spPr>
            <a:xfrm>
              <a:off x="4648200" y="3123271"/>
              <a:ext cx="914400" cy="1691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>
              <a:stCxn id="101" idx="6"/>
            </p:cNvCxnSpPr>
            <p:nvPr/>
          </p:nvCxnSpPr>
          <p:spPr>
            <a:xfrm flipV="1">
              <a:off x="4648200" y="2399371"/>
              <a:ext cx="1042651" cy="2790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101" idx="4"/>
              <a:endCxn id="102" idx="0"/>
            </p:cNvCxnSpPr>
            <p:nvPr/>
          </p:nvCxnSpPr>
          <p:spPr>
            <a:xfrm>
              <a:off x="4533900" y="2551771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>
              <a:endCxn id="114" idx="3"/>
            </p:cNvCxnSpPr>
            <p:nvPr/>
          </p:nvCxnSpPr>
          <p:spPr>
            <a:xfrm flipV="1">
              <a:off x="5780037" y="2970871"/>
              <a:ext cx="1035241" cy="26813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107" idx="1"/>
              <a:endCxn id="104" idx="4"/>
            </p:cNvCxnSpPr>
            <p:nvPr/>
          </p:nvCxnSpPr>
          <p:spPr>
            <a:xfrm flipH="1" flipV="1">
              <a:off x="4533900" y="4559920"/>
              <a:ext cx="757378" cy="7787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02" idx="4"/>
              <a:endCxn id="104" idx="0"/>
            </p:cNvCxnSpPr>
            <p:nvPr/>
          </p:nvCxnSpPr>
          <p:spPr>
            <a:xfrm>
              <a:off x="4533900" y="3237571"/>
              <a:ext cx="0" cy="10937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105" idx="4"/>
              <a:endCxn id="106" idx="0"/>
            </p:cNvCxnSpPr>
            <p:nvPr/>
          </p:nvCxnSpPr>
          <p:spPr>
            <a:xfrm>
              <a:off x="5676900" y="3406698"/>
              <a:ext cx="114300" cy="82147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112" idx="6"/>
              <a:endCxn id="114" idx="1"/>
            </p:cNvCxnSpPr>
            <p:nvPr/>
          </p:nvCxnSpPr>
          <p:spPr>
            <a:xfrm>
              <a:off x="5905500" y="2437471"/>
              <a:ext cx="909778" cy="38195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13" idx="0"/>
              <a:endCxn id="114" idx="5"/>
            </p:cNvCxnSpPr>
            <p:nvPr/>
          </p:nvCxnSpPr>
          <p:spPr>
            <a:xfrm flipH="1" flipV="1">
              <a:off x="6976922" y="2981069"/>
              <a:ext cx="158000" cy="7620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06" idx="6"/>
              <a:endCxn id="113" idx="3"/>
            </p:cNvCxnSpPr>
            <p:nvPr/>
          </p:nvCxnSpPr>
          <p:spPr>
            <a:xfrm flipV="1">
              <a:off x="5905500" y="3938215"/>
              <a:ext cx="1148600" cy="4042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111" idx="7"/>
              <a:endCxn id="109" idx="3"/>
            </p:cNvCxnSpPr>
            <p:nvPr/>
          </p:nvCxnSpPr>
          <p:spPr>
            <a:xfrm flipV="1">
              <a:off x="6595922" y="4994793"/>
              <a:ext cx="652395" cy="1385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02" idx="5"/>
              <a:endCxn id="103" idx="1"/>
            </p:cNvCxnSpPr>
            <p:nvPr/>
          </p:nvCxnSpPr>
          <p:spPr>
            <a:xfrm>
              <a:off x="4614722" y="3243122"/>
              <a:ext cx="219355" cy="4674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endCxn id="109" idx="0"/>
            </p:cNvCxnSpPr>
            <p:nvPr/>
          </p:nvCxnSpPr>
          <p:spPr>
            <a:xfrm>
              <a:off x="7101444" y="3965212"/>
              <a:ext cx="227695" cy="82426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05" idx="2"/>
              <a:endCxn id="107" idx="0"/>
            </p:cNvCxnSpPr>
            <p:nvPr/>
          </p:nvCxnSpPr>
          <p:spPr>
            <a:xfrm flipH="1">
              <a:off x="5372100" y="3292398"/>
              <a:ext cx="190500" cy="20127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06" idx="4"/>
              <a:endCxn id="111" idx="0"/>
            </p:cNvCxnSpPr>
            <p:nvPr/>
          </p:nvCxnSpPr>
          <p:spPr>
            <a:xfrm>
              <a:off x="5791200" y="4456771"/>
              <a:ext cx="723900" cy="64305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110" idx="6"/>
              <a:endCxn id="113" idx="1"/>
            </p:cNvCxnSpPr>
            <p:nvPr/>
          </p:nvCxnSpPr>
          <p:spPr>
            <a:xfrm flipV="1">
              <a:off x="6400800" y="3776571"/>
              <a:ext cx="653300" cy="325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>
              <a:stCxn id="105" idx="2"/>
              <a:endCxn id="103" idx="6"/>
            </p:cNvCxnSpPr>
            <p:nvPr/>
          </p:nvCxnSpPr>
          <p:spPr>
            <a:xfrm flipH="1">
              <a:off x="5029200" y="3292398"/>
              <a:ext cx="533400" cy="4599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>
              <a:stCxn id="104" idx="7"/>
              <a:endCxn id="103" idx="3"/>
            </p:cNvCxnSpPr>
            <p:nvPr/>
          </p:nvCxnSpPr>
          <p:spPr>
            <a:xfrm flipV="1">
              <a:off x="4614722" y="3833208"/>
              <a:ext cx="219356" cy="5315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stCxn id="110" idx="7"/>
              <a:endCxn id="114" idx="4"/>
            </p:cNvCxnSpPr>
            <p:nvPr/>
          </p:nvCxnSpPr>
          <p:spPr>
            <a:xfrm flipV="1">
              <a:off x="6367322" y="3014547"/>
              <a:ext cx="528778" cy="71370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04" idx="4"/>
              <a:endCxn id="111" idx="2"/>
            </p:cNvCxnSpPr>
            <p:nvPr/>
          </p:nvCxnSpPr>
          <p:spPr>
            <a:xfrm>
              <a:off x="4533900" y="4559920"/>
              <a:ext cx="1866900" cy="65420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stCxn id="112" idx="4"/>
              <a:endCxn id="105" idx="0"/>
            </p:cNvCxnSpPr>
            <p:nvPr/>
          </p:nvCxnSpPr>
          <p:spPr>
            <a:xfrm flipH="1">
              <a:off x="5676900" y="2551771"/>
              <a:ext cx="114300" cy="6263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09" idx="2"/>
            </p:cNvCxnSpPr>
            <p:nvPr/>
          </p:nvCxnSpPr>
          <p:spPr>
            <a:xfrm flipH="1" flipV="1">
              <a:off x="5898042" y="4435433"/>
              <a:ext cx="1316797" cy="51756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01" idx="5"/>
              <a:endCxn id="105" idx="1"/>
            </p:cNvCxnSpPr>
            <p:nvPr/>
          </p:nvCxnSpPr>
          <p:spPr>
            <a:xfrm>
              <a:off x="4614722" y="2557322"/>
              <a:ext cx="981356" cy="69328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12" idx="3"/>
              <a:endCxn id="102" idx="7"/>
            </p:cNvCxnSpPr>
            <p:nvPr/>
          </p:nvCxnSpPr>
          <p:spPr>
            <a:xfrm flipH="1">
              <a:off x="4614722" y="2557322"/>
              <a:ext cx="1095656" cy="5241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>
              <a:stCxn id="105" idx="6"/>
              <a:endCxn id="110" idx="1"/>
            </p:cNvCxnSpPr>
            <p:nvPr/>
          </p:nvCxnSpPr>
          <p:spPr>
            <a:xfrm>
              <a:off x="5791200" y="3331427"/>
              <a:ext cx="414478" cy="4358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 165"/>
          <p:cNvGrpSpPr/>
          <p:nvPr/>
        </p:nvGrpSpPr>
        <p:grpSpPr>
          <a:xfrm>
            <a:off x="5068205" y="2552676"/>
            <a:ext cx="2246995" cy="1257324"/>
            <a:chOff x="5567246" y="2590800"/>
            <a:chExt cx="2662354" cy="1524000"/>
          </a:xfrm>
        </p:grpSpPr>
        <p:sp>
          <p:nvSpPr>
            <p:cNvPr id="143" name="Oval 142"/>
            <p:cNvSpPr/>
            <p:nvPr/>
          </p:nvSpPr>
          <p:spPr>
            <a:xfrm>
              <a:off x="5567246" y="30480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/>
            <p:nvPr/>
          </p:nvSpPr>
          <p:spPr>
            <a:xfrm>
              <a:off x="6171270" y="282497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/>
            <p:nvPr/>
          </p:nvSpPr>
          <p:spPr>
            <a:xfrm>
              <a:off x="5741948" y="381464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/>
            <p:cNvSpPr/>
            <p:nvPr/>
          </p:nvSpPr>
          <p:spPr>
            <a:xfrm>
              <a:off x="6443546" y="342063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/>
            <p:cNvSpPr/>
            <p:nvPr/>
          </p:nvSpPr>
          <p:spPr>
            <a:xfrm>
              <a:off x="7129346" y="35637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/>
            <p:nvPr/>
          </p:nvSpPr>
          <p:spPr>
            <a:xfrm>
              <a:off x="7780763" y="29337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8001000" y="38862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/>
            <p:cNvSpPr/>
            <p:nvPr/>
          </p:nvSpPr>
          <p:spPr>
            <a:xfrm>
              <a:off x="7094034" y="25908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1" name="Straight Connector 150"/>
            <p:cNvCxnSpPr/>
            <p:nvPr/>
          </p:nvCxnSpPr>
          <p:spPr>
            <a:xfrm flipV="1">
              <a:off x="5795846" y="2972277"/>
              <a:ext cx="408902" cy="14220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>
              <a:stCxn id="144" idx="6"/>
              <a:endCxn id="150" idx="2"/>
            </p:cNvCxnSpPr>
            <p:nvPr/>
          </p:nvCxnSpPr>
          <p:spPr>
            <a:xfrm flipV="1">
              <a:off x="6399870" y="2666071"/>
              <a:ext cx="694164" cy="23417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>
              <a:stCxn id="150" idx="5"/>
            </p:cNvCxnSpPr>
            <p:nvPr/>
          </p:nvCxnSpPr>
          <p:spPr>
            <a:xfrm>
              <a:off x="7289156" y="2736695"/>
              <a:ext cx="526038" cy="28900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>
              <a:stCxn id="144" idx="5"/>
              <a:endCxn id="147" idx="1"/>
            </p:cNvCxnSpPr>
            <p:nvPr/>
          </p:nvCxnSpPr>
          <p:spPr>
            <a:xfrm>
              <a:off x="6366392" y="2981069"/>
              <a:ext cx="796432" cy="5771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>
              <a:stCxn id="150" idx="4"/>
            </p:cNvCxnSpPr>
            <p:nvPr/>
          </p:nvCxnSpPr>
          <p:spPr>
            <a:xfrm flipH="1">
              <a:off x="6653144" y="2770173"/>
              <a:ext cx="555190" cy="65350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>
              <a:stCxn id="149" idx="0"/>
              <a:endCxn id="148" idx="4"/>
            </p:cNvCxnSpPr>
            <p:nvPr/>
          </p:nvCxnSpPr>
          <p:spPr>
            <a:xfrm flipH="1" flipV="1">
              <a:off x="7895063" y="3123271"/>
              <a:ext cx="220237" cy="7239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149" idx="2"/>
              <a:endCxn id="147" idx="5"/>
            </p:cNvCxnSpPr>
            <p:nvPr/>
          </p:nvCxnSpPr>
          <p:spPr>
            <a:xfrm flipH="1" flipV="1">
              <a:off x="7324468" y="3719837"/>
              <a:ext cx="676532" cy="2416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>
              <a:stCxn id="149" idx="2"/>
              <a:endCxn id="145" idx="5"/>
            </p:cNvCxnSpPr>
            <p:nvPr/>
          </p:nvCxnSpPr>
          <p:spPr>
            <a:xfrm flipH="1">
              <a:off x="5937070" y="3961471"/>
              <a:ext cx="2063930" cy="926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 flipV="1">
              <a:off x="5937070" y="3615759"/>
              <a:ext cx="539954" cy="2323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143" idx="5"/>
              <a:endCxn id="146" idx="1"/>
            </p:cNvCxnSpPr>
            <p:nvPr/>
          </p:nvCxnSpPr>
          <p:spPr>
            <a:xfrm>
              <a:off x="5762368" y="3243122"/>
              <a:ext cx="714656" cy="21099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>
              <a:stCxn id="143" idx="5"/>
              <a:endCxn id="145" idx="0"/>
            </p:cNvCxnSpPr>
            <p:nvPr/>
          </p:nvCxnSpPr>
          <p:spPr>
            <a:xfrm>
              <a:off x="5762368" y="3243122"/>
              <a:ext cx="93880" cy="5715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>
              <a:stCxn id="147" idx="2"/>
              <a:endCxn id="146" idx="5"/>
            </p:cNvCxnSpPr>
            <p:nvPr/>
          </p:nvCxnSpPr>
          <p:spPr>
            <a:xfrm flipH="1" flipV="1">
              <a:off x="6638668" y="3615759"/>
              <a:ext cx="490678" cy="622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>
              <a:stCxn id="148" idx="3"/>
              <a:endCxn id="147" idx="7"/>
            </p:cNvCxnSpPr>
            <p:nvPr/>
          </p:nvCxnSpPr>
          <p:spPr>
            <a:xfrm flipH="1">
              <a:off x="7324468" y="3128822"/>
              <a:ext cx="489773" cy="4684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>
              <a:stCxn id="147" idx="0"/>
              <a:endCxn id="150" idx="4"/>
            </p:cNvCxnSpPr>
            <p:nvPr/>
          </p:nvCxnSpPr>
          <p:spPr>
            <a:xfrm flipH="1" flipV="1">
              <a:off x="7208334" y="2819400"/>
              <a:ext cx="35312" cy="74434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>
              <a:stCxn id="150" idx="5"/>
              <a:endCxn id="149" idx="1"/>
            </p:cNvCxnSpPr>
            <p:nvPr/>
          </p:nvCxnSpPr>
          <p:spPr>
            <a:xfrm>
              <a:off x="7289156" y="2785922"/>
              <a:ext cx="745322" cy="11337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TextBox 169"/>
          <p:cNvSpPr txBox="1"/>
          <p:nvPr/>
        </p:nvSpPr>
        <p:spPr>
          <a:xfrm>
            <a:off x="1143000" y="22976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125930" y="43434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y</a:t>
            </a:r>
          </a:p>
        </p:txBody>
      </p:sp>
      <p:grpSp>
        <p:nvGrpSpPr>
          <p:cNvPr id="184" name="Group 183"/>
          <p:cNvGrpSpPr/>
          <p:nvPr/>
        </p:nvGrpSpPr>
        <p:grpSpPr>
          <a:xfrm>
            <a:off x="1567825" y="2522193"/>
            <a:ext cx="2341144" cy="1964369"/>
            <a:chOff x="1641793" y="2522193"/>
            <a:chExt cx="2341144" cy="1964369"/>
          </a:xfrm>
        </p:grpSpPr>
        <p:cxnSp>
          <p:nvCxnSpPr>
            <p:cNvPr id="173" name="Straight Connector 172"/>
            <p:cNvCxnSpPr>
              <a:stCxn id="101" idx="5"/>
            </p:cNvCxnSpPr>
            <p:nvPr/>
          </p:nvCxnSpPr>
          <p:spPr>
            <a:xfrm>
              <a:off x="1641793" y="2522193"/>
              <a:ext cx="883612" cy="533396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>
              <a:endCxn id="105" idx="4"/>
            </p:cNvCxnSpPr>
            <p:nvPr/>
          </p:nvCxnSpPr>
          <p:spPr>
            <a:xfrm flipH="1" flipV="1">
              <a:off x="2598178" y="3250653"/>
              <a:ext cx="92865" cy="641575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>
              <a:stCxn id="109" idx="2"/>
            </p:cNvCxnSpPr>
            <p:nvPr/>
          </p:nvCxnSpPr>
          <p:spPr>
            <a:xfrm flipH="1" flipV="1">
              <a:off x="2804010" y="4062175"/>
              <a:ext cx="1178927" cy="424387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678367" y="1733490"/>
            <a:ext cx="3145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there is a </a:t>
            </a:r>
            <a:r>
              <a:rPr lang="en-US" sz="2000" b="1" dirty="0">
                <a:solidFill>
                  <a:srgbClr val="C00000"/>
                </a:solidFill>
              </a:rPr>
              <a:t>path</a:t>
            </a:r>
            <a:r>
              <a:rPr lang="en-US" sz="2000" dirty="0"/>
              <a:t> from </a:t>
            </a:r>
            <a:r>
              <a:rPr lang="en-US" sz="2000" b="1" i="1" dirty="0">
                <a:solidFill>
                  <a:srgbClr val="00B050"/>
                </a:solidFill>
              </a:rPr>
              <a:t>x</a:t>
            </a:r>
            <a:r>
              <a:rPr lang="en-US" sz="2000" b="1" i="1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to </a:t>
            </a:r>
            <a:r>
              <a:rPr lang="en-US" sz="2000" b="1" i="1" dirty="0">
                <a:solidFill>
                  <a:srgbClr val="00B050"/>
                </a:solidFill>
              </a:rPr>
              <a:t>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266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0" grpId="0"/>
      <p:bldP spid="171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Non-triviality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of </a:t>
            </a:r>
            <a:r>
              <a:rPr lang="en-US" sz="3600" b="1" dirty="0">
                <a:solidFill>
                  <a:srgbClr val="7030A0"/>
                </a:solidFill>
              </a:rPr>
              <a:t>graph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Avoiding loop</a:t>
            </a:r>
            <a:r>
              <a:rPr lang="en-US" sz="2000" dirty="0"/>
              <a:t>:  </a:t>
            </a:r>
          </a:p>
          <a:p>
            <a:pPr marL="0" indent="0">
              <a:buNone/>
            </a:pPr>
            <a:r>
              <a:rPr lang="en-US" sz="2000" dirty="0"/>
              <a:t>      How to avoid visiting a vertex multiple times ?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  <a:r>
              <a:rPr lang="en-US" sz="2000" i="1" dirty="0">
                <a:solidFill>
                  <a:srgbClr val="0070C0"/>
                </a:solidFill>
              </a:rPr>
              <a:t>(keeping track of vertices already visited)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C00000"/>
                </a:solidFill>
              </a:rPr>
              <a:t>Finite number of steps 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      The traversal </a:t>
            </a:r>
            <a:r>
              <a:rPr lang="en-US" sz="2000" b="1" dirty="0"/>
              <a:t>must stop </a:t>
            </a:r>
            <a:r>
              <a:rPr lang="en-US" sz="2000" dirty="0"/>
              <a:t> in finite number of steps.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C00000"/>
                </a:solidFill>
              </a:rPr>
              <a:t>Completeness 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      We must visit </a:t>
            </a:r>
            <a:r>
              <a:rPr lang="en-US" sz="2000" b="1" dirty="0"/>
              <a:t>all</a:t>
            </a:r>
            <a:r>
              <a:rPr lang="en-US" sz="2000" dirty="0"/>
              <a:t> vertices reachable from the start vertex </a:t>
            </a:r>
            <a:r>
              <a:rPr lang="en-US" sz="2000" b="1" i="1" dirty="0">
                <a:solidFill>
                  <a:srgbClr val="00B050"/>
                </a:solidFill>
              </a:rPr>
              <a:t>x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/>
          <a:lstStyle/>
          <a:p>
            <a:r>
              <a:rPr lang="en-US" sz="3200" b="1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Breadth First Search </a:t>
            </a:r>
            <a:r>
              <a:rPr lang="en-US" sz="3200" b="1" dirty="0"/>
              <a:t>traversal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We shall introduce this traversal technique through an interesting problem.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90800" y="4343400"/>
            <a:ext cx="350903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computing distances </a:t>
            </a:r>
            <a:r>
              <a:rPr lang="en-US" dirty="0">
                <a:solidFill>
                  <a:srgbClr val="002060"/>
                </a:solidFill>
              </a:rPr>
              <a:t>from a vertex.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08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Notations and Observations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Length of a path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919336" y="3364468"/>
            <a:ext cx="4851334" cy="533400"/>
            <a:chOff x="1919336" y="2819400"/>
            <a:chExt cx="4851334" cy="533400"/>
          </a:xfrm>
        </p:grpSpPr>
        <p:grpSp>
          <p:nvGrpSpPr>
            <p:cNvPr id="8" name="Group 7"/>
            <p:cNvGrpSpPr/>
            <p:nvPr/>
          </p:nvGrpSpPr>
          <p:grpSpPr>
            <a:xfrm>
              <a:off x="1975624" y="2824976"/>
              <a:ext cx="922764" cy="228600"/>
              <a:chOff x="1975624" y="2824976"/>
              <a:chExt cx="922764" cy="2286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2734836" y="2819400"/>
              <a:ext cx="922764" cy="228600"/>
              <a:chOff x="1975624" y="2824976"/>
              <a:chExt cx="922764" cy="2286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3505200" y="2819400"/>
              <a:ext cx="922764" cy="228600"/>
              <a:chOff x="1975624" y="2824976"/>
              <a:chExt cx="922764" cy="2286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4182636" y="2819400"/>
              <a:ext cx="922764" cy="228600"/>
              <a:chOff x="1975624" y="2824976"/>
              <a:chExt cx="922764" cy="2286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4868436" y="2819400"/>
              <a:ext cx="922764" cy="228600"/>
              <a:chOff x="1975624" y="2824976"/>
              <a:chExt cx="922764" cy="2286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5638800" y="2819400"/>
              <a:ext cx="922764" cy="228600"/>
              <a:chOff x="1975624" y="2824976"/>
              <a:chExt cx="922764" cy="228600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Oval 23"/>
            <p:cNvSpPr/>
            <p:nvPr/>
          </p:nvSpPr>
          <p:spPr>
            <a:xfrm>
              <a:off x="6477000" y="2819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19336" y="29834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77000" y="2971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y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590800" y="3669268"/>
            <a:ext cx="3467100" cy="750332"/>
            <a:chOff x="3048000" y="3341132"/>
            <a:chExt cx="3467100" cy="750332"/>
          </a:xfrm>
        </p:grpSpPr>
        <p:sp>
          <p:nvSpPr>
            <p:cNvPr id="28" name="Up Arrow 27"/>
            <p:cNvSpPr/>
            <p:nvPr/>
          </p:nvSpPr>
          <p:spPr>
            <a:xfrm>
              <a:off x="4605918" y="3341132"/>
              <a:ext cx="279246" cy="3810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48000" y="3722132"/>
              <a:ext cx="3467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path of length 6 between </a:t>
              </a:r>
              <a:r>
                <a:rPr lang="en-US" b="1" i="1" dirty="0">
                  <a:solidFill>
                    <a:srgbClr val="00B050"/>
                  </a:solidFill>
                </a:rPr>
                <a:t>x </a:t>
              </a:r>
              <a:r>
                <a:rPr lang="en-US" dirty="0"/>
                <a:t>and</a:t>
              </a:r>
              <a:r>
                <a:rPr lang="en-US" b="1" i="1" dirty="0">
                  <a:solidFill>
                    <a:srgbClr val="00B050"/>
                  </a:solidFill>
                </a:rPr>
                <a:t> y</a:t>
              </a:r>
              <a:endParaRPr 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286000" y="2362200"/>
            <a:ext cx="334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number of edges</a:t>
            </a:r>
            <a:r>
              <a:rPr lang="en-US" dirty="0"/>
              <a:t> on the path.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3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Notations and Observations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Observation: </a:t>
                </a:r>
              </a:p>
              <a:p>
                <a:pPr marL="0" indent="0">
                  <a:buNone/>
                </a:pPr>
                <a:r>
                  <a:rPr lang="en-US" sz="1800" dirty="0"/>
                  <a:t>If  &lt;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…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  <m:r>
                      <m:rPr>
                        <m:nor/>
                      </m:rPr>
                      <a:rPr lang="en-US" sz="1800" dirty="0"/>
                      <m:t>,</m:t>
                    </m:r>
                    <m:r>
                      <a:rPr lang="en-US" sz="1800" b="1" dirty="0">
                        <a:latin typeface="Cambria Math"/>
                      </a:rPr>
                      <m:t>  </m:t>
                    </m:r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𝐲</m:t>
                    </m:r>
                  </m:oMath>
                </a14:m>
                <a:r>
                  <a:rPr lang="en-US" sz="1800" dirty="0"/>
                  <a:t>&gt; is a path of length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 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then what is the length of the path  &lt;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…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&gt;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i="1" dirty="0"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1800" dirty="0"/>
                  <a:t>What can be the maximum length of any path in a graph ?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i="1" dirty="0" smtClean="0"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2000" b="1" i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  <a:blipFill rotWithShape="1">
                <a:blip r:embed="rId2"/>
                <a:stretch>
                  <a:fillRect l="-741" t="-635" b="-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919336" y="2514600"/>
            <a:ext cx="4851334" cy="533400"/>
            <a:chOff x="1919336" y="2819400"/>
            <a:chExt cx="4851334" cy="533400"/>
          </a:xfrm>
        </p:grpSpPr>
        <p:grpSp>
          <p:nvGrpSpPr>
            <p:cNvPr id="8" name="Group 7"/>
            <p:cNvGrpSpPr/>
            <p:nvPr/>
          </p:nvGrpSpPr>
          <p:grpSpPr>
            <a:xfrm>
              <a:off x="1975624" y="2824976"/>
              <a:ext cx="922764" cy="228600"/>
              <a:chOff x="1975624" y="2824976"/>
              <a:chExt cx="922764" cy="2286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2734836" y="2819400"/>
              <a:ext cx="922764" cy="228600"/>
              <a:chOff x="1975624" y="2824976"/>
              <a:chExt cx="922764" cy="2286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3505200" y="2819400"/>
              <a:ext cx="922764" cy="228600"/>
              <a:chOff x="1975624" y="2824976"/>
              <a:chExt cx="922764" cy="2286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4182636" y="2819400"/>
              <a:ext cx="922764" cy="228600"/>
              <a:chOff x="1975624" y="2824976"/>
              <a:chExt cx="922764" cy="2286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4868436" y="2819400"/>
              <a:ext cx="922764" cy="228600"/>
              <a:chOff x="1975624" y="2824976"/>
              <a:chExt cx="922764" cy="2286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5638800" y="2819400"/>
              <a:ext cx="922764" cy="228600"/>
              <a:chOff x="1975624" y="2824976"/>
              <a:chExt cx="922764" cy="228600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Oval 23"/>
            <p:cNvSpPr/>
            <p:nvPr/>
          </p:nvSpPr>
          <p:spPr>
            <a:xfrm>
              <a:off x="6477000" y="2819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19336" y="29834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77000" y="2971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y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987172" y="1764268"/>
            <a:ext cx="4642228" cy="445532"/>
            <a:chOff x="1987172" y="1764268"/>
            <a:chExt cx="4642228" cy="445532"/>
          </a:xfrm>
        </p:grpSpPr>
        <p:cxnSp>
          <p:nvCxnSpPr>
            <p:cNvPr id="54" name="Straight Arrow Connector 53"/>
            <p:cNvCxnSpPr/>
            <p:nvPr/>
          </p:nvCxnSpPr>
          <p:spPr>
            <a:xfrm>
              <a:off x="1987172" y="2209800"/>
              <a:ext cx="464222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4117171" y="1764268"/>
                  <a:ext cx="3786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171" y="1764268"/>
                  <a:ext cx="37862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562600" y="2678668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rgbClr val="00B050"/>
                          </a:solidFill>
                          <a:latin typeface="Cambria Math"/>
                        </a:rPr>
                        <m:t>𝐯</m:t>
                      </m:r>
                    </m:oMath>
                  </m:oMathPara>
                </a14:m>
                <a:endParaRPr lang="en-US" b="1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678668"/>
                <a:ext cx="36260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2203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/>
          <p:nvPr/>
        </p:nvCxnSpPr>
        <p:spPr>
          <a:xfrm>
            <a:off x="1905000" y="3124200"/>
            <a:ext cx="38389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888571" y="3135868"/>
                <a:ext cx="7922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571" y="3135868"/>
                <a:ext cx="79220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923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68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9" grpId="0"/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Notations and Observations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Shortest Path </a:t>
            </a:r>
            <a:r>
              <a:rPr lang="en-US" sz="2000" b="1" dirty="0"/>
              <a:t>from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i="1" dirty="0">
                <a:solidFill>
                  <a:srgbClr val="00B050"/>
                </a:solidFill>
              </a:rPr>
              <a:t>x </a:t>
            </a:r>
            <a:r>
              <a:rPr lang="en-US" sz="2000" b="1" dirty="0"/>
              <a:t>to</a:t>
            </a:r>
            <a:r>
              <a:rPr lang="en-US" sz="2000" b="1" i="1" dirty="0">
                <a:solidFill>
                  <a:srgbClr val="00B050"/>
                </a:solidFill>
              </a:rPr>
              <a:t> y</a:t>
            </a:r>
            <a:r>
              <a:rPr lang="en-US" sz="2000" b="1" dirty="0"/>
              <a:t>:  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Distance</a:t>
            </a:r>
            <a:r>
              <a:rPr lang="en-US" sz="2000" dirty="0"/>
              <a:t> from</a:t>
            </a:r>
            <a:r>
              <a:rPr lang="en-US" sz="2000" b="1" i="1" dirty="0">
                <a:solidFill>
                  <a:srgbClr val="00B050"/>
                </a:solidFill>
              </a:rPr>
              <a:t> x</a:t>
            </a:r>
            <a:r>
              <a:rPr lang="en-US" sz="2000" dirty="0"/>
              <a:t> to</a:t>
            </a:r>
            <a:r>
              <a:rPr lang="en-US" sz="2000" b="1" i="1" dirty="0">
                <a:solidFill>
                  <a:srgbClr val="00B050"/>
                </a:solidFill>
              </a:rPr>
              <a:t> y</a:t>
            </a:r>
            <a:r>
              <a:rPr lang="en-US" sz="2000" b="1" dirty="0"/>
              <a:t>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124200" y="3006207"/>
            <a:ext cx="2722663" cy="2632593"/>
            <a:chOff x="4419600" y="2362200"/>
            <a:chExt cx="3023839" cy="3210622"/>
          </a:xfrm>
        </p:grpSpPr>
        <p:sp>
          <p:nvSpPr>
            <p:cNvPr id="6" name="Oval 5"/>
            <p:cNvSpPr/>
            <p:nvPr/>
          </p:nvSpPr>
          <p:spPr>
            <a:xfrm>
              <a:off x="4419600" y="23622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419600" y="30480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800600" y="367711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419600" y="437034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562600" y="321712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676900" y="42672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257800" y="53442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7214839" y="48387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172200" y="37338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6400800" y="51388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676900" y="23622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020622" y="37821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6781800" y="282497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>
              <a:stCxn id="9" idx="6"/>
              <a:endCxn id="11" idx="2"/>
            </p:cNvCxnSpPr>
            <p:nvPr/>
          </p:nvCxnSpPr>
          <p:spPr>
            <a:xfrm flipV="1">
              <a:off x="4648200" y="4342471"/>
              <a:ext cx="1028700" cy="1031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7" idx="6"/>
              <a:endCxn id="10" idx="2"/>
            </p:cNvCxnSpPr>
            <p:nvPr/>
          </p:nvCxnSpPr>
          <p:spPr>
            <a:xfrm>
              <a:off x="4648200" y="3123271"/>
              <a:ext cx="914400" cy="1691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6" idx="6"/>
            </p:cNvCxnSpPr>
            <p:nvPr/>
          </p:nvCxnSpPr>
          <p:spPr>
            <a:xfrm flipV="1">
              <a:off x="4648200" y="2399371"/>
              <a:ext cx="1042651" cy="2790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6" idx="4"/>
              <a:endCxn id="7" idx="0"/>
            </p:cNvCxnSpPr>
            <p:nvPr/>
          </p:nvCxnSpPr>
          <p:spPr>
            <a:xfrm>
              <a:off x="4533900" y="2551771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endCxn id="18" idx="3"/>
            </p:cNvCxnSpPr>
            <p:nvPr/>
          </p:nvCxnSpPr>
          <p:spPr>
            <a:xfrm flipV="1">
              <a:off x="5780037" y="2970871"/>
              <a:ext cx="1035241" cy="26813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2" idx="1"/>
              <a:endCxn id="9" idx="4"/>
            </p:cNvCxnSpPr>
            <p:nvPr/>
          </p:nvCxnSpPr>
          <p:spPr>
            <a:xfrm flipH="1" flipV="1">
              <a:off x="4533900" y="4559920"/>
              <a:ext cx="757378" cy="7787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7" idx="4"/>
              <a:endCxn id="9" idx="0"/>
            </p:cNvCxnSpPr>
            <p:nvPr/>
          </p:nvCxnSpPr>
          <p:spPr>
            <a:xfrm>
              <a:off x="4533900" y="3237571"/>
              <a:ext cx="0" cy="10937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0" idx="4"/>
              <a:endCxn id="11" idx="0"/>
            </p:cNvCxnSpPr>
            <p:nvPr/>
          </p:nvCxnSpPr>
          <p:spPr>
            <a:xfrm>
              <a:off x="5676900" y="3406698"/>
              <a:ext cx="114300" cy="82147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6" idx="6"/>
              <a:endCxn id="18" idx="1"/>
            </p:cNvCxnSpPr>
            <p:nvPr/>
          </p:nvCxnSpPr>
          <p:spPr>
            <a:xfrm>
              <a:off x="5905500" y="2437471"/>
              <a:ext cx="909778" cy="38195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7" idx="0"/>
              <a:endCxn id="18" idx="5"/>
            </p:cNvCxnSpPr>
            <p:nvPr/>
          </p:nvCxnSpPr>
          <p:spPr>
            <a:xfrm flipH="1" flipV="1">
              <a:off x="6976922" y="2981069"/>
              <a:ext cx="158000" cy="7620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1" idx="6"/>
              <a:endCxn id="17" idx="3"/>
            </p:cNvCxnSpPr>
            <p:nvPr/>
          </p:nvCxnSpPr>
          <p:spPr>
            <a:xfrm flipV="1">
              <a:off x="5905500" y="3938215"/>
              <a:ext cx="1148600" cy="4042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5" idx="7"/>
              <a:endCxn id="13" idx="3"/>
            </p:cNvCxnSpPr>
            <p:nvPr/>
          </p:nvCxnSpPr>
          <p:spPr>
            <a:xfrm flipV="1">
              <a:off x="6595922" y="4994793"/>
              <a:ext cx="652395" cy="1385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7" idx="5"/>
              <a:endCxn id="8" idx="1"/>
            </p:cNvCxnSpPr>
            <p:nvPr/>
          </p:nvCxnSpPr>
          <p:spPr>
            <a:xfrm>
              <a:off x="4614722" y="3243122"/>
              <a:ext cx="219355" cy="4674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13" idx="0"/>
            </p:cNvCxnSpPr>
            <p:nvPr/>
          </p:nvCxnSpPr>
          <p:spPr>
            <a:xfrm>
              <a:off x="7101444" y="3965212"/>
              <a:ext cx="227695" cy="82426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0" idx="2"/>
              <a:endCxn id="12" idx="0"/>
            </p:cNvCxnSpPr>
            <p:nvPr/>
          </p:nvCxnSpPr>
          <p:spPr>
            <a:xfrm flipH="1">
              <a:off x="5372100" y="3292398"/>
              <a:ext cx="190500" cy="20127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1" idx="4"/>
              <a:endCxn id="15" idx="0"/>
            </p:cNvCxnSpPr>
            <p:nvPr/>
          </p:nvCxnSpPr>
          <p:spPr>
            <a:xfrm>
              <a:off x="5791200" y="4456771"/>
              <a:ext cx="723900" cy="64305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4" idx="6"/>
              <a:endCxn id="17" idx="1"/>
            </p:cNvCxnSpPr>
            <p:nvPr/>
          </p:nvCxnSpPr>
          <p:spPr>
            <a:xfrm flipV="1">
              <a:off x="6400800" y="3776571"/>
              <a:ext cx="653300" cy="325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0" idx="2"/>
              <a:endCxn id="8" idx="6"/>
            </p:cNvCxnSpPr>
            <p:nvPr/>
          </p:nvCxnSpPr>
          <p:spPr>
            <a:xfrm flipH="1">
              <a:off x="5029200" y="3292398"/>
              <a:ext cx="533400" cy="4599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9" idx="7"/>
              <a:endCxn id="8" idx="3"/>
            </p:cNvCxnSpPr>
            <p:nvPr/>
          </p:nvCxnSpPr>
          <p:spPr>
            <a:xfrm flipV="1">
              <a:off x="4614722" y="3833208"/>
              <a:ext cx="219356" cy="5315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4" idx="7"/>
              <a:endCxn id="18" idx="4"/>
            </p:cNvCxnSpPr>
            <p:nvPr/>
          </p:nvCxnSpPr>
          <p:spPr>
            <a:xfrm flipV="1">
              <a:off x="6367322" y="3014547"/>
              <a:ext cx="528778" cy="71370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9" idx="4"/>
              <a:endCxn id="15" idx="2"/>
            </p:cNvCxnSpPr>
            <p:nvPr/>
          </p:nvCxnSpPr>
          <p:spPr>
            <a:xfrm>
              <a:off x="4533900" y="4559920"/>
              <a:ext cx="1866900" cy="65420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6" idx="4"/>
              <a:endCxn id="10" idx="0"/>
            </p:cNvCxnSpPr>
            <p:nvPr/>
          </p:nvCxnSpPr>
          <p:spPr>
            <a:xfrm flipH="1">
              <a:off x="5676900" y="2551771"/>
              <a:ext cx="114300" cy="6263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13" idx="2"/>
            </p:cNvCxnSpPr>
            <p:nvPr/>
          </p:nvCxnSpPr>
          <p:spPr>
            <a:xfrm flipH="1" flipV="1">
              <a:off x="5898042" y="4435433"/>
              <a:ext cx="1316797" cy="51756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6" idx="5"/>
              <a:endCxn id="10" idx="1"/>
            </p:cNvCxnSpPr>
            <p:nvPr/>
          </p:nvCxnSpPr>
          <p:spPr>
            <a:xfrm>
              <a:off x="4614722" y="2557322"/>
              <a:ext cx="981356" cy="69328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6" idx="3"/>
              <a:endCxn id="7" idx="7"/>
            </p:cNvCxnSpPr>
            <p:nvPr/>
          </p:nvCxnSpPr>
          <p:spPr>
            <a:xfrm flipH="1">
              <a:off x="4614722" y="2557322"/>
              <a:ext cx="1095656" cy="5241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10" idx="6"/>
              <a:endCxn id="14" idx="1"/>
            </p:cNvCxnSpPr>
            <p:nvPr/>
          </p:nvCxnSpPr>
          <p:spPr>
            <a:xfrm>
              <a:off x="5791200" y="3331427"/>
              <a:ext cx="414478" cy="4358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3299888" y="3166200"/>
            <a:ext cx="2338912" cy="1982587"/>
            <a:chOff x="1644025" y="2487993"/>
            <a:chExt cx="2338912" cy="1982587"/>
          </a:xfrm>
        </p:grpSpPr>
        <p:cxnSp>
          <p:nvCxnSpPr>
            <p:cNvPr id="46" name="Straight Connector 45"/>
            <p:cNvCxnSpPr>
              <a:stCxn id="6" idx="5"/>
            </p:cNvCxnSpPr>
            <p:nvPr/>
          </p:nvCxnSpPr>
          <p:spPr>
            <a:xfrm>
              <a:off x="1644025" y="2487993"/>
              <a:ext cx="881380" cy="567596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endCxn id="10" idx="4"/>
            </p:cNvCxnSpPr>
            <p:nvPr/>
          </p:nvCxnSpPr>
          <p:spPr>
            <a:xfrm flipH="1" flipV="1">
              <a:off x="2600410" y="3216453"/>
              <a:ext cx="90634" cy="675776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 flipV="1">
              <a:off x="2804010" y="4046193"/>
              <a:ext cx="1178927" cy="424387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2895600" y="29072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91200" y="50292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y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3227116" y="3193651"/>
            <a:ext cx="2444059" cy="2116762"/>
            <a:chOff x="3227116" y="3193651"/>
            <a:chExt cx="2444059" cy="2116762"/>
          </a:xfrm>
        </p:grpSpPr>
        <p:grpSp>
          <p:nvGrpSpPr>
            <p:cNvPr id="51" name="Group 50"/>
            <p:cNvGrpSpPr/>
            <p:nvPr/>
          </p:nvGrpSpPr>
          <p:grpSpPr>
            <a:xfrm>
              <a:off x="3227116" y="3193651"/>
              <a:ext cx="270279" cy="1486616"/>
              <a:chOff x="2659109" y="2363044"/>
              <a:chExt cx="270279" cy="1486616"/>
            </a:xfrm>
          </p:grpSpPr>
          <p:cxnSp>
            <p:nvCxnSpPr>
              <p:cNvPr id="52" name="Straight Connector 51"/>
              <p:cNvCxnSpPr>
                <a:stCxn id="6" idx="4"/>
                <a:endCxn id="7" idx="0"/>
              </p:cNvCxnSpPr>
              <p:nvPr/>
            </p:nvCxnSpPr>
            <p:spPr>
              <a:xfrm>
                <a:off x="2659109" y="2363044"/>
                <a:ext cx="0" cy="37488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>
                <a:stCxn id="8" idx="1"/>
                <a:endCxn id="7" idx="5"/>
              </p:cNvCxnSpPr>
              <p:nvPr/>
            </p:nvCxnSpPr>
            <p:spPr>
              <a:xfrm flipH="1" flipV="1">
                <a:off x="2731881" y="2897924"/>
                <a:ext cx="197507" cy="383309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>
                <a:stCxn id="9" idx="7"/>
                <a:endCxn id="8" idx="3"/>
              </p:cNvCxnSpPr>
              <p:nvPr/>
            </p:nvCxnSpPr>
            <p:spPr>
              <a:xfrm flipV="1">
                <a:off x="2731881" y="3413775"/>
                <a:ext cx="197507" cy="43588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>
              <a:stCxn id="9" idx="6"/>
              <a:endCxn id="11" idx="2"/>
            </p:cNvCxnSpPr>
            <p:nvPr/>
          </p:nvCxnSpPr>
          <p:spPr>
            <a:xfrm flipV="1">
              <a:off x="3330031" y="4661960"/>
              <a:ext cx="926241" cy="8457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15" idx="0"/>
              <a:endCxn id="11" idx="5"/>
            </p:cNvCxnSpPr>
            <p:nvPr/>
          </p:nvCxnSpPr>
          <p:spPr>
            <a:xfrm flipH="1" flipV="1">
              <a:off x="4431960" y="4728231"/>
              <a:ext cx="579027" cy="554731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15" idx="7"/>
              <a:endCxn id="13" idx="3"/>
            </p:cNvCxnSpPr>
            <p:nvPr/>
          </p:nvCxnSpPr>
          <p:spPr>
            <a:xfrm flipV="1">
              <a:off x="5083759" y="5196840"/>
              <a:ext cx="587416" cy="11357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3352800" y="1600200"/>
            <a:ext cx="3275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path from </a:t>
            </a:r>
            <a:r>
              <a:rPr lang="en-US" b="1" i="1" dirty="0">
                <a:solidFill>
                  <a:srgbClr val="00B050"/>
                </a:solidFill>
              </a:rPr>
              <a:t>x </a:t>
            </a:r>
            <a:r>
              <a:rPr lang="en-US" dirty="0"/>
              <a:t>to </a:t>
            </a:r>
            <a:r>
              <a:rPr lang="en-US" b="1" i="1" dirty="0">
                <a:solidFill>
                  <a:srgbClr val="00B050"/>
                </a:solidFill>
              </a:rPr>
              <a:t>y</a:t>
            </a:r>
            <a:r>
              <a:rPr lang="en-US" dirty="0"/>
              <a:t> of </a:t>
            </a:r>
            <a:r>
              <a:rPr lang="en-US" b="1" u="sng" dirty="0"/>
              <a:t>least</a:t>
            </a:r>
            <a:r>
              <a:rPr lang="en-US" u="sng" dirty="0"/>
              <a:t> length</a:t>
            </a:r>
            <a:endParaRPr lang="en-IN" u="sng" dirty="0"/>
          </a:p>
        </p:txBody>
      </p:sp>
      <p:sp>
        <p:nvSpPr>
          <p:cNvPr id="56" name="TextBox 55"/>
          <p:cNvSpPr txBox="1"/>
          <p:nvPr/>
        </p:nvSpPr>
        <p:spPr>
          <a:xfrm>
            <a:off x="2819400" y="2373868"/>
            <a:ext cx="422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length</a:t>
            </a:r>
            <a:r>
              <a:rPr lang="en-US" dirty="0"/>
              <a:t> of the </a:t>
            </a:r>
            <a:r>
              <a:rPr lang="en-US" u="sng" dirty="0"/>
              <a:t>shortest path</a:t>
            </a:r>
            <a:r>
              <a:rPr lang="en-US" dirty="0"/>
              <a:t> from </a:t>
            </a:r>
            <a:r>
              <a:rPr lang="en-US" b="1" i="1" dirty="0">
                <a:solidFill>
                  <a:srgbClr val="00B050"/>
                </a:solidFill>
              </a:rPr>
              <a:t>x</a:t>
            </a:r>
            <a:r>
              <a:rPr lang="en-US" dirty="0"/>
              <a:t> to</a:t>
            </a:r>
            <a:r>
              <a:rPr lang="en-US" b="1" i="1" dirty="0">
                <a:solidFill>
                  <a:srgbClr val="00B050"/>
                </a:solidFill>
              </a:rPr>
              <a:t> y</a:t>
            </a:r>
            <a:r>
              <a:rPr lang="en-US" b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3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9" grpId="0"/>
      <p:bldP spid="50" grpId="0"/>
      <p:bldP spid="55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Shortest Paths </a:t>
            </a:r>
            <a:br>
              <a:rPr lang="en-US" sz="3200" b="1" dirty="0"/>
            </a:br>
            <a:r>
              <a:rPr lang="en-US" sz="3200" b="1" dirty="0"/>
              <a:t>in Undirected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2"/>
          </p:nvPr>
        </p:nvSpPr>
        <p:spPr>
          <a:xfrm>
            <a:off x="4343400" y="1600200"/>
            <a:ext cx="46482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Problem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How to compute distance to all vertices </a:t>
            </a:r>
            <a:r>
              <a:rPr lang="en-US" sz="1800" b="1" dirty="0"/>
              <a:t>reachable</a:t>
            </a:r>
            <a:r>
              <a:rPr lang="en-US" sz="1800" dirty="0"/>
              <a:t> from </a:t>
            </a:r>
            <a:r>
              <a:rPr lang="en-US" sz="1800" b="1" i="1" dirty="0">
                <a:solidFill>
                  <a:srgbClr val="00B050"/>
                </a:solidFill>
              </a:rPr>
              <a:t>x </a:t>
            </a:r>
            <a:r>
              <a:rPr lang="en-US" sz="1800" dirty="0"/>
              <a:t>in a given undirected graph ?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685800" y="1905000"/>
            <a:ext cx="3267164" cy="3124200"/>
            <a:chOff x="2817706" y="1371600"/>
            <a:chExt cx="3267164" cy="3124200"/>
          </a:xfrm>
        </p:grpSpPr>
        <p:grpSp>
          <p:nvGrpSpPr>
            <p:cNvPr id="5" name="Group 4"/>
            <p:cNvGrpSpPr/>
            <p:nvPr/>
          </p:nvGrpSpPr>
          <p:grpSpPr>
            <a:xfrm>
              <a:off x="3124199" y="1676400"/>
              <a:ext cx="2722660" cy="2632593"/>
              <a:chOff x="4419600" y="2362200"/>
              <a:chExt cx="3023839" cy="3210622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4419600" y="30480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4800600" y="367711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419600" y="437034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5562600" y="321712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676900" y="4267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257800" y="53442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214839" y="48387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172200" y="37338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400800" y="51388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6769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7020622" y="37821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6781800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/>
              <p:cNvCxnSpPr>
                <a:stCxn id="9" idx="6"/>
                <a:endCxn id="11" idx="2"/>
              </p:cNvCxnSpPr>
              <p:nvPr/>
            </p:nvCxnSpPr>
            <p:spPr>
              <a:xfrm flipV="1">
                <a:off x="4648200" y="4342471"/>
                <a:ext cx="1028700" cy="1031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6"/>
                <a:endCxn id="10" idx="2"/>
              </p:cNvCxnSpPr>
              <p:nvPr/>
            </p:nvCxnSpPr>
            <p:spPr>
              <a:xfrm>
                <a:off x="4648200" y="3123271"/>
                <a:ext cx="914400" cy="1691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6" idx="6"/>
              </p:cNvCxnSpPr>
              <p:nvPr/>
            </p:nvCxnSpPr>
            <p:spPr>
              <a:xfrm flipV="1">
                <a:off x="4648200" y="2399371"/>
                <a:ext cx="1042651" cy="279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4533901" y="2605114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>
                <a:endCxn id="18" idx="3"/>
              </p:cNvCxnSpPr>
              <p:nvPr/>
            </p:nvCxnSpPr>
            <p:spPr>
              <a:xfrm flipV="1">
                <a:off x="5780037" y="2970871"/>
                <a:ext cx="1035241" cy="2681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12" idx="1"/>
                <a:endCxn id="9" idx="4"/>
              </p:cNvCxnSpPr>
              <p:nvPr/>
            </p:nvCxnSpPr>
            <p:spPr>
              <a:xfrm flipH="1" flipV="1">
                <a:off x="4533900" y="4559920"/>
                <a:ext cx="757378" cy="7787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533901" y="3262871"/>
                <a:ext cx="0" cy="10937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10" idx="4"/>
              </p:cNvCxnSpPr>
              <p:nvPr/>
            </p:nvCxnSpPr>
            <p:spPr>
              <a:xfrm>
                <a:off x="5676900" y="3445727"/>
                <a:ext cx="124558" cy="82528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16" idx="6"/>
                <a:endCxn id="18" idx="1"/>
              </p:cNvCxnSpPr>
              <p:nvPr/>
            </p:nvCxnSpPr>
            <p:spPr>
              <a:xfrm>
                <a:off x="5905500" y="2437471"/>
                <a:ext cx="909778" cy="38195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endCxn id="18" idx="5"/>
              </p:cNvCxnSpPr>
              <p:nvPr/>
            </p:nvCxnSpPr>
            <p:spPr>
              <a:xfrm flipH="1" flipV="1">
                <a:off x="6976922" y="3020098"/>
                <a:ext cx="171344" cy="7594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11" idx="6"/>
                <a:endCxn id="17" idx="3"/>
              </p:cNvCxnSpPr>
              <p:nvPr/>
            </p:nvCxnSpPr>
            <p:spPr>
              <a:xfrm flipV="1">
                <a:off x="5905500" y="3938215"/>
                <a:ext cx="1148600" cy="4042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13" idx="3"/>
              </p:cNvCxnSpPr>
              <p:nvPr/>
            </p:nvCxnSpPr>
            <p:spPr>
              <a:xfrm flipV="1">
                <a:off x="6503779" y="5033822"/>
                <a:ext cx="744537" cy="11630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7" idx="5"/>
                <a:endCxn id="8" idx="1"/>
              </p:cNvCxnSpPr>
              <p:nvPr/>
            </p:nvCxnSpPr>
            <p:spPr>
              <a:xfrm>
                <a:off x="4614722" y="3243122"/>
                <a:ext cx="219355" cy="46747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154525" y="4034957"/>
                <a:ext cx="225217" cy="86338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10" idx="3"/>
                <a:endCxn id="12" idx="0"/>
              </p:cNvCxnSpPr>
              <p:nvPr/>
            </p:nvCxnSpPr>
            <p:spPr>
              <a:xfrm flipH="1">
                <a:off x="5372101" y="3412249"/>
                <a:ext cx="223977" cy="193197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11" idx="4"/>
              </p:cNvCxnSpPr>
              <p:nvPr/>
            </p:nvCxnSpPr>
            <p:spPr>
              <a:xfrm>
                <a:off x="5791201" y="4495801"/>
                <a:ext cx="631756" cy="68780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14" idx="6"/>
              </p:cNvCxnSpPr>
              <p:nvPr/>
            </p:nvCxnSpPr>
            <p:spPr>
              <a:xfrm flipV="1">
                <a:off x="6400800" y="3813006"/>
                <a:ext cx="666644" cy="350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10" idx="2"/>
                <a:endCxn id="8" idx="6"/>
              </p:cNvCxnSpPr>
              <p:nvPr/>
            </p:nvCxnSpPr>
            <p:spPr>
              <a:xfrm flipH="1">
                <a:off x="5029200" y="3292398"/>
                <a:ext cx="533400" cy="4599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9" idx="7"/>
                <a:endCxn id="8" idx="3"/>
              </p:cNvCxnSpPr>
              <p:nvPr/>
            </p:nvCxnSpPr>
            <p:spPr>
              <a:xfrm flipV="1">
                <a:off x="4614722" y="3833208"/>
                <a:ext cx="219356" cy="5315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14" idx="7"/>
                <a:endCxn id="18" idx="4"/>
              </p:cNvCxnSpPr>
              <p:nvPr/>
            </p:nvCxnSpPr>
            <p:spPr>
              <a:xfrm flipV="1">
                <a:off x="6367322" y="3014547"/>
                <a:ext cx="528778" cy="7137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9" idx="4"/>
                <a:endCxn id="15" idx="2"/>
              </p:cNvCxnSpPr>
              <p:nvPr/>
            </p:nvCxnSpPr>
            <p:spPr>
              <a:xfrm>
                <a:off x="4533900" y="4559920"/>
                <a:ext cx="1866900" cy="65420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5653228" y="2581507"/>
                <a:ext cx="114301" cy="6263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stCxn id="13" idx="2"/>
              </p:cNvCxnSpPr>
              <p:nvPr/>
            </p:nvCxnSpPr>
            <p:spPr>
              <a:xfrm flipH="1" flipV="1">
                <a:off x="5898042" y="4435433"/>
                <a:ext cx="1316797" cy="51756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6" idx="5"/>
                <a:endCxn id="10" idx="1"/>
              </p:cNvCxnSpPr>
              <p:nvPr/>
            </p:nvCxnSpPr>
            <p:spPr>
              <a:xfrm>
                <a:off x="4614722" y="2557322"/>
                <a:ext cx="981356" cy="69328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16" idx="3"/>
                <a:endCxn id="7" idx="7"/>
              </p:cNvCxnSpPr>
              <p:nvPr/>
            </p:nvCxnSpPr>
            <p:spPr>
              <a:xfrm flipH="1">
                <a:off x="4614722" y="2557322"/>
                <a:ext cx="1095656" cy="5241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>
                <a:stCxn id="10" idx="6"/>
                <a:endCxn id="14" idx="1"/>
              </p:cNvCxnSpPr>
              <p:nvPr/>
            </p:nvCxnSpPr>
            <p:spPr>
              <a:xfrm>
                <a:off x="5791200" y="3331427"/>
                <a:ext cx="414478" cy="4358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/>
            <p:cNvSpPr txBox="1"/>
            <p:nvPr/>
          </p:nvSpPr>
          <p:spPr>
            <a:xfrm>
              <a:off x="5791200" y="3733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95800" y="1447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b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51306" y="4126468"/>
              <a:ext cx="279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c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38800" y="2678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30530" y="1371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817706" y="2133600"/>
              <a:ext cx="25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f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19400" y="3288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g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581400" y="27548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5506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u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486400" y="1905000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w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38711" y="276508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v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14800" y="3288268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r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38600" y="40502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497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Shortest Paths </a:t>
            </a:r>
            <a:br>
              <a:rPr lang="en-US" sz="3200" b="1" dirty="0"/>
            </a:br>
            <a:r>
              <a:rPr lang="en-US" sz="3200" b="1" dirty="0"/>
              <a:t>in Undirected Graphs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ontent Placeholder 8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952964" y="1600200"/>
                <a:ext cx="4733836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 : Vertices at distance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dirty="0"/>
                  <a:t> from 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: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??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: Vertices at distance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 from 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: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??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: Vertices at distance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dirty="0"/>
                  <a:t> from 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: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?? 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82" name="Content Placeholder 8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952964" y="1600200"/>
                <a:ext cx="4733836" cy="4525963"/>
              </a:xfrm>
              <a:blipFill rotWithShape="1">
                <a:blip r:embed="rId2"/>
                <a:stretch>
                  <a:fillRect l="-1030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685800" y="1905000"/>
            <a:ext cx="3267164" cy="3124200"/>
            <a:chOff x="2817706" y="1371600"/>
            <a:chExt cx="3267164" cy="3124200"/>
          </a:xfrm>
        </p:grpSpPr>
        <p:grpSp>
          <p:nvGrpSpPr>
            <p:cNvPr id="5" name="Group 4"/>
            <p:cNvGrpSpPr/>
            <p:nvPr/>
          </p:nvGrpSpPr>
          <p:grpSpPr>
            <a:xfrm>
              <a:off x="3124199" y="1676400"/>
              <a:ext cx="2722660" cy="2632593"/>
              <a:chOff x="4419600" y="2362200"/>
              <a:chExt cx="3023839" cy="3210622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4419600" y="30480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4800600" y="367711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419600" y="437034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5562600" y="321712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676900" y="4267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257800" y="53442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214839" y="48387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172200" y="37338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400800" y="51388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6769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7020622" y="37821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6781800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/>
              <p:cNvCxnSpPr>
                <a:stCxn id="9" idx="6"/>
                <a:endCxn id="11" idx="2"/>
              </p:cNvCxnSpPr>
              <p:nvPr/>
            </p:nvCxnSpPr>
            <p:spPr>
              <a:xfrm flipV="1">
                <a:off x="4648200" y="4342471"/>
                <a:ext cx="1028700" cy="1031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6"/>
                <a:endCxn id="10" idx="2"/>
              </p:cNvCxnSpPr>
              <p:nvPr/>
            </p:nvCxnSpPr>
            <p:spPr>
              <a:xfrm>
                <a:off x="4648200" y="3123271"/>
                <a:ext cx="914400" cy="1691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6" idx="6"/>
              </p:cNvCxnSpPr>
              <p:nvPr/>
            </p:nvCxnSpPr>
            <p:spPr>
              <a:xfrm flipV="1">
                <a:off x="4648200" y="2399371"/>
                <a:ext cx="1042651" cy="279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4533901" y="2605114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>
                <a:endCxn id="18" idx="3"/>
              </p:cNvCxnSpPr>
              <p:nvPr/>
            </p:nvCxnSpPr>
            <p:spPr>
              <a:xfrm flipV="1">
                <a:off x="5780037" y="2970871"/>
                <a:ext cx="1035241" cy="2681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12" idx="1"/>
                <a:endCxn id="9" idx="4"/>
              </p:cNvCxnSpPr>
              <p:nvPr/>
            </p:nvCxnSpPr>
            <p:spPr>
              <a:xfrm flipH="1" flipV="1">
                <a:off x="4533900" y="4559920"/>
                <a:ext cx="757378" cy="7787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533901" y="3262871"/>
                <a:ext cx="0" cy="10937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10" idx="4"/>
                <a:endCxn id="68" idx="0"/>
              </p:cNvCxnSpPr>
              <p:nvPr/>
            </p:nvCxnSpPr>
            <p:spPr>
              <a:xfrm>
                <a:off x="5676900" y="3445727"/>
                <a:ext cx="124558" cy="82528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16" idx="6"/>
                <a:endCxn id="18" idx="1"/>
              </p:cNvCxnSpPr>
              <p:nvPr/>
            </p:nvCxnSpPr>
            <p:spPr>
              <a:xfrm>
                <a:off x="5905500" y="2437471"/>
                <a:ext cx="909778" cy="38195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endCxn id="18" idx="5"/>
              </p:cNvCxnSpPr>
              <p:nvPr/>
            </p:nvCxnSpPr>
            <p:spPr>
              <a:xfrm flipH="1" flipV="1">
                <a:off x="6976922" y="3020098"/>
                <a:ext cx="171344" cy="7594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11" idx="6"/>
                <a:endCxn id="17" idx="3"/>
              </p:cNvCxnSpPr>
              <p:nvPr/>
            </p:nvCxnSpPr>
            <p:spPr>
              <a:xfrm flipV="1">
                <a:off x="5905500" y="3938215"/>
                <a:ext cx="1148600" cy="4042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13" idx="3"/>
              </p:cNvCxnSpPr>
              <p:nvPr/>
            </p:nvCxnSpPr>
            <p:spPr>
              <a:xfrm flipV="1">
                <a:off x="6503779" y="5033822"/>
                <a:ext cx="744537" cy="7356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7" idx="5"/>
                <a:endCxn id="8" idx="1"/>
              </p:cNvCxnSpPr>
              <p:nvPr/>
            </p:nvCxnSpPr>
            <p:spPr>
              <a:xfrm>
                <a:off x="4614722" y="3243122"/>
                <a:ext cx="219355" cy="46747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154525" y="4034957"/>
                <a:ext cx="225217" cy="86338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10" idx="3"/>
                <a:endCxn id="12" idx="0"/>
              </p:cNvCxnSpPr>
              <p:nvPr/>
            </p:nvCxnSpPr>
            <p:spPr>
              <a:xfrm flipH="1">
                <a:off x="5372101" y="3412249"/>
                <a:ext cx="223977" cy="193197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11" idx="4"/>
              </p:cNvCxnSpPr>
              <p:nvPr/>
            </p:nvCxnSpPr>
            <p:spPr>
              <a:xfrm>
                <a:off x="5791201" y="4495801"/>
                <a:ext cx="631756" cy="64506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14" idx="6"/>
              </p:cNvCxnSpPr>
              <p:nvPr/>
            </p:nvCxnSpPr>
            <p:spPr>
              <a:xfrm flipV="1">
                <a:off x="6400800" y="3813006"/>
                <a:ext cx="666644" cy="350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10" idx="2"/>
                <a:endCxn id="8" idx="6"/>
              </p:cNvCxnSpPr>
              <p:nvPr/>
            </p:nvCxnSpPr>
            <p:spPr>
              <a:xfrm flipH="1">
                <a:off x="5029200" y="3292398"/>
                <a:ext cx="533400" cy="4599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9" idx="7"/>
                <a:endCxn id="8" idx="3"/>
              </p:cNvCxnSpPr>
              <p:nvPr/>
            </p:nvCxnSpPr>
            <p:spPr>
              <a:xfrm flipV="1">
                <a:off x="4614722" y="3833208"/>
                <a:ext cx="219356" cy="5315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14" idx="7"/>
                <a:endCxn id="18" idx="4"/>
              </p:cNvCxnSpPr>
              <p:nvPr/>
            </p:nvCxnSpPr>
            <p:spPr>
              <a:xfrm flipV="1">
                <a:off x="6367322" y="3014547"/>
                <a:ext cx="528778" cy="7137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9" idx="4"/>
                <a:endCxn id="15" idx="2"/>
              </p:cNvCxnSpPr>
              <p:nvPr/>
            </p:nvCxnSpPr>
            <p:spPr>
              <a:xfrm>
                <a:off x="4533900" y="4559920"/>
                <a:ext cx="1866900" cy="65420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5653228" y="2581507"/>
                <a:ext cx="114301" cy="6263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stCxn id="13" idx="2"/>
              </p:cNvCxnSpPr>
              <p:nvPr/>
            </p:nvCxnSpPr>
            <p:spPr>
              <a:xfrm flipH="1" flipV="1">
                <a:off x="5898042" y="4435433"/>
                <a:ext cx="1316797" cy="51756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6" idx="5"/>
                <a:endCxn id="10" idx="1"/>
              </p:cNvCxnSpPr>
              <p:nvPr/>
            </p:nvCxnSpPr>
            <p:spPr>
              <a:xfrm>
                <a:off x="4614722" y="2557322"/>
                <a:ext cx="981356" cy="69328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16" idx="3"/>
                <a:endCxn id="7" idx="7"/>
              </p:cNvCxnSpPr>
              <p:nvPr/>
            </p:nvCxnSpPr>
            <p:spPr>
              <a:xfrm flipH="1">
                <a:off x="4614722" y="2557322"/>
                <a:ext cx="1095656" cy="5241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>
                <a:stCxn id="10" idx="6"/>
                <a:endCxn id="14" idx="1"/>
              </p:cNvCxnSpPr>
              <p:nvPr/>
            </p:nvCxnSpPr>
            <p:spPr>
              <a:xfrm>
                <a:off x="5791200" y="3331427"/>
                <a:ext cx="414478" cy="4358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/>
            <p:cNvSpPr txBox="1"/>
            <p:nvPr/>
          </p:nvSpPr>
          <p:spPr>
            <a:xfrm>
              <a:off x="5791200" y="3733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95800" y="1447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b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51306" y="4126468"/>
              <a:ext cx="279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c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38800" y="2678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30530" y="1371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817706" y="2133600"/>
              <a:ext cx="25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f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19400" y="3288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g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581400" y="27548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5506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u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486400" y="1905000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w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38711" y="276508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v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14800" y="3288268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r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38600" y="40502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s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990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990600" y="2784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2133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2034009" y="291566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1318169" y="32766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124200" y="2590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580376" y="3329911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2133600" y="3774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990600" y="3851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ounded Rectangle 57"/>
          <p:cNvSpPr/>
          <p:nvPr/>
        </p:nvSpPr>
        <p:spPr>
          <a:xfrm>
            <a:off x="7239000" y="2254514"/>
            <a:ext cx="914400" cy="41248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</a:t>
            </a:r>
            <a:r>
              <a:rPr lang="en-US" b="1" i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39000" y="2895600"/>
            <a:ext cx="914400" cy="41248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</a:t>
            </a:r>
            <a:r>
              <a:rPr lang="en-US" b="1" i="1" dirty="0" err="1">
                <a:solidFill>
                  <a:srgbClr val="00B050"/>
                </a:solidFill>
              </a:rPr>
              <a:t>f</a:t>
            </a:r>
            <a:r>
              <a:rPr lang="en-US" i="1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rgbClr val="00B050"/>
                </a:solidFill>
              </a:rPr>
              <a:t>u</a:t>
            </a:r>
            <a:r>
              <a:rPr lang="en-US" i="1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rgbClr val="00B050"/>
                </a:solidFill>
              </a:rPr>
              <a:t>b</a:t>
            </a: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39000" y="3505200"/>
            <a:ext cx="1447800" cy="41248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</a:t>
            </a:r>
            <a:r>
              <a:rPr lang="en-US" b="1" i="1" dirty="0" err="1">
                <a:solidFill>
                  <a:srgbClr val="00B050"/>
                </a:solidFill>
              </a:rPr>
              <a:t>g</a:t>
            </a:r>
            <a:r>
              <a:rPr lang="en-US" i="1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rgbClr val="00B050"/>
                </a:solidFill>
              </a:rPr>
              <a:t>h</a:t>
            </a:r>
            <a:r>
              <a:rPr lang="en-US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rgbClr val="00B050"/>
                </a:solidFill>
              </a:rPr>
              <a:t>s</a:t>
            </a:r>
            <a:r>
              <a:rPr lang="en-US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rgbClr val="00B050"/>
                </a:solidFill>
              </a:rPr>
              <a:t>r</a:t>
            </a:r>
            <a:r>
              <a:rPr lang="en-US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rgbClr val="00B050"/>
                </a:solidFill>
              </a:rPr>
              <a:t>v</a:t>
            </a:r>
            <a:r>
              <a:rPr lang="en-US" dirty="0" err="1">
                <a:solidFill>
                  <a:schemeClr val="tx1"/>
                </a:solidFill>
              </a:rPr>
              <a:t>,</a:t>
            </a:r>
            <a:r>
              <a:rPr lang="en-US" b="1" i="1" dirty="0" err="1">
                <a:solidFill>
                  <a:srgbClr val="00B050"/>
                </a:solidFill>
              </a:rPr>
              <a:t>w</a:t>
            </a: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Down Ribbon 77"/>
              <p:cNvSpPr/>
              <p:nvPr/>
            </p:nvSpPr>
            <p:spPr>
              <a:xfrm>
                <a:off x="1747007" y="5149334"/>
                <a:ext cx="5377693" cy="155626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While reporting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, you have (</a:t>
                </a:r>
                <a:r>
                  <a:rPr lang="en-US" u="sng" dirty="0">
                    <a:solidFill>
                      <a:srgbClr val="002060"/>
                    </a:solidFill>
                  </a:rPr>
                  <a:t>sub)consciously</a:t>
                </a:r>
                <a:r>
                  <a:rPr lang="en-US" dirty="0">
                    <a:solidFill>
                      <a:srgbClr val="002060"/>
                    </a:solidFill>
                  </a:rPr>
                  <a:t> used an </a:t>
                </a:r>
                <a:r>
                  <a:rPr lang="en-US" b="1" dirty="0">
                    <a:solidFill>
                      <a:srgbClr val="002060"/>
                    </a:solidFill>
                  </a:rPr>
                  <a:t>important property</a:t>
                </a:r>
                <a:r>
                  <a:rPr lang="en-US" dirty="0">
                    <a:solidFill>
                      <a:srgbClr val="002060"/>
                    </a:solidFill>
                  </a:rPr>
                  <a:t> of shortest paths. </a:t>
                </a:r>
              </a:p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Can you state this property ?</a:t>
                </a:r>
              </a:p>
            </p:txBody>
          </p:sp>
        </mc:Choice>
        <mc:Fallback xmlns="">
          <p:sp>
            <p:nvSpPr>
              <p:cNvPr id="78" name="Down Ribbon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07" y="5149334"/>
                <a:ext cx="5377693" cy="155626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3"/>
                <a:stretch>
                  <a:fillRect b="-1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Cloud Callout 66"/>
          <p:cNvSpPr/>
          <p:nvPr/>
        </p:nvSpPr>
        <p:spPr>
          <a:xfrm>
            <a:off x="6400800" y="4267200"/>
            <a:ext cx="1447800" cy="833655"/>
          </a:xfrm>
          <a:prstGeom prst="cloudCallout">
            <a:avLst>
              <a:gd name="adj1" fmla="val 65752"/>
              <a:gd name="adj2" fmla="val 625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Why 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4CEAE93-FF92-FE63-FF08-C007B95D7AD2}"/>
              </a:ext>
            </a:extLst>
          </p:cNvPr>
          <p:cNvSpPr/>
          <p:nvPr/>
        </p:nvSpPr>
        <p:spPr>
          <a:xfrm>
            <a:off x="1752600" y="46482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72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uiExpand="1" build="p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8" grpId="0" animBg="1"/>
      <p:bldP spid="68" grpId="1" animBg="1"/>
      <p:bldP spid="70" grpId="0" animBg="1"/>
      <p:bldP spid="70" grpId="1" animBg="1"/>
      <p:bldP spid="58" grpId="0" animBg="1"/>
      <p:bldP spid="74" grpId="0" animBg="1"/>
      <p:bldP spid="75" grpId="0" animBg="1"/>
      <p:bldP spid="78" grpId="0" animBg="1"/>
      <p:bldP spid="67" grpId="0" animBg="1"/>
      <p:bldP spid="69" grpId="0" animBg="1"/>
      <p:bldP spid="6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An </a:t>
            </a:r>
            <a:r>
              <a:rPr lang="en-US" sz="3600" b="1" dirty="0">
                <a:solidFill>
                  <a:srgbClr val="7030A0"/>
                </a:solidFill>
              </a:rPr>
              <a:t>important property </a:t>
            </a:r>
            <a:r>
              <a:rPr lang="en-US" sz="3600" b="1" dirty="0"/>
              <a:t>of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40917"/>
                <a:ext cx="8229600" cy="47244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Observation: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If  &lt;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…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  <m:r>
                      <m:rPr>
                        <m:nor/>
                      </m:rPr>
                      <a:rPr lang="en-US" sz="1800" dirty="0"/>
                      <m:t>,</m:t>
                    </m:r>
                    <m:r>
                      <a:rPr lang="en-US" sz="1800" b="1" dirty="0">
                        <a:latin typeface="Cambria Math"/>
                      </a:rPr>
                      <m:t>  </m:t>
                    </m:r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𝐲</m:t>
                    </m:r>
                  </m:oMath>
                </a14:m>
                <a:r>
                  <a:rPr lang="en-US" sz="1800" dirty="0"/>
                  <a:t>&gt; is a shortest path 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then  &lt;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…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&gt; is also a shortest path.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Proof: 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Suppose 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sz="1800" dirty="0"/>
                  <a:t> = &lt;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…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&gt; is </a:t>
                </a:r>
                <a:r>
                  <a:rPr lang="en-US" sz="1800" u="sng" dirty="0"/>
                  <a:t>not</a:t>
                </a:r>
                <a:r>
                  <a:rPr lang="en-US" sz="1800" dirty="0"/>
                  <a:t> a shortest path between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0" i="0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and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dirty="0"/>
                  <a:t>Then let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 be a shortest path between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  <m:r>
                      <a:rPr lang="en-US" sz="180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and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r>
                  <a:rPr lang="en-US" sz="1800" dirty="0"/>
                  <a:t>Length(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)  </a:t>
                </a:r>
                <a:r>
                  <a:rPr lang="en-US" sz="2000" dirty="0"/>
                  <a:t>&lt; </a:t>
                </a:r>
                <a:r>
                  <a:rPr lang="en-US" sz="1800" dirty="0"/>
                  <a:t>Length(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sz="1800" dirty="0"/>
                  <a:t>).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1800" dirty="0"/>
                  <a:t> What happens if we concatenate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 with edge (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00B050"/>
                        </a:solidFill>
                        <a:latin typeface="Cambria Math"/>
                      </a:rPr>
                      <m:t>𝐲</m:t>
                    </m:r>
                  </m:oMath>
                </a14:m>
                <a:r>
                  <a:rPr lang="en-US" sz="1800" dirty="0"/>
                  <a:t>) 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</a:t>
                </a:r>
                <a:r>
                  <a:rPr lang="en-US" sz="1800" dirty="0"/>
                  <a:t>: a path between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  <m:r>
                      <a:rPr lang="en-US" sz="180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and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00B050"/>
                        </a:solidFill>
                        <a:latin typeface="Cambria Math"/>
                      </a:rPr>
                      <m:t>𝐲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u="sng" dirty="0"/>
                  <a:t>shorter</a:t>
                </a:r>
                <a:r>
                  <a:rPr lang="en-US" sz="1800" dirty="0"/>
                  <a:t> than the </a:t>
                </a:r>
                <a:r>
                  <a:rPr lang="en-US" sz="1800" u="sng" dirty="0"/>
                  <a:t>shortest-path</a:t>
                </a:r>
                <a:r>
                  <a:rPr lang="en-US" sz="1800" dirty="0"/>
                  <a:t>  &lt;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…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  <m:r>
                      <m:rPr>
                        <m:nor/>
                      </m:rPr>
                      <a:rPr lang="en-US" sz="1800" dirty="0"/>
                      <m:t>,</m:t>
                    </m:r>
                    <m:r>
                      <a:rPr lang="en-US" sz="1800" b="1" dirty="0">
                        <a:latin typeface="Cambria Math"/>
                      </a:rPr>
                      <m:t>  </m:t>
                    </m:r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𝐲</m:t>
                    </m:r>
                  </m:oMath>
                </a14:m>
                <a:r>
                  <a:rPr lang="en-US" sz="1800" dirty="0"/>
                  <a:t>&gt; .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 Contradiction.</a:t>
                </a:r>
                <a:endParaRPr lang="en-US" sz="1800" b="1" i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40917"/>
                <a:ext cx="8229600" cy="4724400"/>
              </a:xfrm>
              <a:blipFill rotWithShape="1">
                <a:blip r:embed="rId2"/>
                <a:stretch>
                  <a:fillRect l="-741" t="-1677" b="-4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919336" y="2057400"/>
            <a:ext cx="4851334" cy="533400"/>
            <a:chOff x="1919336" y="2819400"/>
            <a:chExt cx="4851334" cy="533400"/>
          </a:xfrm>
        </p:grpSpPr>
        <p:grpSp>
          <p:nvGrpSpPr>
            <p:cNvPr id="9" name="Group 8"/>
            <p:cNvGrpSpPr/>
            <p:nvPr/>
          </p:nvGrpSpPr>
          <p:grpSpPr>
            <a:xfrm>
              <a:off x="1975624" y="2824976"/>
              <a:ext cx="922764" cy="228600"/>
              <a:chOff x="1975624" y="2824976"/>
              <a:chExt cx="922764" cy="228600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2734836" y="2819400"/>
              <a:ext cx="922764" cy="228600"/>
              <a:chOff x="1975624" y="2824976"/>
              <a:chExt cx="922764" cy="228600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3505200" y="2819400"/>
              <a:ext cx="922764" cy="228600"/>
              <a:chOff x="1975624" y="2824976"/>
              <a:chExt cx="922764" cy="228600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4182636" y="2819400"/>
              <a:ext cx="922764" cy="228600"/>
              <a:chOff x="1975624" y="2824976"/>
              <a:chExt cx="922764" cy="228600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4868436" y="2819400"/>
              <a:ext cx="922764" cy="228600"/>
              <a:chOff x="1975624" y="2824976"/>
              <a:chExt cx="922764" cy="228600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5638800" y="2819400"/>
              <a:ext cx="922764" cy="228600"/>
              <a:chOff x="1975624" y="2824976"/>
              <a:chExt cx="922764" cy="228600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/>
            <p:cNvSpPr/>
            <p:nvPr/>
          </p:nvSpPr>
          <p:spPr>
            <a:xfrm>
              <a:off x="6477000" y="2819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919336" y="29834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77000" y="2971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y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086600" y="1792069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shortest path </a:t>
            </a:r>
          </a:p>
          <a:p>
            <a:r>
              <a:rPr lang="en-US" dirty="0"/>
              <a:t>between </a:t>
            </a:r>
            <a:r>
              <a:rPr lang="en-US" b="1" i="1" dirty="0">
                <a:solidFill>
                  <a:srgbClr val="00B050"/>
                </a:solidFill>
              </a:rPr>
              <a:t>x </a:t>
            </a:r>
            <a:r>
              <a:rPr lang="en-US" dirty="0"/>
              <a:t>and</a:t>
            </a:r>
            <a:r>
              <a:rPr lang="en-US" b="1" i="1" dirty="0">
                <a:solidFill>
                  <a:srgbClr val="00B050"/>
                </a:solidFill>
              </a:rPr>
              <a:t> y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562600" y="22098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v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981200" y="2514600"/>
            <a:ext cx="3764721" cy="609598"/>
            <a:chOff x="1981200" y="3036334"/>
            <a:chExt cx="3764721" cy="609598"/>
          </a:xfrm>
        </p:grpSpPr>
        <p:sp>
          <p:nvSpPr>
            <p:cNvPr id="34" name="Right Brace 33"/>
            <p:cNvSpPr/>
            <p:nvPr/>
          </p:nvSpPr>
          <p:spPr>
            <a:xfrm rot="5400000">
              <a:off x="3743428" y="1274106"/>
              <a:ext cx="240265" cy="3764721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3730502" y="3276600"/>
                  <a:ext cx="396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𝑷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0502" y="3276600"/>
                  <a:ext cx="39626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20000" b="-2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Freeform 3"/>
          <p:cNvSpPr/>
          <p:nvPr/>
        </p:nvSpPr>
        <p:spPr>
          <a:xfrm>
            <a:off x="2107580" y="1248597"/>
            <a:ext cx="3686057" cy="825529"/>
          </a:xfrm>
          <a:custGeom>
            <a:avLst/>
            <a:gdLst>
              <a:gd name="connsiteX0" fmla="*/ 0 w 3732600"/>
              <a:gd name="connsiteY0" fmla="*/ 802895 h 825198"/>
              <a:gd name="connsiteX1" fmla="*/ 178420 w 3732600"/>
              <a:gd name="connsiteY1" fmla="*/ 501812 h 825198"/>
              <a:gd name="connsiteX2" fmla="*/ 758283 w 3732600"/>
              <a:gd name="connsiteY2" fmla="*/ 312242 h 825198"/>
              <a:gd name="connsiteX3" fmla="*/ 1884557 w 3732600"/>
              <a:gd name="connsiteY3" fmla="*/ 8 h 825198"/>
              <a:gd name="connsiteX4" fmla="*/ 3044283 w 3732600"/>
              <a:gd name="connsiteY4" fmla="*/ 301091 h 825198"/>
              <a:gd name="connsiteX5" fmla="*/ 3668752 w 3732600"/>
              <a:gd name="connsiteY5" fmla="*/ 468359 h 825198"/>
              <a:gd name="connsiteX6" fmla="*/ 3679903 w 3732600"/>
              <a:gd name="connsiteY6" fmla="*/ 825198 h 825198"/>
              <a:gd name="connsiteX0" fmla="*/ 0 w 3685138"/>
              <a:gd name="connsiteY0" fmla="*/ 802898 h 825201"/>
              <a:gd name="connsiteX1" fmla="*/ 178420 w 3685138"/>
              <a:gd name="connsiteY1" fmla="*/ 501815 h 825201"/>
              <a:gd name="connsiteX2" fmla="*/ 758283 w 3685138"/>
              <a:gd name="connsiteY2" fmla="*/ 312245 h 825201"/>
              <a:gd name="connsiteX3" fmla="*/ 1884557 w 3685138"/>
              <a:gd name="connsiteY3" fmla="*/ 11 h 825201"/>
              <a:gd name="connsiteX4" fmla="*/ 3044283 w 3685138"/>
              <a:gd name="connsiteY4" fmla="*/ 301094 h 825201"/>
              <a:gd name="connsiteX5" fmla="*/ 3334216 w 3685138"/>
              <a:gd name="connsiteY5" fmla="*/ 490664 h 825201"/>
              <a:gd name="connsiteX6" fmla="*/ 3679903 w 3685138"/>
              <a:gd name="connsiteY6" fmla="*/ 825201 h 825201"/>
              <a:gd name="connsiteX0" fmla="*/ 0 w 3686057"/>
              <a:gd name="connsiteY0" fmla="*/ 803226 h 825529"/>
              <a:gd name="connsiteX1" fmla="*/ 178420 w 3686057"/>
              <a:gd name="connsiteY1" fmla="*/ 502143 h 825529"/>
              <a:gd name="connsiteX2" fmla="*/ 758283 w 3686057"/>
              <a:gd name="connsiteY2" fmla="*/ 312573 h 825529"/>
              <a:gd name="connsiteX3" fmla="*/ 1884557 w 3686057"/>
              <a:gd name="connsiteY3" fmla="*/ 339 h 825529"/>
              <a:gd name="connsiteX4" fmla="*/ 2743200 w 3686057"/>
              <a:gd name="connsiteY4" fmla="*/ 256817 h 825529"/>
              <a:gd name="connsiteX5" fmla="*/ 3334216 w 3686057"/>
              <a:gd name="connsiteY5" fmla="*/ 490992 h 825529"/>
              <a:gd name="connsiteX6" fmla="*/ 3679903 w 3686057"/>
              <a:gd name="connsiteY6" fmla="*/ 825529 h 825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86057" h="825529">
                <a:moveTo>
                  <a:pt x="0" y="803226"/>
                </a:moveTo>
                <a:cubicBezTo>
                  <a:pt x="26019" y="693572"/>
                  <a:pt x="52039" y="583919"/>
                  <a:pt x="178420" y="502143"/>
                </a:cubicBezTo>
                <a:cubicBezTo>
                  <a:pt x="304801" y="420367"/>
                  <a:pt x="473927" y="396207"/>
                  <a:pt x="758283" y="312573"/>
                </a:cubicBezTo>
                <a:cubicBezTo>
                  <a:pt x="1042639" y="228939"/>
                  <a:pt x="1553738" y="9632"/>
                  <a:pt x="1884557" y="339"/>
                </a:cubicBezTo>
                <a:cubicBezTo>
                  <a:pt x="2215376" y="-8954"/>
                  <a:pt x="2501590" y="175042"/>
                  <a:pt x="2743200" y="256817"/>
                </a:cubicBezTo>
                <a:cubicBezTo>
                  <a:pt x="2984810" y="338592"/>
                  <a:pt x="3178099" y="396207"/>
                  <a:pt x="3334216" y="490992"/>
                </a:cubicBezTo>
                <a:cubicBezTo>
                  <a:pt x="3490333" y="585777"/>
                  <a:pt x="3727296" y="690785"/>
                  <a:pt x="3679903" y="825529"/>
                </a:cubicBezTo>
              </a:path>
            </a:pathLst>
          </a:cu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882902" y="1295400"/>
                <a:ext cx="4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902" y="1295400"/>
                <a:ext cx="45557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600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loud Callout 34"/>
              <p:cNvSpPr/>
              <p:nvPr/>
            </p:nvSpPr>
            <p:spPr>
              <a:xfrm>
                <a:off x="6096000" y="2590800"/>
                <a:ext cx="3048000" cy="914400"/>
              </a:xfrm>
              <a:prstGeom prst="cloudCallout">
                <a:avLst>
                  <a:gd name="adj1" fmla="val 42397"/>
                  <a:gd name="adj2" fmla="val 7615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What can you say about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 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loud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90800"/>
                <a:ext cx="3048000" cy="914400"/>
              </a:xfrm>
              <a:prstGeom prst="cloudCallout">
                <a:avLst>
                  <a:gd name="adj1" fmla="val 42397"/>
                  <a:gd name="adj2" fmla="val 76158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99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32" grpId="0"/>
      <p:bldP spid="33" grpId="0"/>
      <p:bldP spid="4" grpId="0" animBg="1"/>
      <p:bldP spid="39" grpId="0"/>
      <p:bldP spid="35" grpId="0" animBg="1"/>
      <p:bldP spid="3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7391400" y="1447800"/>
            <a:ext cx="0" cy="32004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591300" y="1480066"/>
            <a:ext cx="0" cy="32004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715000" y="1447800"/>
            <a:ext cx="0" cy="32004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An important </a:t>
            </a:r>
            <a:r>
              <a:rPr lang="en-US" sz="2800" b="1" dirty="0">
                <a:solidFill>
                  <a:srgbClr val="C00000"/>
                </a:solidFill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/>
                  <a:t>Let (</a:t>
                </a:r>
                <a14:m>
                  <m:oMath xmlns:m="http://schemas.openxmlformats.org/officeDocument/2006/math">
                    <m:r>
                      <a:rPr lang="en-US" sz="1800" b="1" i="0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𝐰</m:t>
                    </m:r>
                  </m:oMath>
                </a14:m>
                <a:r>
                  <a:rPr lang="en-US" sz="1800" dirty="0"/>
                  <a:t>) be an edge. If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Distance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00B050"/>
                        </a:solidFill>
                        <a:latin typeface="Cambria Math"/>
                      </a:rPr>
                      <m:t>𝐱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00B050"/>
                        </a:solidFill>
                        <a:latin typeface="Cambria Math"/>
                      </a:rPr>
                      <m:t>𝐯</m:t>
                    </m:r>
                  </m:oMath>
                </a14:m>
                <a:r>
                  <a:rPr lang="en-US" sz="1800" dirty="0"/>
                  <a:t>) is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then what can be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Distance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rgbClr val="00B050"/>
                        </a:solidFill>
                        <a:latin typeface="Cambria Math"/>
                      </a:rPr>
                      <m:t>𝐱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00B050"/>
                        </a:solidFill>
                        <a:latin typeface="Cambria Math"/>
                      </a:rPr>
                      <m:t>𝐰</m:t>
                    </m:r>
                  </m:oMath>
                </a14:m>
                <a:r>
                  <a:rPr lang="en-US" sz="1800" dirty="0"/>
                  <a:t>)  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</a:t>
                </a:r>
                <a:r>
                  <a:rPr lang="en-US" sz="1800" dirty="0"/>
                  <a:t>:  an element from the set {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dirty="0"/>
                  <a:t>} only.</a:t>
                </a:r>
                <a:endParaRPr lang="en-US" sz="1800" i="1" dirty="0">
                  <a:solidFill>
                    <a:srgbClr val="0070C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919336" y="2743200"/>
            <a:ext cx="4851334" cy="533400"/>
            <a:chOff x="1919336" y="2819400"/>
            <a:chExt cx="4851334" cy="533400"/>
          </a:xfrm>
        </p:grpSpPr>
        <p:grpSp>
          <p:nvGrpSpPr>
            <p:cNvPr id="8" name="Group 7"/>
            <p:cNvGrpSpPr/>
            <p:nvPr/>
          </p:nvGrpSpPr>
          <p:grpSpPr>
            <a:xfrm>
              <a:off x="1975624" y="2824976"/>
              <a:ext cx="922764" cy="228600"/>
              <a:chOff x="1975624" y="2824976"/>
              <a:chExt cx="922764" cy="228600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2734836" y="2819400"/>
              <a:ext cx="922764" cy="228600"/>
              <a:chOff x="1975624" y="2824976"/>
              <a:chExt cx="922764" cy="228600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3505200" y="2819400"/>
              <a:ext cx="922764" cy="228600"/>
              <a:chOff x="1975624" y="2824976"/>
              <a:chExt cx="922764" cy="228600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4182636" y="2819400"/>
              <a:ext cx="922764" cy="228600"/>
              <a:chOff x="1975624" y="2824976"/>
              <a:chExt cx="922764" cy="228600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4868436" y="2819400"/>
              <a:ext cx="922764" cy="228600"/>
              <a:chOff x="1975624" y="2824976"/>
              <a:chExt cx="922764" cy="228600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638800" y="2819400"/>
              <a:ext cx="922764" cy="228600"/>
              <a:chOff x="1975624" y="2824976"/>
              <a:chExt cx="922764" cy="228600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1975624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2204224" y="2939276"/>
                <a:ext cx="69416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Oval 13"/>
            <p:cNvSpPr/>
            <p:nvPr/>
          </p:nvSpPr>
          <p:spPr>
            <a:xfrm>
              <a:off x="6477000" y="2819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19336" y="29834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77000" y="2971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v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391400" y="2477869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shortest path </a:t>
            </a:r>
          </a:p>
          <a:p>
            <a:r>
              <a:rPr lang="en-US" dirty="0"/>
              <a:t>between </a:t>
            </a:r>
            <a:r>
              <a:rPr lang="en-US" b="1" i="1" dirty="0">
                <a:solidFill>
                  <a:srgbClr val="00B050"/>
                </a:solidFill>
              </a:rPr>
              <a:t>x </a:t>
            </a:r>
            <a:r>
              <a:rPr lang="en-US" dirty="0"/>
              <a:t>and</a:t>
            </a:r>
            <a:r>
              <a:rPr lang="en-US" b="1" i="1" dirty="0">
                <a:solidFill>
                  <a:srgbClr val="00B050"/>
                </a:solidFill>
              </a:rPr>
              <a:t> v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1987172" y="2907268"/>
            <a:ext cx="4642228" cy="445532"/>
            <a:chOff x="1987172" y="1764268"/>
            <a:chExt cx="4642228" cy="445532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1987172" y="2209800"/>
              <a:ext cx="464222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4117171" y="1764268"/>
                  <a:ext cx="3786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171" y="1764268"/>
                  <a:ext cx="37862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Oval 33"/>
          <p:cNvSpPr/>
          <p:nvPr/>
        </p:nvSpPr>
        <p:spPr>
          <a:xfrm>
            <a:off x="5638800" y="2057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477000" y="2057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239000" y="205740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4" idx="5"/>
            <a:endCxn id="14" idx="1"/>
          </p:cNvCxnSpPr>
          <p:nvPr/>
        </p:nvCxnSpPr>
        <p:spPr>
          <a:xfrm>
            <a:off x="5833922" y="2252522"/>
            <a:ext cx="676556" cy="524156"/>
          </a:xfrm>
          <a:prstGeom prst="line">
            <a:avLst/>
          </a:pr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5" idx="4"/>
            <a:endCxn id="14" idx="0"/>
          </p:cNvCxnSpPr>
          <p:nvPr/>
        </p:nvCxnSpPr>
        <p:spPr>
          <a:xfrm>
            <a:off x="6591300" y="2286000"/>
            <a:ext cx="0" cy="457200"/>
          </a:xfrm>
          <a:prstGeom prst="line">
            <a:avLst/>
          </a:pr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6" idx="3"/>
            <a:endCxn id="14" idx="6"/>
          </p:cNvCxnSpPr>
          <p:nvPr/>
        </p:nvCxnSpPr>
        <p:spPr>
          <a:xfrm flipH="1">
            <a:off x="6705600" y="2252522"/>
            <a:ext cx="566878" cy="604978"/>
          </a:xfrm>
          <a:prstGeom prst="line">
            <a:avLst/>
          </a:pr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486400" y="4583668"/>
                <a:ext cx="7922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583668"/>
                <a:ext cx="792205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923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370595" y="4572000"/>
                <a:ext cx="378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595" y="4572000"/>
                <a:ext cx="3786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2258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162800" y="4572000"/>
                <a:ext cx="7922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792205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923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215286" y="190500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rgbClr val="00B050"/>
                          </a:solidFill>
                          <a:latin typeface="Cambria Math"/>
                        </a:rPr>
                        <m:t>𝐰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286" y="1905000"/>
                <a:ext cx="423514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8841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248400" y="167640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rgbClr val="00B050"/>
                          </a:solidFill>
                          <a:latin typeface="Cambria Math"/>
                        </a:rPr>
                        <m:t>𝐰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676400"/>
                <a:ext cx="42351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1884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467600" y="1992868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rgbClr val="00B050"/>
                          </a:solidFill>
                          <a:latin typeface="Cambria Math"/>
                        </a:rPr>
                        <m:t>𝐰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1992868"/>
                <a:ext cx="42351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884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/>
          <p:cNvCxnSpPr>
            <a:stCxn id="17" idx="7"/>
            <a:endCxn id="35" idx="3"/>
          </p:cNvCxnSpPr>
          <p:nvPr/>
        </p:nvCxnSpPr>
        <p:spPr>
          <a:xfrm flipV="1">
            <a:off x="5833922" y="2252522"/>
            <a:ext cx="676556" cy="5241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53000" y="2209800"/>
            <a:ext cx="676556" cy="5241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33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0" grpId="0"/>
      <p:bldP spid="34" grpId="0" animBg="1"/>
      <p:bldP spid="35" grpId="0" animBg="1"/>
      <p:bldP spid="36" grpId="0" animBg="1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Relationship </a:t>
            </a:r>
            <a:r>
              <a:rPr lang="en-US" sz="2800" b="1" dirty="0"/>
              <a:t>among vertices </a:t>
            </a:r>
            <a:br>
              <a:rPr lang="en-US" sz="2800" b="1" dirty="0"/>
            </a:br>
            <a:r>
              <a:rPr lang="en-US" sz="2800" b="1" dirty="0"/>
              <a:t>at </a:t>
            </a:r>
            <a:r>
              <a:rPr lang="en-US" sz="2800" b="1" dirty="0">
                <a:solidFill>
                  <a:srgbClr val="0070C0"/>
                </a:solidFill>
              </a:rPr>
              <a:t>different distances </a:t>
            </a:r>
            <a:r>
              <a:rPr lang="en-US" sz="2800" b="1" dirty="0"/>
              <a:t>from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i="1" dirty="0">
                <a:solidFill>
                  <a:srgbClr val="00B050"/>
                </a:solidFill>
              </a:rPr>
              <a:t>x</a:t>
            </a:r>
            <a:endParaRPr lang="en-US" sz="28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 : Vertices at distance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dirty="0"/>
                  <a:t> from 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 = {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}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: Vertices at distance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 from 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 = </a:t>
                </a:r>
              </a:p>
              <a:p>
                <a:pPr marL="0" indent="0">
                  <a:buNone/>
                </a:pPr>
                <a:r>
                  <a:rPr lang="en-US" sz="1800" i="1" dirty="0">
                    <a:solidFill>
                      <a:srgbClr val="002060"/>
                    </a:solidFill>
                  </a:rPr>
                  <a:t>                                                         Neighbors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 : Vertices at distance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dirty="0"/>
                  <a:t> from 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 =</a:t>
                </a:r>
              </a:p>
              <a:p>
                <a:pPr marL="0" indent="0">
                  <a:buNone/>
                </a:pPr>
                <a:r>
                  <a:rPr lang="en-US" sz="1800" i="1" dirty="0">
                    <a:solidFill>
                      <a:srgbClr val="002060"/>
                    </a:solidFill>
                  </a:rPr>
                  <a:t>                                                        Those Neighbors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which    …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latin typeface="Cambria Math"/>
                  </a:rPr>
                  <a:t>      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latin typeface="Cambria Math"/>
                  </a:rPr>
                  <a:t>      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latin typeface="Cambria Math"/>
                  </a:rPr>
                  <a:t>      .</a:t>
                </a:r>
              </a:p>
              <a:p>
                <a:pPr marL="0" indent="0">
                  <a:buNone/>
                </a:pPr>
                <a:endParaRPr lang="en-US" sz="1800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/>
                  <a:t> : Vertices at distance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i+1</a:t>
                </a:r>
                <a:r>
                  <a:rPr lang="en-US" sz="1800" dirty="0"/>
                  <a:t> from </a:t>
                </a:r>
                <a:r>
                  <a:rPr lang="en-US" sz="1800" b="1" i="1" dirty="0">
                    <a:solidFill>
                      <a:srgbClr val="00B050"/>
                    </a:solidFill>
                  </a:rPr>
                  <a:t>x</a:t>
                </a:r>
                <a:r>
                  <a:rPr lang="en-US" sz="1800" dirty="0"/>
                  <a:t> =</a:t>
                </a:r>
                <a:r>
                  <a:rPr lang="en-US" sz="1800" dirty="0">
                    <a:solidFill>
                      <a:srgbClr val="C00000"/>
                    </a:solidFill>
                  </a:rPr>
                  <a:t>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i="1" dirty="0">
                    <a:solidFill>
                      <a:srgbClr val="002060"/>
                    </a:solidFill>
                  </a:rPr>
                  <a:t>                                                       Those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which     …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2"/>
                <a:stretch>
                  <a:fillRect l="-714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533400" y="5562600"/>
                <a:ext cx="8153400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distinguish the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which belong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from those which belong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≤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 ?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562600"/>
                <a:ext cx="8153400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3"/>
                <a:stretch>
                  <a:fillRect b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48400" y="2895600"/>
                <a:ext cx="255384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do not </a:t>
                </a:r>
                <a:r>
                  <a:rPr lang="en-US" dirty="0"/>
                  <a:t>belong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895600"/>
                <a:ext cx="255384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909" t="-8197" r="-31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6000" y="5029200"/>
                <a:ext cx="289771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do not </a:t>
                </a:r>
                <a:r>
                  <a:rPr lang="en-US" dirty="0"/>
                  <a:t>belong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29200"/>
                <a:ext cx="289771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684" t="-8197" r="-273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49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81000" y="304800"/>
                <a:ext cx="8229600" cy="1143000"/>
              </a:xfrm>
            </p:spPr>
            <p:txBody>
              <a:bodyPr/>
              <a:lstStyle/>
              <a:p>
                <a:r>
                  <a:rPr lang="en-US" sz="3200" b="1" dirty="0"/>
                  <a:t>How can we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compute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sz="32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2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2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  <a:r>
                  <a:rPr lang="en-US" sz="3200" b="1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0" y="304800"/>
                <a:ext cx="8229600" cy="11430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B050"/>
                    </a:solidFill>
                  </a:rPr>
                  <a:t>Key idea: </a:t>
                </a:r>
                <a:r>
                  <a:rPr lang="en-US" sz="18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’s in increasing order of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dirty="0"/>
                  <a:t>Initialize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Distance</a:t>
                </a:r>
                <a:r>
                  <a:rPr lang="en-US" sz="1800" dirty="0"/>
                  <a:t>[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] </a:t>
                </a:r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70C0"/>
                    </a:solidFill>
                    <a:sym typeface="Wingdings" pitchFamily="2" charset="2"/>
                  </a:rPr>
                  <a:t> ∞ </a:t>
                </a:r>
                <a:r>
                  <a:rPr lang="en-US" sz="1800" dirty="0"/>
                  <a:t>of each vertex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 in the graph. </a:t>
                </a:r>
              </a:p>
              <a:p>
                <a:pPr marL="0" indent="0">
                  <a:buNone/>
                </a:pPr>
                <a:r>
                  <a:rPr lang="en-US" sz="1800" dirty="0"/>
                  <a:t>Initialize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Distance</a:t>
                </a:r>
                <a:r>
                  <a:rPr lang="en-US" sz="1800" dirty="0"/>
                  <a:t>[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x</a:t>
                </a:r>
                <a:r>
                  <a:rPr lang="en-US" sz="1800" dirty="0"/>
                  <a:t>] </a:t>
                </a:r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dirty="0"/>
                  <a:t> 0.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r>
                  <a:rPr lang="en-US" sz="1800" dirty="0"/>
                  <a:t>First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Then compute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…</a:t>
                </a:r>
              </a:p>
              <a:p>
                <a:r>
                  <a:rPr lang="en-US" sz="1800" dirty="0"/>
                  <a:t>Once we have computed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, for every neighbor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 </a:t>
                </a:r>
                <a:r>
                  <a:rPr lang="en-US" sz="1800" dirty="0"/>
                  <a:t>of a vertex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,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If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 </a:t>
                </a:r>
                <a:r>
                  <a:rPr lang="en-US" sz="1800" dirty="0"/>
                  <a:t>is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for some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∈{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−1}</m:t>
                    </m:r>
                  </m:oMath>
                </a14:m>
                <a:r>
                  <a:rPr lang="en-US" sz="1800" dirty="0"/>
                  <a:t>, then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Distance</a:t>
                </a:r>
                <a:r>
                  <a:rPr lang="en-US" sz="1800" dirty="0"/>
                  <a:t>[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] =      ?? 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dirty="0"/>
                  <a:t>      If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 </a:t>
                </a:r>
                <a:r>
                  <a:rPr lang="en-US" sz="1800" dirty="0"/>
                  <a:t>is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8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Distance</a:t>
                </a:r>
                <a:r>
                  <a:rPr lang="en-US" sz="1800" dirty="0"/>
                  <a:t>[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] =       ??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3"/>
                <a:stretch>
                  <a:fillRect l="-741" t="-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6019800" y="4305300"/>
                <a:ext cx="2895600" cy="3429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 number ≤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305300"/>
                <a:ext cx="2895600" cy="342900"/>
              </a:xfrm>
              <a:prstGeom prst="roundRect">
                <a:avLst/>
              </a:prstGeom>
              <a:blipFill rotWithShape="1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3657600" y="4648200"/>
            <a:ext cx="1219200" cy="304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∞</a:t>
            </a: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514601" y="5257800"/>
            <a:ext cx="5029199" cy="1219200"/>
            <a:chOff x="2514601" y="5257800"/>
            <a:chExt cx="5029199" cy="1219200"/>
          </a:xfrm>
        </p:grpSpPr>
        <p:sp>
          <p:nvSpPr>
            <p:cNvPr id="7" name="Smiley Face 6"/>
            <p:cNvSpPr/>
            <p:nvPr/>
          </p:nvSpPr>
          <p:spPr>
            <a:xfrm>
              <a:off x="4648200" y="5257800"/>
              <a:ext cx="609600" cy="533400"/>
            </a:xfrm>
            <a:prstGeom prst="smileyFac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514601" y="5808355"/>
                  <a:ext cx="5029199" cy="66864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We can thus distinguish the neighbors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/>
                    <a:t> which belong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US" dirty="0"/>
                    <a:t> from those which belong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.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1" y="5808355"/>
                  <a:ext cx="5029199" cy="66864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967" t="-3571" b="-98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59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neat algorithm for </a:t>
            </a:r>
            <a:br>
              <a:rPr lang="en-US" sz="3200" b="1" dirty="0"/>
            </a:br>
            <a:r>
              <a:rPr lang="en-US" sz="3200" b="1" dirty="0"/>
              <a:t>computing distances from </a:t>
            </a:r>
            <a:r>
              <a:rPr lang="en-US" sz="3200" b="1" i="1" dirty="0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685800" y="2819400"/>
            <a:ext cx="7772400" cy="15240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need an algorithm which traverses/visits the vertices in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non-decreasing</a:t>
            </a:r>
            <a:r>
              <a:rPr lang="en-US" dirty="0">
                <a:solidFill>
                  <a:schemeClr val="tx1"/>
                </a:solidFill>
              </a:rPr>
              <a:t> order of </a:t>
            </a:r>
            <a:r>
              <a:rPr lang="en-US" b="1" u="sng" dirty="0">
                <a:solidFill>
                  <a:schemeClr val="tx1"/>
                </a:solidFill>
              </a:rPr>
              <a:t>distances</a:t>
            </a:r>
            <a:r>
              <a:rPr lang="en-US" dirty="0">
                <a:solidFill>
                  <a:schemeClr val="tx1"/>
                </a:solidFill>
              </a:rPr>
              <a:t> from</a:t>
            </a:r>
            <a:r>
              <a:rPr lang="en-US" dirty="0"/>
              <a:t> </a:t>
            </a:r>
            <a:r>
              <a:rPr lang="en-US" b="1" i="1" dirty="0">
                <a:solidFill>
                  <a:srgbClr val="00B050"/>
                </a:solidFill>
              </a:rPr>
              <a:t>x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546413" y="4800600"/>
            <a:ext cx="6454587" cy="1359932"/>
            <a:chOff x="1546413" y="4800600"/>
            <a:chExt cx="6454587" cy="1359932"/>
          </a:xfrm>
        </p:grpSpPr>
        <p:sp>
          <p:nvSpPr>
            <p:cNvPr id="6" name="Up Arrow 5"/>
            <p:cNvSpPr/>
            <p:nvPr/>
          </p:nvSpPr>
          <p:spPr>
            <a:xfrm>
              <a:off x="4495800" y="4800600"/>
              <a:ext cx="484632" cy="978408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46413" y="5791200"/>
              <a:ext cx="6454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This traversal algorithm  is called </a:t>
              </a:r>
              <a:r>
                <a:rPr lang="en-US" b="1" dirty="0"/>
                <a:t>BFS</a:t>
              </a:r>
              <a:r>
                <a:rPr lang="en-US" dirty="0"/>
                <a:t> (breadth first search) traversal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675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Using a</a:t>
            </a:r>
            <a:r>
              <a:rPr lang="en-US" sz="2800" b="1" dirty="0">
                <a:solidFill>
                  <a:srgbClr val="7030A0"/>
                </a:solidFill>
              </a:rPr>
              <a:t> queue </a:t>
            </a:r>
            <a:r>
              <a:rPr lang="en-US" sz="2800" b="1" dirty="0"/>
              <a:t>for traversing vertices in </a:t>
            </a:r>
            <a:br>
              <a:rPr lang="en-US" sz="2800" b="1" dirty="0"/>
            </a:br>
            <a:r>
              <a:rPr lang="en-US" sz="2800" b="1" dirty="0">
                <a:solidFill>
                  <a:srgbClr val="7030A0"/>
                </a:solidFill>
              </a:rPr>
              <a:t>non-decreasing </a:t>
            </a:r>
            <a:r>
              <a:rPr lang="en-US" sz="2800" b="1" dirty="0"/>
              <a:t>order of </a:t>
            </a:r>
            <a:r>
              <a:rPr lang="en-US" sz="2800" b="1" dirty="0">
                <a:solidFill>
                  <a:srgbClr val="7030A0"/>
                </a:solidFill>
              </a:rPr>
              <a:t>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2" name="Content Placeholder 81"/>
          <p:cNvSpPr>
            <a:spLocks noGrp="1"/>
          </p:cNvSpPr>
          <p:nvPr>
            <p:ph sz="half" idx="2"/>
          </p:nvPr>
        </p:nvSpPr>
        <p:spPr>
          <a:xfrm>
            <a:off x="4343400" y="1600200"/>
            <a:ext cx="43434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Compute distance of vertices </a:t>
            </a:r>
            <a:r>
              <a:rPr lang="en-US" sz="1800" b="1" dirty="0"/>
              <a:t>from </a:t>
            </a:r>
            <a:r>
              <a:rPr lang="en-US" sz="1800" b="1" i="1" dirty="0">
                <a:solidFill>
                  <a:srgbClr val="00B050"/>
                </a:solidFill>
              </a:rPr>
              <a:t>x</a:t>
            </a:r>
            <a:r>
              <a:rPr lang="en-US" sz="1800" i="1" dirty="0"/>
              <a:t>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685800" y="1905000"/>
            <a:ext cx="3267164" cy="3124200"/>
            <a:chOff x="2817706" y="1371600"/>
            <a:chExt cx="3267164" cy="3124200"/>
          </a:xfrm>
        </p:grpSpPr>
        <p:grpSp>
          <p:nvGrpSpPr>
            <p:cNvPr id="5" name="Group 4"/>
            <p:cNvGrpSpPr/>
            <p:nvPr/>
          </p:nvGrpSpPr>
          <p:grpSpPr>
            <a:xfrm>
              <a:off x="3124199" y="1676400"/>
              <a:ext cx="2722660" cy="2632593"/>
              <a:chOff x="4419600" y="2362200"/>
              <a:chExt cx="3023839" cy="3210622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4419600" y="30480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4800600" y="367711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419600" y="437034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5562600" y="321712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676900" y="4267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257800" y="53442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214839" y="48387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172200" y="37338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400800" y="51388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676900" y="23622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7020622" y="37821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6781800" y="282497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/>
              <p:cNvCxnSpPr>
                <a:stCxn id="9" idx="6"/>
                <a:endCxn id="11" idx="2"/>
              </p:cNvCxnSpPr>
              <p:nvPr/>
            </p:nvCxnSpPr>
            <p:spPr>
              <a:xfrm flipV="1">
                <a:off x="4648200" y="4342471"/>
                <a:ext cx="1028700" cy="1031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6"/>
                <a:endCxn id="10" idx="2"/>
              </p:cNvCxnSpPr>
              <p:nvPr/>
            </p:nvCxnSpPr>
            <p:spPr>
              <a:xfrm>
                <a:off x="4648200" y="3123271"/>
                <a:ext cx="914400" cy="1691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6" idx="6"/>
              </p:cNvCxnSpPr>
              <p:nvPr/>
            </p:nvCxnSpPr>
            <p:spPr>
              <a:xfrm flipV="1">
                <a:off x="4648200" y="2399371"/>
                <a:ext cx="1042651" cy="279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4533901" y="2605114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>
                <a:endCxn id="18" idx="3"/>
              </p:cNvCxnSpPr>
              <p:nvPr/>
            </p:nvCxnSpPr>
            <p:spPr>
              <a:xfrm flipV="1">
                <a:off x="5780037" y="2970871"/>
                <a:ext cx="1035241" cy="2681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12" idx="1"/>
                <a:endCxn id="9" idx="4"/>
              </p:cNvCxnSpPr>
              <p:nvPr/>
            </p:nvCxnSpPr>
            <p:spPr>
              <a:xfrm flipH="1" flipV="1">
                <a:off x="4533900" y="4559920"/>
                <a:ext cx="757378" cy="7787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533901" y="3262871"/>
                <a:ext cx="0" cy="109374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10" idx="4"/>
                <a:endCxn id="68" idx="0"/>
              </p:cNvCxnSpPr>
              <p:nvPr/>
            </p:nvCxnSpPr>
            <p:spPr>
              <a:xfrm>
                <a:off x="5676900" y="3445727"/>
                <a:ext cx="124558" cy="82528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16" idx="6"/>
                <a:endCxn id="18" idx="1"/>
              </p:cNvCxnSpPr>
              <p:nvPr/>
            </p:nvCxnSpPr>
            <p:spPr>
              <a:xfrm>
                <a:off x="5905500" y="2437471"/>
                <a:ext cx="909778" cy="38195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endCxn id="18" idx="5"/>
              </p:cNvCxnSpPr>
              <p:nvPr/>
            </p:nvCxnSpPr>
            <p:spPr>
              <a:xfrm flipH="1" flipV="1">
                <a:off x="6976922" y="3020098"/>
                <a:ext cx="171344" cy="7594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11" idx="6"/>
                <a:endCxn id="17" idx="3"/>
              </p:cNvCxnSpPr>
              <p:nvPr/>
            </p:nvCxnSpPr>
            <p:spPr>
              <a:xfrm flipV="1">
                <a:off x="5905500" y="3938215"/>
                <a:ext cx="1148600" cy="4042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13" idx="3"/>
              </p:cNvCxnSpPr>
              <p:nvPr/>
            </p:nvCxnSpPr>
            <p:spPr>
              <a:xfrm flipV="1">
                <a:off x="6503779" y="5033822"/>
                <a:ext cx="744537" cy="11630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7" idx="5"/>
                <a:endCxn id="8" idx="1"/>
              </p:cNvCxnSpPr>
              <p:nvPr/>
            </p:nvCxnSpPr>
            <p:spPr>
              <a:xfrm>
                <a:off x="4614722" y="3243122"/>
                <a:ext cx="219355" cy="46747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7154525" y="4034957"/>
                <a:ext cx="225217" cy="86338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10" idx="3"/>
                <a:endCxn id="12" idx="0"/>
              </p:cNvCxnSpPr>
              <p:nvPr/>
            </p:nvCxnSpPr>
            <p:spPr>
              <a:xfrm flipH="1">
                <a:off x="5372101" y="3412249"/>
                <a:ext cx="223977" cy="193197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11" idx="4"/>
              </p:cNvCxnSpPr>
              <p:nvPr/>
            </p:nvCxnSpPr>
            <p:spPr>
              <a:xfrm>
                <a:off x="5791201" y="4495801"/>
                <a:ext cx="631756" cy="68780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14" idx="6"/>
              </p:cNvCxnSpPr>
              <p:nvPr/>
            </p:nvCxnSpPr>
            <p:spPr>
              <a:xfrm flipV="1">
                <a:off x="6400800" y="3813006"/>
                <a:ext cx="666644" cy="3509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10" idx="2"/>
                <a:endCxn id="8" idx="6"/>
              </p:cNvCxnSpPr>
              <p:nvPr/>
            </p:nvCxnSpPr>
            <p:spPr>
              <a:xfrm flipH="1">
                <a:off x="5029200" y="3292398"/>
                <a:ext cx="533400" cy="45998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9" idx="7"/>
                <a:endCxn id="8" idx="3"/>
              </p:cNvCxnSpPr>
              <p:nvPr/>
            </p:nvCxnSpPr>
            <p:spPr>
              <a:xfrm flipV="1">
                <a:off x="4614722" y="3833208"/>
                <a:ext cx="219356" cy="5315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14" idx="7"/>
                <a:endCxn id="18" idx="4"/>
              </p:cNvCxnSpPr>
              <p:nvPr/>
            </p:nvCxnSpPr>
            <p:spPr>
              <a:xfrm flipV="1">
                <a:off x="6367322" y="3014547"/>
                <a:ext cx="528778" cy="71370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9" idx="4"/>
                <a:endCxn id="15" idx="2"/>
              </p:cNvCxnSpPr>
              <p:nvPr/>
            </p:nvCxnSpPr>
            <p:spPr>
              <a:xfrm>
                <a:off x="4533900" y="4559920"/>
                <a:ext cx="1866900" cy="65420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5653228" y="2581507"/>
                <a:ext cx="114301" cy="6263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>
                <a:stCxn id="13" idx="2"/>
              </p:cNvCxnSpPr>
              <p:nvPr/>
            </p:nvCxnSpPr>
            <p:spPr>
              <a:xfrm flipH="1" flipV="1">
                <a:off x="5898042" y="4435433"/>
                <a:ext cx="1316797" cy="51756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6" idx="5"/>
                <a:endCxn id="10" idx="1"/>
              </p:cNvCxnSpPr>
              <p:nvPr/>
            </p:nvCxnSpPr>
            <p:spPr>
              <a:xfrm>
                <a:off x="4614722" y="2557322"/>
                <a:ext cx="981356" cy="69328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16" idx="3"/>
                <a:endCxn id="7" idx="7"/>
              </p:cNvCxnSpPr>
              <p:nvPr/>
            </p:nvCxnSpPr>
            <p:spPr>
              <a:xfrm flipH="1">
                <a:off x="4614722" y="2557322"/>
                <a:ext cx="1095656" cy="52415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>
                <a:stCxn id="10" idx="6"/>
                <a:endCxn id="14" idx="1"/>
              </p:cNvCxnSpPr>
              <p:nvPr/>
            </p:nvCxnSpPr>
            <p:spPr>
              <a:xfrm>
                <a:off x="5791200" y="3331427"/>
                <a:ext cx="414478" cy="43585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/>
            <p:cNvSpPr txBox="1"/>
            <p:nvPr/>
          </p:nvSpPr>
          <p:spPr>
            <a:xfrm>
              <a:off x="5791200" y="3733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95800" y="1447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b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51306" y="4126468"/>
              <a:ext cx="279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c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38800" y="2678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30530" y="1371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817706" y="2133600"/>
              <a:ext cx="25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f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19400" y="3288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g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581400" y="27548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5506" y="206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u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486400" y="1905000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w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38711" y="276508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v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14800" y="3288268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r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38600" y="40502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B050"/>
                  </a:solidFill>
                </a:rPr>
                <a:t>s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990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990600" y="27843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2133600" y="2209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2034009" y="2915662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1318169" y="32766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124200" y="25908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580376" y="3329911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2133600" y="37749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990600" y="3851156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Oval 70"/>
          <p:cNvSpPr/>
          <p:nvPr/>
        </p:nvSpPr>
        <p:spPr>
          <a:xfrm>
            <a:off x="1752600" y="4648200"/>
            <a:ext cx="205831" cy="187444"/>
          </a:xfrm>
          <a:prstGeom prst="ellipse">
            <a:avLst/>
          </a:prstGeom>
          <a:solidFill>
            <a:schemeClr val="accent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7" name="Group 116"/>
          <p:cNvGrpSpPr/>
          <p:nvPr/>
        </p:nvGrpSpPr>
        <p:grpSpPr>
          <a:xfrm>
            <a:off x="5181600" y="2133600"/>
            <a:ext cx="1828800" cy="369332"/>
            <a:chOff x="5181600" y="2133600"/>
            <a:chExt cx="1828800" cy="369332"/>
          </a:xfrm>
        </p:grpSpPr>
        <p:grpSp>
          <p:nvGrpSpPr>
            <p:cNvPr id="84" name="Group 83"/>
            <p:cNvGrpSpPr/>
            <p:nvPr/>
          </p:nvGrpSpPr>
          <p:grpSpPr>
            <a:xfrm>
              <a:off x="5181600" y="2150657"/>
              <a:ext cx="1828800" cy="287743"/>
              <a:chOff x="5181600" y="2623066"/>
              <a:chExt cx="1828800" cy="287743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5181600" y="2623066"/>
                <a:ext cx="1828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5181600" y="2910809"/>
                <a:ext cx="1828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5181600" y="2623066"/>
                <a:ext cx="0" cy="2877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/>
            <p:cNvSpPr txBox="1"/>
            <p:nvPr/>
          </p:nvSpPr>
          <p:spPr>
            <a:xfrm>
              <a:off x="5181600" y="2133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x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5105400" y="3341971"/>
            <a:ext cx="1905000" cy="652500"/>
            <a:chOff x="5105400" y="3341971"/>
            <a:chExt cx="1905000" cy="652500"/>
          </a:xfrm>
        </p:grpSpPr>
        <p:sp>
          <p:nvSpPr>
            <p:cNvPr id="97" name="Down Arrow 96"/>
            <p:cNvSpPr/>
            <p:nvPr/>
          </p:nvSpPr>
          <p:spPr>
            <a:xfrm>
              <a:off x="6019800" y="3341971"/>
              <a:ext cx="242316" cy="239429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5105400" y="3625139"/>
              <a:ext cx="1905000" cy="369332"/>
              <a:chOff x="5105400" y="3625139"/>
              <a:chExt cx="1905000" cy="369332"/>
            </a:xfrm>
          </p:grpSpPr>
          <p:grpSp>
            <p:nvGrpSpPr>
              <p:cNvPr id="98" name="Group 97"/>
              <p:cNvGrpSpPr/>
              <p:nvPr/>
            </p:nvGrpSpPr>
            <p:grpSpPr>
              <a:xfrm>
                <a:off x="5181600" y="3674657"/>
                <a:ext cx="1828800" cy="287743"/>
                <a:chOff x="5181600" y="2623066"/>
                <a:chExt cx="1828800" cy="287743"/>
              </a:xfrm>
            </p:grpSpPr>
            <p:cxnSp>
              <p:nvCxnSpPr>
                <p:cNvPr id="99" name="Straight Connector 98"/>
                <p:cNvCxnSpPr/>
                <p:nvPr/>
              </p:nvCxnSpPr>
              <p:spPr>
                <a:xfrm>
                  <a:off x="5181600" y="2623066"/>
                  <a:ext cx="1828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5181600" y="2910809"/>
                  <a:ext cx="1828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5181600" y="2623066"/>
                  <a:ext cx="0" cy="28774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TextBox 101"/>
              <p:cNvSpPr txBox="1"/>
              <p:nvPr/>
            </p:nvSpPr>
            <p:spPr>
              <a:xfrm>
                <a:off x="5105400" y="3625139"/>
                <a:ext cx="936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 u b </a:t>
                </a:r>
                <a:r>
                  <a:rPr lang="en-US" b="1" i="1" dirty="0">
                    <a:solidFill>
                      <a:srgbClr val="7030A0"/>
                    </a:solidFill>
                  </a:rPr>
                  <a:t>g</a:t>
                </a:r>
                <a:r>
                  <a:rPr lang="en-US" i="1" dirty="0">
                    <a:solidFill>
                      <a:srgbClr val="7030A0"/>
                    </a:solidFill>
                  </a:rPr>
                  <a:t> </a:t>
                </a:r>
                <a:r>
                  <a:rPr lang="en-US" b="1" i="1" dirty="0">
                    <a:solidFill>
                      <a:srgbClr val="7030A0"/>
                    </a:solidFill>
                  </a:rPr>
                  <a:t>h</a:t>
                </a:r>
                <a:r>
                  <a:rPr lang="en-US" dirty="0"/>
                  <a:t> </a:t>
                </a:r>
              </a:p>
            </p:txBody>
          </p:sp>
        </p:grpSp>
      </p:grpSp>
      <p:grpSp>
        <p:nvGrpSpPr>
          <p:cNvPr id="124" name="Group 123"/>
          <p:cNvGrpSpPr/>
          <p:nvPr/>
        </p:nvGrpSpPr>
        <p:grpSpPr>
          <a:xfrm>
            <a:off x="5105400" y="4103971"/>
            <a:ext cx="1905000" cy="696629"/>
            <a:chOff x="5105400" y="4103971"/>
            <a:chExt cx="1905000" cy="696629"/>
          </a:xfrm>
        </p:grpSpPr>
        <p:sp>
          <p:nvSpPr>
            <p:cNvPr id="107" name="Down Arrow 106"/>
            <p:cNvSpPr/>
            <p:nvPr/>
          </p:nvSpPr>
          <p:spPr>
            <a:xfrm>
              <a:off x="6019800" y="4103971"/>
              <a:ext cx="242316" cy="239429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5105400" y="4431268"/>
              <a:ext cx="1905000" cy="369332"/>
              <a:chOff x="5105400" y="4311134"/>
              <a:chExt cx="1905000" cy="369332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5181600" y="4360457"/>
                <a:ext cx="1828800" cy="287743"/>
                <a:chOff x="5181600" y="2623066"/>
                <a:chExt cx="1828800" cy="287743"/>
              </a:xfrm>
            </p:grpSpPr>
            <p:cxnSp>
              <p:nvCxnSpPr>
                <p:cNvPr id="104" name="Straight Connector 103"/>
                <p:cNvCxnSpPr/>
                <p:nvPr/>
              </p:nvCxnSpPr>
              <p:spPr>
                <a:xfrm>
                  <a:off x="5181600" y="2623066"/>
                  <a:ext cx="1828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>
                  <a:off x="5181600" y="2910809"/>
                  <a:ext cx="1828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5181600" y="2623066"/>
                  <a:ext cx="0" cy="28774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" name="TextBox 107"/>
              <p:cNvSpPr txBox="1"/>
              <p:nvPr/>
            </p:nvSpPr>
            <p:spPr>
              <a:xfrm>
                <a:off x="5105400" y="4311134"/>
                <a:ext cx="1426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 b </a:t>
                </a:r>
                <a:r>
                  <a:rPr lang="en-US" b="1" i="1" dirty="0">
                    <a:solidFill>
                      <a:srgbClr val="7030A0"/>
                    </a:solidFill>
                  </a:rPr>
                  <a:t>g</a:t>
                </a:r>
                <a:r>
                  <a:rPr lang="en-US" i="1" dirty="0">
                    <a:solidFill>
                      <a:srgbClr val="7030A0"/>
                    </a:solidFill>
                  </a:rPr>
                  <a:t> </a:t>
                </a:r>
                <a:r>
                  <a:rPr lang="en-US" b="1" i="1" dirty="0">
                    <a:solidFill>
                      <a:srgbClr val="7030A0"/>
                    </a:solidFill>
                  </a:rPr>
                  <a:t>h s r v w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p:grpSp>
      </p:grpSp>
      <p:grpSp>
        <p:nvGrpSpPr>
          <p:cNvPr id="121" name="Group 120"/>
          <p:cNvGrpSpPr/>
          <p:nvPr/>
        </p:nvGrpSpPr>
        <p:grpSpPr>
          <a:xfrm>
            <a:off x="5181600" y="5181600"/>
            <a:ext cx="1828800" cy="381000"/>
            <a:chOff x="5181600" y="5029200"/>
            <a:chExt cx="1828800" cy="381000"/>
          </a:xfrm>
        </p:grpSpPr>
        <p:sp>
          <p:nvSpPr>
            <p:cNvPr id="86" name="TextBox 85"/>
            <p:cNvSpPr txBox="1"/>
            <p:nvPr/>
          </p:nvSpPr>
          <p:spPr>
            <a:xfrm>
              <a:off x="5181600" y="5029200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7030A0"/>
                  </a:solidFill>
                </a:rPr>
                <a:t>g</a:t>
              </a:r>
              <a:r>
                <a:rPr lang="en-US" i="1" dirty="0">
                  <a:solidFill>
                    <a:srgbClr val="7030A0"/>
                  </a:solidFill>
                </a:rPr>
                <a:t> </a:t>
              </a:r>
              <a:r>
                <a:rPr lang="en-US" b="1" i="1" dirty="0">
                  <a:solidFill>
                    <a:srgbClr val="7030A0"/>
                  </a:solidFill>
                </a:rPr>
                <a:t>h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  <a:r>
                <a:rPr lang="en-US" b="1" i="1" dirty="0">
                  <a:solidFill>
                    <a:srgbClr val="7030A0"/>
                  </a:solidFill>
                </a:rPr>
                <a:t>s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  <a:r>
                <a:rPr lang="en-US" b="1" i="1" dirty="0">
                  <a:solidFill>
                    <a:srgbClr val="7030A0"/>
                  </a:solidFill>
                </a:rPr>
                <a:t>r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  <a:r>
                <a:rPr lang="en-US" b="1" i="1" dirty="0">
                  <a:solidFill>
                    <a:srgbClr val="7030A0"/>
                  </a:solidFill>
                </a:rPr>
                <a:t>v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  <a:r>
                <a:rPr lang="en-US" b="1" i="1" dirty="0">
                  <a:solidFill>
                    <a:srgbClr val="7030A0"/>
                  </a:solidFill>
                </a:rPr>
                <a:t>w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5181600" y="5122457"/>
              <a:ext cx="1828800" cy="287743"/>
              <a:chOff x="5181600" y="2623066"/>
              <a:chExt cx="1828800" cy="287743"/>
            </a:xfrm>
          </p:grpSpPr>
          <p:cxnSp>
            <p:nvCxnSpPr>
              <p:cNvPr id="110" name="Straight Connector 109"/>
              <p:cNvCxnSpPr/>
              <p:nvPr/>
            </p:nvCxnSpPr>
            <p:spPr>
              <a:xfrm>
                <a:off x="5181600" y="2623066"/>
                <a:ext cx="1828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5181600" y="2910809"/>
                <a:ext cx="1828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>
                <a:off x="5181600" y="2623066"/>
                <a:ext cx="0" cy="2877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Down Arrow 112"/>
          <p:cNvSpPr/>
          <p:nvPr/>
        </p:nvSpPr>
        <p:spPr>
          <a:xfrm>
            <a:off x="6019800" y="4942171"/>
            <a:ext cx="242316" cy="239429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3" name="Group 122"/>
          <p:cNvGrpSpPr/>
          <p:nvPr/>
        </p:nvGrpSpPr>
        <p:grpSpPr>
          <a:xfrm>
            <a:off x="5181600" y="2514600"/>
            <a:ext cx="2815401" cy="706398"/>
            <a:chOff x="5181600" y="2514600"/>
            <a:chExt cx="2815401" cy="706398"/>
          </a:xfrm>
        </p:grpSpPr>
        <p:sp>
          <p:nvSpPr>
            <p:cNvPr id="88" name="Down Arrow 87"/>
            <p:cNvSpPr/>
            <p:nvPr/>
          </p:nvSpPr>
          <p:spPr>
            <a:xfrm>
              <a:off x="6006084" y="2514600"/>
              <a:ext cx="242316" cy="239429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5181600" y="2851666"/>
              <a:ext cx="1828800" cy="369332"/>
              <a:chOff x="5181600" y="2851666"/>
              <a:chExt cx="1828800" cy="369332"/>
            </a:xfrm>
          </p:grpSpPr>
          <p:sp>
            <p:nvSpPr>
              <p:cNvPr id="87" name="TextBox 86"/>
              <p:cNvSpPr txBox="1"/>
              <p:nvPr/>
            </p:nvSpPr>
            <p:spPr>
              <a:xfrm>
                <a:off x="5183341" y="2851666"/>
                <a:ext cx="607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B050"/>
                    </a:solidFill>
                  </a:rPr>
                  <a:t>f</a:t>
                </a:r>
                <a:r>
                  <a:rPr lang="en-US" i="1" dirty="0"/>
                  <a:t> </a:t>
                </a:r>
                <a:r>
                  <a:rPr lang="en-US" b="1" i="1" dirty="0">
                    <a:solidFill>
                      <a:srgbClr val="00B050"/>
                    </a:solidFill>
                  </a:rPr>
                  <a:t>u b</a:t>
                </a:r>
                <a:endParaRPr lang="en-US" dirty="0"/>
              </a:p>
            </p:txBody>
          </p:sp>
          <p:grpSp>
            <p:nvGrpSpPr>
              <p:cNvPr id="89" name="Group 88"/>
              <p:cNvGrpSpPr/>
              <p:nvPr/>
            </p:nvGrpSpPr>
            <p:grpSpPr>
              <a:xfrm>
                <a:off x="5181600" y="2912657"/>
                <a:ext cx="1828800" cy="287743"/>
                <a:chOff x="5181600" y="2623066"/>
                <a:chExt cx="1828800" cy="287743"/>
              </a:xfrm>
            </p:grpSpPr>
            <p:cxnSp>
              <p:nvCxnSpPr>
                <p:cNvPr id="90" name="Straight Connector 89"/>
                <p:cNvCxnSpPr/>
                <p:nvPr/>
              </p:nvCxnSpPr>
              <p:spPr>
                <a:xfrm>
                  <a:off x="5181600" y="2623066"/>
                  <a:ext cx="1828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5181600" y="2910809"/>
                  <a:ext cx="1828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5181600" y="2623066"/>
                  <a:ext cx="0" cy="28774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/>
                <p:cNvSpPr txBox="1"/>
                <p:nvPr/>
              </p:nvSpPr>
              <p:spPr>
                <a:xfrm>
                  <a:off x="7543800" y="2831068"/>
                  <a:ext cx="4532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TextBox 1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800" y="2831068"/>
                  <a:ext cx="453201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75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7543800" y="2069068"/>
                <a:ext cx="458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2069068"/>
                <a:ext cx="458523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73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7620000" y="5269468"/>
                <a:ext cx="458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5269468"/>
                <a:ext cx="458523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73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Down Ribbon 57"/>
          <p:cNvSpPr/>
          <p:nvPr/>
        </p:nvSpPr>
        <p:spPr>
          <a:xfrm>
            <a:off x="152400" y="4876800"/>
            <a:ext cx="4953000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Remove </a:t>
            </a:r>
            <a:r>
              <a:rPr lang="en-US" sz="1600" b="1" i="1" dirty="0">
                <a:solidFill>
                  <a:srgbClr val="0070C0"/>
                </a:solidFill>
              </a:rPr>
              <a:t>x</a:t>
            </a:r>
            <a:r>
              <a:rPr lang="en-US" sz="1600" dirty="0">
                <a:solidFill>
                  <a:schemeClr val="tx1"/>
                </a:solidFill>
              </a:rPr>
              <a:t> and for each neighbor of </a:t>
            </a:r>
            <a:r>
              <a:rPr lang="en-US" sz="1600" b="1" i="1" dirty="0">
                <a:solidFill>
                  <a:srgbClr val="0070C0"/>
                </a:solidFill>
              </a:rPr>
              <a:t>x</a:t>
            </a:r>
            <a:r>
              <a:rPr lang="en-US" sz="1600" dirty="0">
                <a:solidFill>
                  <a:schemeClr val="tx1"/>
                </a:solidFill>
              </a:rPr>
              <a:t> that was unvisited, mark it visited and put it into queue.</a:t>
            </a:r>
          </a:p>
        </p:txBody>
      </p:sp>
      <p:sp>
        <p:nvSpPr>
          <p:cNvPr id="127" name="Down Ribbon 126"/>
          <p:cNvSpPr/>
          <p:nvPr/>
        </p:nvSpPr>
        <p:spPr>
          <a:xfrm>
            <a:off x="152400" y="5334000"/>
            <a:ext cx="4953000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Remove 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dirty="0">
                <a:solidFill>
                  <a:schemeClr val="tx1"/>
                </a:solidFill>
              </a:rPr>
              <a:t> and for each neighbor of </a:t>
            </a:r>
            <a:r>
              <a:rPr lang="en-US" sz="1600" b="1" i="1" dirty="0">
                <a:solidFill>
                  <a:srgbClr val="0070C0"/>
                </a:solidFill>
              </a:rPr>
              <a:t>f</a:t>
            </a:r>
            <a:r>
              <a:rPr lang="en-US" sz="1600" dirty="0">
                <a:solidFill>
                  <a:schemeClr val="tx1"/>
                </a:solidFill>
              </a:rPr>
              <a:t> that was unvisited, mark it visited and put it into queue.</a:t>
            </a:r>
          </a:p>
        </p:txBody>
      </p:sp>
      <p:sp>
        <p:nvSpPr>
          <p:cNvPr id="128" name="Down Ribbon 127"/>
          <p:cNvSpPr/>
          <p:nvPr/>
        </p:nvSpPr>
        <p:spPr>
          <a:xfrm>
            <a:off x="76200" y="5486400"/>
            <a:ext cx="4953000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Remove </a:t>
            </a:r>
            <a:r>
              <a:rPr lang="en-US" sz="1600" b="1" i="1" dirty="0">
                <a:solidFill>
                  <a:srgbClr val="0070C0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 and for each neighbor of </a:t>
            </a:r>
            <a:r>
              <a:rPr lang="en-US" sz="1600" b="1" i="1" dirty="0">
                <a:solidFill>
                  <a:srgbClr val="0070C0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 that was unvisited, mark it visited and put it into queue.</a:t>
            </a:r>
          </a:p>
        </p:txBody>
      </p:sp>
      <p:sp>
        <p:nvSpPr>
          <p:cNvPr id="129" name="Down Ribbon 128"/>
          <p:cNvSpPr/>
          <p:nvPr/>
        </p:nvSpPr>
        <p:spPr>
          <a:xfrm>
            <a:off x="76200" y="5638800"/>
            <a:ext cx="4953000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Remove 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and for each neighbor of </a:t>
            </a:r>
            <a:r>
              <a:rPr lang="en-US" sz="1600" b="1" i="1" dirty="0">
                <a:solidFill>
                  <a:srgbClr val="0070C0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that was unvisited, mark it visited and put it into queue.</a:t>
            </a:r>
          </a:p>
        </p:txBody>
      </p:sp>
    </p:spTree>
    <p:extLst>
      <p:ext uri="{BB962C8B-B14F-4D97-AF65-F5344CB8AC3E}">
        <p14:creationId xmlns:p14="http://schemas.microsoft.com/office/powerpoint/2010/main" val="22208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2" grpId="0" build="p"/>
      <p:bldP spid="59" grpId="0" animBg="1"/>
      <p:bldP spid="60" grpId="0" animBg="1"/>
      <p:bldP spid="61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70" grpId="0" animBg="1"/>
      <p:bldP spid="71" grpId="0" animBg="1"/>
      <p:bldP spid="113" grpId="0" animBg="1"/>
      <p:bldP spid="115" grpId="0"/>
      <p:bldP spid="116" grpId="0"/>
      <p:bldP spid="58" grpId="0" animBg="1"/>
      <p:bldP spid="58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BFS traversal from a vertex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BFS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G</a:t>
            </a:r>
            <a:r>
              <a:rPr lang="en-US" sz="2000" dirty="0"/>
              <a:t>,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b="1" dirty="0" err="1">
                <a:solidFill>
                  <a:srgbClr val="C00000"/>
                </a:solidFill>
              </a:rPr>
              <a:t>CreateEmptyQueue</a:t>
            </a:r>
            <a:r>
              <a:rPr lang="en-US" sz="2000" b="1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b="1" dirty="0"/>
              <a:t>)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>
                <a:sym typeface="Wingdings" pitchFamily="2" charset="2"/>
              </a:rPr>
              <a:t>) 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0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</a:t>
            </a:r>
            <a:r>
              <a:rPr lang="en-US" sz="2000" b="1" dirty="0" err="1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i="1" dirty="0" err="1">
                <a:solidFill>
                  <a:srgbClr val="0070C0"/>
                </a:solidFill>
              </a:rPr>
              <a:t>x</a:t>
            </a:r>
            <a:r>
              <a:rPr lang="en-US" sz="2000" dirty="0" err="1">
                <a:sym typeface="Wingdings" pitchFamily="2" charset="2"/>
              </a:rPr>
              <a:t>,</a:t>
            </a:r>
            <a:r>
              <a:rPr lang="en-US" sz="2000" b="1" dirty="0" err="1">
                <a:solidFill>
                  <a:srgbClr val="7030A0"/>
                </a:solidFill>
              </a:rPr>
              <a:t>Q</a:t>
            </a:r>
            <a:r>
              <a:rPr lang="en-US" sz="2000" dirty="0"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</a:t>
            </a:r>
            <a:r>
              <a:rPr lang="en-US" sz="2000" b="1" dirty="0">
                <a:sym typeface="Wingdings" pitchFamily="2" charset="2"/>
              </a:rPr>
              <a:t>While</a:t>
            </a:r>
            <a:r>
              <a:rPr lang="en-US" sz="2000" dirty="0">
                <a:sym typeface="Wingdings" pitchFamily="2" charset="2"/>
              </a:rPr>
              <a:t>(                          ??                       )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{             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v </a:t>
            </a:r>
            <a:r>
              <a:rPr lang="en-US" sz="2000" b="1" dirty="0">
                <a:sym typeface="Wingdings" pitchFamily="2" charset="2"/>
              </a:rPr>
              <a:t></a:t>
            </a:r>
            <a:r>
              <a:rPr lang="en-US" sz="2000" b="1" dirty="0" err="1">
                <a:solidFill>
                  <a:srgbClr val="C00000"/>
                </a:solidFill>
                <a:sym typeface="Wingdings" pitchFamily="2" charset="2"/>
              </a:rPr>
              <a:t>Dequeue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For </a:t>
            </a:r>
            <a:r>
              <a:rPr lang="en-US" sz="2000" dirty="0">
                <a:sym typeface="Wingdings" pitchFamily="2" charset="2"/>
              </a:rPr>
              <a:t>each neighbor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2000" b="1" dirty="0">
                <a:sym typeface="Wingdings" pitchFamily="2" charset="2"/>
              </a:rPr>
              <a:t> </a:t>
            </a:r>
            <a:r>
              <a:rPr lang="en-US" sz="2000" dirty="0">
                <a:sym typeface="Wingdings" pitchFamily="2" charset="2"/>
              </a:rPr>
              <a:t>of</a:t>
            </a:r>
            <a:r>
              <a:rPr lang="en-US" sz="2000" b="1" dirty="0">
                <a:sym typeface="Wingdings" pitchFamily="2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2000" b="1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</a:t>
            </a:r>
            <a:r>
              <a:rPr lang="en-US" sz="2000" dirty="0">
                <a:sym typeface="Wingdings" pitchFamily="2" charset="2"/>
              </a:rPr>
              <a:t>{</a:t>
            </a:r>
            <a:r>
              <a:rPr lang="en-US" sz="2000" b="1" dirty="0">
                <a:sym typeface="Wingdings" pitchFamily="2" charset="2"/>
              </a:rPr>
              <a:t>         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                 if (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2000" dirty="0">
                <a:sym typeface="Wingdings" pitchFamily="2" charset="2"/>
              </a:rPr>
              <a:t>)</a:t>
            </a:r>
            <a:r>
              <a:rPr lang="en-US" sz="2000" b="1" dirty="0">
                <a:sym typeface="Wingdings" pitchFamily="2" charset="2"/>
              </a:rPr>
              <a:t> = ∞)                        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                 </a:t>
            </a:r>
            <a:r>
              <a:rPr lang="en-US" sz="2000" dirty="0">
                <a:sym typeface="Wingdings" pitchFamily="2" charset="2"/>
              </a:rPr>
              <a:t>{    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2000" dirty="0">
                <a:sym typeface="Wingdings" pitchFamily="2" charset="2"/>
              </a:rPr>
              <a:t>) </a:t>
            </a:r>
            <a:r>
              <a:rPr lang="en-US" sz="2000" b="1" dirty="0">
                <a:sym typeface="Wingdings" pitchFamily="2" charset="2"/>
              </a:rPr>
              <a:t>                        ??            ;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                       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                                                            ??         </a:t>
            </a:r>
            <a:r>
              <a:rPr lang="en-US" sz="2000" b="1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                 </a:t>
            </a:r>
            <a:r>
              <a:rPr lang="en-US" sz="20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}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}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76400" y="2743200"/>
            <a:ext cx="26670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Not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IsEmptyQueue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(</a:t>
            </a:r>
            <a:r>
              <a:rPr lang="en-US" b="1" dirty="0">
                <a:solidFill>
                  <a:srgbClr val="7030A0"/>
                </a:solidFill>
              </a:rPr>
              <a:t>Q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)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0" y="4495800"/>
            <a:ext cx="1981200" cy="4572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(v)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+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1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4876800"/>
            <a:ext cx="19050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(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,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Q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)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;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91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Running time </a:t>
            </a:r>
            <a:r>
              <a:rPr lang="en-US" sz="3200" b="1" dirty="0"/>
              <a:t>of BFS traversal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BFS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G</a:t>
            </a:r>
            <a:r>
              <a:rPr lang="en-US" sz="2000" dirty="0"/>
              <a:t>, 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b="1" dirty="0" err="1">
                <a:solidFill>
                  <a:srgbClr val="C00000"/>
                </a:solidFill>
              </a:rPr>
              <a:t>CreateEmptyQueue</a:t>
            </a:r>
            <a:r>
              <a:rPr lang="en-US" sz="2000" b="1" dirty="0"/>
              <a:t>(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b="1" dirty="0"/>
              <a:t>)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i="1" dirty="0">
                <a:solidFill>
                  <a:srgbClr val="0070C0"/>
                </a:solidFill>
              </a:rPr>
              <a:t>x</a:t>
            </a:r>
            <a:r>
              <a:rPr lang="en-US" sz="2000" dirty="0">
                <a:sym typeface="Wingdings" pitchFamily="2" charset="2"/>
              </a:rPr>
              <a:t>) 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0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</a:t>
            </a:r>
            <a:r>
              <a:rPr lang="en-US" sz="2000" b="1" dirty="0" err="1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i="1" dirty="0" err="1">
                <a:solidFill>
                  <a:srgbClr val="0070C0"/>
                </a:solidFill>
              </a:rPr>
              <a:t>x</a:t>
            </a:r>
            <a:r>
              <a:rPr lang="en-US" sz="2000" dirty="0" err="1">
                <a:sym typeface="Wingdings" pitchFamily="2" charset="2"/>
              </a:rPr>
              <a:t>,</a:t>
            </a:r>
            <a:r>
              <a:rPr lang="en-US" sz="2000" b="1" dirty="0" err="1">
                <a:solidFill>
                  <a:srgbClr val="7030A0"/>
                </a:solidFill>
              </a:rPr>
              <a:t>Q</a:t>
            </a:r>
            <a:r>
              <a:rPr lang="en-US" sz="2000" dirty="0"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</a:t>
            </a:r>
            <a:r>
              <a:rPr lang="en-US" sz="2000" b="1" dirty="0">
                <a:sym typeface="Wingdings" pitchFamily="2" charset="2"/>
              </a:rPr>
              <a:t>While</a:t>
            </a:r>
            <a:r>
              <a:rPr lang="en-US" sz="2000" dirty="0">
                <a:sym typeface="Wingdings" pitchFamily="2" charset="2"/>
              </a:rPr>
              <a:t>(                          ??                       )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{             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v </a:t>
            </a:r>
            <a:r>
              <a:rPr lang="en-US" sz="2000" b="1" dirty="0">
                <a:sym typeface="Wingdings" pitchFamily="2" charset="2"/>
              </a:rPr>
              <a:t></a:t>
            </a:r>
            <a:r>
              <a:rPr lang="en-US" sz="2000" b="1" dirty="0" err="1">
                <a:solidFill>
                  <a:srgbClr val="C00000"/>
                </a:solidFill>
                <a:sym typeface="Wingdings" pitchFamily="2" charset="2"/>
              </a:rPr>
              <a:t>Dequeue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dirty="0">
                <a:solidFill>
                  <a:srgbClr val="7030A0"/>
                </a:solidFill>
              </a:rPr>
              <a:t>Q</a:t>
            </a:r>
            <a:r>
              <a:rPr lang="en-US" sz="2000" dirty="0"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For </a:t>
            </a:r>
            <a:r>
              <a:rPr lang="en-US" sz="2000" dirty="0">
                <a:sym typeface="Wingdings" pitchFamily="2" charset="2"/>
              </a:rPr>
              <a:t>each neighbor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2000" b="1" dirty="0">
                <a:sym typeface="Wingdings" pitchFamily="2" charset="2"/>
              </a:rPr>
              <a:t> </a:t>
            </a:r>
            <a:r>
              <a:rPr lang="en-US" sz="2000" dirty="0">
                <a:sym typeface="Wingdings" pitchFamily="2" charset="2"/>
              </a:rPr>
              <a:t>of</a:t>
            </a:r>
            <a:r>
              <a:rPr lang="en-US" sz="2000" b="1" dirty="0">
                <a:sym typeface="Wingdings" pitchFamily="2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2000" b="1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</a:t>
            </a:r>
            <a:r>
              <a:rPr lang="en-US" sz="2000" dirty="0">
                <a:sym typeface="Wingdings" pitchFamily="2" charset="2"/>
              </a:rPr>
              <a:t>{</a:t>
            </a:r>
            <a:r>
              <a:rPr lang="en-US" sz="2000" b="1" dirty="0">
                <a:sym typeface="Wingdings" pitchFamily="2" charset="2"/>
              </a:rPr>
              <a:t>         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                 if (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2000" dirty="0">
                <a:sym typeface="Wingdings" pitchFamily="2" charset="2"/>
              </a:rPr>
              <a:t>)</a:t>
            </a:r>
            <a:r>
              <a:rPr lang="en-US" sz="2000" b="1" dirty="0">
                <a:sym typeface="Wingdings" pitchFamily="2" charset="2"/>
              </a:rPr>
              <a:t> = ∞)                        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                 </a:t>
            </a:r>
            <a:r>
              <a:rPr lang="en-US" sz="2000" dirty="0">
                <a:sym typeface="Wingdings" pitchFamily="2" charset="2"/>
              </a:rPr>
              <a:t>{    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sz="2000" dirty="0">
                <a:sym typeface="Wingdings" pitchFamily="2" charset="2"/>
              </a:rPr>
              <a:t>) </a:t>
            </a:r>
            <a:r>
              <a:rPr lang="en-US" sz="2000" b="1" dirty="0">
                <a:sym typeface="Wingdings" pitchFamily="2" charset="2"/>
              </a:rPr>
              <a:t>                        ??            ;</a:t>
            </a: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                       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sym typeface="Wingdings" pitchFamily="2" charset="2"/>
              </a:rPr>
              <a:t>                                                            ??         </a:t>
            </a:r>
            <a:r>
              <a:rPr lang="en-US" sz="2000" b="1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                                    </a:t>
            </a:r>
            <a:r>
              <a:rPr lang="en-US" sz="20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}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}</a:t>
            </a:r>
          </a:p>
          <a:p>
            <a:pPr marL="0" indent="0">
              <a:buNone/>
            </a:pPr>
            <a:r>
              <a:rPr lang="en-US" sz="2000" b="1" dirty="0"/>
              <a:t>Running time of BFS(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b="1" dirty="0"/>
              <a:t>) = </a:t>
            </a:r>
            <a:r>
              <a:rPr lang="en-US" sz="2000" b="1" i="1" dirty="0">
                <a:solidFill>
                  <a:srgbClr val="0070C0"/>
                </a:solidFill>
              </a:rPr>
              <a:t> </a:t>
            </a:r>
            <a:r>
              <a:rPr lang="en-US" sz="1800" dirty="0">
                <a:solidFill>
                  <a:srgbClr val="002060"/>
                </a:solidFill>
              </a:rPr>
              <a:t>no. of edges in </a:t>
            </a:r>
            <a:r>
              <a:rPr lang="en-US" sz="1800" b="1" u="sng" dirty="0">
                <a:solidFill>
                  <a:srgbClr val="002060"/>
                </a:solidFill>
              </a:rPr>
              <a:t>the connected component</a:t>
            </a:r>
            <a:r>
              <a:rPr lang="en-US" sz="1800" dirty="0">
                <a:solidFill>
                  <a:srgbClr val="002060"/>
                </a:solidFill>
              </a:rPr>
              <a:t> of </a:t>
            </a:r>
            <a:r>
              <a:rPr lang="en-US" sz="1800" b="1" dirty="0">
                <a:solidFill>
                  <a:srgbClr val="0070C0"/>
                </a:solidFill>
              </a:rPr>
              <a:t>x</a:t>
            </a:r>
            <a:r>
              <a:rPr lang="en-US" sz="1800" b="1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76400" y="2743200"/>
            <a:ext cx="26670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Not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IsEmptyQueue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(</a:t>
            </a:r>
            <a:r>
              <a:rPr lang="en-US" b="1" dirty="0">
                <a:solidFill>
                  <a:srgbClr val="7030A0"/>
                </a:solidFill>
              </a:rPr>
              <a:t>Q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)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0" y="4495800"/>
            <a:ext cx="1981200" cy="4572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Distance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(v) 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+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1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4876800"/>
            <a:ext cx="1905000" cy="381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(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w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,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Q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)</a:t>
            </a:r>
            <a:r>
              <a:rPr lang="en-US" b="1" dirty="0">
                <a:solidFill>
                  <a:schemeClr val="tx1"/>
                </a:solidFill>
                <a:sym typeface="Wingdings" pitchFamily="2" charset="2"/>
              </a:rPr>
              <a:t>;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6630924" y="3810000"/>
            <a:ext cx="608076" cy="18288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239000" y="4507468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dirty="0"/>
              <a:t>(</a:t>
            </a:r>
            <a:r>
              <a:rPr lang="en-US" dirty="0" err="1"/>
              <a:t>deg</a:t>
            </a:r>
            <a:r>
              <a:rPr lang="en-US" dirty="0"/>
              <a:t>(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dirty="0"/>
              <a:t>))</a:t>
            </a:r>
            <a:endParaRPr lang="en-IN" dirty="0"/>
          </a:p>
        </p:txBody>
      </p:sp>
      <p:sp>
        <p:nvSpPr>
          <p:cNvPr id="10" name="Down Ribbon 9"/>
          <p:cNvSpPr/>
          <p:nvPr/>
        </p:nvSpPr>
        <p:spPr>
          <a:xfrm>
            <a:off x="4572000" y="1676400"/>
            <a:ext cx="4572000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vertex can enter queue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at most </a:t>
            </a:r>
            <a:r>
              <a:rPr lang="en-US" dirty="0">
                <a:solidFill>
                  <a:schemeClr val="tx1"/>
                </a:solidFill>
              </a:rPr>
              <a:t>once.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Prove this claim first.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93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8" grpId="0" animBg="1"/>
      <p:bldP spid="9" grpId="0"/>
      <p:bldP spid="10" grpId="0" animBg="1"/>
      <p:bldP spid="1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Correctness of BFS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Question: </a:t>
            </a:r>
            <a:r>
              <a:rPr lang="en-US" sz="2000" dirty="0"/>
              <a:t>   What do we mean by </a:t>
            </a:r>
            <a:r>
              <a:rPr lang="en-US" sz="2000" dirty="0">
                <a:solidFill>
                  <a:srgbClr val="7030A0"/>
                </a:solidFill>
              </a:rPr>
              <a:t>correctness</a:t>
            </a:r>
            <a:r>
              <a:rPr lang="en-US" sz="2000" dirty="0"/>
              <a:t>  of </a:t>
            </a:r>
            <a:r>
              <a:rPr lang="en-US" sz="2000" b="1" dirty="0"/>
              <a:t>BFS</a:t>
            </a:r>
            <a:r>
              <a:rPr lang="en-US" sz="2000" dirty="0"/>
              <a:t> traversal from vertex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Answer: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All vertices</a:t>
            </a:r>
            <a:r>
              <a:rPr lang="en-US" sz="2000" dirty="0"/>
              <a:t> reachable from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 </a:t>
            </a:r>
            <a:r>
              <a:rPr lang="en-US" sz="2000" b="1" dirty="0"/>
              <a:t>get visited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Vertices get visited in the</a:t>
            </a:r>
          </a:p>
          <a:p>
            <a:endParaRPr lang="en-US" sz="2000" dirty="0"/>
          </a:p>
          <a:p>
            <a:r>
              <a:rPr lang="en-US" sz="2000" dirty="0"/>
              <a:t>At the end of the algorithm,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                                   Distance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) </a:t>
            </a:r>
            <a:r>
              <a:rPr lang="en-US" sz="2000" b="1" dirty="0"/>
              <a:t>is the distance</a:t>
            </a:r>
            <a:r>
              <a:rPr lang="en-US" sz="2000" dirty="0"/>
              <a:t> of vertex 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 from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81400" y="3810000"/>
            <a:ext cx="464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non-decreasing order of their distances </a:t>
            </a:r>
            <a:r>
              <a:rPr lang="en-US" dirty="0"/>
              <a:t>from </a:t>
            </a:r>
            <a:r>
              <a:rPr lang="en-US" b="1" dirty="0">
                <a:solidFill>
                  <a:srgbClr val="0070C0"/>
                </a:solidFill>
              </a:rPr>
              <a:t>x</a:t>
            </a:r>
            <a:r>
              <a:rPr lang="en-US" dirty="0"/>
              <a:t>.</a:t>
            </a:r>
          </a:p>
        </p:txBody>
      </p:sp>
      <p:sp>
        <p:nvSpPr>
          <p:cNvPr id="7" name="Down Ribbon 6"/>
          <p:cNvSpPr/>
          <p:nvPr/>
        </p:nvSpPr>
        <p:spPr>
          <a:xfrm>
            <a:off x="2133600" y="5486400"/>
            <a:ext cx="5257800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shall discuss this proof in the next lecture. Please think over it for some time </a:t>
            </a:r>
            <a:r>
              <a:rPr lang="en-US" b="1" dirty="0">
                <a:solidFill>
                  <a:schemeClr val="tx1"/>
                </a:solidFill>
              </a:rPr>
              <a:t>before next lecture.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63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  <p:bldP spid="7" grpId="0" animBg="1"/>
      <p:bldP spid="7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11741</TotalTime>
  <Words>1761</Words>
  <Application>Microsoft Macintosh PowerPoint</Application>
  <PresentationFormat>On-screen Show (4:3)</PresentationFormat>
  <Paragraphs>395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An interesting problem </vt:lpstr>
      <vt:lpstr>An interesting problem </vt:lpstr>
      <vt:lpstr>Key idea </vt:lpstr>
      <vt:lpstr>Algorithm to find a sink in a graph </vt:lpstr>
      <vt:lpstr> What is Graph traversal ?</vt:lpstr>
      <vt:lpstr>Graph traversal</vt:lpstr>
      <vt:lpstr>Non-triviality of graph traversal</vt:lpstr>
      <vt:lpstr> Breadth First Search traversal</vt:lpstr>
      <vt:lpstr>Notations and Observations</vt:lpstr>
      <vt:lpstr>Notations and Observations</vt:lpstr>
      <vt:lpstr>Notations and Observations</vt:lpstr>
      <vt:lpstr>Shortest Paths  in Undirected Graphs</vt:lpstr>
      <vt:lpstr>Shortest Paths  in Undirected Graphs</vt:lpstr>
      <vt:lpstr>An important property of shortest paths</vt:lpstr>
      <vt:lpstr>An important question</vt:lpstr>
      <vt:lpstr>Relationship among vertices  at different distances from x</vt:lpstr>
      <vt:lpstr>How can we compute V_(i+1) ?</vt:lpstr>
      <vt:lpstr>A neat algorithm for  computing distances from x</vt:lpstr>
      <vt:lpstr>Using a queue for traversing vertices in  non-decreasing order of distances</vt:lpstr>
      <vt:lpstr>BFS traversal from a vertex</vt:lpstr>
      <vt:lpstr>Running time of BFS traversal</vt:lpstr>
      <vt:lpstr>Correctness of BFS traversal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972</cp:revision>
  <dcterms:created xsi:type="dcterms:W3CDTF">2011-12-03T04:13:03Z</dcterms:created>
  <dcterms:modified xsi:type="dcterms:W3CDTF">2025-10-07T12:18:01Z</dcterms:modified>
</cp:coreProperties>
</file>