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4"/>
  </p:notesMasterIdLst>
  <p:sldIdLst>
    <p:sldId id="451" r:id="rId2"/>
    <p:sldId id="431" r:id="rId3"/>
    <p:sldId id="432" r:id="rId4"/>
    <p:sldId id="433" r:id="rId5"/>
    <p:sldId id="471" r:id="rId6"/>
    <p:sldId id="436" r:id="rId7"/>
    <p:sldId id="438" r:id="rId8"/>
    <p:sldId id="435" r:id="rId9"/>
    <p:sldId id="439" r:id="rId10"/>
    <p:sldId id="464" r:id="rId11"/>
    <p:sldId id="465" r:id="rId12"/>
    <p:sldId id="466" r:id="rId13"/>
    <p:sldId id="444" r:id="rId14"/>
    <p:sldId id="445" r:id="rId15"/>
    <p:sldId id="470" r:id="rId16"/>
    <p:sldId id="449" r:id="rId17"/>
    <p:sldId id="447" r:id="rId18"/>
    <p:sldId id="448" r:id="rId19"/>
    <p:sldId id="450" r:id="rId20"/>
    <p:sldId id="452" r:id="rId21"/>
    <p:sldId id="453" r:id="rId22"/>
    <p:sldId id="454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4CC3AC-4D46-B044-8BB4-5CDDD65A8576}" v="43" dt="2023-08-30T02:11:52.1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 autoAdjust="0"/>
    <p:restoredTop sz="94748" autoAdjust="0"/>
  </p:normalViewPr>
  <p:slideViewPr>
    <p:cSldViewPr>
      <p:cViewPr varScale="1">
        <p:scale>
          <a:sx n="114" d="100"/>
          <a:sy n="114" d="100"/>
        </p:scale>
        <p:origin x="175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854ED97B-D7CB-554A-8035-BC567EBB73DF}"/>
    <pc:docChg chg="delSld modSld">
      <pc:chgData name="Raghunath Tewari" userId="2638bdda-d406-4938-a2a6-e4e967acb772" providerId="ADAL" clId="{854ED97B-D7CB-554A-8035-BC567EBB73DF}" dt="2021-02-07T05:48:34.145" v="22" actId="20577"/>
      <pc:docMkLst>
        <pc:docMk/>
      </pc:docMkLst>
      <pc:sldChg chg="modSp mod">
        <pc:chgData name="Raghunath Tewari" userId="2638bdda-d406-4938-a2a6-e4e967acb772" providerId="ADAL" clId="{854ED97B-D7CB-554A-8035-BC567EBB73DF}" dt="2021-02-07T04:46:58.760" v="15" actId="20577"/>
        <pc:sldMkLst>
          <pc:docMk/>
          <pc:sldMk cId="3606151682" sldId="438"/>
        </pc:sldMkLst>
        <pc:spChg chg="mod">
          <ac:chgData name="Raghunath Tewari" userId="2638bdda-d406-4938-a2a6-e4e967acb772" providerId="ADAL" clId="{854ED97B-D7CB-554A-8035-BC567EBB73DF}" dt="2021-02-07T04:46:58.760" v="15" actId="20577"/>
          <ac:spMkLst>
            <pc:docMk/>
            <pc:sldMk cId="3606151682" sldId="438"/>
            <ac:spMk id="2" creationId="{00000000-0000-0000-0000-000000000000}"/>
          </ac:spMkLst>
        </pc:spChg>
      </pc:sldChg>
      <pc:sldChg chg="modSp modAnim">
        <pc:chgData name="Raghunath Tewari" userId="2638bdda-d406-4938-a2a6-e4e967acb772" providerId="ADAL" clId="{854ED97B-D7CB-554A-8035-BC567EBB73DF}" dt="2021-02-07T05:48:34.145" v="22" actId="20577"/>
        <pc:sldMkLst>
          <pc:docMk/>
          <pc:sldMk cId="4223992995" sldId="450"/>
        </pc:sldMkLst>
        <pc:spChg chg="mod">
          <ac:chgData name="Raghunath Tewari" userId="2638bdda-d406-4938-a2a6-e4e967acb772" providerId="ADAL" clId="{854ED97B-D7CB-554A-8035-BC567EBB73DF}" dt="2021-02-07T05:48:34.145" v="22" actId="20577"/>
          <ac:spMkLst>
            <pc:docMk/>
            <pc:sldMk cId="4223992995" sldId="450"/>
            <ac:spMk id="3" creationId="{00000000-0000-0000-0000-000000000000}"/>
          </ac:spMkLst>
        </pc:spChg>
      </pc:sldChg>
      <pc:sldChg chg="modSp mod modAnim">
        <pc:chgData name="Raghunath Tewari" userId="2638bdda-d406-4938-a2a6-e4e967acb772" providerId="ADAL" clId="{854ED97B-D7CB-554A-8035-BC567EBB73DF}" dt="2021-02-07T05:06:44.999" v="21" actId="20577"/>
        <pc:sldMkLst>
          <pc:docMk/>
          <pc:sldMk cId="819068907" sldId="451"/>
        </pc:sldMkLst>
        <pc:spChg chg="mod">
          <ac:chgData name="Raghunath Tewari" userId="2638bdda-d406-4938-a2a6-e4e967acb772" providerId="ADAL" clId="{854ED97B-D7CB-554A-8035-BC567EBB73DF}" dt="2021-02-06T13:34:00.990" v="5" actId="20577"/>
          <ac:spMkLst>
            <pc:docMk/>
            <pc:sldMk cId="819068907" sldId="451"/>
            <ac:spMk id="2" creationId="{00000000-0000-0000-0000-000000000000}"/>
          </ac:spMkLst>
        </pc:spChg>
        <pc:spChg chg="mod">
          <ac:chgData name="Raghunath Tewari" userId="2638bdda-d406-4938-a2a6-e4e967acb772" providerId="ADAL" clId="{854ED97B-D7CB-554A-8035-BC567EBB73DF}" dt="2021-02-07T05:06:44.999" v="21" actId="20577"/>
          <ac:spMkLst>
            <pc:docMk/>
            <pc:sldMk cId="819068907" sldId="451"/>
            <ac:spMk id="3" creationId="{00000000-0000-0000-0000-000000000000}"/>
          </ac:spMkLst>
        </pc:spChg>
      </pc:sldChg>
      <pc:sldChg chg="del">
        <pc:chgData name="Raghunath Tewari" userId="2638bdda-d406-4938-a2a6-e4e967acb772" providerId="ADAL" clId="{854ED97B-D7CB-554A-8035-BC567EBB73DF}" dt="2021-02-07T05:02:56.055" v="17" actId="2696"/>
        <pc:sldMkLst>
          <pc:docMk/>
          <pc:sldMk cId="2148485716" sldId="455"/>
        </pc:sldMkLst>
      </pc:sldChg>
      <pc:sldChg chg="del">
        <pc:chgData name="Raghunath Tewari" userId="2638bdda-d406-4938-a2a6-e4e967acb772" providerId="ADAL" clId="{854ED97B-D7CB-554A-8035-BC567EBB73DF}" dt="2021-02-07T05:02:55.364" v="16" actId="2696"/>
        <pc:sldMkLst>
          <pc:docMk/>
          <pc:sldMk cId="2374298720" sldId="462"/>
        </pc:sldMkLst>
      </pc:sldChg>
      <pc:sldChg chg="del">
        <pc:chgData name="Raghunath Tewari" userId="2638bdda-d406-4938-a2a6-e4e967acb772" providerId="ADAL" clId="{854ED97B-D7CB-554A-8035-BC567EBB73DF}" dt="2021-02-07T05:02:56.511" v="18" actId="2696"/>
        <pc:sldMkLst>
          <pc:docMk/>
          <pc:sldMk cId="2672659980" sldId="467"/>
        </pc:sldMkLst>
      </pc:sldChg>
      <pc:sldChg chg="del">
        <pc:chgData name="Raghunath Tewari" userId="2638bdda-d406-4938-a2a6-e4e967acb772" providerId="ADAL" clId="{854ED97B-D7CB-554A-8035-BC567EBB73DF}" dt="2021-02-07T05:03:03.515" v="19" actId="2696"/>
        <pc:sldMkLst>
          <pc:docMk/>
          <pc:sldMk cId="1402805495" sldId="468"/>
        </pc:sldMkLst>
      </pc:sldChg>
      <pc:sldChg chg="del">
        <pc:chgData name="Raghunath Tewari" userId="2638bdda-d406-4938-a2a6-e4e967acb772" providerId="ADAL" clId="{854ED97B-D7CB-554A-8035-BC567EBB73DF}" dt="2021-02-07T05:05:01.057" v="20" actId="2696"/>
        <pc:sldMkLst>
          <pc:docMk/>
          <pc:sldMk cId="3210878246" sldId="469"/>
        </pc:sldMkLst>
      </pc:sldChg>
    </pc:docChg>
  </pc:docChgLst>
  <pc:docChgLst>
    <pc:chgData name="Raghunath Tewari" userId="2638bdda-d406-4938-a2a6-e4e967acb772" providerId="ADAL" clId="{834CC3AC-4D46-B044-8BB4-5CDDD65A8576}"/>
    <pc:docChg chg="undo custSel modSld">
      <pc:chgData name="Raghunath Tewari" userId="2638bdda-d406-4938-a2a6-e4e967acb772" providerId="ADAL" clId="{834CC3AC-4D46-B044-8BB4-5CDDD65A8576}" dt="2023-08-30T02:12:08.190" v="54" actId="478"/>
      <pc:docMkLst>
        <pc:docMk/>
      </pc:docMkLst>
      <pc:sldChg chg="addSp delSp modSp mod modAnim">
        <pc:chgData name="Raghunath Tewari" userId="2638bdda-d406-4938-a2a6-e4e967acb772" providerId="ADAL" clId="{834CC3AC-4D46-B044-8BB4-5CDDD65A8576}" dt="2023-08-30T02:12:08.190" v="54" actId="478"/>
        <pc:sldMkLst>
          <pc:docMk/>
          <pc:sldMk cId="4116080685" sldId="432"/>
        </pc:sldMkLst>
        <pc:spChg chg="mod">
          <ac:chgData name="Raghunath Tewari" userId="2638bdda-d406-4938-a2a6-e4e967acb772" providerId="ADAL" clId="{834CC3AC-4D46-B044-8BB4-5CDDD65A8576}" dt="2023-08-30T02:08:34.945" v="28" actId="167"/>
          <ac:spMkLst>
            <pc:docMk/>
            <pc:sldMk cId="4116080685" sldId="432"/>
            <ac:spMk id="2" creationId="{00000000-0000-0000-0000-000000000000}"/>
          </ac:spMkLst>
        </pc:spChg>
        <pc:spChg chg="mod">
          <ac:chgData name="Raghunath Tewari" userId="2638bdda-d406-4938-a2a6-e4e967acb772" providerId="ADAL" clId="{834CC3AC-4D46-B044-8BB4-5CDDD65A8576}" dt="2023-08-30T02:08:40.273" v="29" actId="167"/>
          <ac:spMkLst>
            <pc:docMk/>
            <pc:sldMk cId="4116080685" sldId="432"/>
            <ac:spMk id="3" creationId="{00000000-0000-0000-0000-000000000000}"/>
          </ac:spMkLst>
        </pc:spChg>
        <pc:spChg chg="add del mod">
          <ac:chgData name="Raghunath Tewari" userId="2638bdda-d406-4938-a2a6-e4e967acb772" providerId="ADAL" clId="{834CC3AC-4D46-B044-8BB4-5CDDD65A8576}" dt="2023-08-30T02:12:08.190" v="54" actId="478"/>
          <ac:spMkLst>
            <pc:docMk/>
            <pc:sldMk cId="4116080685" sldId="432"/>
            <ac:spMk id="5" creationId="{8E247D76-D702-5C7C-8C33-9ED1EA45FDA4}"/>
          </ac:spMkLst>
        </pc:spChg>
      </pc:sldChg>
    </pc:docChg>
  </pc:docChgLst>
  <pc:docChgLst>
    <pc:chgData name="Raghunath Tewari" userId="2638bdda-d406-4938-a2a6-e4e967acb772" providerId="ADAL" clId="{42D41978-5F2F-7B46-AC13-72FA04F3D4EF}"/>
    <pc:docChg chg="modSld">
      <pc:chgData name="Raghunath Tewari" userId="2638bdda-d406-4938-a2a6-e4e967acb772" providerId="ADAL" clId="{42D41978-5F2F-7B46-AC13-72FA04F3D4EF}" dt="2020-02-04T10:03:06.147" v="1"/>
      <pc:docMkLst>
        <pc:docMk/>
      </pc:docMkLst>
      <pc:sldChg chg="modTransition">
        <pc:chgData name="Raghunath Tewari" userId="2638bdda-d406-4938-a2a6-e4e967acb772" providerId="ADAL" clId="{42D41978-5F2F-7B46-AC13-72FA04F3D4EF}" dt="2020-02-04T10:03:06.147" v="1"/>
        <pc:sldMkLst>
          <pc:docMk/>
          <pc:sldMk cId="3210878246" sldId="4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9/1/25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9/1/25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9/1/25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9/1/25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9/1/25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9/1/25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9/1/25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9/1/25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9/1/25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9/1/25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9/1/25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9/1/25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9/1/25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8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Structures and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002060"/>
                </a:solidFill>
              </a:rPr>
              <a:t>(</a:t>
            </a:r>
            <a:r>
              <a:rPr lang="en-US" sz="2700" b="1" dirty="0">
                <a:solidFill>
                  <a:srgbClr val="7030A0"/>
                </a:solidFill>
              </a:rPr>
              <a:t>ESO207</a:t>
            </a:r>
            <a:r>
              <a:rPr lang="en-US" sz="2700" dirty="0">
                <a:solidFill>
                  <a:srgbClr val="002060"/>
                </a:solidFill>
              </a:rPr>
              <a:t>)</a:t>
            </a:r>
            <a:br>
              <a:rPr lang="en-US" sz="2700" dirty="0">
                <a:solidFill>
                  <a:srgbClr val="002060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495800"/>
            <a:ext cx="7924800" cy="14478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Lecture 14:</a:t>
            </a: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800" b="1" dirty="0">
                <a:solidFill>
                  <a:srgbClr val="7030A0"/>
                </a:solidFill>
              </a:rPr>
              <a:t>Algorithm paradigms</a:t>
            </a: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800" b="1" dirty="0">
                <a:solidFill>
                  <a:schemeClr val="tx1"/>
                </a:solidFill>
              </a:rPr>
              <a:t>Algorithm paradigm of </a:t>
            </a:r>
            <a:r>
              <a:rPr lang="en-US" sz="1800" b="1" dirty="0">
                <a:solidFill>
                  <a:srgbClr val="7030A0"/>
                </a:solidFill>
              </a:rPr>
              <a:t>Divide and Conquer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068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Algorithm Paradigms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736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Algorithm Paradigm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Motivation:</a:t>
            </a:r>
          </a:p>
          <a:p>
            <a:r>
              <a:rPr lang="en-US" sz="2000" dirty="0"/>
              <a:t>Many problems whose algorithms are based on a </a:t>
            </a:r>
            <a:r>
              <a:rPr lang="en-US" sz="2000" u="sng" dirty="0"/>
              <a:t>common approach</a:t>
            </a:r>
            <a:r>
              <a:rPr lang="en-US" sz="2000" dirty="0"/>
              <a:t>. </a:t>
            </a:r>
          </a:p>
          <a:p>
            <a:r>
              <a:rPr lang="en-US" sz="2000" dirty="0"/>
              <a:t>A need of a </a:t>
            </a:r>
            <a:r>
              <a:rPr lang="en-US" sz="2000" u="sng" dirty="0"/>
              <a:t>systematic study</a:t>
            </a:r>
            <a:r>
              <a:rPr lang="en-US" sz="2000" dirty="0"/>
              <a:t> of such widely used approaches.</a:t>
            </a: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Algorithm Paradigms: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Divide and Conquer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b="1" dirty="0">
                <a:solidFill>
                  <a:srgbClr val="0070C0"/>
                </a:solidFill>
              </a:rPr>
              <a:t>Greedy Strategy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Dynamic Programming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Local Search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Exhaustive Search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80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Divide and Conquer </a:t>
            </a:r>
            <a:r>
              <a:rPr lang="en-US" sz="3600" b="1" dirty="0"/>
              <a:t>paradigm for Algorithm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56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Divide and Conquer paradigm</a:t>
            </a:r>
            <a:br>
              <a:rPr lang="en-US" sz="3200" b="1" dirty="0"/>
            </a:br>
            <a:r>
              <a:rPr lang="en-US" sz="3200" b="1" dirty="0">
                <a:solidFill>
                  <a:srgbClr val="7030A0"/>
                </a:solidFill>
              </a:rPr>
              <a:t>An Overview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8991600" cy="4525963"/>
          </a:xfrm>
        </p:spPr>
        <p:txBody>
          <a:bodyPr/>
          <a:lstStyle/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 </a:t>
            </a:r>
            <a:r>
              <a:rPr lang="en-US" sz="2000" b="1" dirty="0">
                <a:solidFill>
                  <a:srgbClr val="C00000"/>
                </a:solidFill>
              </a:rPr>
              <a:t>Divide</a:t>
            </a:r>
            <a:r>
              <a:rPr lang="en-US" sz="2000" dirty="0"/>
              <a:t> the problem instance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 Solve each smaller instances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 </a:t>
            </a:r>
            <a:r>
              <a:rPr lang="en-US" sz="2000" b="1" dirty="0">
                <a:solidFill>
                  <a:srgbClr val="C00000"/>
                </a:solidFill>
              </a:rPr>
              <a:t>Combine</a:t>
            </a:r>
            <a:r>
              <a:rPr lang="en-US" sz="2000" dirty="0"/>
              <a:t> the solutions of the smaller instances </a:t>
            </a:r>
          </a:p>
          <a:p>
            <a:pPr marL="0" indent="0">
              <a:buNone/>
            </a:pPr>
            <a:r>
              <a:rPr lang="en-US" sz="2000" dirty="0"/>
              <a:t>         to get the solution of the original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 flipV="1">
            <a:off x="609600" y="3505200"/>
            <a:ext cx="1066800" cy="381000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668751" y="2754351"/>
            <a:ext cx="52694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into two or more instances  of the same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68751" y="3105090"/>
            <a:ext cx="43413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>
                <a:solidFill>
                  <a:srgbClr val="7030A0"/>
                </a:solidFill>
              </a:rPr>
              <a:t>recursively</a:t>
            </a:r>
            <a:r>
              <a:rPr lang="en-US" sz="2000" dirty="0">
                <a:solidFill>
                  <a:srgbClr val="7030A0"/>
                </a:solidFill>
              </a:rPr>
              <a:t> </a:t>
            </a:r>
            <a:r>
              <a:rPr lang="en-US" sz="2000" dirty="0"/>
              <a:t>(base case suitably defined).</a:t>
            </a:r>
          </a:p>
        </p:txBody>
      </p:sp>
      <p:sp>
        <p:nvSpPr>
          <p:cNvPr id="9" name="Line Callout 2 8"/>
          <p:cNvSpPr/>
          <p:nvPr/>
        </p:nvSpPr>
        <p:spPr>
          <a:xfrm>
            <a:off x="3429000" y="4953000"/>
            <a:ext cx="3962400" cy="762000"/>
          </a:xfrm>
          <a:prstGeom prst="borderCallout2">
            <a:avLst>
              <a:gd name="adj1" fmla="val 20570"/>
              <a:gd name="adj2" fmla="val -40"/>
              <a:gd name="adj3" fmla="val 18750"/>
              <a:gd name="adj4" fmla="val -16667"/>
              <a:gd name="adj5" fmla="val -133791"/>
              <a:gd name="adj6" fmla="val -4957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This is usually the main </a:t>
            </a:r>
            <a:r>
              <a:rPr lang="en-US" b="1" dirty="0">
                <a:solidFill>
                  <a:schemeClr val="tx1"/>
                </a:solidFill>
              </a:rPr>
              <a:t>nontrivial</a:t>
            </a:r>
            <a:r>
              <a:rPr lang="en-US" dirty="0">
                <a:solidFill>
                  <a:schemeClr val="tx1"/>
                </a:solidFill>
              </a:rPr>
              <a:t> step in the design of an algorithm using divide and conquer strategy</a:t>
            </a:r>
          </a:p>
        </p:txBody>
      </p:sp>
    </p:spTree>
    <p:extLst>
      <p:ext uri="{BB962C8B-B14F-4D97-AF65-F5344CB8AC3E}">
        <p14:creationId xmlns:p14="http://schemas.microsoft.com/office/powerpoint/2010/main" val="74471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7" grpId="0"/>
      <p:bldP spid="8" grpId="0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</a:rPr>
              <a:t>Example 1</a:t>
            </a: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Sorting</a:t>
            </a:r>
          </a:p>
        </p:txBody>
      </p:sp>
    </p:spTree>
    <p:extLst>
      <p:ext uri="{BB962C8B-B14F-4D97-AF65-F5344CB8AC3E}">
        <p14:creationId xmlns:p14="http://schemas.microsoft.com/office/powerpoint/2010/main" val="848228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 familiar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r>
                  <a:rPr lang="en-US" sz="2400" b="1" dirty="0"/>
                  <a:t>Merging two sorted arrays:</a:t>
                </a:r>
              </a:p>
              <a:p>
                <a:pPr marL="0" indent="0">
                  <a:buNone/>
                </a:pPr>
                <a:r>
                  <a:rPr lang="en-US" sz="2000" dirty="0"/>
                  <a:t>Given two sorted arrays </a:t>
                </a:r>
                <a:r>
                  <a:rPr lang="en-US" sz="2000" b="1" dirty="0"/>
                  <a:t>A </a:t>
                </a:r>
                <a:r>
                  <a:rPr lang="en-US" sz="2000" dirty="0"/>
                  <a:t>and</a:t>
                </a:r>
                <a:r>
                  <a:rPr lang="en-US" sz="2000" b="1" dirty="0"/>
                  <a:t> B</a:t>
                </a:r>
                <a:r>
                  <a:rPr lang="en-US" sz="2000" dirty="0"/>
                  <a:t> storing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elements each, Design an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time algorithm to output a sorted array </a:t>
                </a:r>
                <a:r>
                  <a:rPr lang="en-US" sz="2000" b="1" dirty="0"/>
                  <a:t>C</a:t>
                </a:r>
                <a:r>
                  <a:rPr lang="en-US" sz="2000" dirty="0"/>
                  <a:t> containing all elements of </a:t>
                </a:r>
                <a:r>
                  <a:rPr lang="en-US" sz="2000" b="1" dirty="0"/>
                  <a:t>A </a:t>
                </a:r>
                <a:r>
                  <a:rPr lang="en-US" sz="2000" dirty="0"/>
                  <a:t>and</a:t>
                </a:r>
                <a:r>
                  <a:rPr lang="en-US" sz="2000" b="1" dirty="0"/>
                  <a:t> B</a:t>
                </a:r>
                <a:r>
                  <a:rPr lang="en-US" sz="2000" dirty="0"/>
                  <a:t>. 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Example: </a:t>
                </a:r>
                <a:r>
                  <a:rPr lang="en-US" sz="2000" dirty="0"/>
                  <a:t>If </a:t>
                </a:r>
                <a:r>
                  <a:rPr lang="en-US" sz="2000" b="1" dirty="0"/>
                  <a:t>A</a:t>
                </a:r>
                <a:r>
                  <a:rPr lang="en-US" sz="2000" dirty="0"/>
                  <a:t>={</a:t>
                </a:r>
                <a:r>
                  <a:rPr lang="en-US" sz="2000" dirty="0">
                    <a:solidFill>
                      <a:srgbClr val="0070C0"/>
                    </a:solidFill>
                  </a:rPr>
                  <a:t>1,5,17,19} </a:t>
                </a:r>
                <a:r>
                  <a:rPr lang="en-US" sz="2000" b="1" dirty="0"/>
                  <a:t>B=</a:t>
                </a:r>
                <a:r>
                  <a:rPr lang="en-US" sz="2000" dirty="0">
                    <a:solidFill>
                      <a:srgbClr val="0070C0"/>
                    </a:solidFill>
                  </a:rPr>
                  <a:t>{4,7,9,13</a:t>
                </a:r>
                <a:r>
                  <a:rPr lang="en-US" sz="2000" dirty="0"/>
                  <a:t>}, then output is 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C</a:t>
                </a:r>
                <a:r>
                  <a:rPr lang="en-US" sz="2000" dirty="0"/>
                  <a:t>={</a:t>
                </a:r>
                <a:r>
                  <a:rPr lang="en-US" sz="2000" dirty="0">
                    <a:solidFill>
                      <a:srgbClr val="0070C0"/>
                    </a:solidFill>
                  </a:rPr>
                  <a:t>1,4,5,7,9,13,17,19</a:t>
                </a:r>
                <a:r>
                  <a:rPr lang="en-US" sz="2000" dirty="0"/>
                  <a:t>}. 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078" r="-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51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5115786" y="2357735"/>
            <a:ext cx="2656614" cy="461665"/>
            <a:chOff x="5115786" y="2357735"/>
            <a:chExt cx="2656614" cy="461665"/>
          </a:xfrm>
        </p:grpSpPr>
        <p:grpSp>
          <p:nvGrpSpPr>
            <p:cNvPr id="17" name="Group 16"/>
            <p:cNvGrpSpPr/>
            <p:nvPr/>
          </p:nvGrpSpPr>
          <p:grpSpPr>
            <a:xfrm>
              <a:off x="5562600" y="2362200"/>
              <a:ext cx="2209800" cy="457200"/>
              <a:chOff x="5562600" y="2362200"/>
              <a:chExt cx="2209800" cy="457200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5562600" y="2362200"/>
                <a:ext cx="2209800" cy="4572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" name="Straight Connector 11"/>
              <p:cNvCxnSpPr/>
              <p:nvPr/>
            </p:nvCxnSpPr>
            <p:spPr>
              <a:xfrm>
                <a:off x="6705600" y="23622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7239000" y="23622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6096000" y="23622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TextBox 39"/>
            <p:cNvSpPr txBox="1"/>
            <p:nvPr/>
          </p:nvSpPr>
          <p:spPr>
            <a:xfrm>
              <a:off x="5115786" y="2357735"/>
              <a:ext cx="3706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B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838200" y="2357735"/>
            <a:ext cx="2819400" cy="461665"/>
            <a:chOff x="838200" y="2357735"/>
            <a:chExt cx="2819400" cy="461665"/>
          </a:xfrm>
        </p:grpSpPr>
        <p:grpSp>
          <p:nvGrpSpPr>
            <p:cNvPr id="16" name="Group 15"/>
            <p:cNvGrpSpPr/>
            <p:nvPr/>
          </p:nvGrpSpPr>
          <p:grpSpPr>
            <a:xfrm>
              <a:off x="1447800" y="2362200"/>
              <a:ext cx="2209800" cy="457200"/>
              <a:chOff x="1447800" y="2362200"/>
              <a:chExt cx="2209800" cy="457200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1447800" y="2362200"/>
                <a:ext cx="2209800" cy="4572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590800" y="23622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3124200" y="23622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1981200" y="23622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TextBox 37"/>
            <p:cNvSpPr txBox="1"/>
            <p:nvPr/>
          </p:nvSpPr>
          <p:spPr>
            <a:xfrm>
              <a:off x="838200" y="2357735"/>
              <a:ext cx="3706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A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Merging</a:t>
            </a:r>
            <a:r>
              <a:rPr lang="en-US" sz="3600" b="1" dirty="0"/>
              <a:t> two sorted arrays A and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pSp>
        <p:nvGrpSpPr>
          <p:cNvPr id="27" name="Group 26"/>
          <p:cNvGrpSpPr/>
          <p:nvPr/>
        </p:nvGrpSpPr>
        <p:grpSpPr>
          <a:xfrm>
            <a:off x="2514600" y="4191000"/>
            <a:ext cx="4343400" cy="457200"/>
            <a:chOff x="3581400" y="4191000"/>
            <a:chExt cx="4343400" cy="457200"/>
          </a:xfrm>
        </p:grpSpPr>
        <p:grpSp>
          <p:nvGrpSpPr>
            <p:cNvPr id="18" name="Group 17"/>
            <p:cNvGrpSpPr/>
            <p:nvPr/>
          </p:nvGrpSpPr>
          <p:grpSpPr>
            <a:xfrm>
              <a:off x="3581400" y="4191000"/>
              <a:ext cx="4343400" cy="457200"/>
              <a:chOff x="1447800" y="2362200"/>
              <a:chExt cx="4343400" cy="457200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1447800" y="2362200"/>
                <a:ext cx="4343400" cy="4572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/>
              <p:cNvCxnSpPr/>
              <p:nvPr/>
            </p:nvCxnSpPr>
            <p:spPr>
              <a:xfrm>
                <a:off x="2590800" y="23622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3124200" y="23622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1981200" y="23622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" name="Straight Connector 22"/>
            <p:cNvCxnSpPr/>
            <p:nvPr/>
          </p:nvCxnSpPr>
          <p:spPr>
            <a:xfrm>
              <a:off x="5791200" y="4191000"/>
              <a:ext cx="0" cy="457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6324600" y="4191000"/>
              <a:ext cx="0" cy="457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6858000" y="4191000"/>
              <a:ext cx="0" cy="457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7391400" y="4191000"/>
              <a:ext cx="0" cy="457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/>
          <p:cNvSpPr txBox="1"/>
          <p:nvPr/>
        </p:nvSpPr>
        <p:spPr>
          <a:xfrm>
            <a:off x="1600200" y="2362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33600" y="2373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245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61114" y="2438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1514" y="2438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67000" y="2373868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17     19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38800" y="2438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1600200" y="1905000"/>
            <a:ext cx="301686" cy="4688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own Arrow 36"/>
          <p:cNvSpPr/>
          <p:nvPr/>
        </p:nvSpPr>
        <p:spPr>
          <a:xfrm>
            <a:off x="5641914" y="1905000"/>
            <a:ext cx="301686" cy="4688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2090228" y="411480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13114" y="4202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90800" y="4202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4191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67000" y="2362200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13" y="4191000"/>
            <a:ext cx="144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7       9        13</a:t>
            </a:r>
          </a:p>
        </p:txBody>
      </p:sp>
    </p:spTree>
    <p:extLst>
      <p:ext uri="{BB962C8B-B14F-4D97-AF65-F5344CB8AC3E}">
        <p14:creationId xmlns:p14="http://schemas.microsoft.com/office/powerpoint/2010/main" val="2473132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4.44444E-6 L 0.04184 -0.0007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3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4.44444E-6 L 0.05816 -0.0007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99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84 -0.0007 L 0.10851 -0.0007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816 -0.0007 L 0.24166 4.44444E-6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67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3.7037E-6 L 0.34983 0.27314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83" y="13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8" grpId="0"/>
      <p:bldP spid="29" grpId="0"/>
      <p:bldP spid="31" grpId="0"/>
      <p:bldP spid="32" grpId="0"/>
      <p:bldP spid="33" grpId="0"/>
      <p:bldP spid="34" grpId="0"/>
      <p:bldP spid="35" grpId="0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45" grpId="0"/>
      <p:bldP spid="46" grpId="0"/>
      <p:bldP spid="47" grpId="0"/>
      <p:bldP spid="48" grpId="0"/>
      <p:bldP spid="48" grpId="1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Pesudo</a:t>
            </a:r>
            <a:r>
              <a:rPr lang="en-US" sz="3200" b="1" dirty="0"/>
              <a:t>-code for Merging two sorted arrays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Merge</a:t>
                </a:r>
                <a:r>
                  <a:rPr lang="en-US" sz="2000" dirty="0"/>
                  <a:t>(</a:t>
                </a:r>
                <a:r>
                  <a:rPr lang="en-US" sz="2000" b="1" dirty="0"/>
                  <a:t>A</a:t>
                </a:r>
                <a:r>
                  <a:rPr lang="en-US" sz="2000" dirty="0"/>
                  <a:t>[</a:t>
                </a:r>
                <a:r>
                  <a:rPr lang="en-US" sz="2000" dirty="0">
                    <a:solidFill>
                      <a:srgbClr val="0070C0"/>
                    </a:solidFill>
                  </a:rPr>
                  <a:t>0</a:t>
                </a:r>
                <a:r>
                  <a:rPr lang="en-US" sz="2000" dirty="0"/>
                  <a:t>..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-1</a:t>
                </a:r>
                <a:r>
                  <a:rPr lang="en-US" sz="2000" dirty="0"/>
                  <a:t>],</a:t>
                </a:r>
                <a:r>
                  <a:rPr lang="en-US" sz="2000" b="1" dirty="0"/>
                  <a:t>B</a:t>
                </a:r>
                <a:r>
                  <a:rPr lang="en-US" sz="2000" dirty="0"/>
                  <a:t>[</a:t>
                </a:r>
                <a:r>
                  <a:rPr lang="en-US" sz="2000" dirty="0">
                    <a:solidFill>
                      <a:srgbClr val="0070C0"/>
                    </a:solidFill>
                  </a:rPr>
                  <a:t>0</a:t>
                </a:r>
                <a:r>
                  <a:rPr lang="en-US" sz="2000" dirty="0"/>
                  <a:t>..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-1</a:t>
                </a:r>
                <a:r>
                  <a:rPr lang="en-US" sz="2000" dirty="0"/>
                  <a:t>], </a:t>
                </a:r>
                <a:r>
                  <a:rPr lang="en-US" sz="2000" b="1" dirty="0"/>
                  <a:t>C</a:t>
                </a:r>
                <a:r>
                  <a:rPr lang="en-US" sz="2000" dirty="0"/>
                  <a:t>)    </a:t>
                </a:r>
                <a:r>
                  <a:rPr lang="en-US" sz="2000" dirty="0">
                    <a:solidFill>
                      <a:srgbClr val="7030A0"/>
                    </a:solidFill>
                  </a:rPr>
                  <a:t>// </a:t>
                </a:r>
                <a:r>
                  <a:rPr lang="en-US" sz="1800" dirty="0">
                    <a:solidFill>
                      <a:srgbClr val="7030A0"/>
                    </a:solidFill>
                  </a:rPr>
                  <a:t>Merging two sorted arrays </a:t>
                </a:r>
                <a:r>
                  <a:rPr lang="en-US" sz="1800" b="1" dirty="0"/>
                  <a:t>A</a:t>
                </a:r>
                <a:r>
                  <a:rPr lang="en-US" sz="1800" dirty="0"/>
                  <a:t> </a:t>
                </a:r>
                <a:r>
                  <a:rPr lang="en-US" sz="1800" dirty="0">
                    <a:solidFill>
                      <a:srgbClr val="7030A0"/>
                    </a:solidFill>
                  </a:rPr>
                  <a:t>and</a:t>
                </a:r>
                <a:r>
                  <a:rPr lang="en-US" sz="1800" dirty="0"/>
                  <a:t> </a:t>
                </a:r>
                <a:r>
                  <a:rPr lang="en-US" sz="1800" b="1" dirty="0"/>
                  <a:t>B </a:t>
                </a:r>
                <a:r>
                  <a:rPr lang="en-US" sz="1800" dirty="0">
                    <a:solidFill>
                      <a:srgbClr val="7030A0"/>
                    </a:solidFill>
                  </a:rPr>
                  <a:t>into array </a:t>
                </a:r>
                <a:r>
                  <a:rPr lang="en-US" sz="1800" b="1" dirty="0"/>
                  <a:t>C.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{</a:t>
                </a:r>
                <a:r>
                  <a:rPr lang="en-US" sz="2000" dirty="0"/>
                  <a:t> </a:t>
                </a:r>
                <a:r>
                  <a:rPr lang="en-US" sz="2000" dirty="0">
                    <a:solidFill>
                      <a:srgbClr val="0070C0"/>
                    </a:solidFill>
                  </a:rPr>
                  <a:t> i</a:t>
                </a:r>
                <a:r>
                  <a:rPr lang="en-US" sz="2000" dirty="0">
                    <a:sym typeface="Wingdings" pitchFamily="2" charset="2"/>
                  </a:rPr>
                  <a:t>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0</a:t>
                </a:r>
                <a:r>
                  <a:rPr lang="en-US" sz="2000" dirty="0">
                    <a:sym typeface="Wingdings" pitchFamily="2" charset="2"/>
                  </a:rPr>
                  <a:t>; 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j</a:t>
                </a:r>
                <a:r>
                  <a:rPr lang="en-US" sz="2000" dirty="0">
                    <a:sym typeface="Wingdings" pitchFamily="2" charset="2"/>
                  </a:rPr>
                  <a:t>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0</a:t>
                </a:r>
                <a:r>
                  <a:rPr lang="en-US" sz="2000" dirty="0">
                    <a:sym typeface="Wingdings" pitchFamily="2" charset="2"/>
                  </a:rPr>
                  <a:t>; 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    k</a:t>
                </a:r>
                <a:r>
                  <a:rPr lang="en-US" sz="2000" dirty="0">
                    <a:sym typeface="Wingdings" pitchFamily="2" charset="2"/>
                  </a:rPr>
                  <a:t>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0</a:t>
                </a:r>
                <a:r>
                  <a:rPr lang="en-US" sz="20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</a:t>
                </a:r>
                <a:r>
                  <a:rPr lang="en-US" sz="2000" b="1" dirty="0">
                    <a:sym typeface="Wingdings" pitchFamily="2" charset="2"/>
                  </a:rPr>
                  <a:t>While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i</a:t>
                </a:r>
                <a:r>
                  <a:rPr lang="en-US" sz="2000" dirty="0">
                    <a:sym typeface="Wingdings" pitchFamily="2" charset="2"/>
                  </a:rPr>
                  <a:t>&lt;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𝑛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  and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j</a:t>
                </a:r>
                <a:r>
                  <a:rPr lang="en-US" sz="2000" dirty="0">
                    <a:sym typeface="Wingdings" pitchFamily="2" charset="2"/>
                  </a:rPr>
                  <a:t>&lt;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𝑚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{</a:t>
                </a:r>
                <a:r>
                  <a:rPr lang="en-US" sz="2000" dirty="0">
                    <a:sym typeface="Wingdings" pitchFamily="2" charset="2"/>
                  </a:rPr>
                  <a:t>        </a:t>
                </a:r>
                <a:r>
                  <a:rPr lang="en-US" sz="2000" b="1" dirty="0">
                    <a:sym typeface="Wingdings" pitchFamily="2" charset="2"/>
                  </a:rPr>
                  <a:t>If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ym typeface="Wingdings" pitchFamily="2" charset="2"/>
                  </a:rPr>
                  <a:t>A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i</a:t>
                </a:r>
                <a:r>
                  <a:rPr lang="en-US" sz="2000" dirty="0">
                    <a:sym typeface="Wingdings" pitchFamily="2" charset="2"/>
                  </a:rPr>
                  <a:t>]&lt; </a:t>
                </a:r>
                <a:r>
                  <a:rPr lang="en-US" sz="2000" b="1" dirty="0">
                    <a:sym typeface="Wingdings" pitchFamily="2" charset="2"/>
                  </a:rPr>
                  <a:t>B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j</a:t>
                </a:r>
                <a:r>
                  <a:rPr lang="en-US" sz="2000" dirty="0">
                    <a:sym typeface="Wingdings" pitchFamily="2" charset="2"/>
                  </a:rPr>
                  <a:t>]) </a:t>
                </a:r>
                <a:r>
                  <a:rPr lang="en-US" sz="2000" b="1" dirty="0">
                    <a:sym typeface="Wingdings" pitchFamily="2" charset="2"/>
                  </a:rPr>
                  <a:t>{                      </a:t>
                </a: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?</a:t>
                </a:r>
                <a:r>
                  <a:rPr lang="en-US" sz="2000" b="1" dirty="0">
                    <a:sym typeface="Wingdings" pitchFamily="2" charset="2"/>
                  </a:rPr>
                  <a:t>                      }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</a:t>
                </a:r>
                <a:r>
                  <a:rPr lang="en-US" sz="2000" b="1" dirty="0">
                    <a:sym typeface="Wingdings" pitchFamily="2" charset="2"/>
                  </a:rPr>
                  <a:t>Else                {                     </a:t>
                </a: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?</a:t>
                </a:r>
                <a:r>
                  <a:rPr lang="en-US" sz="2000" b="1" dirty="0">
                    <a:sym typeface="Wingdings" pitchFamily="2" charset="2"/>
                  </a:rPr>
                  <a:t>                      }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}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While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i</a:t>
                </a:r>
                <a:r>
                  <a:rPr lang="en-US" sz="2000" dirty="0">
                    <a:sym typeface="Wingdings" pitchFamily="2" charset="2"/>
                  </a:rPr>
                  <a:t>&lt;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𝑛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 </a:t>
                </a:r>
                <a:r>
                  <a:rPr lang="en-US" sz="2000" b="1" dirty="0">
                    <a:sym typeface="Wingdings" pitchFamily="2" charset="2"/>
                  </a:rPr>
                  <a:t>{  C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k</a:t>
                </a:r>
                <a:r>
                  <a:rPr lang="en-US" sz="2000" dirty="0">
                    <a:sym typeface="Wingdings" pitchFamily="2" charset="2"/>
                  </a:rPr>
                  <a:t>]  </a:t>
                </a:r>
                <a:r>
                  <a:rPr lang="en-US" sz="2000" b="1" dirty="0">
                    <a:sym typeface="Wingdings" pitchFamily="2" charset="2"/>
                  </a:rPr>
                  <a:t>A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i</a:t>
                </a:r>
                <a:r>
                  <a:rPr lang="en-US" sz="2000" dirty="0">
                    <a:sym typeface="Wingdings" pitchFamily="2" charset="2"/>
                  </a:rPr>
                  <a:t>];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k</a:t>
                </a:r>
                <a:r>
                  <a:rPr lang="en-US" sz="2000" dirty="0">
                    <a:sym typeface="Wingdings" pitchFamily="2" charset="2"/>
                  </a:rPr>
                  <a:t>++; 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i</a:t>
                </a:r>
                <a:r>
                  <a:rPr lang="en-US" sz="2000" dirty="0">
                    <a:sym typeface="Wingdings" pitchFamily="2" charset="2"/>
                  </a:rPr>
                  <a:t>++   </a:t>
                </a:r>
                <a:r>
                  <a:rPr lang="en-US" sz="2000" b="1" dirty="0">
                    <a:sym typeface="Wingdings" pitchFamily="2" charset="2"/>
                  </a:rPr>
                  <a:t>}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While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j</a:t>
                </a:r>
                <a:r>
                  <a:rPr lang="en-US" sz="2000" dirty="0">
                    <a:sym typeface="Wingdings" pitchFamily="2" charset="2"/>
                  </a:rPr>
                  <a:t>&lt;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𝑚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 </a:t>
                </a:r>
                <a:r>
                  <a:rPr lang="en-US" sz="2000" b="1" dirty="0">
                    <a:sym typeface="Wingdings" pitchFamily="2" charset="2"/>
                  </a:rPr>
                  <a:t>{  C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k</a:t>
                </a:r>
                <a:r>
                  <a:rPr lang="en-US" sz="2000" dirty="0">
                    <a:sym typeface="Wingdings" pitchFamily="2" charset="2"/>
                  </a:rPr>
                  <a:t>]  </a:t>
                </a:r>
                <a:r>
                  <a:rPr lang="en-US" sz="2000" b="1" dirty="0">
                    <a:sym typeface="Wingdings" pitchFamily="2" charset="2"/>
                  </a:rPr>
                  <a:t>B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j</a:t>
                </a:r>
                <a:r>
                  <a:rPr lang="en-US" sz="2000" dirty="0">
                    <a:sym typeface="Wingdings" pitchFamily="2" charset="2"/>
                  </a:rPr>
                  <a:t>];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k</a:t>
                </a:r>
                <a:r>
                  <a:rPr lang="en-US" sz="2000" dirty="0">
                    <a:sym typeface="Wingdings" pitchFamily="2" charset="2"/>
                  </a:rPr>
                  <a:t>++; 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j</a:t>
                </a:r>
                <a:r>
                  <a:rPr lang="en-US" sz="2000" dirty="0">
                    <a:sym typeface="Wingdings" pitchFamily="2" charset="2"/>
                  </a:rPr>
                  <a:t>++   </a:t>
                </a:r>
                <a:r>
                  <a:rPr lang="en-US" sz="2000" b="1" dirty="0">
                    <a:sym typeface="Wingdings" pitchFamily="2" charset="2"/>
                  </a:rPr>
                  <a:t>}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</a:t>
                </a:r>
                <a:r>
                  <a:rPr lang="en-US" sz="2000" dirty="0">
                    <a:sym typeface="Wingdings" pitchFamily="2" charset="2"/>
                  </a:rPr>
                  <a:t>return</a:t>
                </a:r>
                <a:r>
                  <a:rPr lang="en-US" sz="2000" b="1" dirty="0">
                    <a:sym typeface="Wingdings" pitchFamily="2" charset="2"/>
                  </a:rPr>
                  <a:t> C;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Down Ribbon 4"/>
              <p:cNvSpPr/>
              <p:nvPr/>
            </p:nvSpPr>
            <p:spPr>
              <a:xfrm>
                <a:off x="2895600" y="5715000"/>
                <a:ext cx="3048000" cy="990600"/>
              </a:xfrm>
              <a:prstGeom prst="ribbon">
                <a:avLst>
                  <a:gd name="adj1" fmla="val 16667"/>
                  <a:gd name="adj2" fmla="val 6982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Time Complexity = </a:t>
                </a:r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b="1" dirty="0" err="1">
                    <a:solidFill>
                      <a:srgbClr val="002060"/>
                    </a:solidFill>
                  </a:rPr>
                  <a:t>+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𝒎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5" name="Down Ribbon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5715000"/>
                <a:ext cx="3048000" cy="990600"/>
              </a:xfrm>
              <a:prstGeom prst="ribbon">
                <a:avLst>
                  <a:gd name="adj1" fmla="val 16667"/>
                  <a:gd name="adj2" fmla="val 69827"/>
                </a:avLst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439590" y="2052935"/>
            <a:ext cx="364381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Correctness : </a:t>
            </a:r>
            <a:r>
              <a:rPr lang="en-US" sz="2000" b="1" dirty="0">
                <a:solidFill>
                  <a:srgbClr val="006C31"/>
                </a:solidFill>
              </a:rPr>
              <a:t>homework </a:t>
            </a:r>
            <a:r>
              <a:rPr lang="en-US" sz="2000" dirty="0"/>
              <a:t>exercise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600" y="3048000"/>
            <a:ext cx="2122825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ym typeface="Wingdings" pitchFamily="2" charset="2"/>
              </a:rPr>
              <a:t>C</a:t>
            </a:r>
            <a:r>
              <a:rPr lang="en-US" dirty="0">
                <a:sym typeface="Wingdings" pitchFamily="2" charset="2"/>
              </a:rPr>
              <a:t>[</a:t>
            </a:r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k</a:t>
            </a:r>
            <a:r>
              <a:rPr lang="en-US" dirty="0">
                <a:sym typeface="Wingdings" pitchFamily="2" charset="2"/>
              </a:rPr>
              <a:t>]  </a:t>
            </a:r>
            <a:r>
              <a:rPr lang="en-US" b="1" dirty="0">
                <a:sym typeface="Wingdings" pitchFamily="2" charset="2"/>
              </a:rPr>
              <a:t>A</a:t>
            </a:r>
            <a:r>
              <a:rPr lang="en-US" dirty="0">
                <a:sym typeface="Wingdings" pitchFamily="2" charset="2"/>
              </a:rPr>
              <a:t>[</a:t>
            </a:r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i</a:t>
            </a:r>
            <a:r>
              <a:rPr lang="en-US" dirty="0">
                <a:sym typeface="Wingdings" pitchFamily="2" charset="2"/>
              </a:rPr>
              <a:t>]; </a:t>
            </a:r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k</a:t>
            </a:r>
            <a:r>
              <a:rPr lang="en-US" dirty="0">
                <a:sym typeface="Wingdings" pitchFamily="2" charset="2"/>
              </a:rPr>
              <a:t>++;  </a:t>
            </a:r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i</a:t>
            </a:r>
            <a:r>
              <a:rPr lang="en-US" dirty="0">
                <a:sym typeface="Wingdings" pitchFamily="2" charset="2"/>
              </a:rPr>
              <a:t>++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971800" y="3505200"/>
            <a:ext cx="2116413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ym typeface="Wingdings" pitchFamily="2" charset="2"/>
              </a:rPr>
              <a:t>C</a:t>
            </a:r>
            <a:r>
              <a:rPr lang="en-US" dirty="0">
                <a:sym typeface="Wingdings" pitchFamily="2" charset="2"/>
              </a:rPr>
              <a:t>[</a:t>
            </a:r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k</a:t>
            </a:r>
            <a:r>
              <a:rPr lang="en-US" dirty="0">
                <a:sym typeface="Wingdings" pitchFamily="2" charset="2"/>
              </a:rPr>
              <a:t>]  </a:t>
            </a:r>
            <a:r>
              <a:rPr lang="en-US" b="1" dirty="0">
                <a:sym typeface="Wingdings" pitchFamily="2" charset="2"/>
              </a:rPr>
              <a:t>B</a:t>
            </a:r>
            <a:r>
              <a:rPr lang="en-US" dirty="0">
                <a:sym typeface="Wingdings" pitchFamily="2" charset="2"/>
              </a:rPr>
              <a:t>[</a:t>
            </a:r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j</a:t>
            </a:r>
            <a:r>
              <a:rPr lang="en-US" dirty="0">
                <a:sym typeface="Wingdings" pitchFamily="2" charset="2"/>
              </a:rPr>
              <a:t>]; </a:t>
            </a:r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k</a:t>
            </a:r>
            <a:r>
              <a:rPr lang="en-US" dirty="0">
                <a:sym typeface="Wingdings" pitchFamily="2" charset="2"/>
              </a:rPr>
              <a:t>++;  </a:t>
            </a:r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j</a:t>
            </a:r>
            <a:r>
              <a:rPr lang="en-US" dirty="0">
                <a:sym typeface="Wingdings" pitchFamily="2" charset="2"/>
              </a:rPr>
              <a:t>++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3348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Divide and Conquer based sorting algorithm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419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 err="1">
                    <a:solidFill>
                      <a:srgbClr val="7030A0"/>
                    </a:solidFill>
                  </a:rPr>
                  <a:t>MSort</a:t>
                </a:r>
                <a:r>
                  <a:rPr lang="en-US" sz="2400" dirty="0"/>
                  <a:t>(</a:t>
                </a:r>
                <a:r>
                  <a:rPr lang="en-US" sz="2400" b="1" dirty="0" err="1"/>
                  <a:t>A</a:t>
                </a:r>
                <a:r>
                  <a:rPr lang="en-US" sz="2400" dirty="0" err="1"/>
                  <a:t>,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400" dirty="0" err="1"/>
                  <a:t>,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400" dirty="0"/>
                  <a:t>) </a:t>
                </a:r>
              </a:p>
              <a:p>
                <a:pPr marL="0" indent="0">
                  <a:buNone/>
                </a:pPr>
                <a:r>
                  <a:rPr lang="en-US" sz="2400" dirty="0"/>
                  <a:t>{</a:t>
                </a:r>
                <a:r>
                  <a:rPr lang="en-US" sz="1800" dirty="0"/>
                  <a:t>   </a:t>
                </a:r>
                <a:r>
                  <a:rPr lang="en-US" sz="2000" b="1" dirty="0"/>
                  <a:t>If</a:t>
                </a:r>
                <a:r>
                  <a:rPr lang="en-US" sz="2000" dirty="0"/>
                  <a:t> (     ?     )</a:t>
                </a:r>
              </a:p>
              <a:p>
                <a:pPr marL="0" indent="0">
                  <a:buNone/>
                </a:pPr>
                <a:r>
                  <a:rPr lang="en-US" sz="2000" dirty="0"/>
                  <a:t>    {   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mid</a:t>
                </a:r>
                <a:r>
                  <a:rPr lang="en-US" sz="2000" dirty="0">
                    <a:sym typeface="Wingdings" pitchFamily="2" charset="2"/>
                  </a:rPr>
                  <a:t>(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 sz="2000" dirty="0" err="1">
                    <a:sym typeface="Wingdings" pitchFamily="2" charset="2"/>
                  </a:rPr>
                  <a:t>+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)/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2</a:t>
                </a:r>
                <a:r>
                  <a:rPr lang="en-US" sz="20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</a:t>
                </a:r>
                <a:r>
                  <a:rPr lang="en-US" sz="2000" b="1" dirty="0" err="1">
                    <a:solidFill>
                      <a:srgbClr val="7030A0"/>
                    </a:solidFill>
                    <a:sym typeface="Wingdings" pitchFamily="2" charset="2"/>
                  </a:rPr>
                  <a:t>MSort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 err="1">
                    <a:sym typeface="Wingdings" pitchFamily="2" charset="2"/>
                  </a:rPr>
                  <a:t>A</a:t>
                </a:r>
                <a:r>
                  <a:rPr lang="en-US" sz="2000" dirty="0" err="1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 sz="2000" dirty="0" err="1">
                    <a:sym typeface="Wingdings" pitchFamily="2" charset="2"/>
                  </a:rPr>
                  <a:t>,</a:t>
                </a:r>
                <a:r>
                  <a:rPr lang="en-US" sz="2000" b="1" dirty="0" err="1">
                    <a:solidFill>
                      <a:srgbClr val="0070C0"/>
                    </a:solidFill>
                    <a:sym typeface="Wingdings" pitchFamily="2" charset="2"/>
                  </a:rPr>
                  <a:t>mid</a:t>
                </a:r>
                <a:r>
                  <a:rPr lang="en-US" sz="20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</a:t>
                </a:r>
                <a:r>
                  <a:rPr lang="en-US" sz="2000" b="1" dirty="0" err="1">
                    <a:solidFill>
                      <a:srgbClr val="7030A0"/>
                    </a:solidFill>
                    <a:sym typeface="Wingdings" pitchFamily="2" charset="2"/>
                  </a:rPr>
                  <a:t>MSort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ym typeface="Wingdings" pitchFamily="2" charset="2"/>
                  </a:rPr>
                  <a:t>A</a:t>
                </a:r>
                <a:r>
                  <a:rPr lang="en-US" sz="2000" dirty="0">
                    <a:sym typeface="Wingdings" pitchFamily="2" charset="2"/>
                  </a:rPr>
                  <a:t>,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mid</a:t>
                </a:r>
                <a:r>
                  <a:rPr lang="en-US" sz="2000" dirty="0">
                    <a:sym typeface="Wingdings" pitchFamily="2" charset="2"/>
                  </a:rPr>
                  <a:t>+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1</a:t>
                </a:r>
                <a:r>
                  <a:rPr lang="en-US" sz="2000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Create temporarily  </a:t>
                </a:r>
                <a:r>
                  <a:rPr lang="en-US" sz="2000" b="1" dirty="0">
                    <a:sym typeface="Wingdings" pitchFamily="2" charset="2"/>
                  </a:rPr>
                  <a:t>C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0</a:t>
                </a:r>
                <a:r>
                  <a:rPr lang="en-US" sz="2000" dirty="0">
                    <a:sym typeface="Wingdings" pitchFamily="2" charset="2"/>
                  </a:rPr>
                  <a:t>..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𝑗</m:t>
                    </m:r>
                    <m:r>
                      <a:rPr lang="en-US" sz="2000" i="1" dirty="0" smtClean="0">
                        <a:latin typeface="Cambria Math"/>
                        <a:sym typeface="Wingdings" pitchFamily="2" charset="2"/>
                      </a:rPr>
                      <m:t>−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</a:t>
                </a:r>
                <a:r>
                  <a:rPr lang="en-US" sz="2000" b="1" dirty="0">
                    <a:sym typeface="Wingdings" pitchFamily="2" charset="2"/>
                  </a:rPr>
                  <a:t>Merge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ym typeface="Wingdings" pitchFamily="2" charset="2"/>
                  </a:rPr>
                  <a:t>A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 sz="2000" dirty="0" err="1">
                    <a:sym typeface="Wingdings" pitchFamily="2" charset="2"/>
                  </a:rPr>
                  <a:t>..</a:t>
                </a:r>
                <a:r>
                  <a:rPr lang="en-US" sz="2000" b="1" dirty="0" err="1">
                    <a:solidFill>
                      <a:srgbClr val="0070C0"/>
                    </a:solidFill>
                    <a:sym typeface="Wingdings" pitchFamily="2" charset="2"/>
                  </a:rPr>
                  <a:t>mid</a:t>
                </a:r>
                <a:r>
                  <a:rPr lang="en-US" sz="2000" dirty="0">
                    <a:sym typeface="Wingdings" pitchFamily="2" charset="2"/>
                  </a:rPr>
                  <a:t>], </a:t>
                </a:r>
                <a:r>
                  <a:rPr lang="en-US" sz="2000" b="1" dirty="0">
                    <a:sym typeface="Wingdings" pitchFamily="2" charset="2"/>
                  </a:rPr>
                  <a:t>A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mid</a:t>
                </a:r>
                <a:r>
                  <a:rPr lang="en-US" sz="2000" dirty="0">
                    <a:sym typeface="Wingdings" pitchFamily="2" charset="2"/>
                  </a:rPr>
                  <a:t>+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1</a:t>
                </a:r>
                <a:r>
                  <a:rPr lang="en-US" sz="2000" dirty="0">
                    <a:sym typeface="Wingdings" pitchFamily="2" charset="2"/>
                  </a:rPr>
                  <a:t>..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𝑗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], C</a:t>
                </a:r>
                <a:r>
                  <a:rPr lang="en-US" sz="20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</a:t>
                </a:r>
                <a:r>
                  <a:rPr lang="en-US" sz="2000" i="1" dirty="0">
                    <a:sym typeface="Wingdings" pitchFamily="2" charset="2"/>
                  </a:rPr>
                  <a:t>Copy</a:t>
                </a:r>
                <a:r>
                  <a:rPr lang="en-US" sz="2000" dirty="0">
                    <a:sym typeface="Wingdings" pitchFamily="2" charset="2"/>
                  </a:rPr>
                  <a:t> </a:t>
                </a:r>
                <a:r>
                  <a:rPr lang="en-US" sz="2000" b="1" dirty="0">
                    <a:sym typeface="Wingdings" pitchFamily="2" charset="2"/>
                  </a:rPr>
                  <a:t>C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0</a:t>
                </a:r>
                <a:r>
                  <a:rPr lang="en-US" sz="2000" dirty="0">
                    <a:sym typeface="Wingdings" pitchFamily="2" charset="2"/>
                  </a:rPr>
                  <a:t>..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𝑗</m:t>
                    </m:r>
                    <m:r>
                      <a:rPr lang="en-US" sz="2000" i="1" dirty="0" smtClean="0">
                        <a:latin typeface="Cambria Math"/>
                        <a:sym typeface="Wingdings" pitchFamily="2" charset="2"/>
                      </a:rPr>
                      <m:t>−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  to </a:t>
                </a:r>
                <a:r>
                  <a:rPr lang="en-US" sz="2000" b="1" dirty="0">
                    <a:sym typeface="Wingdings" pitchFamily="2" charset="2"/>
                  </a:rPr>
                  <a:t>A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 sz="2000" dirty="0" err="1">
                    <a:sym typeface="Wingdings" pitchFamily="2" charset="2"/>
                  </a:rPr>
                  <a:t>..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}</a:t>
                </a:r>
                <a:r>
                  <a:rPr lang="en-US" sz="2000" dirty="0">
                    <a:sym typeface="Wingdings" pitchFamily="2" charset="2"/>
                  </a:rPr>
                  <a:t>         </a:t>
                </a: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419600" cy="4525963"/>
              </a:xfrm>
              <a:blipFill rotWithShape="1">
                <a:blip r:embed="rId2"/>
                <a:stretch>
                  <a:fillRect l="-2069" t="-10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ontent Placeholder 1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2964639" y="2514600"/>
            <a:ext cx="1454961" cy="1066800"/>
            <a:chOff x="2819400" y="2514600"/>
            <a:chExt cx="1454961" cy="1066800"/>
          </a:xfrm>
        </p:grpSpPr>
        <p:sp>
          <p:nvSpPr>
            <p:cNvPr id="5" name="Right Brace 4"/>
            <p:cNvSpPr/>
            <p:nvPr/>
          </p:nvSpPr>
          <p:spPr>
            <a:xfrm>
              <a:off x="2819400" y="2514600"/>
              <a:ext cx="231648" cy="1066800"/>
            </a:xfrm>
            <a:prstGeom prst="righ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048000" y="2895600"/>
              <a:ext cx="12263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</a:rPr>
                <a:t>Divide step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419600" y="3657600"/>
            <a:ext cx="2570973" cy="1066800"/>
            <a:chOff x="2819400" y="2514600"/>
            <a:chExt cx="2570973" cy="1066800"/>
          </a:xfrm>
        </p:grpSpPr>
        <p:sp>
          <p:nvSpPr>
            <p:cNvPr id="9" name="Right Brace 8"/>
            <p:cNvSpPr/>
            <p:nvPr/>
          </p:nvSpPr>
          <p:spPr>
            <a:xfrm>
              <a:off x="2819400" y="2514600"/>
              <a:ext cx="231648" cy="1066800"/>
            </a:xfrm>
            <a:prstGeom prst="righ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048000" y="2895600"/>
              <a:ext cx="23423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</a:rPr>
                <a:t>Combine/conquer step</a:t>
              </a:r>
            </a:p>
          </p:txBody>
        </p:sp>
      </p:grpSp>
      <p:sp>
        <p:nvSpPr>
          <p:cNvPr id="11" name="Down Ribbon 10"/>
          <p:cNvSpPr/>
          <p:nvPr/>
        </p:nvSpPr>
        <p:spPr>
          <a:xfrm>
            <a:off x="2895600" y="5715000"/>
            <a:ext cx="3048000" cy="990600"/>
          </a:xfrm>
          <a:prstGeom prst="ribbon">
            <a:avLst>
              <a:gd name="adj1" fmla="val 16667"/>
              <a:gd name="adj2" fmla="val 69827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This is </a:t>
            </a:r>
            <a:r>
              <a:rPr lang="en-US" b="1" dirty="0">
                <a:solidFill>
                  <a:srgbClr val="C00000"/>
                </a:solidFill>
              </a:rPr>
              <a:t>Merge Sort </a:t>
            </a:r>
            <a:r>
              <a:rPr lang="en-US" b="1" dirty="0">
                <a:solidFill>
                  <a:schemeClr val="tx1"/>
                </a:solidFill>
              </a:rPr>
              <a:t>algorithm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16018" y="2069068"/>
            <a:ext cx="46038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</a:t>
            </a:r>
            <a:r>
              <a:rPr lang="en-US" dirty="0"/>
              <a:t>&lt; </a:t>
            </a:r>
            <a:r>
              <a:rPr lang="en-US" dirty="0">
                <a:solidFill>
                  <a:srgbClr val="0070C0"/>
                </a:solidFill>
              </a:rPr>
              <a:t>j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133600" y="1676400"/>
                <a:ext cx="29905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// Sorting the </a:t>
                </a:r>
                <a:r>
                  <a:rPr lang="en-US" dirty="0" err="1">
                    <a:solidFill>
                      <a:srgbClr val="7030A0"/>
                    </a:solidFill>
                  </a:rPr>
                  <a:t>subarray</a:t>
                </a:r>
                <a:r>
                  <a:rPr lang="en-US" dirty="0">
                    <a:solidFill>
                      <a:srgbClr val="7030A0"/>
                    </a:solidFill>
                  </a:rPr>
                  <a:t> </a:t>
                </a:r>
                <a:r>
                  <a:rPr lang="en-US" b="1" dirty="0"/>
                  <a:t>A</a:t>
                </a:r>
                <a:r>
                  <a:rPr lang="en-US" dirty="0"/>
                  <a:t>[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 err="1"/>
                  <a:t>..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dirty="0"/>
                  <a:t>].</a:t>
                </a:r>
                <a:endParaRPr lang="en-IN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1676400"/>
                <a:ext cx="2990562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629" t="-8197" r="-2851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356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11" grpId="0" animBg="1"/>
      <p:bldP spid="12" grpId="0" animBg="1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Divide and Conquer based sorting algorithm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432412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 err="1">
                    <a:solidFill>
                      <a:srgbClr val="7030A0"/>
                    </a:solidFill>
                  </a:rPr>
                  <a:t>MSort</a:t>
                </a:r>
                <a:r>
                  <a:rPr lang="en-US" sz="2400" dirty="0"/>
                  <a:t>(</a:t>
                </a:r>
                <a:r>
                  <a:rPr lang="en-US" sz="2400" b="1" dirty="0" err="1"/>
                  <a:t>A</a:t>
                </a:r>
                <a:r>
                  <a:rPr lang="en-US" sz="2400" dirty="0" err="1"/>
                  <a:t>,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400" dirty="0" err="1"/>
                  <a:t>,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400" dirty="0"/>
                  <a:t>) </a:t>
                </a:r>
              </a:p>
              <a:p>
                <a:pPr marL="0" indent="0">
                  <a:buNone/>
                </a:pPr>
                <a:r>
                  <a:rPr lang="en-US" sz="2400" dirty="0"/>
                  <a:t>{</a:t>
                </a:r>
                <a:r>
                  <a:rPr lang="en-US" sz="1800" dirty="0"/>
                  <a:t>   </a:t>
                </a:r>
                <a:r>
                  <a:rPr lang="en-US" sz="2000" b="1" dirty="0"/>
                  <a:t>If</a:t>
                </a:r>
                <a:r>
                  <a:rPr lang="en-US" sz="2000" dirty="0"/>
                  <a:t> (     ?     )</a:t>
                </a:r>
              </a:p>
              <a:p>
                <a:pPr marL="0" indent="0">
                  <a:buNone/>
                </a:pPr>
                <a:r>
                  <a:rPr lang="en-US" sz="2000" dirty="0"/>
                  <a:t>    {   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mid</a:t>
                </a:r>
                <a:r>
                  <a:rPr lang="en-US" sz="2000" dirty="0">
                    <a:sym typeface="Wingdings" pitchFamily="2" charset="2"/>
                  </a:rPr>
                  <a:t>(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 sz="2000" dirty="0" err="1">
                    <a:sym typeface="Wingdings" pitchFamily="2" charset="2"/>
                  </a:rPr>
                  <a:t>+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)/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2</a:t>
                </a:r>
                <a:r>
                  <a:rPr lang="en-US" sz="20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</a:t>
                </a:r>
                <a:r>
                  <a:rPr lang="en-US" sz="2000" b="1" dirty="0" err="1">
                    <a:solidFill>
                      <a:srgbClr val="7030A0"/>
                    </a:solidFill>
                    <a:sym typeface="Wingdings" pitchFamily="2" charset="2"/>
                  </a:rPr>
                  <a:t>MSort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 err="1">
                    <a:sym typeface="Wingdings" pitchFamily="2" charset="2"/>
                  </a:rPr>
                  <a:t>A</a:t>
                </a:r>
                <a:r>
                  <a:rPr lang="en-US" sz="2000" dirty="0" err="1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 sz="2000" dirty="0" err="1">
                    <a:sym typeface="Wingdings" pitchFamily="2" charset="2"/>
                  </a:rPr>
                  <a:t>,</a:t>
                </a:r>
                <a:r>
                  <a:rPr lang="en-US" sz="2000" b="1" dirty="0" err="1">
                    <a:solidFill>
                      <a:srgbClr val="0070C0"/>
                    </a:solidFill>
                    <a:sym typeface="Wingdings" pitchFamily="2" charset="2"/>
                  </a:rPr>
                  <a:t>mid</a:t>
                </a:r>
                <a:r>
                  <a:rPr lang="en-US" sz="20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</a:t>
                </a:r>
                <a:r>
                  <a:rPr lang="en-US" sz="2000" b="1" dirty="0" err="1">
                    <a:solidFill>
                      <a:srgbClr val="7030A0"/>
                    </a:solidFill>
                    <a:sym typeface="Wingdings" pitchFamily="2" charset="2"/>
                  </a:rPr>
                  <a:t>MSort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ym typeface="Wingdings" pitchFamily="2" charset="2"/>
                  </a:rPr>
                  <a:t>A</a:t>
                </a:r>
                <a:r>
                  <a:rPr lang="en-US" sz="2000" dirty="0">
                    <a:sym typeface="Wingdings" pitchFamily="2" charset="2"/>
                  </a:rPr>
                  <a:t>,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mid</a:t>
                </a:r>
                <a:r>
                  <a:rPr lang="en-US" sz="2000" dirty="0">
                    <a:sym typeface="Wingdings" pitchFamily="2" charset="2"/>
                  </a:rPr>
                  <a:t>+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1</a:t>
                </a:r>
                <a:r>
                  <a:rPr lang="en-US" sz="2000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Create temporarily  </a:t>
                </a:r>
                <a:r>
                  <a:rPr lang="en-US" sz="2000" b="1" dirty="0">
                    <a:sym typeface="Wingdings" pitchFamily="2" charset="2"/>
                  </a:rPr>
                  <a:t>C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0</a:t>
                </a:r>
                <a:r>
                  <a:rPr lang="en-US" sz="2000" dirty="0">
                    <a:sym typeface="Wingdings" pitchFamily="2" charset="2"/>
                  </a:rPr>
                  <a:t>..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𝑗</m:t>
                    </m:r>
                    <m:r>
                      <a:rPr lang="en-US" sz="2000" i="1" dirty="0" smtClean="0">
                        <a:latin typeface="Cambria Math"/>
                        <a:sym typeface="Wingdings" pitchFamily="2" charset="2"/>
                      </a:rPr>
                      <m:t>−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</a:t>
                </a:r>
                <a:r>
                  <a:rPr lang="en-US" sz="2000" b="1" dirty="0">
                    <a:sym typeface="Wingdings" pitchFamily="2" charset="2"/>
                  </a:rPr>
                  <a:t>Merge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ym typeface="Wingdings" pitchFamily="2" charset="2"/>
                  </a:rPr>
                  <a:t>A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 sz="2000" dirty="0" err="1">
                    <a:sym typeface="Wingdings" pitchFamily="2" charset="2"/>
                  </a:rPr>
                  <a:t>..</a:t>
                </a:r>
                <a:r>
                  <a:rPr lang="en-US" sz="2000" b="1" dirty="0" err="1">
                    <a:solidFill>
                      <a:srgbClr val="0070C0"/>
                    </a:solidFill>
                    <a:sym typeface="Wingdings" pitchFamily="2" charset="2"/>
                  </a:rPr>
                  <a:t>mid</a:t>
                </a:r>
                <a:r>
                  <a:rPr lang="en-US" sz="2000" dirty="0">
                    <a:sym typeface="Wingdings" pitchFamily="2" charset="2"/>
                  </a:rPr>
                  <a:t>], </a:t>
                </a:r>
                <a:r>
                  <a:rPr lang="en-US" sz="2000" b="1" dirty="0">
                    <a:sym typeface="Wingdings" pitchFamily="2" charset="2"/>
                  </a:rPr>
                  <a:t>A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mid</a:t>
                </a:r>
                <a:r>
                  <a:rPr lang="en-US" sz="2000" dirty="0">
                    <a:sym typeface="Wingdings" pitchFamily="2" charset="2"/>
                  </a:rPr>
                  <a:t>+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1</a:t>
                </a:r>
                <a:r>
                  <a:rPr lang="en-US" sz="2000" dirty="0">
                    <a:sym typeface="Wingdings" pitchFamily="2" charset="2"/>
                  </a:rPr>
                  <a:t>..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𝑗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], C</a:t>
                </a:r>
                <a:r>
                  <a:rPr lang="en-US" sz="20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</a:t>
                </a:r>
                <a:r>
                  <a:rPr lang="en-US" sz="2000" i="1" dirty="0">
                    <a:sym typeface="Wingdings" pitchFamily="2" charset="2"/>
                  </a:rPr>
                  <a:t>Copy</a:t>
                </a:r>
                <a:r>
                  <a:rPr lang="en-US" sz="2000" dirty="0">
                    <a:sym typeface="Wingdings" pitchFamily="2" charset="2"/>
                  </a:rPr>
                  <a:t> </a:t>
                </a:r>
                <a:r>
                  <a:rPr lang="en-US" sz="2000" b="1" dirty="0">
                    <a:sym typeface="Wingdings" pitchFamily="2" charset="2"/>
                  </a:rPr>
                  <a:t>C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0</a:t>
                </a:r>
                <a:r>
                  <a:rPr lang="en-US" sz="2000" dirty="0">
                    <a:sym typeface="Wingdings" pitchFamily="2" charset="2"/>
                  </a:rPr>
                  <a:t>..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𝑗</m:t>
                    </m:r>
                    <m:r>
                      <a:rPr lang="en-US" sz="2000" i="1" dirty="0" smtClean="0">
                        <a:latin typeface="Cambria Math"/>
                        <a:sym typeface="Wingdings" pitchFamily="2" charset="2"/>
                      </a:rPr>
                      <m:t>−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  to </a:t>
                </a:r>
                <a:r>
                  <a:rPr lang="en-US" sz="2000" b="1" dirty="0">
                    <a:sym typeface="Wingdings" pitchFamily="2" charset="2"/>
                  </a:rPr>
                  <a:t>A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 sz="2000" dirty="0" err="1">
                    <a:sym typeface="Wingdings" pitchFamily="2" charset="2"/>
                  </a:rPr>
                  <a:t>..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}</a:t>
                </a:r>
                <a:r>
                  <a:rPr lang="en-US" sz="2000" dirty="0">
                    <a:sym typeface="Wingdings" pitchFamily="2" charset="2"/>
                  </a:rPr>
                  <a:t>         </a:t>
                </a: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432412" cy="4525963"/>
              </a:xfrm>
              <a:blipFill rotWithShape="1">
                <a:blip r:embed="rId2"/>
                <a:stretch>
                  <a:fillRect l="-2063" t="-10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1"/>
              <p:cNvSpPr>
                <a:spLocks noGrp="1"/>
              </p:cNvSpPr>
              <p:nvPr>
                <p:ph sz="half" idx="2"/>
              </p:nvPr>
            </p:nvSpPr>
            <p:spPr>
              <a:xfrm>
                <a:off x="5124162" y="1600200"/>
                <a:ext cx="3943638" cy="4525963"/>
              </a:xfrm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/>
                  <a:t>Time complexity: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= </a:t>
                </a:r>
                <a:r>
                  <a:rPr lang="en-US" sz="2000" dirty="0">
                    <a:solidFill>
                      <a:srgbClr val="0070C0"/>
                    </a:solidFill>
                  </a:rPr>
                  <a:t>1</a:t>
                </a:r>
                <a:r>
                  <a:rPr lang="en-US" sz="2000" dirty="0"/>
                  <a:t>,</a:t>
                </a:r>
                <a:r>
                  <a:rPr lang="en-US" sz="2000" b="1" dirty="0"/>
                  <a:t>     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= c for some constant c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&gt; </a:t>
                </a:r>
                <a:r>
                  <a:rPr lang="en-US" sz="2000" dirty="0">
                    <a:solidFill>
                      <a:srgbClr val="0070C0"/>
                    </a:solidFill>
                  </a:rPr>
                  <a:t>1</a:t>
                </a:r>
                <a:r>
                  <a:rPr lang="en-US" sz="2000" dirty="0"/>
                  <a:t>,</a:t>
                </a:r>
                <a:r>
                  <a:rPr lang="en-US" sz="2000" b="1" dirty="0"/>
                  <a:t>       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b="1" dirty="0"/>
                  <a:t> </a:t>
                </a:r>
                <a:r>
                  <a:rPr lang="en-US" sz="2000" dirty="0"/>
                  <a:t>=  </a:t>
                </a:r>
                <a:r>
                  <a:rPr lang="en-US" sz="2000" dirty="0" err="1"/>
                  <a:t>c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+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2</a:t>
                </a:r>
                <a:r>
                  <a:rPr lang="en-US" sz="2000" dirty="0"/>
                  <a:t> </a:t>
                </a: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/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2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</a:t>
                </a:r>
                <a:r>
                  <a:rPr lang="en-US" sz="2000" dirty="0"/>
                  <a:t>= </a:t>
                </a:r>
                <a:r>
                  <a:rPr lang="en-US" sz="2000" b="1" dirty="0"/>
                  <a:t> </a:t>
                </a:r>
                <a:r>
                  <a:rPr lang="en-US" sz="2000" dirty="0"/>
                  <a:t>c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+ </a:t>
                </a:r>
                <a:r>
                  <a:rPr lang="en-US" sz="2000" dirty="0" err="1"/>
                  <a:t>c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=  c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+ </a:t>
                </a:r>
                <a:r>
                  <a:rPr lang="en-US" sz="2000" dirty="0" err="1"/>
                  <a:t>c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+ c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=  c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+ …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(log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terms)</a:t>
                </a:r>
                <a:r>
                  <a:rPr lang="en-US" sz="2000" dirty="0"/>
                  <a:t>…+ c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=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log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endParaRPr lang="en-IN" sz="2000" dirty="0"/>
              </a:p>
            </p:txBody>
          </p:sp>
        </mc:Choice>
        <mc:Fallback xmlns="">
          <p:sp>
            <p:nvSpPr>
              <p:cNvPr id="22" name="Content Placeholder 2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124162" y="1600200"/>
                <a:ext cx="3943638" cy="4525963"/>
              </a:xfrm>
              <a:blipFill rotWithShape="1">
                <a:blip r:embed="rId8"/>
                <a:stretch>
                  <a:fillRect l="-1541" t="-538" r="-77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4419600" y="3657600"/>
            <a:ext cx="711424" cy="1066800"/>
            <a:chOff x="2819400" y="2514600"/>
            <a:chExt cx="711424" cy="1066800"/>
          </a:xfrm>
        </p:grpSpPr>
        <p:sp>
          <p:nvSpPr>
            <p:cNvPr id="9" name="Right Brace 8"/>
            <p:cNvSpPr/>
            <p:nvPr/>
          </p:nvSpPr>
          <p:spPr>
            <a:xfrm>
              <a:off x="2819400" y="2514600"/>
              <a:ext cx="231648" cy="1066800"/>
            </a:xfrm>
            <a:prstGeom prst="righ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3048000" y="2895600"/>
                  <a:ext cx="4828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2060"/>
                      </a:solidFill>
                    </a:rPr>
                    <a:t>c 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</m:oMath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000" y="2895600"/>
                  <a:ext cx="48282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1392" t="-8333" r="-20253" b="-25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TextBox 11"/>
          <p:cNvSpPr txBox="1"/>
          <p:nvPr/>
        </p:nvSpPr>
        <p:spPr>
          <a:xfrm>
            <a:off x="1216018" y="2069068"/>
            <a:ext cx="46038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</a:t>
            </a:r>
            <a:r>
              <a:rPr lang="en-US" dirty="0"/>
              <a:t>&lt; </a:t>
            </a:r>
            <a:r>
              <a:rPr lang="en-US" dirty="0">
                <a:solidFill>
                  <a:srgbClr val="0070C0"/>
                </a:solidFill>
              </a:rPr>
              <a:t>j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133600" y="1676400"/>
                <a:ext cx="29905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// Sorting the </a:t>
                </a:r>
                <a:r>
                  <a:rPr lang="en-US" dirty="0" err="1">
                    <a:solidFill>
                      <a:srgbClr val="7030A0"/>
                    </a:solidFill>
                  </a:rPr>
                  <a:t>subarray</a:t>
                </a:r>
                <a:r>
                  <a:rPr lang="en-US" dirty="0">
                    <a:solidFill>
                      <a:srgbClr val="7030A0"/>
                    </a:solidFill>
                  </a:rPr>
                  <a:t> </a:t>
                </a:r>
                <a:r>
                  <a:rPr lang="en-US" b="1" dirty="0"/>
                  <a:t>A</a:t>
                </a:r>
                <a:r>
                  <a:rPr lang="en-US" dirty="0"/>
                  <a:t>[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 err="1"/>
                  <a:t>..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dirty="0"/>
                  <a:t>].</a:t>
                </a:r>
                <a:endParaRPr lang="en-IN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1676400"/>
                <a:ext cx="2990562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629" t="-8197" r="-2851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/>
          <p:cNvGrpSpPr/>
          <p:nvPr/>
        </p:nvGrpSpPr>
        <p:grpSpPr>
          <a:xfrm>
            <a:off x="3048000" y="2831068"/>
            <a:ext cx="1905000" cy="369332"/>
            <a:chOff x="2819400" y="2831068"/>
            <a:chExt cx="1905000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3928989" y="2831068"/>
                  <a:ext cx="79541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T</a:t>
                  </a:r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</m:oMath>
                  </a14:m>
                  <a:r>
                    <a:rPr lang="en-US" dirty="0"/>
                    <a:t>/</a:t>
                  </a:r>
                  <a:r>
                    <a:rPr lang="en-US" b="1" dirty="0">
                      <a:solidFill>
                        <a:srgbClr val="0070C0"/>
                      </a:solidFill>
                    </a:rPr>
                    <a:t>2</a:t>
                  </a:r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8989" y="2831068"/>
                  <a:ext cx="795411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6107" t="-8197" r="-13740" b="-245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/>
            <p:cNvCxnSpPr/>
            <p:nvPr/>
          </p:nvCxnSpPr>
          <p:spPr>
            <a:xfrm flipH="1">
              <a:off x="2819400" y="3015734"/>
              <a:ext cx="1109589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3048000" y="3212068"/>
            <a:ext cx="1905000" cy="369332"/>
            <a:chOff x="2819400" y="2831068"/>
            <a:chExt cx="1905000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3928989" y="2831068"/>
                  <a:ext cx="79541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T</a:t>
                  </a:r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</m:oMath>
                  </a14:m>
                  <a:r>
                    <a:rPr lang="en-US" dirty="0"/>
                    <a:t>/</a:t>
                  </a:r>
                  <a:r>
                    <a:rPr lang="en-US" b="1" dirty="0">
                      <a:solidFill>
                        <a:srgbClr val="0070C0"/>
                      </a:solidFill>
                    </a:rPr>
                    <a:t>2</a:t>
                  </a:r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8989" y="2831068"/>
                  <a:ext cx="795411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6107" t="-8197" r="-13740" b="-245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/>
            <p:cNvCxnSpPr/>
            <p:nvPr/>
          </p:nvCxnSpPr>
          <p:spPr>
            <a:xfrm flipH="1">
              <a:off x="2819400" y="3015734"/>
              <a:ext cx="1109589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064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uiExpand="1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Proof of correctness of </a:t>
            </a:r>
            <a:r>
              <a:rPr lang="en-US" sz="3200" b="1" dirty="0">
                <a:solidFill>
                  <a:srgbClr val="7030A0"/>
                </a:solidFill>
              </a:rPr>
              <a:t>Merge-Sort</a:t>
            </a:r>
            <a:endParaRPr lang="en-US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419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 err="1">
                    <a:solidFill>
                      <a:srgbClr val="7030A0"/>
                    </a:solidFill>
                  </a:rPr>
                  <a:t>MSort</a:t>
                </a:r>
                <a:r>
                  <a:rPr lang="en-US" sz="2400" dirty="0"/>
                  <a:t>(</a:t>
                </a:r>
                <a:r>
                  <a:rPr lang="en-US" sz="2400" b="1" dirty="0" err="1"/>
                  <a:t>A</a:t>
                </a:r>
                <a:r>
                  <a:rPr lang="en-US" sz="2400" dirty="0" err="1"/>
                  <a:t>,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400" dirty="0" err="1"/>
                  <a:t>,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400" dirty="0"/>
                  <a:t>) </a:t>
                </a:r>
              </a:p>
              <a:p>
                <a:pPr marL="0" indent="0">
                  <a:buNone/>
                </a:pPr>
                <a:r>
                  <a:rPr lang="en-US" sz="2400" dirty="0"/>
                  <a:t>{</a:t>
                </a:r>
                <a:r>
                  <a:rPr lang="en-US" sz="1800" dirty="0"/>
                  <a:t>   </a:t>
                </a:r>
                <a:r>
                  <a:rPr lang="en-US" sz="2000" b="1" dirty="0"/>
                  <a:t>If</a:t>
                </a:r>
                <a:r>
                  <a:rPr lang="en-US" sz="2000" dirty="0"/>
                  <a:t> (     ?     )</a:t>
                </a:r>
              </a:p>
              <a:p>
                <a:pPr marL="0" indent="0">
                  <a:buNone/>
                </a:pPr>
                <a:r>
                  <a:rPr lang="en-US" sz="2000" dirty="0"/>
                  <a:t>    {   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mid</a:t>
                </a:r>
                <a:r>
                  <a:rPr lang="en-US" sz="2000" dirty="0">
                    <a:sym typeface="Wingdings" pitchFamily="2" charset="2"/>
                  </a:rPr>
                  <a:t>(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 sz="2000" dirty="0" err="1">
                    <a:sym typeface="Wingdings" pitchFamily="2" charset="2"/>
                  </a:rPr>
                  <a:t>+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)/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2</a:t>
                </a:r>
                <a:r>
                  <a:rPr lang="en-US" sz="20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</a:t>
                </a:r>
                <a:r>
                  <a:rPr lang="en-US" sz="2000" b="1" dirty="0" err="1">
                    <a:solidFill>
                      <a:srgbClr val="7030A0"/>
                    </a:solidFill>
                    <a:sym typeface="Wingdings" pitchFamily="2" charset="2"/>
                  </a:rPr>
                  <a:t>MSort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 err="1">
                    <a:sym typeface="Wingdings" pitchFamily="2" charset="2"/>
                  </a:rPr>
                  <a:t>A</a:t>
                </a:r>
                <a:r>
                  <a:rPr lang="en-US" sz="2000" dirty="0" err="1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 sz="2000" dirty="0" err="1">
                    <a:sym typeface="Wingdings" pitchFamily="2" charset="2"/>
                  </a:rPr>
                  <a:t>,</a:t>
                </a:r>
                <a:r>
                  <a:rPr lang="en-US" sz="2000" b="1" dirty="0" err="1">
                    <a:solidFill>
                      <a:srgbClr val="0070C0"/>
                    </a:solidFill>
                    <a:sym typeface="Wingdings" pitchFamily="2" charset="2"/>
                  </a:rPr>
                  <a:t>mid</a:t>
                </a:r>
                <a:r>
                  <a:rPr lang="en-US" sz="20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</a:t>
                </a:r>
                <a:r>
                  <a:rPr lang="en-US" sz="2000" b="1" dirty="0" err="1">
                    <a:solidFill>
                      <a:srgbClr val="7030A0"/>
                    </a:solidFill>
                    <a:sym typeface="Wingdings" pitchFamily="2" charset="2"/>
                  </a:rPr>
                  <a:t>MSort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ym typeface="Wingdings" pitchFamily="2" charset="2"/>
                  </a:rPr>
                  <a:t>A</a:t>
                </a:r>
                <a:r>
                  <a:rPr lang="en-US" sz="2000" dirty="0">
                    <a:sym typeface="Wingdings" pitchFamily="2" charset="2"/>
                  </a:rPr>
                  <a:t>,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mid</a:t>
                </a:r>
                <a:r>
                  <a:rPr lang="en-US" sz="2000" dirty="0">
                    <a:sym typeface="Wingdings" pitchFamily="2" charset="2"/>
                  </a:rPr>
                  <a:t>+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1</a:t>
                </a:r>
                <a:r>
                  <a:rPr lang="en-US" sz="2000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Create temporarily  </a:t>
                </a:r>
                <a:r>
                  <a:rPr lang="en-US" sz="2000" b="1" dirty="0">
                    <a:sym typeface="Wingdings" pitchFamily="2" charset="2"/>
                  </a:rPr>
                  <a:t>C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0</a:t>
                </a:r>
                <a:r>
                  <a:rPr lang="en-US" sz="2000" dirty="0">
                    <a:sym typeface="Wingdings" pitchFamily="2" charset="2"/>
                  </a:rPr>
                  <a:t>..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𝑗</m:t>
                    </m:r>
                    <m:r>
                      <a:rPr lang="en-US" sz="2000" i="1" dirty="0" smtClean="0">
                        <a:latin typeface="Cambria Math"/>
                        <a:sym typeface="Wingdings" pitchFamily="2" charset="2"/>
                      </a:rPr>
                      <m:t>−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</a:t>
                </a:r>
                <a:r>
                  <a:rPr lang="en-US" sz="2000" b="1" dirty="0">
                    <a:sym typeface="Wingdings" pitchFamily="2" charset="2"/>
                  </a:rPr>
                  <a:t>Merge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ym typeface="Wingdings" pitchFamily="2" charset="2"/>
                  </a:rPr>
                  <a:t>A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 sz="2000" dirty="0" err="1">
                    <a:sym typeface="Wingdings" pitchFamily="2" charset="2"/>
                  </a:rPr>
                  <a:t>..</a:t>
                </a:r>
                <a:r>
                  <a:rPr lang="en-US" sz="2000" b="1" dirty="0" err="1">
                    <a:solidFill>
                      <a:srgbClr val="0070C0"/>
                    </a:solidFill>
                    <a:sym typeface="Wingdings" pitchFamily="2" charset="2"/>
                  </a:rPr>
                  <a:t>mid</a:t>
                </a:r>
                <a:r>
                  <a:rPr lang="en-US" sz="2000" dirty="0">
                    <a:sym typeface="Wingdings" pitchFamily="2" charset="2"/>
                  </a:rPr>
                  <a:t>], </a:t>
                </a:r>
                <a:r>
                  <a:rPr lang="en-US" sz="2000" b="1" dirty="0">
                    <a:sym typeface="Wingdings" pitchFamily="2" charset="2"/>
                  </a:rPr>
                  <a:t>A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mid</a:t>
                </a:r>
                <a:r>
                  <a:rPr lang="en-US" sz="2000" dirty="0">
                    <a:sym typeface="Wingdings" pitchFamily="2" charset="2"/>
                  </a:rPr>
                  <a:t>+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1</a:t>
                </a:r>
                <a:r>
                  <a:rPr lang="en-US" sz="2000" dirty="0">
                    <a:sym typeface="Wingdings" pitchFamily="2" charset="2"/>
                  </a:rPr>
                  <a:t>..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𝑗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], C</a:t>
                </a:r>
                <a:r>
                  <a:rPr lang="en-US" sz="20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</a:t>
                </a:r>
                <a:r>
                  <a:rPr lang="en-US" sz="2000" i="1" dirty="0">
                    <a:sym typeface="Wingdings" pitchFamily="2" charset="2"/>
                  </a:rPr>
                  <a:t>Copy</a:t>
                </a:r>
                <a:r>
                  <a:rPr lang="en-US" sz="2000" dirty="0">
                    <a:sym typeface="Wingdings" pitchFamily="2" charset="2"/>
                  </a:rPr>
                  <a:t> </a:t>
                </a:r>
                <a:r>
                  <a:rPr lang="en-US" sz="2000" b="1" dirty="0">
                    <a:sym typeface="Wingdings" pitchFamily="2" charset="2"/>
                  </a:rPr>
                  <a:t>C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0</a:t>
                </a:r>
                <a:r>
                  <a:rPr lang="en-US" sz="2000" dirty="0">
                    <a:sym typeface="Wingdings" pitchFamily="2" charset="2"/>
                  </a:rPr>
                  <a:t>..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𝑗</m:t>
                    </m:r>
                    <m:r>
                      <a:rPr lang="en-US" sz="2000" i="1" dirty="0" smtClean="0">
                        <a:latin typeface="Cambria Math"/>
                        <a:sym typeface="Wingdings" pitchFamily="2" charset="2"/>
                      </a:rPr>
                      <m:t>−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  to </a:t>
                </a:r>
                <a:r>
                  <a:rPr lang="en-US" sz="2000" b="1" dirty="0">
                    <a:sym typeface="Wingdings" pitchFamily="2" charset="2"/>
                  </a:rPr>
                  <a:t>A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 sz="2000" dirty="0" err="1">
                    <a:sym typeface="Wingdings" pitchFamily="2" charset="2"/>
                  </a:rPr>
                  <a:t>..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}</a:t>
                </a:r>
                <a:r>
                  <a:rPr lang="en-US" sz="2000" dirty="0">
                    <a:sym typeface="Wingdings" pitchFamily="2" charset="2"/>
                  </a:rPr>
                  <a:t>         </a:t>
                </a: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419600" cy="4525963"/>
              </a:xfrm>
              <a:blipFill rotWithShape="1">
                <a:blip r:embed="rId2"/>
                <a:stretch>
                  <a:fillRect l="-2069" t="-10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5124162" y="1600200"/>
                <a:ext cx="3867438" cy="4525963"/>
              </a:xfrm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Question: </a:t>
                </a:r>
                <a:r>
                  <a:rPr lang="en-US" sz="2000" dirty="0"/>
                  <a:t>What is to be proved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Answer: 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MSort</a:t>
                </a:r>
                <a:r>
                  <a:rPr lang="en-US" sz="2000" b="1" dirty="0"/>
                  <a:t>(</a:t>
                </a:r>
                <a:r>
                  <a:rPr lang="en-US" sz="2000" b="1" dirty="0" err="1"/>
                  <a:t>A,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b="1" dirty="0" err="1"/>
                  <a:t>,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b="1" dirty="0"/>
                  <a:t>) </a:t>
                </a:r>
                <a:r>
                  <a:rPr lang="en-US" sz="2000" dirty="0"/>
                  <a:t>sorts the </a:t>
                </a:r>
                <a:r>
                  <a:rPr lang="en-US" sz="2000" dirty="0" err="1"/>
                  <a:t>subarray</a:t>
                </a:r>
                <a:r>
                  <a:rPr lang="en-US" sz="2000" dirty="0"/>
                  <a:t> </a:t>
                </a:r>
                <a:r>
                  <a:rPr lang="en-US" sz="2000" b="1" dirty="0"/>
                  <a:t>A</a:t>
                </a:r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 err="1"/>
                  <a:t>..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]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Question: </a:t>
                </a:r>
                <a:r>
                  <a:rPr lang="en-US" sz="2000" dirty="0"/>
                  <a:t>How to prove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Answer:  </a:t>
                </a:r>
              </a:p>
              <a:p>
                <a:r>
                  <a:rPr lang="en-US" sz="2000" dirty="0"/>
                  <a:t>By </a:t>
                </a:r>
                <a:r>
                  <a:rPr lang="en-US" sz="2000" b="1" dirty="0"/>
                  <a:t>induction </a:t>
                </a:r>
                <a:r>
                  <a:rPr lang="en-US" sz="2000" dirty="0"/>
                  <a:t>on the </a:t>
                </a:r>
                <a:r>
                  <a:rPr lang="en-US" sz="2000" u="sng" dirty="0"/>
                  <a:t>length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i="1" dirty="0">
                        <a:latin typeface="Cambria Math"/>
                      </a:rPr>
                      <m:t>−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 dirty="0">
                        <a:latin typeface="Cambria Math"/>
                      </a:rPr>
                      <m:t>+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2000" dirty="0"/>
                  <a:t>) of the </a:t>
                </a:r>
                <a:r>
                  <a:rPr lang="en-US" sz="2000" dirty="0" err="1"/>
                  <a:t>subarray</a:t>
                </a:r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Use correctness of the algorithm </a:t>
                </a:r>
                <a:r>
                  <a:rPr lang="en-US" sz="2000" b="1" dirty="0"/>
                  <a:t>Merge.</a:t>
                </a:r>
              </a:p>
              <a:p>
                <a:pPr marL="0" indent="0">
                  <a:buNone/>
                </a:pPr>
                <a:endParaRPr lang="en-IN" sz="2000" dirty="0"/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124162" y="1600200"/>
                <a:ext cx="3867438" cy="4525963"/>
              </a:xfrm>
              <a:blipFill rotWithShape="1">
                <a:blip r:embed="rId3"/>
                <a:stretch>
                  <a:fillRect l="-1572" t="-53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216018" y="2069068"/>
            <a:ext cx="46038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</a:t>
            </a:r>
            <a:r>
              <a:rPr lang="en-US" dirty="0"/>
              <a:t>&lt; </a:t>
            </a:r>
            <a:r>
              <a:rPr lang="en-US" dirty="0">
                <a:solidFill>
                  <a:srgbClr val="0070C0"/>
                </a:solidFill>
              </a:rPr>
              <a:t>j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133600" y="1676400"/>
                <a:ext cx="29905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// Sorting the </a:t>
                </a:r>
                <a:r>
                  <a:rPr lang="en-US" dirty="0" err="1">
                    <a:solidFill>
                      <a:srgbClr val="7030A0"/>
                    </a:solidFill>
                  </a:rPr>
                  <a:t>subarray</a:t>
                </a:r>
                <a:r>
                  <a:rPr lang="en-US" dirty="0">
                    <a:solidFill>
                      <a:srgbClr val="7030A0"/>
                    </a:solidFill>
                  </a:rPr>
                  <a:t> </a:t>
                </a:r>
                <a:r>
                  <a:rPr lang="en-US" b="1" dirty="0"/>
                  <a:t>A</a:t>
                </a:r>
                <a:r>
                  <a:rPr lang="en-US" dirty="0"/>
                  <a:t>[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 err="1"/>
                  <a:t>..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dirty="0"/>
                  <a:t>].</a:t>
                </a:r>
                <a:endParaRPr lang="en-IN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1676400"/>
                <a:ext cx="2990562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629" t="-8197" r="-2851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2717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</a:rPr>
              <a:t>Example 2</a:t>
            </a: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Faster algorithm for </a:t>
            </a:r>
          </a:p>
          <a:p>
            <a:r>
              <a:rPr lang="en-US" b="1" dirty="0">
                <a:solidFill>
                  <a:srgbClr val="7030A0"/>
                </a:solidFill>
              </a:rPr>
              <a:t>multiplying two integers</a:t>
            </a:r>
          </a:p>
        </p:txBody>
      </p:sp>
    </p:spTree>
    <p:extLst>
      <p:ext uri="{BB962C8B-B14F-4D97-AF65-F5344CB8AC3E}">
        <p14:creationId xmlns:p14="http://schemas.microsoft.com/office/powerpoint/2010/main" val="4270643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Addition is </a:t>
            </a:r>
            <a:r>
              <a:rPr lang="en-US" sz="3200" b="1" dirty="0">
                <a:solidFill>
                  <a:srgbClr val="7030A0"/>
                </a:solidFill>
              </a:rPr>
              <a:t>faster</a:t>
            </a:r>
            <a:r>
              <a:rPr lang="en-US" sz="3200" b="1" dirty="0"/>
              <a:t> than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/>
                  <a:t>Given:</a:t>
                </a:r>
                <a:r>
                  <a:rPr lang="en-US" sz="2000" dirty="0"/>
                  <a:t> any two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-bit numbers  </a:t>
                </a:r>
                <a:r>
                  <a:rPr lang="en-US" sz="2000" b="1" dirty="0"/>
                  <a:t>X</a:t>
                </a:r>
                <a:r>
                  <a:rPr lang="en-US" sz="2000" dirty="0"/>
                  <a:t> and </a:t>
                </a:r>
                <a:r>
                  <a:rPr lang="en-US" sz="2000" b="1" dirty="0"/>
                  <a:t>Y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Question: </a:t>
                </a:r>
                <a:r>
                  <a:rPr lang="en-US" sz="2000" dirty="0"/>
                  <a:t>how many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bit-operations</a:t>
                </a:r>
                <a:r>
                  <a:rPr lang="en-US" sz="2000" dirty="0"/>
                  <a:t> are required to  compute </a:t>
                </a:r>
                <a:r>
                  <a:rPr lang="en-US" sz="2000" b="1" dirty="0"/>
                  <a:t>X</a:t>
                </a:r>
                <a:r>
                  <a:rPr lang="en-US" sz="2000" dirty="0"/>
                  <a:t>+</a:t>
                </a:r>
                <a:r>
                  <a:rPr lang="en-US" sz="2000" b="1" dirty="0"/>
                  <a:t>Y</a:t>
                </a:r>
                <a:r>
                  <a:rPr lang="en-US" sz="2000" dirty="0"/>
                  <a:t>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Answer: 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Question: </a:t>
                </a:r>
                <a:r>
                  <a:rPr lang="en-US" sz="2000" dirty="0"/>
                  <a:t>how many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bit-operations</a:t>
                </a:r>
                <a:r>
                  <a:rPr lang="en-US" sz="2000" dirty="0"/>
                  <a:t> are required to  compute </a:t>
                </a:r>
                <a:r>
                  <a:rPr lang="en-US" sz="2000" b="1" dirty="0"/>
                  <a:t>X</a:t>
                </a:r>
                <a:r>
                  <a:rPr lang="en-US" sz="2000" dirty="0"/>
                  <a:t>*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>
                            <a:latin typeface="Cambria Math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sz="2000" dirty="0"/>
                  <a:t>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Answer: 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Question: </a:t>
                </a:r>
                <a:r>
                  <a:rPr lang="en-US" sz="2000" dirty="0"/>
                  <a:t>how many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bit-operations</a:t>
                </a:r>
                <a:r>
                  <a:rPr lang="en-US" sz="2000" dirty="0"/>
                  <a:t> are required to  compute </a:t>
                </a:r>
                <a:r>
                  <a:rPr lang="en-US" sz="2000" b="1" dirty="0"/>
                  <a:t>X</a:t>
                </a:r>
                <a:r>
                  <a:rPr lang="en-US" sz="2000" dirty="0"/>
                  <a:t>*</a:t>
                </a:r>
                <a:r>
                  <a:rPr lang="en-US" sz="2000" b="1" dirty="0"/>
                  <a:t>Y</a:t>
                </a:r>
                <a:r>
                  <a:rPr lang="en-US" sz="2000" dirty="0"/>
                  <a:t>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Answer: 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" name="Cloud Callout 4"/>
          <p:cNvSpPr/>
          <p:nvPr/>
        </p:nvSpPr>
        <p:spPr>
          <a:xfrm>
            <a:off x="533400" y="5562600"/>
            <a:ext cx="3048000" cy="990600"/>
          </a:xfrm>
          <a:prstGeom prst="cloudCallout">
            <a:avLst>
              <a:gd name="adj1" fmla="val -25955"/>
              <a:gd name="adj2" fmla="val 70380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we compute </a:t>
            </a:r>
            <a:r>
              <a:rPr lang="en-US" b="1" dirty="0">
                <a:solidFill>
                  <a:schemeClr val="tx1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*</a:t>
            </a:r>
            <a:r>
              <a:rPr lang="en-US" b="1" dirty="0">
                <a:solidFill>
                  <a:schemeClr val="tx1"/>
                </a:solidFill>
              </a:rPr>
              <a:t>Y </a:t>
            </a:r>
            <a:r>
              <a:rPr lang="en-US" dirty="0">
                <a:solidFill>
                  <a:schemeClr val="tx1"/>
                </a:solidFill>
              </a:rPr>
              <a:t>faster ??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362200" y="3821668"/>
                <a:ext cx="5086842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[left shift the number </a:t>
                </a:r>
                <a:r>
                  <a:rPr lang="en-US" b="1" dirty="0"/>
                  <a:t>X</a:t>
                </a:r>
                <a:r>
                  <a:rPr lang="en-US" dirty="0"/>
                  <a:t> by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places, (do it carefully)]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3821668"/>
                <a:ext cx="5086842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957" t="-6349" r="-1435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510215"/>
              </p:ext>
            </p:extLst>
          </p:nvPr>
        </p:nvGraphicFramePr>
        <p:xfrm>
          <a:off x="6248400" y="5334000"/>
          <a:ext cx="914400" cy="243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4666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868887"/>
              </p:ext>
            </p:extLst>
          </p:nvPr>
        </p:nvGraphicFramePr>
        <p:xfrm>
          <a:off x="6019800" y="5623560"/>
          <a:ext cx="1136160" cy="243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696285"/>
              </p:ext>
            </p:extLst>
          </p:nvPr>
        </p:nvGraphicFramePr>
        <p:xfrm>
          <a:off x="5798041" y="5928360"/>
          <a:ext cx="1382422" cy="243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2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059818"/>
              </p:ext>
            </p:extLst>
          </p:nvPr>
        </p:nvGraphicFramePr>
        <p:xfrm>
          <a:off x="5562598" y="6248400"/>
          <a:ext cx="1600200" cy="243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3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1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91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4" name="Group 13"/>
          <p:cNvGrpSpPr/>
          <p:nvPr/>
        </p:nvGrpSpPr>
        <p:grpSpPr>
          <a:xfrm>
            <a:off x="6248402" y="4888468"/>
            <a:ext cx="914398" cy="395763"/>
            <a:chOff x="7469126" y="5052536"/>
            <a:chExt cx="914398" cy="395763"/>
          </a:xfrm>
        </p:grpSpPr>
        <p:sp>
          <p:nvSpPr>
            <p:cNvPr id="12" name="Right Brace 11"/>
            <p:cNvSpPr/>
            <p:nvPr/>
          </p:nvSpPr>
          <p:spPr>
            <a:xfrm rot="16200000">
              <a:off x="7869175" y="4933950"/>
              <a:ext cx="114300" cy="914398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767420" y="5052536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X</a:t>
              </a:r>
              <a:endParaRPr lang="en-US" dirty="0"/>
            </a:p>
          </p:txBody>
        </p:sp>
      </p:grpSp>
      <p:cxnSp>
        <p:nvCxnSpPr>
          <p:cNvPr id="16" name="Straight Connector 15"/>
          <p:cNvCxnSpPr/>
          <p:nvPr/>
        </p:nvCxnSpPr>
        <p:spPr>
          <a:xfrm>
            <a:off x="5212267" y="6553200"/>
            <a:ext cx="22367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839619" y="6368534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9619" y="6368534"/>
                <a:ext cx="410689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r="-1940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4223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Pursuing</a:t>
            </a:r>
            <a:r>
              <a:rPr lang="en-US" sz="3600" b="1" dirty="0">
                <a:solidFill>
                  <a:srgbClr val="7030A0"/>
                </a:solidFill>
              </a:rPr>
              <a:t> Divide and Conquer </a:t>
            </a:r>
            <a:r>
              <a:rPr lang="en-US" sz="3600" b="1" dirty="0"/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Question: </a:t>
            </a:r>
            <a:r>
              <a:rPr lang="en-US" sz="2000" dirty="0"/>
              <a:t>how to express </a:t>
            </a:r>
            <a:r>
              <a:rPr lang="en-US" sz="2000" b="1" dirty="0"/>
              <a:t>X</a:t>
            </a:r>
            <a:r>
              <a:rPr lang="en-US" sz="2000" dirty="0"/>
              <a:t>*</a:t>
            </a:r>
            <a:r>
              <a:rPr lang="en-US" sz="2000" b="1" dirty="0"/>
              <a:t>Y </a:t>
            </a:r>
            <a:r>
              <a:rPr lang="en-US" sz="2000" dirty="0"/>
              <a:t>in terms of </a:t>
            </a:r>
            <a:r>
              <a:rPr lang="en-US" sz="2000" b="1" dirty="0"/>
              <a:t>multiplication/addition </a:t>
            </a:r>
            <a:r>
              <a:rPr lang="en-US" sz="2000" dirty="0"/>
              <a:t>of</a:t>
            </a:r>
            <a:r>
              <a:rPr lang="en-US" sz="2000" b="1" dirty="0"/>
              <a:t> {A,B,C,D} ?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Hint:</a:t>
            </a:r>
            <a:r>
              <a:rPr lang="en-US" sz="2400" b="1" dirty="0"/>
              <a:t> </a:t>
            </a:r>
            <a:r>
              <a:rPr lang="en-US" sz="2000" dirty="0"/>
              <a:t>First Express </a:t>
            </a:r>
            <a:r>
              <a:rPr lang="en-US" sz="2000" b="1" dirty="0"/>
              <a:t>X </a:t>
            </a:r>
            <a:r>
              <a:rPr lang="en-US" sz="2000" dirty="0"/>
              <a:t> and </a:t>
            </a:r>
            <a:r>
              <a:rPr lang="en-US" sz="2000" b="1" dirty="0"/>
              <a:t>Y </a:t>
            </a:r>
            <a:r>
              <a:rPr lang="en-US" sz="2000" dirty="0"/>
              <a:t>in terms of </a:t>
            </a:r>
            <a:r>
              <a:rPr lang="en-US" sz="2000" b="1" dirty="0"/>
              <a:t>{A,B,C,D}.</a:t>
            </a:r>
          </a:p>
          <a:p>
            <a:pPr marL="0" indent="0">
              <a:buNone/>
            </a:pPr>
            <a:r>
              <a:rPr lang="en-US" sz="2400" b="1" dirty="0"/>
              <a:t>           X </a:t>
            </a:r>
            <a:r>
              <a:rPr lang="en-US" sz="2400" dirty="0"/>
              <a:t>=           </a:t>
            </a:r>
            <a:r>
              <a:rPr lang="en-US" sz="2400" dirty="0">
                <a:solidFill>
                  <a:srgbClr val="C00000"/>
                </a:solidFill>
              </a:rPr>
              <a:t>? </a:t>
            </a:r>
            <a:r>
              <a:rPr lang="en-US" sz="2400" dirty="0"/>
              <a:t>               and </a:t>
            </a:r>
            <a:r>
              <a:rPr lang="en-US" sz="2400" b="1" dirty="0"/>
              <a:t>Y </a:t>
            </a:r>
            <a:r>
              <a:rPr lang="en-US" sz="2400" dirty="0"/>
              <a:t>=           </a:t>
            </a:r>
            <a:r>
              <a:rPr lang="en-US" sz="2400" dirty="0">
                <a:solidFill>
                  <a:srgbClr val="C00000"/>
                </a:solidFill>
              </a:rPr>
              <a:t>? </a:t>
            </a:r>
            <a:r>
              <a:rPr lang="en-US" sz="2400" dirty="0"/>
              <a:t>           .</a:t>
            </a:r>
            <a:endParaRPr lang="en-US" sz="2400" b="1" dirty="0"/>
          </a:p>
          <a:p>
            <a:pPr marL="0" indent="0">
              <a:buNone/>
            </a:pPr>
            <a:r>
              <a:rPr lang="en-US" sz="2000" dirty="0"/>
              <a:t>Hence …</a:t>
            </a:r>
          </a:p>
          <a:p>
            <a:pPr marL="0" indent="0">
              <a:buNone/>
            </a:pPr>
            <a:r>
              <a:rPr lang="en-US" sz="2400" b="1" dirty="0"/>
              <a:t>           X</a:t>
            </a:r>
            <a:r>
              <a:rPr lang="en-US" sz="2400" dirty="0"/>
              <a:t>*</a:t>
            </a:r>
            <a:r>
              <a:rPr lang="en-US" sz="2400" b="1" dirty="0"/>
              <a:t>Y </a:t>
            </a:r>
            <a:r>
              <a:rPr lang="en-US" sz="2400" dirty="0"/>
              <a:t>=</a:t>
            </a:r>
            <a:r>
              <a:rPr lang="en-US" sz="2400" b="1" dirty="0"/>
              <a:t> </a:t>
            </a:r>
            <a:r>
              <a:rPr lang="en-US" sz="2400" dirty="0"/>
              <a:t>(</a:t>
            </a:r>
            <a:r>
              <a:rPr lang="en-US" sz="2400" b="1" dirty="0"/>
              <a:t>A</a:t>
            </a:r>
            <a:r>
              <a:rPr lang="en-US" sz="2400" dirty="0"/>
              <a:t>*</a:t>
            </a:r>
            <a:r>
              <a:rPr lang="en-US" sz="2400" b="1" dirty="0"/>
              <a:t>C</a:t>
            </a:r>
            <a:r>
              <a:rPr lang="en-US" sz="2400" dirty="0"/>
              <a:t>)* </a:t>
            </a:r>
            <a:r>
              <a:rPr lang="en-US" sz="2400" dirty="0">
                <a:solidFill>
                  <a:srgbClr val="C00000"/>
                </a:solidFill>
              </a:rPr>
              <a:t>??</a:t>
            </a:r>
            <a:r>
              <a:rPr lang="en-US" sz="2400" dirty="0"/>
              <a:t>    + (</a:t>
            </a:r>
            <a:r>
              <a:rPr lang="en-US" sz="2400" b="1" dirty="0"/>
              <a:t>A</a:t>
            </a:r>
            <a:r>
              <a:rPr lang="en-US" sz="2400" dirty="0"/>
              <a:t>*</a:t>
            </a:r>
            <a:r>
              <a:rPr lang="en-US" sz="2400" b="1" dirty="0"/>
              <a:t>D</a:t>
            </a:r>
            <a:r>
              <a:rPr lang="en-US" sz="2400" dirty="0"/>
              <a:t>   + </a:t>
            </a:r>
            <a:r>
              <a:rPr lang="en-US" sz="2400" b="1" dirty="0"/>
              <a:t>B</a:t>
            </a:r>
            <a:r>
              <a:rPr lang="en-US" sz="2400" dirty="0"/>
              <a:t>*</a:t>
            </a:r>
            <a:r>
              <a:rPr lang="en-US" sz="2400" b="1" dirty="0"/>
              <a:t>C</a:t>
            </a:r>
            <a:r>
              <a:rPr lang="en-US" sz="2400" dirty="0"/>
              <a:t>)* </a:t>
            </a:r>
            <a:r>
              <a:rPr lang="en-US" sz="2400" dirty="0">
                <a:solidFill>
                  <a:srgbClr val="C00000"/>
                </a:solidFill>
              </a:rPr>
              <a:t>??</a:t>
            </a:r>
            <a:r>
              <a:rPr lang="en-US" sz="2400" dirty="0"/>
              <a:t>      +  </a:t>
            </a:r>
            <a:r>
              <a:rPr lang="en-US" sz="2400" b="1" dirty="0"/>
              <a:t>B</a:t>
            </a:r>
            <a:r>
              <a:rPr lang="en-US" sz="2400" dirty="0"/>
              <a:t>*</a:t>
            </a:r>
            <a:r>
              <a:rPr lang="en-US" sz="2400" b="1" dirty="0"/>
              <a:t>D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1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362200" y="2057400"/>
            <a:ext cx="3733800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62200" y="3200400"/>
            <a:ext cx="3733800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172200" y="20690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328826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2286000" y="1219200"/>
            <a:ext cx="612668" cy="838200"/>
            <a:chOff x="2286000" y="1219200"/>
            <a:chExt cx="612668" cy="838200"/>
          </a:xfrm>
        </p:grpSpPr>
        <p:sp>
          <p:nvSpPr>
            <p:cNvPr id="10" name="Down Arrow 9"/>
            <p:cNvSpPr/>
            <p:nvPr/>
          </p:nvSpPr>
          <p:spPr>
            <a:xfrm>
              <a:off x="2438400" y="1588532"/>
              <a:ext cx="301686" cy="468868"/>
            </a:xfrm>
            <a:prstGeom prst="down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286000" y="1219200"/>
              <a:ext cx="6126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MSB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5559532" y="1219200"/>
            <a:ext cx="513282" cy="838200"/>
            <a:chOff x="5559532" y="1219200"/>
            <a:chExt cx="513282" cy="838200"/>
          </a:xfrm>
        </p:grpSpPr>
        <p:sp>
          <p:nvSpPr>
            <p:cNvPr id="12" name="Down Arrow 11"/>
            <p:cNvSpPr/>
            <p:nvPr/>
          </p:nvSpPr>
          <p:spPr>
            <a:xfrm>
              <a:off x="5711932" y="1588532"/>
              <a:ext cx="301686" cy="468868"/>
            </a:xfrm>
            <a:prstGeom prst="down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559532" y="1219200"/>
              <a:ext cx="5132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LSB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362200" y="2514600"/>
            <a:ext cx="3879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n-1  n-2…......………………n/2.............................2 1 0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3200400" y="2057400"/>
            <a:ext cx="2047782" cy="457200"/>
            <a:chOff x="3200400" y="2057400"/>
            <a:chExt cx="2047782" cy="457200"/>
          </a:xfrm>
        </p:grpSpPr>
        <p:cxnSp>
          <p:nvCxnSpPr>
            <p:cNvPr id="16" name="Straight Connector 15"/>
            <p:cNvCxnSpPr>
              <a:stCxn id="5" idx="0"/>
              <a:endCxn id="5" idx="2"/>
            </p:cNvCxnSpPr>
            <p:nvPr/>
          </p:nvCxnSpPr>
          <p:spPr>
            <a:xfrm>
              <a:off x="4229100" y="2057400"/>
              <a:ext cx="0" cy="45720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200400" y="2069068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933672" y="2057400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200400" y="3200400"/>
            <a:ext cx="2063812" cy="457200"/>
            <a:chOff x="3200400" y="2057400"/>
            <a:chExt cx="2063812" cy="457200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4229100" y="2057400"/>
              <a:ext cx="0" cy="45720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3200400" y="20690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933672" y="2057400"/>
              <a:ext cx="330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D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ounded Rectangle 24"/>
              <p:cNvSpPr/>
              <p:nvPr/>
            </p:nvSpPr>
            <p:spPr>
              <a:xfrm>
                <a:off x="2895600" y="5791200"/>
                <a:ext cx="457200" cy="4572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ounded 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5791200"/>
                <a:ext cx="457200" cy="457200"/>
              </a:xfrm>
              <a:prstGeom prst="roundRect">
                <a:avLst/>
              </a:prstGeom>
              <a:blipFill rotWithShape="1">
                <a:blip r:embed="rId3"/>
                <a:stretch>
                  <a:fillRect r="-12658"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ounded Rectangle 25"/>
              <p:cNvSpPr/>
              <p:nvPr/>
            </p:nvSpPr>
            <p:spPr>
              <a:xfrm>
                <a:off x="5565668" y="5791200"/>
                <a:ext cx="606532" cy="4572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𝒏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/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ounded 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668" y="5791200"/>
                <a:ext cx="606532" cy="457200"/>
              </a:xfrm>
              <a:prstGeom prst="roundRect">
                <a:avLst/>
              </a:prstGeom>
              <a:blipFill rotWithShape="1">
                <a:blip r:embed="rId4"/>
                <a:stretch>
                  <a:fillRect l="-1923" r="-11538" b="-10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>
            <a:off x="3353647" y="2514600"/>
            <a:ext cx="8817" cy="6858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096583" y="2514600"/>
            <a:ext cx="8817" cy="6858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362464" y="2514600"/>
            <a:ext cx="1728463" cy="6858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362464" y="2514600"/>
            <a:ext cx="1728463" cy="6858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6096000" y="2590800"/>
            <a:ext cx="3048000" cy="673644"/>
            <a:chOff x="6096000" y="2590800"/>
            <a:chExt cx="3048000" cy="673644"/>
          </a:xfrm>
        </p:grpSpPr>
        <p:sp>
          <p:nvSpPr>
            <p:cNvPr id="8" name="Left Arrow 7"/>
            <p:cNvSpPr/>
            <p:nvPr/>
          </p:nvSpPr>
          <p:spPr>
            <a:xfrm>
              <a:off x="6096000" y="2590800"/>
              <a:ext cx="1366020" cy="673644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05254" y="2743200"/>
              <a:ext cx="1738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 multiplications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603463" y="4934749"/>
                <a:ext cx="1644937" cy="475451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C</a:t>
                </a:r>
                <a:r>
                  <a:rPr lang="en-US" sz="2400" dirty="0"/>
                  <a:t>*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sz="2400" b="1" i="1">
                            <a:latin typeface="Cambria Math"/>
                          </a:rPr>
                          <m:t>/</m:t>
                        </m:r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+ </a:t>
                </a:r>
                <a:r>
                  <a:rPr lang="en-US" sz="2400" b="1" dirty="0"/>
                  <a:t>D</a:t>
                </a:r>
                <a:endParaRPr lang="en-US" sz="24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463" y="4934749"/>
                <a:ext cx="1644937" cy="475451"/>
              </a:xfrm>
              <a:prstGeom prst="rect">
                <a:avLst/>
              </a:prstGeom>
              <a:blipFill rotWithShape="1">
                <a:blip r:embed="rId5"/>
                <a:stretch>
                  <a:fillRect l="-5556" t="-7692" r="-9259" b="-28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1782459" y="4934749"/>
                <a:ext cx="1646541" cy="475451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A</a:t>
                </a:r>
                <a:r>
                  <a:rPr lang="en-US" sz="2400" dirty="0"/>
                  <a:t>*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sz="2400" b="1" i="1">
                            <a:latin typeface="Cambria Math"/>
                          </a:rPr>
                          <m:t>/</m:t>
                        </m:r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+ </a:t>
                </a:r>
                <a:r>
                  <a:rPr lang="en-US" sz="2400" b="1" dirty="0"/>
                  <a:t>B</a:t>
                </a:r>
                <a:endParaRPr lang="en-US" sz="2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459" y="4934749"/>
                <a:ext cx="1646541" cy="475451"/>
              </a:xfrm>
              <a:prstGeom prst="rect">
                <a:avLst/>
              </a:prstGeom>
              <a:blipFill rotWithShape="1">
                <a:blip r:embed="rId6"/>
                <a:stretch>
                  <a:fillRect l="-5535" t="-7692" r="-8856" b="-28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7910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  <p:bldP spid="7" grpId="0"/>
      <p:bldP spid="9" grpId="0"/>
      <p:bldP spid="14" grpId="0"/>
      <p:bldP spid="25" grpId="0" animBg="1"/>
      <p:bldP spid="26" grpId="0" animBg="1"/>
      <p:bldP spid="27" grpId="0" animBg="1"/>
      <p:bldP spid="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Pursuing</a:t>
            </a:r>
            <a:r>
              <a:rPr lang="en-US" sz="3600" b="1" dirty="0">
                <a:solidFill>
                  <a:srgbClr val="7030A0"/>
                </a:solidFill>
              </a:rPr>
              <a:t> Divide and Conquer </a:t>
            </a:r>
            <a:r>
              <a:rPr lang="en-US" sz="3600" b="1" dirty="0"/>
              <a:t>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648200"/>
              </a:xfrm>
            </p:spPr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r>
                  <a:rPr lang="en-US" sz="2400" b="1" dirty="0"/>
                  <a:t>X</a:t>
                </a:r>
                <a:r>
                  <a:rPr lang="en-US" sz="2400" dirty="0"/>
                  <a:t>*</a:t>
                </a:r>
                <a:r>
                  <a:rPr lang="en-US" sz="2400" b="1" dirty="0"/>
                  <a:t>Y </a:t>
                </a:r>
                <a:r>
                  <a:rPr lang="en-US" sz="2400" dirty="0"/>
                  <a:t>=</a:t>
                </a:r>
                <a:r>
                  <a:rPr lang="en-US" sz="2400" b="1" dirty="0"/>
                  <a:t> </a:t>
                </a:r>
                <a:r>
                  <a:rPr lang="en-US" sz="2400" dirty="0"/>
                  <a:t>(</a:t>
                </a:r>
                <a:r>
                  <a:rPr lang="en-US" sz="2400" b="1" dirty="0"/>
                  <a:t>A</a:t>
                </a:r>
                <a:r>
                  <a:rPr lang="en-US" sz="2400" dirty="0"/>
                  <a:t>*</a:t>
                </a:r>
                <a:r>
                  <a:rPr lang="en-US" sz="2400" b="1" dirty="0"/>
                  <a:t>C</a:t>
                </a:r>
                <a:r>
                  <a:rPr lang="en-US" sz="2400" dirty="0"/>
                  <a:t>)* </a:t>
                </a:r>
                <a:r>
                  <a:rPr lang="en-US" sz="2400" dirty="0">
                    <a:solidFill>
                      <a:srgbClr val="C00000"/>
                    </a:solidFill>
                  </a:rPr>
                  <a:t>??</a:t>
                </a:r>
                <a:r>
                  <a:rPr lang="en-US" sz="2400" dirty="0"/>
                  <a:t>    + (</a:t>
                </a:r>
                <a:r>
                  <a:rPr lang="en-US" sz="2400" b="1" dirty="0"/>
                  <a:t>A</a:t>
                </a:r>
                <a:r>
                  <a:rPr lang="en-US" sz="2400" dirty="0"/>
                  <a:t>*</a:t>
                </a:r>
                <a:r>
                  <a:rPr lang="en-US" sz="2400" b="1" dirty="0"/>
                  <a:t>D</a:t>
                </a:r>
                <a:r>
                  <a:rPr lang="en-US" sz="2400" dirty="0"/>
                  <a:t>   + </a:t>
                </a:r>
                <a:r>
                  <a:rPr lang="en-US" sz="2400" b="1" dirty="0"/>
                  <a:t>B</a:t>
                </a:r>
                <a:r>
                  <a:rPr lang="en-US" sz="2400" dirty="0"/>
                  <a:t>*</a:t>
                </a:r>
                <a:r>
                  <a:rPr lang="en-US" sz="2400" b="1" dirty="0"/>
                  <a:t>C</a:t>
                </a:r>
                <a:r>
                  <a:rPr lang="en-US" sz="2400" dirty="0"/>
                  <a:t>)* </a:t>
                </a:r>
                <a:r>
                  <a:rPr lang="en-US" sz="2400" dirty="0">
                    <a:solidFill>
                      <a:srgbClr val="C00000"/>
                    </a:solidFill>
                  </a:rPr>
                  <a:t>??</a:t>
                </a:r>
                <a:r>
                  <a:rPr lang="en-US" sz="2400" dirty="0"/>
                  <a:t>      +  </a:t>
                </a:r>
                <a:r>
                  <a:rPr lang="en-US" sz="2400" b="1" dirty="0"/>
                  <a:t>B</a:t>
                </a:r>
                <a:r>
                  <a:rPr lang="en-US" sz="2400" dirty="0"/>
                  <a:t>*</a:t>
                </a:r>
                <a:r>
                  <a:rPr lang="en-US" sz="2400" b="1" dirty="0"/>
                  <a:t>D</a:t>
                </a:r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:r>
                  <a:rPr lang="en-US" sz="1800" dirty="0"/>
                  <a:t>Let</a:t>
                </a:r>
                <a:r>
                  <a:rPr lang="en-US" sz="1800" b="1" dirty="0"/>
                  <a:t> </a:t>
                </a:r>
                <a:r>
                  <a:rPr lang="en-US" sz="1800" b="1" dirty="0">
                    <a:solidFill>
                      <a:srgbClr val="002060"/>
                    </a:solidFill>
                  </a:rPr>
                  <a:t>T</a:t>
                </a:r>
                <a:r>
                  <a:rPr lang="en-US" sz="1800" b="1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b="1" dirty="0"/>
                  <a:t>) : </a:t>
                </a:r>
                <a:r>
                  <a:rPr lang="en-US" sz="1800" dirty="0"/>
                  <a:t>time complexity of multiplying </a:t>
                </a:r>
                <a:r>
                  <a:rPr lang="en-US" sz="1800" b="1" dirty="0"/>
                  <a:t>X </a:t>
                </a:r>
                <a:r>
                  <a:rPr lang="en-US" sz="1800" dirty="0"/>
                  <a:t>and </a:t>
                </a:r>
                <a:r>
                  <a:rPr lang="en-US" sz="1800" b="1" dirty="0"/>
                  <a:t>Y </a:t>
                </a:r>
                <a:r>
                  <a:rPr lang="en-US" sz="1800" dirty="0"/>
                  <a:t>using the above equation. 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</a:t>
                </a:r>
                <a:r>
                  <a:rPr lang="en-US" sz="1800" b="1" dirty="0">
                    <a:solidFill>
                      <a:srgbClr val="002060"/>
                    </a:solidFill>
                  </a:rPr>
                  <a:t>T</a:t>
                </a:r>
                <a:r>
                  <a:rPr lang="en-US" sz="1800" b="1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b="1" dirty="0"/>
                  <a:t>) = </a:t>
                </a:r>
                <a:r>
                  <a:rPr lang="en-US" sz="1800" b="1" dirty="0" err="1">
                    <a:solidFill>
                      <a:srgbClr val="002060"/>
                    </a:solidFill>
                  </a:rPr>
                  <a:t>c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b="1" dirty="0"/>
                  <a:t> +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4</a:t>
                </a:r>
                <a:r>
                  <a:rPr lang="en-US" sz="1800" b="1" dirty="0"/>
                  <a:t> T(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b="1" dirty="0">
                    <a:solidFill>
                      <a:srgbClr val="0070C0"/>
                    </a:solidFill>
                  </a:rPr>
                  <a:t>/2</a:t>
                </a:r>
                <a:r>
                  <a:rPr lang="en-US" sz="1800" b="1" dirty="0"/>
                  <a:t>) </a:t>
                </a:r>
                <a:r>
                  <a:rPr lang="en-US" sz="1800" dirty="0"/>
                  <a:t>for some constant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c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0070C0"/>
                    </a:solidFill>
                  </a:rPr>
                  <a:t>              </a:t>
                </a:r>
                <a:r>
                  <a:rPr lang="en-US" sz="1800" b="1" dirty="0"/>
                  <a:t>= </a:t>
                </a:r>
                <a:r>
                  <a:rPr lang="en-US" sz="1800" b="1" dirty="0" err="1">
                    <a:solidFill>
                      <a:srgbClr val="002060"/>
                    </a:solidFill>
                  </a:rPr>
                  <a:t>c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b="1" dirty="0"/>
                  <a:t> +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2</a:t>
                </a:r>
                <a:r>
                  <a:rPr lang="en-US" sz="1800" b="1" dirty="0">
                    <a:solidFill>
                      <a:srgbClr val="002060"/>
                    </a:solidFill>
                  </a:rPr>
                  <a:t>c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b="1" dirty="0"/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𝟒</m:t>
                        </m:r>
                      </m:e>
                      <m:sup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800" b="1" dirty="0"/>
                  <a:t> T(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b="1" dirty="0">
                    <a:solidFill>
                      <a:srgbClr val="0070C0"/>
                    </a:solidFill>
                  </a:rPr>
                  <a:t>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18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800" b="1" dirty="0"/>
                  <a:t>)  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              = </a:t>
                </a:r>
                <a:r>
                  <a:rPr lang="en-US" sz="1800" b="1" dirty="0">
                    <a:solidFill>
                      <a:srgbClr val="002060"/>
                    </a:solidFill>
                  </a:rPr>
                  <a:t>c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b="1" dirty="0"/>
                  <a:t> +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2</a:t>
                </a:r>
                <a:r>
                  <a:rPr lang="en-US" sz="1800" b="1" dirty="0">
                    <a:solidFill>
                      <a:srgbClr val="002060"/>
                    </a:solidFill>
                  </a:rPr>
                  <a:t>c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b="1" dirty="0"/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800" b="1" i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002060"/>
                            </a:solidFill>
                          </a:rPr>
                          <m:t>c</m:t>
                        </m:r>
                        <m:r>
                          <a:rPr lang="en-US" sz="18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m:rPr>
                            <m:nor/>
                          </m:rPr>
                          <a:rPr lang="en-US" sz="1800" b="1" dirty="0"/>
                          <m:t>+</m:t>
                        </m:r>
                        <m:r>
                          <a:rPr lang="en-US" sz="1800" b="1" i="1" dirty="0" smtClean="0">
                            <a:latin typeface="Cambria Math"/>
                          </a:rPr>
                          <m:t> </m:t>
                        </m:r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𝟒</m:t>
                        </m:r>
                      </m:e>
                      <m:sup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1800" b="1" dirty="0"/>
                  <a:t> T(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b="1" dirty="0">
                    <a:solidFill>
                      <a:srgbClr val="0070C0"/>
                    </a:solidFill>
                  </a:rPr>
                  <a:t>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18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1800" b="1" dirty="0"/>
                  <a:t>)   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              =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1800" b="1" dirty="0">
                    <a:solidFill>
                      <a:srgbClr val="002060"/>
                    </a:solidFill>
                  </a:rPr>
                  <a:t>c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b="1" dirty="0"/>
                  <a:t> +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2</a:t>
                </a:r>
                <a:r>
                  <a:rPr lang="en-US" sz="1800" b="1" dirty="0">
                    <a:solidFill>
                      <a:srgbClr val="002060"/>
                    </a:solidFill>
                  </a:rPr>
                  <a:t>c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b="1" dirty="0"/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800" b="1">
                            <a:solidFill>
                              <a:srgbClr val="0070C0"/>
                            </a:solidFill>
                            <a:latin typeface="Cambria Math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002060"/>
                            </a:solidFill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rgbClr val="002060"/>
                            </a:solidFill>
                          </a:rPr>
                          <m:t> </m:t>
                        </m:r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rgbClr val="0070C0"/>
                            </a:solidFill>
                          </a:rPr>
                          <m:t>+ 8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rgbClr val="002060"/>
                            </a:solidFill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rgbClr val="002060"/>
                            </a:solidFill>
                          </a:rPr>
                          <m:t> </m:t>
                        </m:r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rgbClr val="0070C0"/>
                            </a:solidFill>
                          </a:rPr>
                          <m:t>+ </m:t>
                        </m:r>
                        <m:r>
                          <a:rPr lang="en-US" sz="18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…+ </m:t>
                        </m:r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𝟒</m:t>
                        </m:r>
                      </m:e>
                      <m:sup>
                        <m:sSubSup>
                          <m:sSubSupPr>
                            <m:ctrlPr>
                              <a:rPr lang="en-US" sz="1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1" i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𝐥𝐨𝐠</m:t>
                            </m:r>
                          </m:e>
                          <m:sub>
                            <m:r>
                              <a:rPr lang="en-US" sz="1800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  <m:sup/>
                        </m:sSubSup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sz="1800" b="1" dirty="0">
                    <a:solidFill>
                      <a:srgbClr val="002060"/>
                    </a:solidFill>
                  </a:rPr>
                  <a:t>T</a:t>
                </a:r>
                <a:r>
                  <a:rPr lang="en-US" sz="1800" b="1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18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              = </a:t>
                </a:r>
                <a:r>
                  <a:rPr lang="en-US" sz="1800" b="1" dirty="0">
                    <a:solidFill>
                      <a:srgbClr val="002060"/>
                    </a:solidFill>
                  </a:rPr>
                  <a:t>c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b="1" dirty="0"/>
                  <a:t>+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2</a:t>
                </a:r>
                <a:r>
                  <a:rPr lang="en-US" sz="1800" b="1" dirty="0">
                    <a:solidFill>
                      <a:srgbClr val="002060"/>
                    </a:solidFill>
                  </a:rPr>
                  <a:t>c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b="1" dirty="0"/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800" b="1">
                            <a:solidFill>
                              <a:srgbClr val="0070C0"/>
                            </a:solidFill>
                            <a:latin typeface="Cambria Math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002060"/>
                            </a:solidFill>
                          </a:rPr>
                          <m:t>c</m:t>
                        </m:r>
                        <m:r>
                          <a:rPr lang="en-US" sz="18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rgbClr val="0070C0"/>
                            </a:solidFill>
                          </a:rPr>
                          <m:t>+ 8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002060"/>
                            </a:solidFill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rgbClr val="002060"/>
                            </a:solidFill>
                          </a:rPr>
                          <m:t> </m:t>
                        </m:r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rgbClr val="0070C0"/>
                            </a:solidFill>
                          </a:rPr>
                          <m:t>+ </m:t>
                        </m:r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…+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rgbClr val="002060"/>
                            </a:solidFill>
                          </a:rPr>
                          <m:t>c</m:t>
                        </m:r>
                        <m:r>
                          <a:rPr lang="en-US" sz="18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 </m:t>
                        </m:r>
                      </m:sup>
                    </m:sSup>
                  </m:oMath>
                </a14:m>
                <a:endParaRPr lang="en-US" sz="1800" b="1" dirty="0"/>
              </a:p>
              <a:p>
                <a:pPr marL="0" indent="0">
                  <a:buNone/>
                </a:pPr>
                <a:endParaRPr lang="en-US" sz="1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648200"/>
              </a:xfrm>
              <a:blipFill rotWithShape="1">
                <a:blip r:embed="rId2"/>
                <a:stretch>
                  <a:fillRect l="-1111" t="-1706" b="-237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362200" y="2057400"/>
            <a:ext cx="3733800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62200" y="3200400"/>
            <a:ext cx="3733800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172200" y="20690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328826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2286000" y="1219200"/>
            <a:ext cx="612668" cy="838200"/>
            <a:chOff x="2286000" y="1219200"/>
            <a:chExt cx="612668" cy="838200"/>
          </a:xfrm>
        </p:grpSpPr>
        <p:sp>
          <p:nvSpPr>
            <p:cNvPr id="10" name="Down Arrow 9"/>
            <p:cNvSpPr/>
            <p:nvPr/>
          </p:nvSpPr>
          <p:spPr>
            <a:xfrm>
              <a:off x="2438400" y="1588532"/>
              <a:ext cx="301686" cy="468868"/>
            </a:xfrm>
            <a:prstGeom prst="down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286000" y="1219200"/>
              <a:ext cx="6126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MSB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5559532" y="1219200"/>
            <a:ext cx="513282" cy="838200"/>
            <a:chOff x="5559532" y="1219200"/>
            <a:chExt cx="513282" cy="838200"/>
          </a:xfrm>
        </p:grpSpPr>
        <p:sp>
          <p:nvSpPr>
            <p:cNvPr id="12" name="Down Arrow 11"/>
            <p:cNvSpPr/>
            <p:nvPr/>
          </p:nvSpPr>
          <p:spPr>
            <a:xfrm>
              <a:off x="5711932" y="1588532"/>
              <a:ext cx="301686" cy="468868"/>
            </a:xfrm>
            <a:prstGeom prst="down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559532" y="1219200"/>
              <a:ext cx="5132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LSB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362200" y="2514600"/>
            <a:ext cx="3879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n-1  n-2…......………………n/2.............................2 1 0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3200400" y="2057400"/>
            <a:ext cx="2047782" cy="457200"/>
            <a:chOff x="3200400" y="2057400"/>
            <a:chExt cx="2047782" cy="457200"/>
          </a:xfrm>
        </p:grpSpPr>
        <p:cxnSp>
          <p:nvCxnSpPr>
            <p:cNvPr id="16" name="Straight Connector 15"/>
            <p:cNvCxnSpPr>
              <a:stCxn id="5" idx="0"/>
              <a:endCxn id="5" idx="2"/>
            </p:cNvCxnSpPr>
            <p:nvPr/>
          </p:nvCxnSpPr>
          <p:spPr>
            <a:xfrm>
              <a:off x="4229100" y="2057400"/>
              <a:ext cx="0" cy="45720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200400" y="2069068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933672" y="2057400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200400" y="3200400"/>
            <a:ext cx="2063812" cy="457200"/>
            <a:chOff x="3200400" y="2057400"/>
            <a:chExt cx="2063812" cy="457200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4229100" y="2057400"/>
              <a:ext cx="0" cy="45720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3200400" y="20690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933672" y="2057400"/>
              <a:ext cx="330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D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ounded Rectangle 24"/>
              <p:cNvSpPr/>
              <p:nvPr/>
            </p:nvSpPr>
            <p:spPr>
              <a:xfrm>
                <a:off x="2209800" y="3733800"/>
                <a:ext cx="457200" cy="4572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ounded 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3733800"/>
                <a:ext cx="457200" cy="457200"/>
              </a:xfrm>
              <a:prstGeom prst="roundRect">
                <a:avLst/>
              </a:prstGeom>
              <a:blipFill rotWithShape="1">
                <a:blip r:embed="rId3"/>
                <a:stretch>
                  <a:fillRect r="-11392"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ounded Rectangle 25"/>
              <p:cNvSpPr/>
              <p:nvPr/>
            </p:nvSpPr>
            <p:spPr>
              <a:xfrm>
                <a:off x="4800600" y="3733800"/>
                <a:ext cx="606532" cy="4572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𝒏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/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ounded 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3733800"/>
                <a:ext cx="606532" cy="457200"/>
              </a:xfrm>
              <a:prstGeom prst="roundRect">
                <a:avLst/>
              </a:prstGeom>
              <a:blipFill rotWithShape="1">
                <a:blip r:embed="rId4"/>
                <a:stretch>
                  <a:fillRect l="-1942" r="-12621"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>
            <a:off x="3353647" y="2514600"/>
            <a:ext cx="8817" cy="6858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096583" y="2514600"/>
            <a:ext cx="8817" cy="6858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362464" y="2514600"/>
            <a:ext cx="1728463" cy="6858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362464" y="2514600"/>
            <a:ext cx="1728463" cy="6858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/>
          <p:cNvGrpSpPr/>
          <p:nvPr/>
        </p:nvGrpSpPr>
        <p:grpSpPr>
          <a:xfrm>
            <a:off x="7162800" y="5257800"/>
            <a:ext cx="1668983" cy="931254"/>
            <a:chOff x="7017817" y="3581400"/>
            <a:chExt cx="1668983" cy="931254"/>
          </a:xfrm>
        </p:grpSpPr>
        <p:sp>
          <p:nvSpPr>
            <p:cNvPr id="38" name="Smiley Face 37"/>
            <p:cNvSpPr/>
            <p:nvPr/>
          </p:nvSpPr>
          <p:spPr>
            <a:xfrm>
              <a:off x="7634834" y="3581400"/>
              <a:ext cx="525983" cy="457200"/>
            </a:xfrm>
            <a:prstGeom prst="smileyFace">
              <a:avLst>
                <a:gd name="adj" fmla="val -4653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7017817" y="4137102"/>
                  <a:ext cx="1668983" cy="37555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</a:rPr>
                    <a:t>O</a:t>
                  </a:r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a14:m>
                  <a:r>
                    <a:rPr lang="en-US" dirty="0"/>
                    <a:t>) time </a:t>
                  </a:r>
                  <a:r>
                    <a:rPr lang="en-US" dirty="0" err="1"/>
                    <a:t>algo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7817" y="4137102"/>
                  <a:ext cx="1668983" cy="37555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2536" t="-4762" r="-5435" b="-2381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29689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Pursuing</a:t>
            </a:r>
            <a:r>
              <a:rPr lang="en-US" sz="3600" b="1" dirty="0">
                <a:solidFill>
                  <a:srgbClr val="7030A0"/>
                </a:solidFill>
              </a:rPr>
              <a:t> Divide and Conquer </a:t>
            </a:r>
            <a:r>
              <a:rPr lang="en-US" sz="3600" b="1" dirty="0"/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X</a:t>
            </a:r>
            <a:r>
              <a:rPr lang="en-US" sz="2400" dirty="0"/>
              <a:t>*</a:t>
            </a:r>
            <a:r>
              <a:rPr lang="en-US" sz="2400" b="1" dirty="0"/>
              <a:t>Y </a:t>
            </a:r>
            <a:r>
              <a:rPr lang="en-US" sz="2400" dirty="0"/>
              <a:t>=</a:t>
            </a:r>
            <a:r>
              <a:rPr lang="en-US" sz="2400" b="1" dirty="0"/>
              <a:t> </a:t>
            </a:r>
            <a:r>
              <a:rPr lang="en-US" sz="2400" dirty="0"/>
              <a:t>(</a:t>
            </a:r>
            <a:r>
              <a:rPr lang="en-US" sz="2400" b="1" dirty="0"/>
              <a:t>A</a:t>
            </a:r>
            <a:r>
              <a:rPr lang="en-US" sz="2400" dirty="0"/>
              <a:t>*</a:t>
            </a:r>
            <a:r>
              <a:rPr lang="en-US" sz="2400" b="1" dirty="0"/>
              <a:t>C</a:t>
            </a:r>
            <a:r>
              <a:rPr lang="en-US" sz="2400" dirty="0"/>
              <a:t>)* </a:t>
            </a:r>
            <a:r>
              <a:rPr lang="en-US" sz="2400" dirty="0">
                <a:solidFill>
                  <a:srgbClr val="C00000"/>
                </a:solidFill>
              </a:rPr>
              <a:t>??</a:t>
            </a:r>
            <a:r>
              <a:rPr lang="en-US" sz="2400" dirty="0"/>
              <a:t>    + (</a:t>
            </a:r>
            <a:r>
              <a:rPr lang="en-US" sz="2400" b="1" dirty="0"/>
              <a:t>A</a:t>
            </a:r>
            <a:r>
              <a:rPr lang="en-US" sz="2400" dirty="0"/>
              <a:t>*</a:t>
            </a:r>
            <a:r>
              <a:rPr lang="en-US" sz="2400" b="1" dirty="0"/>
              <a:t>D</a:t>
            </a:r>
            <a:r>
              <a:rPr lang="en-US" sz="2400" dirty="0"/>
              <a:t>   + </a:t>
            </a:r>
            <a:r>
              <a:rPr lang="en-US" sz="2400" b="1" dirty="0"/>
              <a:t>B</a:t>
            </a:r>
            <a:r>
              <a:rPr lang="en-US" sz="2400" dirty="0"/>
              <a:t>*</a:t>
            </a:r>
            <a:r>
              <a:rPr lang="en-US" sz="2400" b="1" dirty="0"/>
              <a:t>C</a:t>
            </a:r>
            <a:r>
              <a:rPr lang="en-US" sz="2400" dirty="0"/>
              <a:t>)* </a:t>
            </a:r>
            <a:r>
              <a:rPr lang="en-US" sz="2400" dirty="0">
                <a:solidFill>
                  <a:srgbClr val="C00000"/>
                </a:solidFill>
              </a:rPr>
              <a:t>??</a:t>
            </a:r>
            <a:r>
              <a:rPr lang="en-US" sz="2400" dirty="0"/>
              <a:t>      +  </a:t>
            </a:r>
            <a:r>
              <a:rPr lang="en-US" sz="2400" b="1" dirty="0"/>
              <a:t>B</a:t>
            </a:r>
            <a:r>
              <a:rPr lang="en-US" sz="2400" dirty="0"/>
              <a:t>*</a:t>
            </a:r>
            <a:r>
              <a:rPr lang="en-US" sz="2400" b="1" dirty="0"/>
              <a:t>D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Observation:</a:t>
            </a:r>
            <a:r>
              <a:rPr lang="en-US" sz="2400" dirty="0"/>
              <a:t> </a:t>
            </a:r>
            <a:r>
              <a:rPr lang="en-US" sz="2400" b="1" dirty="0"/>
              <a:t>A*D</a:t>
            </a:r>
            <a:r>
              <a:rPr lang="en-US" sz="2400" dirty="0"/>
              <a:t> + </a:t>
            </a:r>
            <a:r>
              <a:rPr lang="en-US" sz="2400" b="1" dirty="0"/>
              <a:t>B*C =           </a:t>
            </a:r>
            <a:r>
              <a:rPr lang="en-US" sz="2400" b="1" dirty="0">
                <a:solidFill>
                  <a:srgbClr val="C00000"/>
                </a:solidFill>
              </a:rPr>
              <a:t>? </a:t>
            </a:r>
            <a:r>
              <a:rPr lang="en-US" sz="2400" b="1" dirty="0"/>
              <a:t>          +        </a:t>
            </a:r>
            <a:r>
              <a:rPr lang="en-US" sz="2400" b="1" dirty="0">
                <a:solidFill>
                  <a:srgbClr val="C00000"/>
                </a:solidFill>
              </a:rPr>
              <a:t>?</a:t>
            </a:r>
            <a:r>
              <a:rPr lang="en-US" sz="2400" b="1" dirty="0"/>
              <a:t>      +        </a:t>
            </a:r>
            <a:r>
              <a:rPr lang="en-US" sz="2400" b="1" dirty="0">
                <a:solidFill>
                  <a:srgbClr val="C00000"/>
                </a:solidFill>
              </a:rPr>
              <a:t>?</a:t>
            </a:r>
            <a:endParaRPr lang="en-US" sz="24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Question:</a:t>
            </a:r>
            <a:r>
              <a:rPr lang="en-US" sz="2400" dirty="0"/>
              <a:t> </a:t>
            </a:r>
            <a:r>
              <a:rPr lang="en-US" sz="2000" dirty="0"/>
              <a:t>How many multiplications do we need </a:t>
            </a:r>
            <a:r>
              <a:rPr lang="en-US" sz="2000" b="1" u="sng" dirty="0"/>
              <a:t>now</a:t>
            </a:r>
            <a:r>
              <a:rPr lang="en-US" sz="2000" dirty="0"/>
              <a:t> to compute </a:t>
            </a:r>
            <a:r>
              <a:rPr lang="en-US" sz="2400" b="1" dirty="0"/>
              <a:t>X*Y </a:t>
            </a:r>
            <a:r>
              <a:rPr lang="en-US" sz="2400" dirty="0"/>
              <a:t>?</a:t>
            </a:r>
          </a:p>
          <a:p>
            <a:pPr marL="0" indent="0">
              <a:buNone/>
            </a:pPr>
            <a:r>
              <a:rPr lang="en-US" sz="2400" b="1" dirty="0"/>
              <a:t>Answer:  </a:t>
            </a:r>
            <a:r>
              <a:rPr lang="en-US" sz="2000" b="1" dirty="0">
                <a:solidFill>
                  <a:srgbClr val="0070C0"/>
                </a:solidFill>
              </a:rPr>
              <a:t>3</a:t>
            </a:r>
            <a:r>
              <a:rPr lang="en-US" sz="2000" dirty="0"/>
              <a:t> multiplications : </a:t>
            </a:r>
          </a:p>
          <a:p>
            <a:r>
              <a:rPr lang="en-US" sz="1800" b="1" dirty="0"/>
              <a:t>A*C</a:t>
            </a:r>
          </a:p>
          <a:p>
            <a:r>
              <a:rPr lang="en-US" sz="1800" b="1" dirty="0"/>
              <a:t>B*D</a:t>
            </a:r>
          </a:p>
          <a:p>
            <a:r>
              <a:rPr lang="en-US" sz="1800" b="1" dirty="0"/>
              <a:t>(A-B)*(D-C) .</a:t>
            </a:r>
            <a:endParaRPr lang="en-US" sz="1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362200" y="2057400"/>
            <a:ext cx="3733800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62200" y="3200400"/>
            <a:ext cx="3733800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172200" y="20690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328826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438400" y="1588532"/>
            <a:ext cx="301686" cy="468868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286000" y="1219200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MSB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711932" y="1588532"/>
            <a:ext cx="301686" cy="468868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559532" y="1219200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LSB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2200" y="2514600"/>
            <a:ext cx="3879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n-1  n-2…......………………n/2.............................2 1 0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3200400" y="2057400"/>
            <a:ext cx="2047782" cy="457200"/>
            <a:chOff x="3200400" y="2057400"/>
            <a:chExt cx="2047782" cy="457200"/>
          </a:xfrm>
        </p:grpSpPr>
        <p:cxnSp>
          <p:nvCxnSpPr>
            <p:cNvPr id="16" name="Straight Connector 15"/>
            <p:cNvCxnSpPr>
              <a:stCxn id="5" idx="0"/>
              <a:endCxn id="5" idx="2"/>
            </p:cNvCxnSpPr>
            <p:nvPr/>
          </p:nvCxnSpPr>
          <p:spPr>
            <a:xfrm>
              <a:off x="4229100" y="2057400"/>
              <a:ext cx="0" cy="45720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200400" y="2069068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933672" y="2057400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200400" y="3200400"/>
            <a:ext cx="2063812" cy="457200"/>
            <a:chOff x="3200400" y="2057400"/>
            <a:chExt cx="2063812" cy="457200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4229100" y="2057400"/>
              <a:ext cx="0" cy="45720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3200400" y="20690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933672" y="2057400"/>
              <a:ext cx="330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D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ounded Rectangle 24"/>
              <p:cNvSpPr/>
              <p:nvPr/>
            </p:nvSpPr>
            <p:spPr>
              <a:xfrm>
                <a:off x="2209800" y="3733800"/>
                <a:ext cx="457200" cy="4572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ounded 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3733800"/>
                <a:ext cx="457200" cy="457200"/>
              </a:xfrm>
              <a:prstGeom prst="roundRect">
                <a:avLst/>
              </a:prstGeom>
              <a:blipFill rotWithShape="1">
                <a:blip r:embed="rId2"/>
                <a:stretch>
                  <a:fillRect r="-11392"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ounded Rectangle 25"/>
              <p:cNvSpPr/>
              <p:nvPr/>
            </p:nvSpPr>
            <p:spPr>
              <a:xfrm>
                <a:off x="4800600" y="3733800"/>
                <a:ext cx="606532" cy="4572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𝒏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/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ounded 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3733800"/>
                <a:ext cx="606532" cy="457200"/>
              </a:xfrm>
              <a:prstGeom prst="roundRect">
                <a:avLst/>
              </a:prstGeom>
              <a:blipFill rotWithShape="1">
                <a:blip r:embed="rId3"/>
                <a:stretch>
                  <a:fillRect l="-1942" r="-12621"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>
            <a:off x="3353647" y="2514600"/>
            <a:ext cx="8817" cy="6858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096583" y="2514600"/>
            <a:ext cx="8817" cy="6858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362464" y="2514600"/>
            <a:ext cx="1728463" cy="6858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362464" y="2514600"/>
            <a:ext cx="1728463" cy="6858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74868" y="3733800"/>
            <a:ext cx="1673332" cy="4572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Cloud Callout 14"/>
          <p:cNvSpPr/>
          <p:nvPr/>
        </p:nvSpPr>
        <p:spPr>
          <a:xfrm>
            <a:off x="6241788" y="2057400"/>
            <a:ext cx="2902212" cy="993648"/>
          </a:xfrm>
          <a:prstGeom prst="cloudCallout">
            <a:avLst>
              <a:gd name="adj1" fmla="val 35708"/>
              <a:gd name="adj2" fmla="val 8068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Expand and explore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b="1" dirty="0">
                <a:solidFill>
                  <a:schemeClr val="tx1"/>
                </a:solidFill>
              </a:rPr>
              <a:t>A-B</a:t>
            </a:r>
            <a:r>
              <a:rPr lang="en-US" dirty="0">
                <a:solidFill>
                  <a:schemeClr val="tx1"/>
                </a:solidFill>
              </a:rPr>
              <a:t>)</a:t>
            </a:r>
            <a:r>
              <a:rPr lang="en-US" b="1" dirty="0">
                <a:solidFill>
                  <a:schemeClr val="tx1"/>
                </a:solidFill>
              </a:rPr>
              <a:t>*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b="1" dirty="0">
                <a:solidFill>
                  <a:schemeClr val="tx1"/>
                </a:solidFill>
              </a:rPr>
              <a:t>D-C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052" y="4243402"/>
            <a:ext cx="1616148" cy="46166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  <a:r>
              <a:rPr lang="en-US" sz="2400" b="1" dirty="0"/>
              <a:t>A-B</a:t>
            </a:r>
            <a:r>
              <a:rPr lang="en-US" sz="2400" dirty="0"/>
              <a:t>)</a:t>
            </a:r>
            <a:r>
              <a:rPr lang="en-US" sz="2400" b="1" dirty="0"/>
              <a:t>*</a:t>
            </a:r>
            <a:r>
              <a:rPr lang="en-US" sz="2400" dirty="0"/>
              <a:t>(</a:t>
            </a:r>
            <a:r>
              <a:rPr lang="en-US" sz="2400" b="1" dirty="0"/>
              <a:t>D-C</a:t>
            </a:r>
            <a:r>
              <a:rPr lang="en-US" sz="2400" dirty="0"/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88991" y="4191000"/>
            <a:ext cx="688009" cy="46166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A*C</a:t>
            </a:r>
            <a:endParaRPr lang="en-US" sz="2400" dirty="0"/>
          </a:p>
        </p:txBody>
      </p:sp>
      <p:sp>
        <p:nvSpPr>
          <p:cNvPr id="29" name="TextBox 28"/>
          <p:cNvSpPr txBox="1"/>
          <p:nvPr/>
        </p:nvSpPr>
        <p:spPr>
          <a:xfrm>
            <a:off x="6963937" y="4230392"/>
            <a:ext cx="705642" cy="46166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B*D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90544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15" grpId="0" animBg="1"/>
      <p:bldP spid="17" grpId="0" animBg="1"/>
      <p:bldP spid="27" grpId="0" animBg="1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Pursuing</a:t>
            </a:r>
            <a:r>
              <a:rPr lang="en-US" sz="3600" b="1" dirty="0">
                <a:solidFill>
                  <a:srgbClr val="7030A0"/>
                </a:solidFill>
              </a:rPr>
              <a:t> Divide and Conquer </a:t>
            </a:r>
            <a:r>
              <a:rPr lang="en-US" sz="3600" b="1" dirty="0"/>
              <a:t>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648200"/>
              </a:xfrm>
            </p:spPr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r>
                  <a:rPr lang="en-US" sz="2400" b="1" dirty="0"/>
                  <a:t>X</a:t>
                </a:r>
                <a:r>
                  <a:rPr lang="en-US" sz="2400" dirty="0"/>
                  <a:t>*</a:t>
                </a:r>
                <a:r>
                  <a:rPr lang="en-US" sz="2400" b="1" dirty="0"/>
                  <a:t>Y </a:t>
                </a:r>
                <a:r>
                  <a:rPr lang="en-US" sz="2400" dirty="0"/>
                  <a:t>=</a:t>
                </a:r>
                <a:r>
                  <a:rPr lang="en-US" sz="2400" b="1" dirty="0"/>
                  <a:t> </a:t>
                </a:r>
                <a:r>
                  <a:rPr lang="en-US" sz="2400" dirty="0"/>
                  <a:t>(</a:t>
                </a:r>
                <a:r>
                  <a:rPr lang="en-US" sz="2400" b="1" dirty="0"/>
                  <a:t>A</a:t>
                </a:r>
                <a:r>
                  <a:rPr lang="en-US" sz="2400" dirty="0"/>
                  <a:t>*</a:t>
                </a:r>
                <a:r>
                  <a:rPr lang="en-US" sz="2400" b="1" dirty="0"/>
                  <a:t>C</a:t>
                </a:r>
                <a:r>
                  <a:rPr lang="en-US" sz="2400" dirty="0"/>
                  <a:t>)* </a:t>
                </a:r>
                <a:r>
                  <a:rPr lang="en-US" sz="2400" dirty="0">
                    <a:solidFill>
                      <a:srgbClr val="C00000"/>
                    </a:solidFill>
                  </a:rPr>
                  <a:t>??</a:t>
                </a:r>
                <a:r>
                  <a:rPr lang="en-US" sz="2400" dirty="0"/>
                  <a:t>   + </a:t>
                </a:r>
                <a:r>
                  <a:rPr lang="en-US" sz="2400" u="sng" dirty="0">
                    <a:solidFill>
                      <a:srgbClr val="00B050"/>
                    </a:solidFill>
                  </a:rPr>
                  <a:t>((</a:t>
                </a:r>
                <a:r>
                  <a:rPr lang="en-US" sz="2400" b="1" u="sng" dirty="0">
                    <a:solidFill>
                      <a:srgbClr val="00B050"/>
                    </a:solidFill>
                  </a:rPr>
                  <a:t>A</a:t>
                </a:r>
                <a:r>
                  <a:rPr lang="en-US" sz="2400" u="sng" dirty="0">
                    <a:solidFill>
                      <a:srgbClr val="00B050"/>
                    </a:solidFill>
                  </a:rPr>
                  <a:t>-</a:t>
                </a:r>
                <a:r>
                  <a:rPr lang="en-US" sz="2400" b="1" u="sng" dirty="0">
                    <a:solidFill>
                      <a:srgbClr val="00B050"/>
                    </a:solidFill>
                  </a:rPr>
                  <a:t>B</a:t>
                </a:r>
                <a:r>
                  <a:rPr lang="en-US" sz="2400" u="sng" dirty="0">
                    <a:solidFill>
                      <a:srgbClr val="00B050"/>
                    </a:solidFill>
                  </a:rPr>
                  <a:t>)*(</a:t>
                </a:r>
                <a:r>
                  <a:rPr lang="en-US" sz="2400" b="1" u="sng" dirty="0">
                    <a:solidFill>
                      <a:srgbClr val="00B050"/>
                    </a:solidFill>
                  </a:rPr>
                  <a:t>D-C</a:t>
                </a:r>
                <a:r>
                  <a:rPr lang="en-US" sz="2400" u="sng" dirty="0">
                    <a:solidFill>
                      <a:srgbClr val="00B050"/>
                    </a:solidFill>
                  </a:rPr>
                  <a:t>) + </a:t>
                </a:r>
                <a:r>
                  <a:rPr lang="en-US" sz="2400" b="1" u="sng" dirty="0">
                    <a:solidFill>
                      <a:srgbClr val="00B050"/>
                    </a:solidFill>
                  </a:rPr>
                  <a:t>A*C </a:t>
                </a:r>
                <a:r>
                  <a:rPr lang="en-US" sz="2400" u="sng" dirty="0">
                    <a:solidFill>
                      <a:srgbClr val="00B050"/>
                    </a:solidFill>
                  </a:rPr>
                  <a:t>+</a:t>
                </a:r>
                <a:r>
                  <a:rPr lang="en-US" sz="2400" b="1" u="sng" dirty="0">
                    <a:solidFill>
                      <a:srgbClr val="00B050"/>
                    </a:solidFill>
                  </a:rPr>
                  <a:t> B*D</a:t>
                </a:r>
                <a:r>
                  <a:rPr lang="en-US" sz="2400" u="sng" dirty="0">
                    <a:solidFill>
                      <a:srgbClr val="00B050"/>
                    </a:solidFill>
                  </a:rPr>
                  <a:t>)</a:t>
                </a:r>
                <a:r>
                  <a:rPr lang="en-US" sz="2400" dirty="0"/>
                  <a:t>* </a:t>
                </a:r>
                <a:r>
                  <a:rPr lang="en-US" sz="2400" dirty="0">
                    <a:solidFill>
                      <a:srgbClr val="C00000"/>
                    </a:solidFill>
                  </a:rPr>
                  <a:t>??</a:t>
                </a:r>
                <a:r>
                  <a:rPr lang="en-US" sz="2400" dirty="0"/>
                  <a:t>      +  </a:t>
                </a:r>
                <a:r>
                  <a:rPr lang="en-US" sz="2400" b="1" dirty="0"/>
                  <a:t>B</a:t>
                </a:r>
                <a:r>
                  <a:rPr lang="en-US" sz="2400" dirty="0"/>
                  <a:t>*</a:t>
                </a:r>
                <a:r>
                  <a:rPr lang="en-US" sz="2400" b="1" dirty="0"/>
                  <a:t>D</a:t>
                </a:r>
              </a:p>
              <a:p>
                <a:pPr marL="0" indent="0">
                  <a:buNone/>
                </a:pPr>
                <a:r>
                  <a:rPr lang="en-US" sz="2000" dirty="0"/>
                  <a:t>Let</a:t>
                </a:r>
                <a:r>
                  <a:rPr lang="en-US" sz="2000" b="1" dirty="0"/>
                  <a:t> 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T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) : </a:t>
                </a:r>
                <a:r>
                  <a:rPr lang="en-US" sz="2000" dirty="0"/>
                  <a:t>time complexity of the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new 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algo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/>
                  <a:t>for multiplying two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-bit numbers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T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) = </a:t>
                </a:r>
                <a:r>
                  <a:rPr lang="en-US" sz="2000" b="1" dirty="0" err="1">
                    <a:solidFill>
                      <a:srgbClr val="002060"/>
                    </a:solidFill>
                  </a:rPr>
                  <a:t>c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 +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3</a:t>
                </a:r>
                <a:r>
                  <a:rPr lang="en-US" sz="2000" b="1" dirty="0"/>
                  <a:t> T(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</a:rPr>
                  <a:t>/2</a:t>
                </a:r>
                <a:r>
                  <a:rPr lang="en-US" sz="2000" b="1" dirty="0"/>
                  <a:t>) </a:t>
                </a:r>
                <a:r>
                  <a:rPr lang="en-US" sz="2000" dirty="0"/>
                  <a:t>for some constant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c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              </a:t>
                </a:r>
                <a:r>
                  <a:rPr lang="en-US" sz="2000" b="1" dirty="0"/>
                  <a:t>= </a:t>
                </a:r>
                <a:r>
                  <a:rPr lang="en-US" sz="2000" b="1" dirty="0" err="1">
                    <a:solidFill>
                      <a:srgbClr val="002060"/>
                    </a:solidFill>
                  </a:rPr>
                  <a:t>c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 +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3 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c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num>
                      <m:den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2000" b="1" dirty="0"/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b="1" dirty="0"/>
                  <a:t> T(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</a:rPr>
                  <a:t>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= </a:t>
                </a:r>
                <a:r>
                  <a:rPr lang="en-US" sz="2000" b="1" dirty="0" err="1">
                    <a:solidFill>
                      <a:srgbClr val="002060"/>
                    </a:solidFill>
                  </a:rPr>
                  <a:t>c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 +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3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c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num>
                      <m:den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2000" b="1" dirty="0"/>
                  <a:t> 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>
                        <a:solidFill>
                          <a:srgbClr val="0070C0"/>
                        </a:solidFill>
                        <a:latin typeface="Cambria Math"/>
                      </a:rPr>
                      <m:t>9</m:t>
                    </m:r>
                    <m:r>
                      <m:rPr>
                        <m:nor/>
                      </m:rPr>
                      <a:rPr lang="en-US" sz="2000" b="1" dirty="0">
                        <a:solidFill>
                          <a:srgbClr val="002060"/>
                        </a:solidFill>
                      </a:rPr>
                      <m:t>c</m:t>
                    </m:r>
                    <m:f>
                      <m:f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num>
                      <m:den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𝟒</m:t>
                        </m:r>
                      </m:den>
                    </m:f>
                    <m:r>
                      <m:rPr>
                        <m:nor/>
                      </m:rPr>
                      <a:rPr lang="en-US" sz="2000" b="1" dirty="0">
                        <a:solidFill>
                          <a:srgbClr val="0070C0"/>
                        </a:solidFill>
                      </a:rPr>
                      <m:t>+</m:t>
                    </m:r>
                  </m:oMath>
                </a14:m>
                <a:r>
                  <a:rPr lang="en-US" sz="2000" b="1" dirty="0"/>
                  <a:t> + … +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=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sSubSup>
                          <m:sSubSupPr>
                            <m:ctrlPr>
                              <a:rPr lang="en-US" sz="20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𝐥𝐨𝐠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  <m:sup/>
                        </m:sSubSup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000" b="1" dirty="0"/>
                  <a:t>) =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𝟓𝟖</m:t>
                        </m:r>
                      </m:sup>
                    </m:sSup>
                  </m:oMath>
                </a14:m>
                <a:r>
                  <a:rPr lang="en-US" sz="2000" b="1" dirty="0"/>
                  <a:t>) 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648200"/>
              </a:xfrm>
              <a:blipFill rotWithShape="1">
                <a:blip r:embed="rId2"/>
                <a:stretch>
                  <a:fillRect l="-1111" t="-1706" b="-339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362200" y="2057400"/>
            <a:ext cx="3733800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62200" y="3200400"/>
            <a:ext cx="3733800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172200" y="20690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328826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438400" y="1588532"/>
            <a:ext cx="301686" cy="468868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286000" y="1219200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MSB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711932" y="1588532"/>
            <a:ext cx="301686" cy="468868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559532" y="1219200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LSB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2200" y="2514600"/>
            <a:ext cx="3879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n-1  n-2…......………………n/2.............................2 1 0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3200400" y="2057400"/>
            <a:ext cx="2047782" cy="457200"/>
            <a:chOff x="3200400" y="2057400"/>
            <a:chExt cx="2047782" cy="457200"/>
          </a:xfrm>
        </p:grpSpPr>
        <p:cxnSp>
          <p:nvCxnSpPr>
            <p:cNvPr id="16" name="Straight Connector 15"/>
            <p:cNvCxnSpPr>
              <a:stCxn id="5" idx="0"/>
              <a:endCxn id="5" idx="2"/>
            </p:cNvCxnSpPr>
            <p:nvPr/>
          </p:nvCxnSpPr>
          <p:spPr>
            <a:xfrm>
              <a:off x="4229100" y="2057400"/>
              <a:ext cx="0" cy="45720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200400" y="2069068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933672" y="2057400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200400" y="3200400"/>
            <a:ext cx="2063812" cy="457200"/>
            <a:chOff x="3200400" y="2057400"/>
            <a:chExt cx="2063812" cy="457200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4229100" y="2057400"/>
              <a:ext cx="0" cy="45720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3200400" y="20690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933672" y="2057400"/>
              <a:ext cx="330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D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ounded Rectangle 24"/>
              <p:cNvSpPr/>
              <p:nvPr/>
            </p:nvSpPr>
            <p:spPr>
              <a:xfrm>
                <a:off x="2209800" y="3810000"/>
                <a:ext cx="457200" cy="4572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ounded 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3810000"/>
                <a:ext cx="457200" cy="457200"/>
              </a:xfrm>
              <a:prstGeom prst="roundRect">
                <a:avLst/>
              </a:prstGeom>
              <a:blipFill rotWithShape="1">
                <a:blip r:embed="rId3"/>
                <a:stretch>
                  <a:fillRect r="-11392"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ounded Rectangle 25"/>
              <p:cNvSpPr/>
              <p:nvPr/>
            </p:nvSpPr>
            <p:spPr>
              <a:xfrm>
                <a:off x="6096000" y="3733800"/>
                <a:ext cx="606532" cy="4572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𝒏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/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ounded 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733800"/>
                <a:ext cx="606532" cy="457200"/>
              </a:xfrm>
              <a:prstGeom prst="roundRect">
                <a:avLst/>
              </a:prstGeom>
              <a:blipFill rotWithShape="1">
                <a:blip r:embed="rId4"/>
                <a:stretch>
                  <a:fillRect l="-1942" r="-12621"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>
            <a:off x="3353647" y="2514600"/>
            <a:ext cx="8817" cy="6858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096583" y="2514600"/>
            <a:ext cx="8817" cy="6858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362464" y="2514600"/>
            <a:ext cx="1728463" cy="6858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362464" y="2514600"/>
            <a:ext cx="1728463" cy="6858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962400" y="5487616"/>
                <a:ext cx="1283365" cy="379784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𝟑</m:t>
                        </m:r>
                      </m:e>
                      <m:sup>
                        <m:sSubSup>
                          <m:sSubSupPr>
                            <m:ctrlPr>
                              <a:rPr lang="en-US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𝐥𝐨𝐠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  <m:sup/>
                        </m:sSubSup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IN" dirty="0"/>
                  <a:t> </a:t>
                </a:r>
                <a:r>
                  <a:rPr lang="en-US" b="1" dirty="0">
                    <a:solidFill>
                      <a:srgbClr val="002060"/>
                    </a:solidFill>
                  </a:rPr>
                  <a:t>T</a:t>
                </a:r>
                <a:r>
                  <a:rPr lang="en-US" b="1" dirty="0"/>
                  <a:t>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b="1" dirty="0"/>
                  <a:t>) </a:t>
                </a:r>
                <a:endParaRPr lang="en-IN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5487616"/>
                <a:ext cx="1283365" cy="379784"/>
              </a:xfrm>
              <a:prstGeom prst="rect">
                <a:avLst/>
              </a:prstGeom>
              <a:blipFill rotWithShape="1">
                <a:blip r:embed="rId5"/>
                <a:stretch>
                  <a:fillRect t="-4762" r="-6635" b="-238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824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582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4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Theorem</a:t>
                </a:r>
                <a:r>
                  <a:rPr lang="en-US" sz="2400" b="1" dirty="0"/>
                  <a:t>:</a:t>
                </a:r>
                <a:r>
                  <a:rPr lang="en-US" sz="2400" dirty="0"/>
                  <a:t> </a:t>
                </a:r>
                <a:r>
                  <a:rPr lang="en-US" sz="2000" dirty="0"/>
                  <a:t>There is a </a:t>
                </a:r>
                <a:r>
                  <a:rPr lang="en-US" sz="2000" b="1" dirty="0"/>
                  <a:t>divide and conquer</a:t>
                </a:r>
                <a:r>
                  <a:rPr lang="en-US" sz="2000" dirty="0"/>
                  <a:t> based algorithm for multiplying any two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-bit numbers in</a:t>
                </a:r>
                <a:r>
                  <a:rPr lang="en-US" sz="2000" b="1" dirty="0"/>
                  <a:t>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𝟓𝟖</m:t>
                        </m:r>
                      </m:sup>
                    </m:sSup>
                  </m:oMath>
                </a14:m>
                <a:r>
                  <a:rPr lang="en-US" sz="2000" b="1" dirty="0"/>
                  <a:t>) </a:t>
                </a:r>
                <a:r>
                  <a:rPr lang="en-US" sz="2000" dirty="0"/>
                  <a:t>time</a:t>
                </a:r>
                <a:r>
                  <a:rPr lang="en-US" sz="2000" b="1" dirty="0"/>
                  <a:t> (bit operations).</a:t>
                </a:r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r>
                  <a:rPr lang="en-US" sz="2800" b="1" dirty="0">
                    <a:solidFill>
                      <a:srgbClr val="C00000"/>
                    </a:solidFill>
                  </a:rPr>
                  <a:t>Note:</a:t>
                </a:r>
                <a:r>
                  <a:rPr lang="en-US" sz="28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The fastest algorithm for this problem runs in almost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 log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) </a:t>
                </a:r>
                <a:r>
                  <a:rPr lang="en-US" sz="2000" dirty="0"/>
                  <a:t>time</a:t>
                </a:r>
                <a:r>
                  <a:rPr lang="en-US" sz="2000"/>
                  <a:t>. 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58200" cy="4525963"/>
              </a:xfrm>
              <a:blipFill>
                <a:blip r:embed="rId2"/>
                <a:stretch>
                  <a:fillRect l="-1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99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</a:rPr>
              <a:t>Example 3</a:t>
            </a: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Counting the number of </a:t>
            </a:r>
          </a:p>
          <a:p>
            <a:r>
              <a:rPr lang="en-US" b="1" dirty="0">
                <a:solidFill>
                  <a:srgbClr val="7030A0"/>
                </a:solidFill>
              </a:rPr>
              <a:t>“</a:t>
            </a:r>
            <a:r>
              <a:rPr lang="en-US" b="1" i="1" dirty="0">
                <a:solidFill>
                  <a:srgbClr val="7030A0"/>
                </a:solidFill>
              </a:rPr>
              <a:t>inversions” </a:t>
            </a:r>
            <a:r>
              <a:rPr lang="en-US" b="1" dirty="0">
                <a:solidFill>
                  <a:schemeClr val="tx1"/>
                </a:solidFill>
              </a:rPr>
              <a:t>in an array</a:t>
            </a:r>
          </a:p>
        </p:txBody>
      </p:sp>
    </p:spTree>
    <p:extLst>
      <p:ext uri="{BB962C8B-B14F-4D97-AF65-F5344CB8AC3E}">
        <p14:creationId xmlns:p14="http://schemas.microsoft.com/office/powerpoint/2010/main" val="1309875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Counting Inversions in an array</a:t>
            </a:r>
            <a:br>
              <a:rPr lang="en-US" sz="3600" b="1" dirty="0">
                <a:solidFill>
                  <a:srgbClr val="7030A0"/>
                </a:solidFill>
              </a:rPr>
            </a:br>
            <a:r>
              <a:rPr lang="en-US" sz="3200" b="1" dirty="0"/>
              <a:t>Problem description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Definition (Inversion): </a:t>
            </a:r>
            <a:r>
              <a:rPr lang="en-US" sz="2000" dirty="0"/>
              <a:t>Given an array </a:t>
            </a:r>
            <a:r>
              <a:rPr lang="en-US" sz="2000" b="1" dirty="0"/>
              <a:t>A</a:t>
            </a:r>
            <a:r>
              <a:rPr lang="en-US" sz="2000" dirty="0"/>
              <a:t> of size </a:t>
            </a:r>
            <a:r>
              <a:rPr lang="en-US" sz="2000" dirty="0">
                <a:solidFill>
                  <a:srgbClr val="0070C0"/>
                </a:solidFill>
              </a:rPr>
              <a:t>n</a:t>
            </a:r>
            <a:r>
              <a:rPr lang="en-US" sz="2000" dirty="0"/>
              <a:t>, </a:t>
            </a:r>
          </a:p>
          <a:p>
            <a:pPr marL="0" indent="0">
              <a:buNone/>
            </a:pPr>
            <a:r>
              <a:rPr lang="en-US" sz="2000" dirty="0"/>
              <a:t>a pair (</a:t>
            </a:r>
            <a:r>
              <a:rPr lang="en-US" sz="2000" dirty="0" err="1">
                <a:solidFill>
                  <a:srgbClr val="0070C0"/>
                </a:solidFill>
              </a:rPr>
              <a:t>i</a:t>
            </a:r>
            <a:r>
              <a:rPr lang="en-US" sz="2000" dirty="0" err="1"/>
              <a:t>,</a:t>
            </a:r>
            <a:r>
              <a:rPr lang="en-US" sz="2000" dirty="0" err="1">
                <a:solidFill>
                  <a:srgbClr val="0070C0"/>
                </a:solidFill>
              </a:rPr>
              <a:t>j</a:t>
            </a:r>
            <a:r>
              <a:rPr lang="en-US" sz="2000" dirty="0"/>
              <a:t>), </a:t>
            </a:r>
            <a:r>
              <a:rPr lang="en-US" sz="2000" dirty="0">
                <a:solidFill>
                  <a:srgbClr val="0070C0"/>
                </a:solidFill>
              </a:rPr>
              <a:t>0</a:t>
            </a:r>
            <a:r>
              <a:rPr lang="en-US" sz="2000" dirty="0"/>
              <a:t>≤</a:t>
            </a:r>
            <a:r>
              <a:rPr lang="en-US" sz="2000" dirty="0">
                <a:solidFill>
                  <a:srgbClr val="0070C0"/>
                </a:solidFill>
              </a:rPr>
              <a:t>i</a:t>
            </a:r>
            <a:r>
              <a:rPr lang="en-US" sz="2000" dirty="0"/>
              <a:t>&lt;</a:t>
            </a:r>
            <a:r>
              <a:rPr lang="en-US" sz="2000" dirty="0">
                <a:solidFill>
                  <a:srgbClr val="0070C0"/>
                </a:solidFill>
              </a:rPr>
              <a:t>j</a:t>
            </a:r>
            <a:r>
              <a:rPr lang="en-US" sz="2000" dirty="0"/>
              <a:t>&lt;</a:t>
            </a:r>
            <a:r>
              <a:rPr lang="en-US" sz="2000" dirty="0">
                <a:solidFill>
                  <a:srgbClr val="0070C0"/>
                </a:solidFill>
              </a:rPr>
              <a:t>n</a:t>
            </a:r>
            <a:r>
              <a:rPr lang="en-US" sz="2000" dirty="0"/>
              <a:t> is called an inversion if</a:t>
            </a:r>
          </a:p>
          <a:p>
            <a:pPr marL="0" indent="0">
              <a:buNone/>
            </a:pPr>
            <a:r>
              <a:rPr lang="en-US" sz="2000" b="1" dirty="0"/>
              <a:t>Example: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Inversions are :</a:t>
            </a:r>
          </a:p>
          <a:p>
            <a:pPr marL="0" indent="0">
              <a:buNone/>
            </a:pPr>
            <a:r>
              <a:rPr lang="en-US" sz="2000" b="1" dirty="0"/>
              <a:t>                            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0070C0"/>
                </a:solidFill>
              </a:rPr>
              <a:t>1</a:t>
            </a:r>
            <a:r>
              <a:rPr lang="en-US" sz="2000" dirty="0"/>
              <a:t>,</a:t>
            </a:r>
            <a:r>
              <a:rPr lang="en-US" sz="2000" dirty="0">
                <a:solidFill>
                  <a:srgbClr val="0070C0"/>
                </a:solidFill>
              </a:rPr>
              <a:t>2</a:t>
            </a:r>
            <a:r>
              <a:rPr lang="en-US" sz="2000" dirty="0"/>
              <a:t>), (</a:t>
            </a:r>
            <a:r>
              <a:rPr lang="en-US" sz="2000" dirty="0">
                <a:solidFill>
                  <a:srgbClr val="0070C0"/>
                </a:solidFill>
              </a:rPr>
              <a:t>1</a:t>
            </a:r>
            <a:r>
              <a:rPr lang="en-US" sz="2000" dirty="0"/>
              <a:t>,</a:t>
            </a:r>
            <a:r>
              <a:rPr lang="en-US" sz="2000" dirty="0">
                <a:solidFill>
                  <a:srgbClr val="0070C0"/>
                </a:solidFill>
              </a:rPr>
              <a:t>4</a:t>
            </a:r>
            <a:r>
              <a:rPr lang="en-US" sz="2000" dirty="0"/>
              <a:t>), (</a:t>
            </a:r>
            <a:r>
              <a:rPr lang="en-US" sz="2000" dirty="0">
                <a:solidFill>
                  <a:srgbClr val="0070C0"/>
                </a:solidFill>
              </a:rPr>
              <a:t>1</a:t>
            </a:r>
            <a:r>
              <a:rPr lang="en-US" sz="2000" dirty="0"/>
              <a:t>,</a:t>
            </a:r>
            <a:r>
              <a:rPr lang="en-US" sz="2000" dirty="0">
                <a:solidFill>
                  <a:srgbClr val="0070C0"/>
                </a:solidFill>
              </a:rPr>
              <a:t>6</a:t>
            </a:r>
            <a:r>
              <a:rPr lang="en-US" sz="2000" dirty="0"/>
              <a:t>), </a:t>
            </a:r>
          </a:p>
          <a:p>
            <a:pPr marL="0" indent="0">
              <a:buNone/>
            </a:pPr>
            <a:r>
              <a:rPr lang="en-US" sz="2000" dirty="0"/>
              <a:t>                             (</a:t>
            </a:r>
            <a:r>
              <a:rPr lang="en-US" sz="2000" dirty="0">
                <a:solidFill>
                  <a:srgbClr val="0070C0"/>
                </a:solidFill>
              </a:rPr>
              <a:t>3</a:t>
            </a:r>
            <a:r>
              <a:rPr lang="en-US" sz="2000" dirty="0"/>
              <a:t>,</a:t>
            </a:r>
            <a:r>
              <a:rPr lang="en-US" sz="2000" dirty="0">
                <a:solidFill>
                  <a:srgbClr val="0070C0"/>
                </a:solidFill>
              </a:rPr>
              <a:t>4</a:t>
            </a:r>
            <a:r>
              <a:rPr lang="en-US" sz="2000" dirty="0"/>
              <a:t>),(</a:t>
            </a:r>
            <a:r>
              <a:rPr lang="en-US" sz="2000" dirty="0">
                <a:solidFill>
                  <a:srgbClr val="0070C0"/>
                </a:solidFill>
              </a:rPr>
              <a:t>3</a:t>
            </a:r>
            <a:r>
              <a:rPr lang="en-US" sz="2000" dirty="0"/>
              <a:t>,</a:t>
            </a:r>
            <a:r>
              <a:rPr lang="en-US" sz="2000" dirty="0">
                <a:solidFill>
                  <a:srgbClr val="0070C0"/>
                </a:solidFill>
              </a:rPr>
              <a:t>6</a:t>
            </a:r>
            <a:r>
              <a:rPr lang="en-US" sz="2000" dirty="0"/>
              <a:t>), </a:t>
            </a:r>
          </a:p>
          <a:p>
            <a:pPr marL="0" indent="0">
              <a:buNone/>
            </a:pPr>
            <a:r>
              <a:rPr lang="en-US" sz="2000" dirty="0"/>
              <a:t>                             (</a:t>
            </a:r>
            <a:r>
              <a:rPr lang="en-US" sz="2000" dirty="0">
                <a:solidFill>
                  <a:srgbClr val="0070C0"/>
                </a:solidFill>
              </a:rPr>
              <a:t>5</a:t>
            </a:r>
            <a:r>
              <a:rPr lang="en-US" sz="2000" dirty="0"/>
              <a:t>,</a:t>
            </a:r>
            <a:r>
              <a:rPr lang="en-US" sz="2000" dirty="0">
                <a:solidFill>
                  <a:srgbClr val="0070C0"/>
                </a:solidFill>
              </a:rPr>
              <a:t>6</a:t>
            </a:r>
            <a:r>
              <a:rPr lang="en-US" sz="2000" dirty="0"/>
              <a:t>), (</a:t>
            </a:r>
            <a:r>
              <a:rPr lang="en-US" sz="2000" dirty="0">
                <a:solidFill>
                  <a:srgbClr val="0070C0"/>
                </a:solidFill>
              </a:rPr>
              <a:t>5</a:t>
            </a:r>
            <a:r>
              <a:rPr lang="en-US" sz="2000" dirty="0"/>
              <a:t>,</a:t>
            </a:r>
            <a:r>
              <a:rPr lang="en-US" sz="2000" dirty="0">
                <a:solidFill>
                  <a:srgbClr val="0070C0"/>
                </a:solidFill>
              </a:rPr>
              <a:t>7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AIM:</a:t>
            </a:r>
            <a:r>
              <a:rPr lang="en-US" sz="2000" dirty="0"/>
              <a:t> An efficient algorithm to count  the number of inversions in an array </a:t>
            </a:r>
            <a:r>
              <a:rPr lang="en-US" sz="2000" b="1" dirty="0"/>
              <a:t>A</a:t>
            </a:r>
            <a:r>
              <a:rPr lang="en-US" sz="2000" dirty="0"/>
              <a:t>. 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2090228" y="3124200"/>
            <a:ext cx="4900477" cy="461665"/>
            <a:chOff x="2090228" y="2891135"/>
            <a:chExt cx="4900477" cy="461665"/>
          </a:xfrm>
        </p:grpSpPr>
        <p:grpSp>
          <p:nvGrpSpPr>
            <p:cNvPr id="5" name="Group 4"/>
            <p:cNvGrpSpPr/>
            <p:nvPr/>
          </p:nvGrpSpPr>
          <p:grpSpPr>
            <a:xfrm>
              <a:off x="2514600" y="2895600"/>
              <a:ext cx="4343400" cy="457200"/>
              <a:chOff x="3581400" y="4191000"/>
              <a:chExt cx="4343400" cy="457200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3581400" y="4191000"/>
                <a:ext cx="4343400" cy="457200"/>
                <a:chOff x="1447800" y="2362200"/>
                <a:chExt cx="4343400" cy="457200"/>
              </a:xfrm>
            </p:grpSpPr>
            <p:sp>
              <p:nvSpPr>
                <p:cNvPr id="11" name="Rectangle 10"/>
                <p:cNvSpPr/>
                <p:nvPr/>
              </p:nvSpPr>
              <p:spPr>
                <a:xfrm>
                  <a:off x="1447800" y="2362200"/>
                  <a:ext cx="4343400" cy="457200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2" name="Straight Connector 11"/>
                <p:cNvCxnSpPr/>
                <p:nvPr/>
              </p:nvCxnSpPr>
              <p:spPr>
                <a:xfrm>
                  <a:off x="2590800" y="2362200"/>
                  <a:ext cx="0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/>
              </p:nvCxnSpPr>
              <p:spPr>
                <a:xfrm>
                  <a:off x="3124200" y="2362200"/>
                  <a:ext cx="0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/>
              </p:nvCxnSpPr>
              <p:spPr>
                <a:xfrm>
                  <a:off x="1981200" y="2362200"/>
                  <a:ext cx="0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" name="Straight Connector 6"/>
              <p:cNvCxnSpPr/>
              <p:nvPr/>
            </p:nvCxnSpPr>
            <p:spPr>
              <a:xfrm>
                <a:off x="5791200" y="41910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6324600" y="41910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6858000" y="41910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7391400" y="41910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/>
            <p:cNvSpPr txBox="1"/>
            <p:nvPr/>
          </p:nvSpPr>
          <p:spPr>
            <a:xfrm>
              <a:off x="2090228" y="2891135"/>
              <a:ext cx="3706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639834" y="2971800"/>
              <a:ext cx="43508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3       15         8       19       9      67     11       27  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2639834" y="2816423"/>
            <a:ext cx="4161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0            1            2           3             4         5           6            7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279" y="2057400"/>
            <a:ext cx="102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  <a:r>
              <a:rPr lang="en-US" dirty="0"/>
              <a:t>[</a:t>
            </a:r>
            <a:r>
              <a:rPr lang="en-US" dirty="0">
                <a:solidFill>
                  <a:srgbClr val="0070C0"/>
                </a:solidFill>
              </a:rPr>
              <a:t>i</a:t>
            </a:r>
            <a:r>
              <a:rPr lang="en-US" dirty="0"/>
              <a:t>]&gt;</a:t>
            </a:r>
            <a:r>
              <a:rPr lang="en-US" b="1" dirty="0"/>
              <a:t>A</a:t>
            </a:r>
            <a:r>
              <a:rPr lang="en-US" dirty="0"/>
              <a:t>[</a:t>
            </a:r>
            <a:r>
              <a:rPr lang="en-US" dirty="0">
                <a:solidFill>
                  <a:srgbClr val="0070C0"/>
                </a:solidFill>
              </a:rPr>
              <a:t>j</a:t>
            </a:r>
            <a:r>
              <a:rPr lang="en-US" dirty="0"/>
              <a:t>].</a:t>
            </a:r>
          </a:p>
        </p:txBody>
      </p:sp>
    </p:spTree>
    <p:extLst>
      <p:ext uri="{BB962C8B-B14F-4D97-AF65-F5344CB8AC3E}">
        <p14:creationId xmlns:p14="http://schemas.microsoft.com/office/powerpoint/2010/main" val="1975571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17" grpId="0"/>
      <p:bldP spid="1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Counting Inversions in an array</a:t>
            </a:r>
            <a:br>
              <a:rPr lang="en-US" sz="3600" b="1" dirty="0">
                <a:solidFill>
                  <a:srgbClr val="7030A0"/>
                </a:solidFill>
              </a:rPr>
            </a:br>
            <a:r>
              <a:rPr lang="en-US" sz="3200" b="1" dirty="0"/>
              <a:t>Problem familiarization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029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Trivial-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algo</a:t>
                </a:r>
                <a:r>
                  <a:rPr lang="en-US" sz="2000" dirty="0"/>
                  <a:t>(</a:t>
                </a:r>
                <a:r>
                  <a:rPr lang="en-US" sz="2000" b="1" dirty="0"/>
                  <a:t>A</a:t>
                </a:r>
                <a:r>
                  <a:rPr lang="en-US" sz="2000" dirty="0"/>
                  <a:t>[</a:t>
                </a:r>
                <a:r>
                  <a:rPr lang="en-US" sz="2000" dirty="0">
                    <a:solidFill>
                      <a:srgbClr val="0070C0"/>
                    </a:solidFill>
                  </a:rPr>
                  <a:t>0</a:t>
                </a:r>
                <a:r>
                  <a:rPr lang="en-US" sz="2000" dirty="0"/>
                  <a:t>..</a:t>
                </a:r>
                <a:r>
                  <a:rPr lang="en-US" sz="2000" dirty="0">
                    <a:solidFill>
                      <a:srgbClr val="0070C0"/>
                    </a:solidFill>
                  </a:rPr>
                  <a:t>n-1</a:t>
                </a:r>
                <a:r>
                  <a:rPr lang="en-US" sz="2000" dirty="0"/>
                  <a:t>])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{</a:t>
                </a:r>
                <a:r>
                  <a:rPr lang="en-US" sz="2000" dirty="0">
                    <a:solidFill>
                      <a:srgbClr val="0070C0"/>
                    </a:solidFill>
                  </a:rPr>
                  <a:t> count </a:t>
                </a:r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 0</a:t>
                </a:r>
                <a:r>
                  <a:rPr lang="en-US" sz="20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</a:t>
                </a:r>
                <a:r>
                  <a:rPr lang="en-US" sz="2000" b="1" dirty="0">
                    <a:sym typeface="Wingdings" pitchFamily="2" charset="2"/>
                  </a:rPr>
                  <a:t>For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j</a:t>
                </a:r>
                <a:r>
                  <a:rPr lang="en-US" sz="2000" dirty="0">
                    <a:sym typeface="Wingdings" pitchFamily="2" charset="2"/>
                  </a:rPr>
                  <a:t>=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1</a:t>
                </a:r>
                <a:r>
                  <a:rPr lang="en-US" sz="2000" dirty="0">
                    <a:sym typeface="Wingdings" pitchFamily="2" charset="2"/>
                  </a:rPr>
                  <a:t>  to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n-1</a:t>
                </a:r>
                <a:r>
                  <a:rPr lang="en-US" sz="2000" dirty="0">
                    <a:sym typeface="Wingdings" pitchFamily="2" charset="2"/>
                  </a:rPr>
                  <a:t>) </a:t>
                </a:r>
                <a:r>
                  <a:rPr lang="en-US" sz="2000" b="1" dirty="0">
                    <a:sym typeface="Wingdings" pitchFamily="2" charset="2"/>
                  </a:rPr>
                  <a:t>do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{</a:t>
                </a:r>
                <a:r>
                  <a:rPr lang="en-US" sz="2000" dirty="0">
                    <a:sym typeface="Wingdings" pitchFamily="2" charset="2"/>
                  </a:rPr>
                  <a:t>        </a:t>
                </a:r>
                <a:r>
                  <a:rPr lang="en-US" sz="2000" b="1" dirty="0">
                    <a:sym typeface="Wingdings" pitchFamily="2" charset="2"/>
                  </a:rPr>
                  <a:t>For(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i</a:t>
                </a:r>
                <a:r>
                  <a:rPr lang="en-US" sz="2000" dirty="0">
                    <a:sym typeface="Wingdings" pitchFamily="2" charset="2"/>
                  </a:rPr>
                  <a:t>=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0</a:t>
                </a:r>
                <a:r>
                  <a:rPr lang="en-US" sz="2000" dirty="0">
                    <a:sym typeface="Wingdings" pitchFamily="2" charset="2"/>
                  </a:rPr>
                  <a:t> to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j-1</a:t>
                </a:r>
                <a:r>
                  <a:rPr lang="en-US" sz="2000" dirty="0">
                    <a:sym typeface="Wingdings" pitchFamily="2" charset="2"/>
                  </a:rPr>
                  <a:t> </a:t>
                </a:r>
                <a:r>
                  <a:rPr lang="en-US" sz="2000" b="1" dirty="0"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        {       If 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ym typeface="Wingdings" pitchFamily="2" charset="2"/>
                  </a:rPr>
                  <a:t>A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i</a:t>
                </a:r>
                <a:r>
                  <a:rPr lang="en-US" sz="2000" dirty="0">
                    <a:sym typeface="Wingdings" pitchFamily="2" charset="2"/>
                  </a:rPr>
                  <a:t>]&gt;</a:t>
                </a:r>
                <a:r>
                  <a:rPr lang="en-US" sz="2000" b="1" dirty="0">
                    <a:sym typeface="Wingdings" pitchFamily="2" charset="2"/>
                  </a:rPr>
                  <a:t>A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j</a:t>
                </a:r>
                <a:r>
                  <a:rPr lang="en-US" sz="2000" dirty="0">
                    <a:sym typeface="Wingdings" pitchFamily="2" charset="2"/>
                  </a:rPr>
                  <a:t>])  </a:t>
                </a:r>
                <a:r>
                  <a:rPr lang="en-US" sz="2000" dirty="0">
                    <a:solidFill>
                      <a:srgbClr val="0070C0"/>
                    </a:solidFill>
                  </a:rPr>
                  <a:t>count </a:t>
                </a:r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 count + 1</a:t>
                </a:r>
                <a:r>
                  <a:rPr lang="en-US" sz="20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        }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}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}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Time complexity: </a:t>
                </a:r>
                <a:r>
                  <a:rPr lang="en-US" sz="2000" dirty="0"/>
                  <a:t>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Question: </a:t>
                </a:r>
                <a:r>
                  <a:rPr lang="en-US" sz="2000" dirty="0"/>
                  <a:t>What can be the max. no. of inversions in an array </a:t>
                </a:r>
                <a:r>
                  <a:rPr lang="en-US" sz="2000" b="1" dirty="0"/>
                  <a:t>A</a:t>
                </a:r>
                <a:r>
                  <a:rPr lang="en-US" sz="2000" dirty="0"/>
                  <a:t>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</m:num>
                          <m:den>
                            <m:r>
                              <a:rPr lang="en-US" sz="2000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dirty="0"/>
                  <a:t>, which is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dirty="0"/>
                  <a:t>).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Question: </a:t>
                </a:r>
                <a:r>
                  <a:rPr lang="en-US" sz="2000" dirty="0"/>
                  <a:t>Is the algorithm given above optimal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Answer:  </a:t>
                </a:r>
                <a:r>
                  <a:rPr lang="en-US" sz="2000" dirty="0"/>
                  <a:t>No, our aim is </a:t>
                </a:r>
                <a:r>
                  <a:rPr lang="en-US" sz="2000" b="1" u="sng" dirty="0"/>
                  <a:t>not</a:t>
                </a:r>
                <a:r>
                  <a:rPr lang="en-US" sz="2000" dirty="0"/>
                  <a:t> to report all inversions but to </a:t>
                </a:r>
                <a:r>
                  <a:rPr lang="en-US" sz="2000" u="sng" dirty="0"/>
                  <a:t>report the count</a:t>
                </a:r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029200"/>
              </a:xfrm>
              <a:blipFill rotWithShape="1">
                <a:blip r:embed="rId2"/>
                <a:stretch>
                  <a:fillRect l="-741" t="-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5" name="Down Ribbon 4"/>
          <p:cNvSpPr/>
          <p:nvPr/>
        </p:nvSpPr>
        <p:spPr>
          <a:xfrm>
            <a:off x="5334000" y="2667000"/>
            <a:ext cx="3810000" cy="14508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Ponder over the </a:t>
            </a:r>
            <a:r>
              <a:rPr lang="en-US" b="1" dirty="0">
                <a:solidFill>
                  <a:schemeClr val="tx1"/>
                </a:solidFill>
              </a:rPr>
              <a:t>divide and conquer algorithm </a:t>
            </a:r>
            <a:r>
              <a:rPr lang="en-US" dirty="0">
                <a:solidFill>
                  <a:schemeClr val="tx1"/>
                </a:solidFill>
              </a:rPr>
              <a:t>for this problem. We shall discuss it in the next class.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25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2556</TotalTime>
  <Words>1877</Words>
  <Application>Microsoft Macintosh PowerPoint</Application>
  <PresentationFormat>On-screen Show (4:3)</PresentationFormat>
  <Paragraphs>315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 Math</vt:lpstr>
      <vt:lpstr>Wingdings</vt:lpstr>
      <vt:lpstr>Office Theme</vt:lpstr>
      <vt:lpstr>Data Structures and Algorithms (ESO207) </vt:lpstr>
      <vt:lpstr>Algorithm Paradigms</vt:lpstr>
      <vt:lpstr>Algorithm Paradigm</vt:lpstr>
      <vt:lpstr>Divide and Conquer paradigm for Algorithm Design</vt:lpstr>
      <vt:lpstr>Divide and Conquer paradigm An Overview</vt:lpstr>
      <vt:lpstr>Example 1</vt:lpstr>
      <vt:lpstr>A familiar problem</vt:lpstr>
      <vt:lpstr>Merging two sorted arrays A and B</vt:lpstr>
      <vt:lpstr>Pesudo-code for Merging two sorted arrays </vt:lpstr>
      <vt:lpstr>Divide and Conquer based sorting algorithm</vt:lpstr>
      <vt:lpstr>Divide and Conquer based sorting algorithm</vt:lpstr>
      <vt:lpstr>Proof of correctness of Merge-Sort</vt:lpstr>
      <vt:lpstr>Example 2</vt:lpstr>
      <vt:lpstr>Addition is faster than multiplication</vt:lpstr>
      <vt:lpstr>Pursuing Divide and Conquer approach</vt:lpstr>
      <vt:lpstr>Pursuing Divide and Conquer approach</vt:lpstr>
      <vt:lpstr>Pursuing Divide and Conquer approach</vt:lpstr>
      <vt:lpstr>Pursuing Divide and Conquer approach</vt:lpstr>
      <vt:lpstr>Conclusion</vt:lpstr>
      <vt:lpstr>Example 3</vt:lpstr>
      <vt:lpstr>Counting Inversions in an array Problem description</vt:lpstr>
      <vt:lpstr>Counting Inversions in an array Problem familiarization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499</cp:revision>
  <dcterms:created xsi:type="dcterms:W3CDTF">2011-12-03T04:13:03Z</dcterms:created>
  <dcterms:modified xsi:type="dcterms:W3CDTF">2025-09-01T02:29:47Z</dcterms:modified>
</cp:coreProperties>
</file>