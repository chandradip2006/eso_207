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2"/>
  </p:notesMasterIdLst>
  <p:sldIdLst>
    <p:sldId id="388" r:id="rId2"/>
    <p:sldId id="365" r:id="rId3"/>
    <p:sldId id="366" r:id="rId4"/>
    <p:sldId id="406" r:id="rId5"/>
    <p:sldId id="404" r:id="rId6"/>
    <p:sldId id="391" r:id="rId7"/>
    <p:sldId id="392" r:id="rId8"/>
    <p:sldId id="397" r:id="rId9"/>
    <p:sldId id="399" r:id="rId10"/>
    <p:sldId id="400" r:id="rId11"/>
    <p:sldId id="393" r:id="rId12"/>
    <p:sldId id="401" r:id="rId13"/>
    <p:sldId id="402" r:id="rId14"/>
    <p:sldId id="389" r:id="rId15"/>
    <p:sldId id="407" r:id="rId16"/>
    <p:sldId id="408" r:id="rId17"/>
    <p:sldId id="390" r:id="rId18"/>
    <p:sldId id="370" r:id="rId19"/>
    <p:sldId id="369" r:id="rId20"/>
    <p:sldId id="371" r:id="rId21"/>
    <p:sldId id="373" r:id="rId22"/>
    <p:sldId id="372" r:id="rId23"/>
    <p:sldId id="374" r:id="rId24"/>
    <p:sldId id="379" r:id="rId25"/>
    <p:sldId id="377" r:id="rId26"/>
    <p:sldId id="375" r:id="rId27"/>
    <p:sldId id="378" r:id="rId28"/>
    <p:sldId id="380" r:id="rId29"/>
    <p:sldId id="367" r:id="rId30"/>
    <p:sldId id="381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09600" y="4495800"/>
                <a:ext cx="8153400" cy="1447800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 lnSpcReduction="10000"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Lecture 20</a:t>
                </a:r>
              </a:p>
              <a:p>
                <a:pPr algn="l" fontAlgn="auto">
                  <a:spcAft>
                    <a:spcPts val="0"/>
                  </a:spcAft>
                  <a:defRPr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Black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tree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(Final lecture)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 marL="742950" lvl="1" indent="-285750" algn="l"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9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 types of operations</a:t>
                </a:r>
              </a:p>
              <a:p>
                <a:pPr lvl="1" algn="l" fontAlgn="auto">
                  <a:spcAft>
                    <a:spcPts val="0"/>
                  </a:spcAft>
                  <a:defRPr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                  </a:t>
                </a:r>
                <a:r>
                  <a:rPr lang="en-US" sz="2000" dirty="0">
                    <a:solidFill>
                      <a:schemeClr val="tx1"/>
                    </a:solidFill>
                  </a:rPr>
                  <a:t>each executed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) </a:t>
                </a:r>
                <a:r>
                  <a:rPr lang="en-US" sz="2000" dirty="0">
                    <a:solidFill>
                      <a:schemeClr val="tx1"/>
                    </a:solidFill>
                  </a:rPr>
                  <a:t>time ! </a:t>
                </a:r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09600" y="4495800"/>
                <a:ext cx="8153400" cy="14478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3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Red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Black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6C31"/>
                </a:solidFill>
              </a:rPr>
              <a:t>tree </a:t>
            </a:r>
            <a:br>
              <a:rPr lang="en-US" sz="3200" b="1" dirty="0">
                <a:solidFill>
                  <a:srgbClr val="006C31"/>
                </a:solidFill>
              </a:rPr>
            </a:br>
            <a:r>
              <a:rPr lang="en-US" sz="2400" dirty="0"/>
              <a:t>(</a:t>
            </a:r>
            <a:r>
              <a:rPr lang="en-US" sz="2400" b="1" dirty="0">
                <a:solidFill>
                  <a:srgbClr val="7030A0"/>
                </a:solidFill>
              </a:rPr>
              <a:t>Height Balanced BST</a:t>
            </a:r>
            <a:r>
              <a:rPr lang="en-US" sz="2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C00000"/>
                    </a:solidFill>
                  </a:rPr>
                  <a:t>Operations</a:t>
                </a:r>
                <a:r>
                  <a:rPr lang="en-US" sz="2800" dirty="0"/>
                  <a:t> </a:t>
                </a:r>
                <a:r>
                  <a:rPr lang="en-US" sz="2800" b="1" dirty="0"/>
                  <a:t>you already know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002060"/>
                  </a:solidFill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Search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Insert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Delete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Min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400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Max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400" dirty="0"/>
                  <a:t>)</a:t>
                </a:r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4797425" y="2174875"/>
            <a:ext cx="4346575" cy="3951288"/>
          </a:xfrm>
        </p:spPr>
        <p:txBody>
          <a:bodyPr/>
          <a:lstStyle/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Ribbon 9"/>
              <p:cNvSpPr/>
              <p:nvPr/>
            </p:nvSpPr>
            <p:spPr>
              <a:xfrm>
                <a:off x="2590800" y="5026152"/>
                <a:ext cx="41148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Every operation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dirty="0">
                    <a:solidFill>
                      <a:schemeClr val="tx1"/>
                    </a:solidFill>
                  </a:rPr>
                  <a:t>(log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time.</a:t>
                </a:r>
              </a:p>
            </p:txBody>
          </p:sp>
        </mc:Choice>
        <mc:Fallback xmlns="">
          <p:sp>
            <p:nvSpPr>
              <p:cNvPr id="10" name="Down Ribbon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5026152"/>
                <a:ext cx="41148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0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Search Tree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How well have you understood ?</a:t>
            </a:r>
            <a:endParaRPr lang="en-US" sz="24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04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91041"/>
              </p:ext>
            </p:extLst>
          </p:nvPr>
        </p:nvGraphicFramePr>
        <p:xfrm>
          <a:off x="1371600" y="5648960"/>
          <a:ext cx="6096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Isosceles Triangle 5"/>
          <p:cNvSpPr/>
          <p:nvPr/>
        </p:nvSpPr>
        <p:spPr>
          <a:xfrm>
            <a:off x="1447800" y="1295400"/>
            <a:ext cx="6096000" cy="320040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4419600" y="3581400"/>
            <a:ext cx="1905000" cy="91440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399556"/>
              </p:ext>
            </p:extLst>
          </p:nvPr>
        </p:nvGraphicFramePr>
        <p:xfrm>
          <a:off x="4419600" y="5648960"/>
          <a:ext cx="1905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20300" y="4547168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300" y="4547168"/>
                <a:ext cx="38183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029200" y="4724400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24400"/>
                <a:ext cx="71205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02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5295900" y="3429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87175" y="31242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175" y="3124200"/>
                <a:ext cx="3754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696200" y="5648960"/>
            <a:ext cx="804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29200" y="6031468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6031468"/>
                <a:ext cx="71205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02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loud Callout 15"/>
              <p:cNvSpPr/>
              <p:nvPr/>
            </p:nvSpPr>
            <p:spPr>
              <a:xfrm>
                <a:off x="5562598" y="1676400"/>
                <a:ext cx="3581402" cy="1143000"/>
              </a:xfrm>
              <a:prstGeom prst="cloudCallout">
                <a:avLst>
                  <a:gd name="adj1" fmla="val 22651"/>
                  <a:gd name="adj2" fmla="val 8094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do the elements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appear in </a:t>
                </a:r>
                <a:r>
                  <a:rPr lang="en-US" b="1" dirty="0">
                    <a:solidFill>
                      <a:schemeClr val="tx1"/>
                    </a:solidFill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16" name="Cloud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8" y="1676400"/>
                <a:ext cx="3581402" cy="1143000"/>
              </a:xfrm>
              <a:prstGeom prst="cloudCallout">
                <a:avLst>
                  <a:gd name="adj1" fmla="val 22651"/>
                  <a:gd name="adj2" fmla="val 80946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62000" y="56388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endParaRPr lang="en-US" dirty="0"/>
          </a:p>
        </p:txBody>
      </p:sp>
      <p:sp>
        <p:nvSpPr>
          <p:cNvPr id="18" name="Right Brace 17"/>
          <p:cNvSpPr/>
          <p:nvPr/>
        </p:nvSpPr>
        <p:spPr>
          <a:xfrm rot="16200000">
            <a:off x="5276087" y="4517136"/>
            <a:ext cx="192025" cy="19050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/>
          <p:cNvSpPr/>
          <p:nvPr/>
        </p:nvSpPr>
        <p:spPr>
          <a:xfrm rot="5400000">
            <a:off x="5252042" y="3728640"/>
            <a:ext cx="229197" cy="191591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8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600" b="1" dirty="0"/>
                  <a:t>(</a:t>
                </a:r>
                <a:r>
                  <a:rPr lang="en-US" sz="36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600" dirty="0"/>
                  <a:t>,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6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solidFill>
                      <a:schemeClr val="tx1"/>
                    </a:solidFill>
                  </a:rPr>
                  <a:t>The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largest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element in 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400" dirty="0">
                    <a:solidFill>
                      <a:schemeClr val="tx1"/>
                    </a:solidFill>
                  </a:rPr>
                  <a:t>which is </a:t>
                </a:r>
                <a:r>
                  <a:rPr lang="en-US" sz="2400" b="1" u="sng" dirty="0">
                    <a:solidFill>
                      <a:schemeClr val="tx1"/>
                    </a:solidFill>
                  </a:rPr>
                  <a:t>smaller than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u="sng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sz="2400" b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3"/>
                <a:stretch>
                  <a:fillRect l="-1429" t="-2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67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6200" y="274638"/>
                <a:ext cx="8915400" cy="1143000"/>
              </a:xfrm>
            </p:spPr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200" y="274638"/>
                <a:ext cx="89154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990601" y="1600200"/>
            <a:ext cx="7010399" cy="3810000"/>
            <a:chOff x="990601" y="1600200"/>
            <a:chExt cx="7010399" cy="3810000"/>
          </a:xfrm>
        </p:grpSpPr>
        <p:grpSp>
          <p:nvGrpSpPr>
            <p:cNvPr id="5" name="Group 4"/>
            <p:cNvGrpSpPr/>
            <p:nvPr/>
          </p:nvGrpSpPr>
          <p:grpSpPr>
            <a:xfrm>
              <a:off x="990601" y="1600200"/>
              <a:ext cx="6723747" cy="3810000"/>
              <a:chOff x="990601" y="1600200"/>
              <a:chExt cx="6723747" cy="3810000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990601" y="48453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22" name="Group 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5" name="Group 24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6" name="Straight Connector 25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3" name="Straight Arrow Connector 22"/>
                <p:cNvCxnSpPr>
                  <a:endCxn id="24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/>
              <p:cNvGrpSpPr/>
              <p:nvPr/>
            </p:nvGrpSpPr>
            <p:grpSpPr>
              <a:xfrm>
                <a:off x="1349682" y="48453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80" name="Group 7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82" name="Rectangle 8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3" name="Group 82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1" name="Straight Arrow Connector 8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/>
            </p:nvGrpSpPr>
            <p:grpSpPr>
              <a:xfrm>
                <a:off x="2057400" y="48453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31" name="Group 13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4" name="Group 13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5" name="Straight Connector 13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Straight Connector 13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2" name="Straight Arrow Connector 131"/>
                <p:cNvCxnSpPr>
                  <a:endCxn id="133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/>
            </p:nvGrpSpPr>
            <p:grpSpPr>
              <a:xfrm>
                <a:off x="2416481" y="48453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7" name="Rectangle 12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9" name="Straight Connector 12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6" name="Straight Arrow Connector 12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9" name="Group 138"/>
              <p:cNvGrpSpPr/>
              <p:nvPr/>
            </p:nvGrpSpPr>
            <p:grpSpPr>
              <a:xfrm>
                <a:off x="3124200" y="48453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47" name="Group 146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49" name="Rectangle 148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50" name="Group 149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51" name="Straight Connector 150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48" name="Straight Arrow Connector 147"/>
                <p:cNvCxnSpPr>
                  <a:endCxn id="149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0" name="Group 139"/>
              <p:cNvGrpSpPr/>
              <p:nvPr/>
            </p:nvGrpSpPr>
            <p:grpSpPr>
              <a:xfrm>
                <a:off x="3483281" y="48453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41" name="Group 14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43" name="Rectangle 14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44" name="Group 14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45" name="Straight Connector 14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42" name="Straight Arrow Connector 141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5" name="Group 154"/>
              <p:cNvGrpSpPr/>
              <p:nvPr/>
            </p:nvGrpSpPr>
            <p:grpSpPr>
              <a:xfrm>
                <a:off x="4038600" y="48453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63" name="Group 16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65" name="Rectangle 16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67" name="Straight Connector 16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Straight Connector 16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4" name="Straight Arrow Connector 163"/>
                <p:cNvCxnSpPr>
                  <a:endCxn id="165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6" name="Group 155"/>
              <p:cNvGrpSpPr/>
              <p:nvPr/>
            </p:nvGrpSpPr>
            <p:grpSpPr>
              <a:xfrm>
                <a:off x="4397681" y="48453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57" name="Group 156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60" name="Group 159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61" name="Straight Connector 160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Straight Connector 161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8" name="Straight Arrow Connector 157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/>
            </p:nvGrpSpPr>
            <p:grpSpPr>
              <a:xfrm>
                <a:off x="6113452" y="4682198"/>
                <a:ext cx="170548" cy="226571"/>
                <a:chOff x="2447520" y="2514600"/>
                <a:chExt cx="201169" cy="223166"/>
              </a:xfrm>
            </p:grpSpPr>
            <p:sp>
              <p:nvSpPr>
                <p:cNvPr id="191" name="Rectangle 190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2" name="Group 191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93" name="Straight Connector 192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Connector 193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1" name="Group 220"/>
              <p:cNvGrpSpPr/>
              <p:nvPr/>
            </p:nvGrpSpPr>
            <p:grpSpPr>
              <a:xfrm>
                <a:off x="7543800" y="3810000"/>
                <a:ext cx="170548" cy="226571"/>
                <a:chOff x="2447520" y="2514600"/>
                <a:chExt cx="201169" cy="223166"/>
              </a:xfrm>
            </p:grpSpPr>
            <p:sp>
              <p:nvSpPr>
                <p:cNvPr id="223" name="Rectangle 22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24" name="Group 22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25" name="Straight Connector 22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35" name="Oval 234"/>
              <p:cNvSpPr/>
              <p:nvPr/>
            </p:nvSpPr>
            <p:spPr>
              <a:xfrm>
                <a:off x="4514094" y="2252990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7" name="Oval 236"/>
              <p:cNvSpPr/>
              <p:nvPr/>
            </p:nvSpPr>
            <p:spPr>
              <a:xfrm>
                <a:off x="6419094" y="3046421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9" name="Oval 238"/>
              <p:cNvSpPr/>
              <p:nvPr/>
            </p:nvSpPr>
            <p:spPr>
              <a:xfrm>
                <a:off x="1770894" y="3841431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5504694" y="3816182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3" name="Oval 242"/>
              <p:cNvSpPr/>
              <p:nvPr/>
            </p:nvSpPr>
            <p:spPr>
              <a:xfrm>
                <a:off x="3752094" y="3853190"/>
                <a:ext cx="286506" cy="19716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5" name="Oval 244"/>
              <p:cNvSpPr/>
              <p:nvPr/>
            </p:nvSpPr>
            <p:spPr>
              <a:xfrm>
                <a:off x="2819400" y="3046421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1161294" y="4691390"/>
                <a:ext cx="286506" cy="19716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7" name="Oval 246"/>
              <p:cNvSpPr/>
              <p:nvPr/>
            </p:nvSpPr>
            <p:spPr>
              <a:xfrm>
                <a:off x="2228093" y="4691390"/>
                <a:ext cx="286506" cy="19716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8" name="Oval 247"/>
              <p:cNvSpPr/>
              <p:nvPr/>
            </p:nvSpPr>
            <p:spPr>
              <a:xfrm>
                <a:off x="3294893" y="4691390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9" name="Oval 248"/>
              <p:cNvSpPr/>
              <p:nvPr/>
            </p:nvSpPr>
            <p:spPr>
              <a:xfrm>
                <a:off x="4209293" y="4691390"/>
                <a:ext cx="286506" cy="19716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255" name="Straight Arrow Connector 254"/>
              <p:cNvCxnSpPr/>
              <p:nvPr/>
            </p:nvCxnSpPr>
            <p:spPr>
              <a:xfrm flipH="1">
                <a:off x="2962653" y="2351575"/>
                <a:ext cx="1551441" cy="694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/>
              <p:cNvCxnSpPr/>
              <p:nvPr/>
            </p:nvCxnSpPr>
            <p:spPr>
              <a:xfrm flipH="1">
                <a:off x="1953760" y="3221205"/>
                <a:ext cx="941840" cy="63198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/>
              <p:cNvCxnSpPr>
                <a:stCxn id="243" idx="3"/>
              </p:cNvCxnSpPr>
              <p:nvPr/>
            </p:nvCxnSpPr>
            <p:spPr>
              <a:xfrm flipH="1">
                <a:off x="3438147" y="4021484"/>
                <a:ext cx="355905" cy="6699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/>
              <p:cNvCxnSpPr>
                <a:endCxn id="246" idx="7"/>
              </p:cNvCxnSpPr>
              <p:nvPr/>
            </p:nvCxnSpPr>
            <p:spPr>
              <a:xfrm flipH="1">
                <a:off x="1405842" y="4005590"/>
                <a:ext cx="422958" cy="71467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Arrow Connector 260"/>
              <p:cNvCxnSpPr/>
              <p:nvPr/>
            </p:nvCxnSpPr>
            <p:spPr>
              <a:xfrm flipH="1">
                <a:off x="5181600" y="4021484"/>
                <a:ext cx="405136" cy="6699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Arrow Connector 262"/>
              <p:cNvCxnSpPr/>
              <p:nvPr/>
            </p:nvCxnSpPr>
            <p:spPr>
              <a:xfrm flipH="1">
                <a:off x="5647948" y="3243590"/>
                <a:ext cx="811214" cy="57259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Arrow Connector 263"/>
              <p:cNvCxnSpPr/>
              <p:nvPr/>
            </p:nvCxnSpPr>
            <p:spPr>
              <a:xfrm>
                <a:off x="3048000" y="3221205"/>
                <a:ext cx="838200" cy="63198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Arrow Connector 266"/>
              <p:cNvCxnSpPr/>
              <p:nvPr/>
            </p:nvCxnSpPr>
            <p:spPr>
              <a:xfrm>
                <a:off x="6705600" y="3221205"/>
                <a:ext cx="838200" cy="63198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/>
              <p:cNvCxnSpPr/>
              <p:nvPr/>
            </p:nvCxnSpPr>
            <p:spPr>
              <a:xfrm>
                <a:off x="2029959" y="4005590"/>
                <a:ext cx="341387" cy="685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/>
              <p:cNvCxnSpPr/>
              <p:nvPr/>
            </p:nvCxnSpPr>
            <p:spPr>
              <a:xfrm>
                <a:off x="3942770" y="4013351"/>
                <a:ext cx="368932" cy="67008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/>
              <p:cNvCxnSpPr/>
              <p:nvPr/>
            </p:nvCxnSpPr>
            <p:spPr>
              <a:xfrm>
                <a:off x="5763759" y="4005590"/>
                <a:ext cx="417587" cy="685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/>
              <p:cNvCxnSpPr/>
              <p:nvPr/>
            </p:nvCxnSpPr>
            <p:spPr>
              <a:xfrm>
                <a:off x="4800600" y="2396344"/>
                <a:ext cx="1658562" cy="694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6" name="Group 275"/>
              <p:cNvGrpSpPr/>
              <p:nvPr/>
            </p:nvGrpSpPr>
            <p:grpSpPr>
              <a:xfrm>
                <a:off x="4419600" y="1600200"/>
                <a:ext cx="502924" cy="621357"/>
                <a:chOff x="1203952" y="3870811"/>
                <a:chExt cx="502924" cy="621357"/>
              </a:xfrm>
            </p:grpSpPr>
            <p:cxnSp>
              <p:nvCxnSpPr>
                <p:cNvPr id="313" name="Elbow Connector 312"/>
                <p:cNvCxnSpPr/>
                <p:nvPr/>
              </p:nvCxnSpPr>
              <p:spPr>
                <a:xfrm rot="16200000" flipH="1">
                  <a:off x="1306996" y="4339420"/>
                  <a:ext cx="301167" cy="4330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4" name="TextBox 313"/>
                <p:cNvSpPr txBox="1"/>
                <p:nvPr/>
              </p:nvSpPr>
              <p:spPr>
                <a:xfrm>
                  <a:off x="1203952" y="3870811"/>
                  <a:ext cx="50292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  T</a:t>
                  </a:r>
                </a:p>
              </p:txBody>
            </p:sp>
          </p:grpSp>
          <p:sp>
            <p:nvSpPr>
              <p:cNvPr id="277" name="TextBox 276"/>
              <p:cNvSpPr txBox="1"/>
              <p:nvPr/>
            </p:nvSpPr>
            <p:spPr>
              <a:xfrm>
                <a:off x="1143000" y="464820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2</a:t>
                </a:r>
              </a:p>
            </p:txBody>
          </p:sp>
          <p:sp>
            <p:nvSpPr>
              <p:cNvPr id="278" name="TextBox 277"/>
              <p:cNvSpPr txBox="1"/>
              <p:nvPr/>
            </p:nvSpPr>
            <p:spPr>
              <a:xfrm>
                <a:off x="2819400" y="301499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28</a:t>
                </a:r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>
                <a:off x="4495800" y="220980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43</a:t>
                </a:r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>
                <a:off x="6400800" y="301499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67</a:t>
                </a:r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2209800" y="464820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25</a:t>
                </a: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1770894" y="37769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</a:t>
                </a: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3276600" y="464820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31</a:t>
                </a:r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4166864" y="464820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41</a:t>
                </a:r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3733800" y="381000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35</a:t>
                </a:r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5486400" y="3776990"/>
                <a:ext cx="3289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49</a:t>
                </a: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7239000" y="3810000"/>
              <a:ext cx="762000" cy="717234"/>
              <a:chOff x="5562600" y="5410200"/>
              <a:chExt cx="762000" cy="717234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5562600" y="5562600"/>
                <a:ext cx="762000" cy="564834"/>
                <a:chOff x="1524000" y="3048000"/>
                <a:chExt cx="762000" cy="564834"/>
              </a:xfrm>
            </p:grpSpPr>
            <p:grpSp>
              <p:nvGrpSpPr>
                <p:cNvPr id="118" name="Group 117"/>
                <p:cNvGrpSpPr/>
                <p:nvPr/>
              </p:nvGrpSpPr>
              <p:grpSpPr>
                <a:xfrm>
                  <a:off x="1524000" y="3092251"/>
                  <a:ext cx="279058" cy="520583"/>
                  <a:chOff x="853448" y="1688792"/>
                  <a:chExt cx="316674" cy="515574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853448" y="1981200"/>
                    <a:ext cx="201169" cy="223166"/>
                    <a:chOff x="2447520" y="2514600"/>
                    <a:chExt cx="201169" cy="223166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2447520" y="2524882"/>
                      <a:ext cx="201169" cy="212884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71" name="Group 170"/>
                    <p:cNvGrpSpPr/>
                    <p:nvPr/>
                  </p:nvGrpSpPr>
                  <p:grpSpPr>
                    <a:xfrm>
                      <a:off x="2447520" y="2514600"/>
                      <a:ext cx="201169" cy="212884"/>
                      <a:chOff x="2447520" y="2524882"/>
                      <a:chExt cx="201169" cy="212884"/>
                    </a:xfrm>
                  </p:grpSpPr>
                  <p:cxnSp>
                    <p:nvCxnSpPr>
                      <p:cNvPr id="172" name="Straight Connector 171"/>
                      <p:cNvCxnSpPr/>
                      <p:nvPr/>
                    </p:nvCxnSpPr>
                    <p:spPr>
                      <a:xfrm flipH="1"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Straight Connector 172"/>
                      <p:cNvCxnSpPr/>
                      <p:nvPr/>
                    </p:nvCxnSpPr>
                    <p:spPr>
                      <a:xfrm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69" name="Straight Arrow Connector 168"/>
                  <p:cNvCxnSpPr>
                    <a:stCxn id="116" idx="3"/>
                    <a:endCxn id="170" idx="0"/>
                  </p:cNvCxnSpPr>
                  <p:nvPr/>
                </p:nvCxnSpPr>
                <p:spPr>
                  <a:xfrm flipH="1">
                    <a:off x="954033" y="1688792"/>
                    <a:ext cx="216089" cy="30269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9" name="Group 118"/>
                <p:cNvGrpSpPr/>
                <p:nvPr/>
              </p:nvGrpSpPr>
              <p:grpSpPr>
                <a:xfrm>
                  <a:off x="2053319" y="3048000"/>
                  <a:ext cx="232681" cy="564831"/>
                  <a:chOff x="780160" y="1648024"/>
                  <a:chExt cx="274457" cy="556342"/>
                </a:xfrm>
              </p:grpSpPr>
              <p:grpSp>
                <p:nvGrpSpPr>
                  <p:cNvPr id="120" name="Group 119"/>
                  <p:cNvGrpSpPr/>
                  <p:nvPr/>
                </p:nvGrpSpPr>
                <p:grpSpPr>
                  <a:xfrm>
                    <a:off x="853448" y="1981200"/>
                    <a:ext cx="201169" cy="223166"/>
                    <a:chOff x="2447520" y="2514600"/>
                    <a:chExt cx="201169" cy="223166"/>
                  </a:xfrm>
                </p:grpSpPr>
                <p:sp>
                  <p:nvSpPr>
                    <p:cNvPr id="122" name="Rectangle 121"/>
                    <p:cNvSpPr/>
                    <p:nvPr/>
                  </p:nvSpPr>
                  <p:spPr>
                    <a:xfrm>
                      <a:off x="2447520" y="2524882"/>
                      <a:ext cx="201169" cy="212884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37" name="Group 136"/>
                    <p:cNvGrpSpPr/>
                    <p:nvPr/>
                  </p:nvGrpSpPr>
                  <p:grpSpPr>
                    <a:xfrm>
                      <a:off x="2447520" y="2514600"/>
                      <a:ext cx="201169" cy="212884"/>
                      <a:chOff x="2447520" y="2524882"/>
                      <a:chExt cx="201169" cy="212884"/>
                    </a:xfrm>
                  </p:grpSpPr>
                  <p:cxnSp>
                    <p:nvCxnSpPr>
                      <p:cNvPr id="138" name="Straight Connector 137"/>
                      <p:cNvCxnSpPr/>
                      <p:nvPr/>
                    </p:nvCxnSpPr>
                    <p:spPr>
                      <a:xfrm flipH="1"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3" name="Straight Connector 152"/>
                      <p:cNvCxnSpPr/>
                      <p:nvPr/>
                    </p:nvCxnSpPr>
                    <p:spPr>
                      <a:xfrm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780160" y="1648024"/>
                    <a:ext cx="205617" cy="33317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15" name="Group 114"/>
              <p:cNvGrpSpPr/>
              <p:nvPr/>
            </p:nvGrpSpPr>
            <p:grpSpPr>
              <a:xfrm>
                <a:off x="5791200" y="5410200"/>
                <a:ext cx="396062" cy="261610"/>
                <a:chOff x="7443464" y="3624590"/>
                <a:chExt cx="396062" cy="26161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7443464" y="3635029"/>
                  <a:ext cx="344558" cy="218161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7443464" y="3624590"/>
                  <a:ext cx="39606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chemeClr val="bg2"/>
                      </a:solidFill>
                    </a:rPr>
                    <a:t>83</a:t>
                  </a:r>
                </a:p>
              </p:txBody>
            </p:sp>
          </p:grpSp>
        </p:grpSp>
        <p:grpSp>
          <p:nvGrpSpPr>
            <p:cNvPr id="178" name="Group 177"/>
            <p:cNvGrpSpPr/>
            <p:nvPr/>
          </p:nvGrpSpPr>
          <p:grpSpPr>
            <a:xfrm>
              <a:off x="5791200" y="4692966"/>
              <a:ext cx="762000" cy="717234"/>
              <a:chOff x="5562600" y="5410200"/>
              <a:chExt cx="762000" cy="717234"/>
            </a:xfrm>
          </p:grpSpPr>
          <p:grpSp>
            <p:nvGrpSpPr>
              <p:cNvPr id="180" name="Group 179"/>
              <p:cNvGrpSpPr/>
              <p:nvPr/>
            </p:nvGrpSpPr>
            <p:grpSpPr>
              <a:xfrm>
                <a:off x="5562600" y="5562600"/>
                <a:ext cx="762000" cy="564834"/>
                <a:chOff x="1524000" y="3048000"/>
                <a:chExt cx="762000" cy="564834"/>
              </a:xfrm>
            </p:grpSpPr>
            <p:grpSp>
              <p:nvGrpSpPr>
                <p:cNvPr id="188" name="Group 187"/>
                <p:cNvGrpSpPr/>
                <p:nvPr/>
              </p:nvGrpSpPr>
              <p:grpSpPr>
                <a:xfrm>
                  <a:off x="1524000" y="3092251"/>
                  <a:ext cx="279058" cy="520583"/>
                  <a:chOff x="853448" y="1688792"/>
                  <a:chExt cx="316674" cy="515574"/>
                </a:xfrm>
              </p:grpSpPr>
              <p:grpSp>
                <p:nvGrpSpPr>
                  <p:cNvPr id="201" name="Group 200"/>
                  <p:cNvGrpSpPr/>
                  <p:nvPr/>
                </p:nvGrpSpPr>
                <p:grpSpPr>
                  <a:xfrm>
                    <a:off x="853448" y="1981200"/>
                    <a:ext cx="201169" cy="223166"/>
                    <a:chOff x="2447520" y="2514600"/>
                    <a:chExt cx="201169" cy="223166"/>
                  </a:xfrm>
                </p:grpSpPr>
                <p:sp>
                  <p:nvSpPr>
                    <p:cNvPr id="203" name="Rectangle 202"/>
                    <p:cNvSpPr/>
                    <p:nvPr/>
                  </p:nvSpPr>
                  <p:spPr>
                    <a:xfrm>
                      <a:off x="2447520" y="2524882"/>
                      <a:ext cx="201169" cy="212884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204" name="Group 203"/>
                    <p:cNvGrpSpPr/>
                    <p:nvPr/>
                  </p:nvGrpSpPr>
                  <p:grpSpPr>
                    <a:xfrm>
                      <a:off x="2447520" y="2514600"/>
                      <a:ext cx="201169" cy="212884"/>
                      <a:chOff x="2447520" y="2524882"/>
                      <a:chExt cx="201169" cy="212884"/>
                    </a:xfrm>
                  </p:grpSpPr>
                  <p:cxnSp>
                    <p:nvCxnSpPr>
                      <p:cNvPr id="205" name="Straight Connector 204"/>
                      <p:cNvCxnSpPr/>
                      <p:nvPr/>
                    </p:nvCxnSpPr>
                    <p:spPr>
                      <a:xfrm flipH="1"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6" name="Straight Connector 205"/>
                      <p:cNvCxnSpPr/>
                      <p:nvPr/>
                    </p:nvCxnSpPr>
                    <p:spPr>
                      <a:xfrm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02" name="Straight Arrow Connector 201"/>
                  <p:cNvCxnSpPr>
                    <a:stCxn id="186" idx="3"/>
                    <a:endCxn id="203" idx="0"/>
                  </p:cNvCxnSpPr>
                  <p:nvPr/>
                </p:nvCxnSpPr>
                <p:spPr>
                  <a:xfrm flipH="1">
                    <a:off x="954033" y="1688792"/>
                    <a:ext cx="216089" cy="30269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0" name="Group 189"/>
                <p:cNvGrpSpPr/>
                <p:nvPr/>
              </p:nvGrpSpPr>
              <p:grpSpPr>
                <a:xfrm>
                  <a:off x="2053319" y="3048000"/>
                  <a:ext cx="232681" cy="564831"/>
                  <a:chOff x="780160" y="1648024"/>
                  <a:chExt cx="274457" cy="556342"/>
                </a:xfrm>
              </p:grpSpPr>
              <p:grpSp>
                <p:nvGrpSpPr>
                  <p:cNvPr id="195" name="Group 194"/>
                  <p:cNvGrpSpPr/>
                  <p:nvPr/>
                </p:nvGrpSpPr>
                <p:grpSpPr>
                  <a:xfrm>
                    <a:off x="853448" y="1981200"/>
                    <a:ext cx="201169" cy="223166"/>
                    <a:chOff x="2447520" y="2514600"/>
                    <a:chExt cx="201169" cy="223166"/>
                  </a:xfrm>
                </p:grpSpPr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2447520" y="2524882"/>
                      <a:ext cx="201169" cy="212884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98" name="Group 197"/>
                    <p:cNvGrpSpPr/>
                    <p:nvPr/>
                  </p:nvGrpSpPr>
                  <p:grpSpPr>
                    <a:xfrm>
                      <a:off x="2447520" y="2514600"/>
                      <a:ext cx="201169" cy="212884"/>
                      <a:chOff x="2447520" y="2524882"/>
                      <a:chExt cx="201169" cy="212884"/>
                    </a:xfrm>
                  </p:grpSpPr>
                  <p:cxnSp>
                    <p:nvCxnSpPr>
                      <p:cNvPr id="199" name="Straight Connector 198"/>
                      <p:cNvCxnSpPr/>
                      <p:nvPr/>
                    </p:nvCxnSpPr>
                    <p:spPr>
                      <a:xfrm flipH="1"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0" name="Straight Connector 199"/>
                      <p:cNvCxnSpPr/>
                      <p:nvPr/>
                    </p:nvCxnSpPr>
                    <p:spPr>
                      <a:xfrm>
                        <a:off x="2447520" y="2524882"/>
                        <a:ext cx="201169" cy="21288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96" name="Straight Arrow Connector 195"/>
                  <p:cNvCxnSpPr/>
                  <p:nvPr/>
                </p:nvCxnSpPr>
                <p:spPr>
                  <a:xfrm>
                    <a:off x="780160" y="1648024"/>
                    <a:ext cx="205617" cy="33317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5" name="Group 184"/>
              <p:cNvGrpSpPr/>
              <p:nvPr/>
            </p:nvGrpSpPr>
            <p:grpSpPr>
              <a:xfrm>
                <a:off x="5791200" y="5410200"/>
                <a:ext cx="396062" cy="261610"/>
                <a:chOff x="7443464" y="3624590"/>
                <a:chExt cx="396062" cy="261610"/>
              </a:xfrm>
            </p:grpSpPr>
            <p:sp>
              <p:nvSpPr>
                <p:cNvPr id="186" name="Oval 185"/>
                <p:cNvSpPr/>
                <p:nvPr/>
              </p:nvSpPr>
              <p:spPr>
                <a:xfrm>
                  <a:off x="7443464" y="3635029"/>
                  <a:ext cx="344558" cy="218161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7443464" y="3624590"/>
                  <a:ext cx="39606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chemeClr val="bg2"/>
                      </a:solidFill>
                    </a:rPr>
                    <a:t>54</a:t>
                  </a:r>
                </a:p>
              </p:txBody>
            </p:sp>
          </p:grpSp>
        </p:grpSp>
      </p:grpSp>
      <p:sp>
        <p:nvSpPr>
          <p:cNvPr id="3" name="Down Ribbon 2"/>
          <p:cNvSpPr/>
          <p:nvPr/>
        </p:nvSpPr>
        <p:spPr>
          <a:xfrm>
            <a:off x="6349473" y="1524000"/>
            <a:ext cx="2718327" cy="945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Predecessor of </a:t>
            </a:r>
            <a:r>
              <a:rPr lang="en-US" b="1" dirty="0">
                <a:solidFill>
                  <a:schemeClr val="tx1"/>
                </a:solidFill>
              </a:rPr>
              <a:t>28 ?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2209800" y="3352802"/>
            <a:ext cx="685800" cy="1206930"/>
            <a:chOff x="3478412" y="4270420"/>
            <a:chExt cx="502578" cy="1063580"/>
          </a:xfrm>
        </p:grpSpPr>
        <p:cxnSp>
          <p:nvCxnSpPr>
            <p:cNvPr id="175" name="Straight Arrow Connector 174"/>
            <p:cNvCxnSpPr/>
            <p:nvPr/>
          </p:nvCxnSpPr>
          <p:spPr>
            <a:xfrm>
              <a:off x="3478412" y="4707610"/>
              <a:ext cx="262336" cy="6263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>
              <a:off x="3478412" y="4270420"/>
              <a:ext cx="502578" cy="4409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Down Ribbon 206"/>
          <p:cNvSpPr/>
          <p:nvPr/>
        </p:nvSpPr>
        <p:spPr>
          <a:xfrm>
            <a:off x="6349473" y="1524000"/>
            <a:ext cx="2718327" cy="945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Predecessor of </a:t>
            </a:r>
            <a:r>
              <a:rPr lang="en-US" b="1" dirty="0">
                <a:solidFill>
                  <a:schemeClr val="tx1"/>
                </a:solidFill>
              </a:rPr>
              <a:t>44 ?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585598" y="2471411"/>
            <a:ext cx="1698404" cy="2088321"/>
            <a:chOff x="4585598" y="2471411"/>
            <a:chExt cx="1698404" cy="2088321"/>
          </a:xfrm>
        </p:grpSpPr>
        <p:grpSp>
          <p:nvGrpSpPr>
            <p:cNvPr id="232" name="Group 231"/>
            <p:cNvGrpSpPr/>
            <p:nvPr/>
          </p:nvGrpSpPr>
          <p:grpSpPr>
            <a:xfrm>
              <a:off x="4585598" y="2471411"/>
              <a:ext cx="1698404" cy="674386"/>
              <a:chOff x="4046796" y="4288693"/>
              <a:chExt cx="1244649" cy="594287"/>
            </a:xfrm>
          </p:grpSpPr>
          <p:cxnSp>
            <p:nvCxnSpPr>
              <p:cNvPr id="233" name="Straight Arrow Connector 232"/>
              <p:cNvCxnSpPr/>
              <p:nvPr/>
            </p:nvCxnSpPr>
            <p:spPr>
              <a:xfrm flipH="1" flipV="1">
                <a:off x="4046796" y="4288693"/>
                <a:ext cx="175249" cy="10521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/>
              <p:cNvCxnSpPr/>
              <p:nvPr/>
            </p:nvCxnSpPr>
            <p:spPr>
              <a:xfrm>
                <a:off x="4222044" y="4393903"/>
                <a:ext cx="1069401" cy="489077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6" name="Straight Connector 235"/>
            <p:cNvCxnSpPr/>
            <p:nvPr/>
          </p:nvCxnSpPr>
          <p:spPr>
            <a:xfrm flipV="1">
              <a:off x="5486400" y="3145005"/>
              <a:ext cx="797600" cy="51259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flipH="1">
              <a:off x="5061509" y="3657600"/>
              <a:ext cx="443185" cy="90213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loud Callout 27"/>
          <p:cNvSpPr/>
          <p:nvPr/>
        </p:nvSpPr>
        <p:spPr>
          <a:xfrm>
            <a:off x="6607815" y="4682198"/>
            <a:ext cx="2435112" cy="1205017"/>
          </a:xfrm>
          <a:prstGeom prst="cloudCallout">
            <a:avLst>
              <a:gd name="adj1" fmla="val 42118"/>
              <a:gd name="adj2" fmla="val 7410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 you figure out the algorithm for </a:t>
            </a:r>
            <a:r>
              <a:rPr lang="en-US" sz="1400" b="1" dirty="0">
                <a:solidFill>
                  <a:srgbClr val="7030A0"/>
                </a:solidFill>
              </a:rPr>
              <a:t>Predecessor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b="1" dirty="0" err="1">
                <a:solidFill>
                  <a:srgbClr val="006C31"/>
                </a:solidFill>
              </a:rPr>
              <a:t>T</a:t>
            </a:r>
            <a:r>
              <a:rPr lang="en-US" sz="1400" dirty="0" err="1">
                <a:solidFill>
                  <a:schemeClr val="tx1"/>
                </a:solidFill>
              </a:rPr>
              <a:t>,</a:t>
            </a:r>
            <a:r>
              <a:rPr lang="en-US" sz="1400" b="1" i="1" dirty="0" err="1">
                <a:solidFill>
                  <a:srgbClr val="0070C0"/>
                </a:solidFill>
              </a:rPr>
              <a:t>x</a:t>
            </a:r>
            <a:r>
              <a:rPr lang="en-US" sz="1400" dirty="0">
                <a:solidFill>
                  <a:schemeClr val="tx1"/>
                </a:solidFill>
              </a:rPr>
              <a:t>) 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782451" y="4648200"/>
            <a:ext cx="780149" cy="706852"/>
            <a:chOff x="2209800" y="5389148"/>
            <a:chExt cx="780149" cy="706852"/>
          </a:xfrm>
        </p:grpSpPr>
        <p:sp>
          <p:nvSpPr>
            <p:cNvPr id="262" name="Oval 261"/>
            <p:cNvSpPr/>
            <p:nvPr/>
          </p:nvSpPr>
          <p:spPr>
            <a:xfrm>
              <a:off x="2438400" y="5420639"/>
              <a:ext cx="344558" cy="21816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2209800" y="5868579"/>
              <a:ext cx="177273" cy="2149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2819400" y="5867400"/>
              <a:ext cx="170549" cy="2161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09800" y="5389148"/>
              <a:ext cx="762000" cy="706852"/>
              <a:chOff x="4191000" y="5181600"/>
              <a:chExt cx="762000" cy="706852"/>
            </a:xfrm>
          </p:grpSpPr>
          <p:cxnSp>
            <p:nvCxnSpPr>
              <p:cNvPr id="250" name="Straight Connector 249"/>
              <p:cNvCxnSpPr/>
              <p:nvPr/>
            </p:nvCxnSpPr>
            <p:spPr>
              <a:xfrm flipH="1">
                <a:off x="4191000" y="5673500"/>
                <a:ext cx="177273" cy="2149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/>
              <p:cNvCxnSpPr/>
              <p:nvPr/>
            </p:nvCxnSpPr>
            <p:spPr>
              <a:xfrm>
                <a:off x="4191000" y="5673500"/>
                <a:ext cx="177273" cy="2149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/>
              <p:cNvCxnSpPr/>
              <p:nvPr/>
            </p:nvCxnSpPr>
            <p:spPr>
              <a:xfrm flipH="1">
                <a:off x="4279637" y="5378251"/>
                <a:ext cx="190421" cy="30563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 flipH="1">
                <a:off x="4782448" y="5672256"/>
                <a:ext cx="170548" cy="21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>
                <a:off x="4782452" y="5672260"/>
                <a:ext cx="170548" cy="21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/>
              <p:cNvCxnSpPr/>
              <p:nvPr/>
            </p:nvCxnSpPr>
            <p:spPr>
              <a:xfrm>
                <a:off x="4720316" y="5333997"/>
                <a:ext cx="174319" cy="33825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9" name="TextBox 258"/>
              <p:cNvSpPr txBox="1"/>
              <p:nvPr/>
            </p:nvSpPr>
            <p:spPr>
              <a:xfrm>
                <a:off x="4419600" y="518160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sp>
        <p:nvSpPr>
          <p:cNvPr id="272" name="Down Ribbon 271"/>
          <p:cNvSpPr/>
          <p:nvPr/>
        </p:nvSpPr>
        <p:spPr>
          <a:xfrm>
            <a:off x="6324600" y="1524000"/>
            <a:ext cx="2718327" cy="945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Predecessor of </a:t>
            </a:r>
            <a:r>
              <a:rPr lang="en-US" b="1" dirty="0">
                <a:solidFill>
                  <a:schemeClr val="tx1"/>
                </a:solidFill>
              </a:rPr>
              <a:t>25 ?</a:t>
            </a:r>
          </a:p>
        </p:txBody>
      </p:sp>
      <p:cxnSp>
        <p:nvCxnSpPr>
          <p:cNvPr id="275" name="Straight Arrow Connector 274"/>
          <p:cNvCxnSpPr/>
          <p:nvPr/>
        </p:nvCxnSpPr>
        <p:spPr>
          <a:xfrm flipH="1" flipV="1">
            <a:off x="1953760" y="4071611"/>
            <a:ext cx="260613" cy="57658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6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07" grpId="0" animBg="1"/>
      <p:bldP spid="207" grpId="1" animBg="1"/>
      <p:bldP spid="28" grpId="0" animBg="1"/>
      <p:bldP spid="272" grpId="0" animBg="1"/>
      <p:bldP spid="27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2000" dirty="0"/>
                  <a:t>:  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&lt;&gt; </a:t>
                </a:r>
                <a:r>
                  <a:rPr lang="en-US" sz="2000" b="1" dirty="0"/>
                  <a:t>NULL </a:t>
                </a:r>
                <a:r>
                  <a:rPr lang="en-US" sz="2000" dirty="0"/>
                  <a:t>, then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is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IN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		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 b="-32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38232" y="5650468"/>
                <a:ext cx="140076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Max</a:t>
                </a:r>
                <a:r>
                  <a:rPr lang="en-US" dirty="0"/>
                  <a:t>(</a:t>
                </a:r>
                <a:r>
                  <a:rPr lang="en-US" b="1" dirty="0"/>
                  <a:t>left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)) 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32" y="5650468"/>
                <a:ext cx="140076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913" t="-8197" r="-608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990390" y="3931404"/>
            <a:ext cx="1891104" cy="1478796"/>
            <a:chOff x="1166284" y="3398004"/>
            <a:chExt cx="1891104" cy="1478796"/>
          </a:xfrm>
        </p:grpSpPr>
        <p:sp>
          <p:nvSpPr>
            <p:cNvPr id="8" name="Isosceles Triangle 7"/>
            <p:cNvSpPr/>
            <p:nvPr/>
          </p:nvSpPr>
          <p:spPr>
            <a:xfrm>
              <a:off x="2443094" y="41148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166284" y="3398004"/>
              <a:ext cx="1738418" cy="1478796"/>
              <a:chOff x="1295400" y="3398004"/>
              <a:chExt cx="1738418" cy="1478796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474214" y="3398004"/>
                <a:ext cx="1438020" cy="755543"/>
                <a:chOff x="1622206" y="2407404"/>
                <a:chExt cx="1438020" cy="755543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 flipH="1">
                  <a:off x="1829175" y="2407404"/>
                  <a:ext cx="593796" cy="5437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2627048" y="2483604"/>
                  <a:ext cx="433178" cy="4675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/>
                <p:cNvSpPr/>
                <p:nvPr/>
              </p:nvSpPr>
              <p:spPr>
                <a:xfrm>
                  <a:off x="1622206" y="2951137"/>
                  <a:ext cx="309208" cy="21181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bg2"/>
                    </a:solidFill>
                  </a:endParaRPr>
                </a:p>
              </p:txBody>
            </p:sp>
          </p:grpSp>
          <p:sp>
            <p:nvSpPr>
              <p:cNvPr id="11" name="Oval 10"/>
              <p:cNvSpPr/>
              <p:nvPr/>
            </p:nvSpPr>
            <p:spPr>
              <a:xfrm>
                <a:off x="2724610" y="396240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2" name="Isosceles Triangle 11"/>
              <p:cNvSpPr/>
              <p:nvPr/>
            </p:nvSpPr>
            <p:spPr>
              <a:xfrm>
                <a:off x="1295400" y="4135464"/>
                <a:ext cx="614294" cy="74133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1774409" y="4475138"/>
            <a:ext cx="1215981" cy="955726"/>
            <a:chOff x="1774409" y="4475138"/>
            <a:chExt cx="1215981" cy="955726"/>
          </a:xfrm>
        </p:grpSpPr>
        <p:sp>
          <p:nvSpPr>
            <p:cNvPr id="22" name="TextBox 21"/>
            <p:cNvSpPr txBox="1"/>
            <p:nvPr/>
          </p:nvSpPr>
          <p:spPr>
            <a:xfrm>
              <a:off x="1774409" y="4724400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non-</a:t>
              </a:r>
              <a:r>
                <a:rPr lang="en-US" b="1" dirty="0"/>
                <a:t>NULL</a:t>
              </a:r>
              <a:endParaRPr lang="en-US" dirty="0"/>
            </a:p>
          </p:txBody>
        </p:sp>
        <p:sp>
          <p:nvSpPr>
            <p:cNvPr id="23" name="Right Brace 22"/>
            <p:cNvSpPr/>
            <p:nvPr/>
          </p:nvSpPr>
          <p:spPr>
            <a:xfrm flipH="1">
              <a:off x="2743200" y="4475138"/>
              <a:ext cx="247190" cy="955726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478412" y="4203270"/>
            <a:ext cx="502578" cy="1130730"/>
            <a:chOff x="3478412" y="4203270"/>
            <a:chExt cx="502578" cy="1130730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3478412" y="4707610"/>
              <a:ext cx="262336" cy="6263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3478412" y="4203270"/>
              <a:ext cx="502578" cy="48367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3581400" y="3276600"/>
            <a:ext cx="646243" cy="750332"/>
            <a:chOff x="3581400" y="3276600"/>
            <a:chExt cx="646243" cy="750332"/>
          </a:xfrm>
        </p:grpSpPr>
        <p:grpSp>
          <p:nvGrpSpPr>
            <p:cNvPr id="30" name="Group 29"/>
            <p:cNvGrpSpPr/>
            <p:nvPr/>
          </p:nvGrpSpPr>
          <p:grpSpPr>
            <a:xfrm>
              <a:off x="3918434" y="3276600"/>
              <a:ext cx="309209" cy="745209"/>
              <a:chOff x="3918434" y="3276600"/>
              <a:chExt cx="309209" cy="745209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3918434" y="3810000"/>
                <a:ext cx="309209" cy="21180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flipH="1" flipV="1">
                <a:off x="4038600" y="3276600"/>
                <a:ext cx="16954" cy="50501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1473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2000" dirty="0"/>
                  <a:t>:  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== </a:t>
                </a:r>
                <a:r>
                  <a:rPr lang="en-US" sz="2000" b="1" dirty="0"/>
                  <a:t>NULL </a:t>
                </a:r>
                <a:r>
                  <a:rPr lang="en-US" sz="2000" dirty="0"/>
                  <a:t>, then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is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  <a:blipFill>
                <a:blip r:embed="rId3"/>
                <a:stretch>
                  <a:fillRect l="-772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376173" y="3931404"/>
            <a:ext cx="1505321" cy="1458132"/>
            <a:chOff x="1552067" y="3398004"/>
            <a:chExt cx="1505321" cy="1458132"/>
          </a:xfrm>
        </p:grpSpPr>
        <p:sp>
          <p:nvSpPr>
            <p:cNvPr id="8" name="Isosceles Triangle 7"/>
            <p:cNvSpPr/>
            <p:nvPr/>
          </p:nvSpPr>
          <p:spPr>
            <a:xfrm>
              <a:off x="2443094" y="41148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52067" y="3398004"/>
              <a:ext cx="1352635" cy="776206"/>
              <a:chOff x="1681183" y="3398004"/>
              <a:chExt cx="1352635" cy="776206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681183" y="3398004"/>
                <a:ext cx="1231051" cy="543733"/>
                <a:chOff x="1829175" y="2407404"/>
                <a:chExt cx="1231051" cy="543733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 flipH="1">
                  <a:off x="1829175" y="2407404"/>
                  <a:ext cx="593796" cy="5437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2627048" y="2483604"/>
                  <a:ext cx="433178" cy="4675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/>
              <p:cNvSpPr/>
              <p:nvPr/>
            </p:nvSpPr>
            <p:spPr>
              <a:xfrm>
                <a:off x="2724610" y="396240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3581400" y="3276600"/>
            <a:ext cx="646243" cy="750332"/>
            <a:chOff x="3581400" y="3276600"/>
            <a:chExt cx="646243" cy="750332"/>
          </a:xfrm>
        </p:grpSpPr>
        <p:grpSp>
          <p:nvGrpSpPr>
            <p:cNvPr id="30" name="Group 29"/>
            <p:cNvGrpSpPr/>
            <p:nvPr/>
          </p:nvGrpSpPr>
          <p:grpSpPr>
            <a:xfrm>
              <a:off x="3918434" y="3276600"/>
              <a:ext cx="309209" cy="745209"/>
              <a:chOff x="3918434" y="3276600"/>
              <a:chExt cx="309209" cy="745209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3918434" y="3810000"/>
                <a:ext cx="309209" cy="21180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flipH="1" flipV="1">
                <a:off x="4038600" y="3276600"/>
                <a:ext cx="16954" cy="50501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3262531" y="4453058"/>
            <a:ext cx="170548" cy="226571"/>
            <a:chOff x="2447520" y="2514600"/>
            <a:chExt cx="201169" cy="223166"/>
          </a:xfrm>
        </p:grpSpPr>
        <p:sp>
          <p:nvSpPr>
            <p:cNvPr id="35" name="Rectangle 34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003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2000" dirty="0"/>
                  <a:t>:  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== </a:t>
                </a:r>
                <a:r>
                  <a:rPr lang="en-US" sz="2000" b="1" dirty="0"/>
                  <a:t>NULL </a:t>
                </a:r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right child </a:t>
                </a:r>
                <a:r>
                  <a:rPr lang="en-US" sz="2000" dirty="0"/>
                  <a:t>of its </a:t>
                </a:r>
                <a:r>
                  <a:rPr lang="en-US" sz="2000" b="1" dirty="0"/>
                  <a:t>parent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then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is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376173" y="3931404"/>
            <a:ext cx="1505321" cy="1458132"/>
            <a:chOff x="1552067" y="3398004"/>
            <a:chExt cx="1505321" cy="1458132"/>
          </a:xfrm>
        </p:grpSpPr>
        <p:sp>
          <p:nvSpPr>
            <p:cNvPr id="8" name="Isosceles Triangle 7"/>
            <p:cNvSpPr/>
            <p:nvPr/>
          </p:nvSpPr>
          <p:spPr>
            <a:xfrm>
              <a:off x="2443094" y="41148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52067" y="3398004"/>
              <a:ext cx="1352635" cy="776206"/>
              <a:chOff x="1681183" y="3398004"/>
              <a:chExt cx="1352635" cy="776206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681183" y="3398004"/>
                <a:ext cx="1231051" cy="543733"/>
                <a:chOff x="1829175" y="2407404"/>
                <a:chExt cx="1231051" cy="543733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 flipH="1">
                  <a:off x="1829175" y="2407404"/>
                  <a:ext cx="593796" cy="5437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2627048" y="2483604"/>
                  <a:ext cx="433178" cy="4675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/>
              <p:cNvSpPr/>
              <p:nvPr/>
            </p:nvSpPr>
            <p:spPr>
              <a:xfrm>
                <a:off x="2724610" y="396240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25" name="Straight Arrow Connector 24"/>
          <p:cNvCxnSpPr/>
          <p:nvPr/>
        </p:nvCxnSpPr>
        <p:spPr>
          <a:xfrm flipH="1" flipV="1">
            <a:off x="3729701" y="3200400"/>
            <a:ext cx="444345" cy="4572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581400" y="3657600"/>
            <a:ext cx="646243" cy="369332"/>
            <a:chOff x="3581400" y="3657600"/>
            <a:chExt cx="646243" cy="369332"/>
          </a:xfrm>
        </p:grpSpPr>
        <p:sp>
          <p:nvSpPr>
            <p:cNvPr id="27" name="Oval 26"/>
            <p:cNvSpPr/>
            <p:nvPr/>
          </p:nvSpPr>
          <p:spPr>
            <a:xfrm>
              <a:off x="3918434" y="3810000"/>
              <a:ext cx="309209" cy="2118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3262531" y="4453058"/>
            <a:ext cx="170548" cy="226571"/>
            <a:chOff x="2447520" y="2514600"/>
            <a:chExt cx="201169" cy="223166"/>
          </a:xfrm>
        </p:grpSpPr>
        <p:sp>
          <p:nvSpPr>
            <p:cNvPr id="35" name="Rectangle 34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Arrow Connector 33"/>
          <p:cNvCxnSpPr/>
          <p:nvPr/>
        </p:nvCxnSpPr>
        <p:spPr>
          <a:xfrm>
            <a:off x="3529222" y="3342467"/>
            <a:ext cx="433178" cy="467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272192" y="3200400"/>
            <a:ext cx="309208" cy="2118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838232" y="6031468"/>
                <a:ext cx="114980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parent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) </a:t>
                </a:r>
                <a:endParaRPr lang="en-IN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32" y="6031468"/>
                <a:ext cx="114980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787" t="-8197" r="-797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49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Case 3</a:t>
                </a:r>
                <a:r>
                  <a:rPr lang="en-US" sz="2000" dirty="0"/>
                  <a:t>:  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== </a:t>
                </a:r>
                <a:r>
                  <a:rPr lang="en-US" sz="2000" b="1" dirty="0"/>
                  <a:t>NULL </a:t>
                </a:r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left child </a:t>
                </a:r>
                <a:r>
                  <a:rPr lang="en-US" sz="2000" dirty="0"/>
                  <a:t>of its </a:t>
                </a:r>
                <a:r>
                  <a:rPr lang="en-US" sz="2000" b="1" dirty="0"/>
                  <a:t>parent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then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is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376173" y="3931404"/>
            <a:ext cx="1505321" cy="1458132"/>
            <a:chOff x="1552067" y="3398004"/>
            <a:chExt cx="1505321" cy="1458132"/>
          </a:xfrm>
        </p:grpSpPr>
        <p:sp>
          <p:nvSpPr>
            <p:cNvPr id="8" name="Isosceles Triangle 7"/>
            <p:cNvSpPr/>
            <p:nvPr/>
          </p:nvSpPr>
          <p:spPr>
            <a:xfrm>
              <a:off x="2443094" y="41148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52067" y="3398004"/>
              <a:ext cx="1352635" cy="776206"/>
              <a:chOff x="1681183" y="3398004"/>
              <a:chExt cx="1352635" cy="776206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681183" y="3398004"/>
                <a:ext cx="1231051" cy="543733"/>
                <a:chOff x="1829175" y="2407404"/>
                <a:chExt cx="1231051" cy="543733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 flipH="1">
                  <a:off x="1829175" y="2407404"/>
                  <a:ext cx="593796" cy="5437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2627048" y="2483604"/>
                  <a:ext cx="433178" cy="4675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/>
              <p:cNvSpPr/>
              <p:nvPr/>
            </p:nvSpPr>
            <p:spPr>
              <a:xfrm>
                <a:off x="2724610" y="396240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3581400" y="3657600"/>
            <a:ext cx="646243" cy="369332"/>
            <a:chOff x="3581400" y="3657600"/>
            <a:chExt cx="646243" cy="369332"/>
          </a:xfrm>
        </p:grpSpPr>
        <p:sp>
          <p:nvSpPr>
            <p:cNvPr id="27" name="Oval 26"/>
            <p:cNvSpPr/>
            <p:nvPr/>
          </p:nvSpPr>
          <p:spPr>
            <a:xfrm>
              <a:off x="3918434" y="3810000"/>
              <a:ext cx="309209" cy="2118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3657600"/>
                  <a:ext cx="37542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3262531" y="4453058"/>
            <a:ext cx="170548" cy="226571"/>
            <a:chOff x="2447520" y="2514600"/>
            <a:chExt cx="201169" cy="223166"/>
          </a:xfrm>
        </p:grpSpPr>
        <p:sp>
          <p:nvSpPr>
            <p:cNvPr id="35" name="Rectangle 34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Arrow Connector 33"/>
          <p:cNvCxnSpPr>
            <a:stCxn id="39" idx="3"/>
          </p:cNvCxnSpPr>
          <p:nvPr/>
        </p:nvCxnSpPr>
        <p:spPr>
          <a:xfrm flipH="1">
            <a:off x="4174046" y="3381191"/>
            <a:ext cx="515028" cy="42880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643792" y="3200400"/>
            <a:ext cx="309208" cy="2118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70C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895172" y="2667000"/>
            <a:ext cx="824236" cy="581209"/>
            <a:chOff x="4895172" y="2667000"/>
            <a:chExt cx="824236" cy="581209"/>
          </a:xfrm>
        </p:grpSpPr>
        <p:sp>
          <p:nvSpPr>
            <p:cNvPr id="28" name="Oval 27"/>
            <p:cNvSpPr/>
            <p:nvPr/>
          </p:nvSpPr>
          <p:spPr>
            <a:xfrm>
              <a:off x="5410200" y="266700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0070C0"/>
                </a:solidFill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4895172" y="2819400"/>
              <a:ext cx="515028" cy="42880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674126" y="2074190"/>
            <a:ext cx="807282" cy="623829"/>
            <a:chOff x="5674126" y="2074190"/>
            <a:chExt cx="807282" cy="623829"/>
          </a:xfrm>
        </p:grpSpPr>
        <p:cxnSp>
          <p:nvCxnSpPr>
            <p:cNvPr id="15" name="Straight Connector 14"/>
            <p:cNvCxnSpPr>
              <a:stCxn id="28" idx="7"/>
            </p:cNvCxnSpPr>
            <p:nvPr/>
          </p:nvCxnSpPr>
          <p:spPr>
            <a:xfrm flipV="1">
              <a:off x="5674126" y="2209800"/>
              <a:ext cx="574274" cy="48821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6172200" y="207419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902927" y="1676400"/>
            <a:ext cx="2128884" cy="2048107"/>
            <a:chOff x="3902927" y="1676400"/>
            <a:chExt cx="2128884" cy="2048107"/>
          </a:xfrm>
        </p:grpSpPr>
        <p:cxnSp>
          <p:nvCxnSpPr>
            <p:cNvPr id="25" name="Straight Arrow Connector 24"/>
            <p:cNvCxnSpPr/>
            <p:nvPr/>
          </p:nvCxnSpPr>
          <p:spPr>
            <a:xfrm flipH="1" flipV="1">
              <a:off x="5674126" y="1676400"/>
              <a:ext cx="357685" cy="3977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3902927" y="2074190"/>
              <a:ext cx="2128884" cy="165031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5562600" y="1371600"/>
            <a:ext cx="685800" cy="696133"/>
            <a:chOff x="5562600" y="1371600"/>
            <a:chExt cx="685800" cy="696133"/>
          </a:xfrm>
        </p:grpSpPr>
        <p:grpSp>
          <p:nvGrpSpPr>
            <p:cNvPr id="22" name="Group 21"/>
            <p:cNvGrpSpPr/>
            <p:nvPr/>
          </p:nvGrpSpPr>
          <p:grpSpPr>
            <a:xfrm>
              <a:off x="5562600" y="1464590"/>
              <a:ext cx="685800" cy="603143"/>
              <a:chOff x="5562600" y="1464590"/>
              <a:chExt cx="685800" cy="603143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5815222" y="1600200"/>
                <a:ext cx="433178" cy="4675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>
              <a:xfrm>
                <a:off x="5562600" y="146459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5871374" y="1371600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𝒒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1374" y="1371600"/>
                  <a:ext cx="3770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6095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{    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If</a:t>
                </a:r>
                <a:r>
                  <a:rPr lang="en-US" sz="2000" dirty="0"/>
                  <a:t> (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&lt;&gt; </a:t>
                </a:r>
                <a:r>
                  <a:rPr lang="en-US" sz="2000" b="1" dirty="0"/>
                  <a:t>NULL</a:t>
                </a:r>
                <a:r>
                  <a:rPr lang="en-US" sz="2000" dirty="0"/>
                  <a:t>)  then return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b="1" dirty="0"/>
                  <a:t> right </a:t>
                </a:r>
                <a:r>
                  <a:rPr lang="en-US" sz="2000" dirty="0"/>
                  <a:t>(</a:t>
                </a:r>
                <a:r>
                  <a:rPr lang="en-US" sz="2000" b="1" dirty="0"/>
                  <a:t>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)) return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{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dirty="0"/>
                  <a:t>while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b="1" dirty="0"/>
                  <a:t> left </a:t>
                </a:r>
                <a:r>
                  <a:rPr lang="en-US" sz="2000" dirty="0"/>
                  <a:t>(</a:t>
                </a:r>
                <a:r>
                  <a:rPr lang="en-US" sz="2000" b="1" dirty="0"/>
                  <a:t>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))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return </a:t>
                </a:r>
                <a:r>
                  <a:rPr lang="en-US" sz="2000" b="1" dirty="0"/>
                  <a:t>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38032" y="2373868"/>
                <a:ext cx="140076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Max</a:t>
                </a:r>
                <a:r>
                  <a:rPr lang="en-US" dirty="0"/>
                  <a:t>(</a:t>
                </a:r>
                <a:r>
                  <a:rPr lang="en-US" b="1" dirty="0"/>
                  <a:t>left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)) 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032" y="2373868"/>
                <a:ext cx="140076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478" t="-8197" r="-6522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73530" y="3124200"/>
                <a:ext cx="114980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parent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) 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30" y="3124200"/>
                <a:ext cx="114980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787" t="-8333" r="-7979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81200" y="4552890"/>
                <a:ext cx="1790427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/>
                  <a:t> 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  <a:endParaRPr lang="en-IN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552890"/>
                <a:ext cx="1790427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9091" r="-6803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53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200" b="1" dirty="0"/>
                  <a:t>)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Predecessor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{    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</a:t>
                </a:r>
                <a:r>
                  <a:rPr lang="en-US" sz="2000" b="1" dirty="0"/>
                  <a:t>node</a:t>
                </a:r>
                <a:r>
                  <a:rPr lang="en-US" sz="2000" dirty="0"/>
                  <a:t> of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storing value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If</a:t>
                </a:r>
                <a:r>
                  <a:rPr lang="en-US" sz="2000" dirty="0"/>
                  <a:t> (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&lt;&gt; </a:t>
                </a:r>
                <a:r>
                  <a:rPr lang="en-US" sz="2000" b="1" dirty="0"/>
                  <a:t>NULL</a:t>
                </a:r>
                <a:r>
                  <a:rPr lang="en-US" sz="2000" dirty="0"/>
                  <a:t>)  then return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{          </a:t>
                </a:r>
                <a:r>
                  <a:rPr lang="en-US" sz="2000" b="1" dirty="0"/>
                  <a:t>while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b="1" dirty="0"/>
                  <a:t> left </a:t>
                </a:r>
                <a:r>
                  <a:rPr lang="en-US" sz="2000" dirty="0"/>
                  <a:t>(</a:t>
                </a:r>
                <a:r>
                  <a:rPr lang="en-US" sz="2000" b="1" dirty="0"/>
                  <a:t>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))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return </a:t>
                </a:r>
                <a:r>
                  <a:rPr lang="en-US" sz="2000" b="1" dirty="0"/>
                  <a:t>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 1</a:t>
                </a:r>
                <a:r>
                  <a:rPr lang="en-US" sz="2000" dirty="0"/>
                  <a:t>: Modify the code so that it runs even when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is minimum element.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 2</a:t>
                </a:r>
                <a:r>
                  <a:rPr lang="en-US" sz="2000" dirty="0"/>
                  <a:t>: Modify the code so that it runs even when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∉ 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3"/>
                <a:stretch>
                  <a:fillRect l="-714" t="-674" r="-1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38032" y="2373868"/>
                <a:ext cx="140076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Max</a:t>
                </a:r>
                <a:r>
                  <a:rPr lang="en-US" dirty="0"/>
                  <a:t>(</a:t>
                </a:r>
                <a:r>
                  <a:rPr lang="en-US" b="1" dirty="0"/>
                  <a:t>left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)) 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032" y="2373868"/>
                <a:ext cx="140076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478" t="-8197" r="-6522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81200" y="3429000"/>
                <a:ext cx="1790427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/>
                  <a:t> 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  <a:endParaRPr lang="en-IN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429000"/>
                <a:ext cx="1790427" cy="400110"/>
              </a:xfrm>
              <a:prstGeom prst="rect">
                <a:avLst/>
              </a:prstGeom>
              <a:blipFill rotWithShape="1">
                <a:blip r:embed="rId5"/>
                <a:stretch>
                  <a:fillRect t="-9231" r="-6803" b="-26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9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Successor</a:t>
                </a:r>
                <a:r>
                  <a:rPr lang="en-US" sz="3600" b="1" dirty="0"/>
                  <a:t>(</a:t>
                </a:r>
                <a:r>
                  <a:rPr lang="en-US" sz="36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3600" dirty="0"/>
                  <a:t>,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36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solidFill>
                      <a:schemeClr val="tx1"/>
                    </a:solidFill>
                  </a:rPr>
                  <a:t>The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smallest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element in 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T </a:t>
                </a:r>
                <a:r>
                  <a:rPr lang="en-US" sz="2400" dirty="0">
                    <a:solidFill>
                      <a:schemeClr val="tx1"/>
                    </a:solidFill>
                  </a:rPr>
                  <a:t>which is </a:t>
                </a:r>
                <a:r>
                  <a:rPr lang="en-US" sz="2400" b="1" u="sng" dirty="0">
                    <a:solidFill>
                      <a:schemeClr val="tx1"/>
                    </a:solidFill>
                  </a:rPr>
                  <a:t>bigger than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u="sng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US" sz="2400" b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3"/>
                <a:stretch>
                  <a:fillRect l="-1429" t="-2787" r="-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65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Red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Black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6C31"/>
                </a:solidFill>
              </a:rPr>
              <a:t>tree </a:t>
            </a:r>
            <a:br>
              <a:rPr lang="en-US" sz="3200" b="1" dirty="0">
                <a:solidFill>
                  <a:srgbClr val="006C31"/>
                </a:solidFill>
              </a:rPr>
            </a:br>
            <a:r>
              <a:rPr lang="en-US" sz="2400" dirty="0"/>
              <a:t>(</a:t>
            </a:r>
            <a:r>
              <a:rPr lang="en-US" sz="2400" b="1" dirty="0">
                <a:solidFill>
                  <a:srgbClr val="7030A0"/>
                </a:solidFill>
              </a:rPr>
              <a:t>Height Balanced BST</a:t>
            </a:r>
            <a:r>
              <a:rPr lang="en-US" sz="2400" dirty="0"/>
              <a:t>)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you already know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Search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Insert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Delete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Min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Max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Predecessor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Successor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</a:rPr>
              <a:t>A  NOTATION</a:t>
            </a:r>
            <a:endParaRPr lang="en-US" sz="20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b="1" dirty="0"/>
              <a:t>&lt;</a:t>
            </a:r>
            <a:r>
              <a:rPr lang="en-US" sz="1800" b="1" dirty="0">
                <a:solidFill>
                  <a:srgbClr val="0070C0"/>
                </a:solidFill>
              </a:rPr>
              <a:t> T’ 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600" dirty="0"/>
              <a:t>every element of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/>
              <a:t> is </a:t>
            </a:r>
            <a:r>
              <a:rPr lang="en-US" sz="1600" u="sng" dirty="0"/>
              <a:t>smaller</a:t>
            </a:r>
            <a:r>
              <a:rPr lang="en-US" sz="1600" dirty="0"/>
              <a:t> than every element of </a:t>
            </a:r>
            <a:r>
              <a:rPr lang="en-US" sz="1600" b="1" dirty="0">
                <a:solidFill>
                  <a:srgbClr val="0070C0"/>
                </a:solidFill>
              </a:rPr>
              <a:t>T’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New operations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498975" cy="395128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</a:rPr>
              <a:t>8.    </a:t>
            </a:r>
            <a:r>
              <a:rPr lang="en-US" sz="1800" b="1" dirty="0" err="1">
                <a:solidFill>
                  <a:srgbClr val="002060"/>
                </a:solidFill>
              </a:rPr>
              <a:t>SpecialUnion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b="1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 T’</a:t>
            </a:r>
            <a:r>
              <a:rPr lang="en-US" sz="1800" dirty="0"/>
              <a:t>): </a:t>
            </a:r>
          </a:p>
          <a:p>
            <a:pPr marL="0" indent="0">
              <a:buNone/>
            </a:pPr>
            <a:r>
              <a:rPr lang="en-US" sz="1800" dirty="0"/>
              <a:t>Given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 such that </a:t>
            </a: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b="1" dirty="0"/>
              <a:t>&lt;</a:t>
            </a:r>
            <a:r>
              <a:rPr lang="en-US" sz="1800" b="1" dirty="0">
                <a:solidFill>
                  <a:srgbClr val="0070C0"/>
                </a:solidFill>
              </a:rPr>
              <a:t> T’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compute </a:t>
            </a:r>
            <a:r>
              <a:rPr lang="en-US" sz="1800" b="1" dirty="0">
                <a:solidFill>
                  <a:srgbClr val="0070C0"/>
                </a:solidFill>
              </a:rPr>
              <a:t>T*</a:t>
            </a:r>
            <a:r>
              <a:rPr lang="en-US" sz="1800" dirty="0"/>
              <a:t>=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2000" b="1" dirty="0"/>
              <a:t>U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NOTE: 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0070C0"/>
                </a:solidFill>
              </a:rPr>
              <a:t>T’ </a:t>
            </a:r>
            <a:r>
              <a:rPr lang="en-US" sz="1800" dirty="0"/>
              <a:t>don’t exist after the union.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9.   Split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b="1" dirty="0"/>
              <a:t>,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/>
              <a:t>x</a:t>
            </a:r>
            <a:r>
              <a:rPr lang="en-US" sz="2000" dirty="0"/>
              <a:t>): </a:t>
            </a:r>
          </a:p>
          <a:p>
            <a:pPr marL="0" indent="0">
              <a:buNone/>
            </a:pPr>
            <a:r>
              <a:rPr lang="en-US" sz="1800" dirty="0"/>
              <a:t>Split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 into  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0070C0"/>
                </a:solidFill>
              </a:rPr>
              <a:t>T’’</a:t>
            </a:r>
            <a:r>
              <a:rPr lang="en-US" sz="1800" dirty="0"/>
              <a:t> such that </a:t>
            </a:r>
            <a:r>
              <a:rPr lang="en-US" sz="1800" b="1" dirty="0">
                <a:solidFill>
                  <a:srgbClr val="0070C0"/>
                </a:solidFill>
              </a:rPr>
              <a:t>T’ </a:t>
            </a:r>
            <a:r>
              <a:rPr lang="en-US" sz="1800" dirty="0"/>
              <a:t>&lt; </a:t>
            </a:r>
            <a:r>
              <a:rPr lang="en-US" sz="1800" b="1" dirty="0"/>
              <a:t>x</a:t>
            </a:r>
            <a:r>
              <a:rPr lang="en-US" sz="1800" dirty="0"/>
              <a:t> &lt; </a:t>
            </a:r>
            <a:r>
              <a:rPr lang="en-US" sz="1800" b="1" dirty="0">
                <a:solidFill>
                  <a:srgbClr val="0070C0"/>
                </a:solidFill>
              </a:rPr>
              <a:t>T’’</a:t>
            </a:r>
            <a:r>
              <a:rPr lang="en-US" sz="1800" dirty="0"/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0" name="Down Ribbon 9"/>
          <p:cNvSpPr/>
          <p:nvPr/>
        </p:nvSpPr>
        <p:spPr>
          <a:xfrm>
            <a:off x="2590800" y="6096000"/>
            <a:ext cx="4114800" cy="612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Every operation in </a:t>
            </a:r>
            <a:r>
              <a:rPr lang="en-US" sz="1600" b="1" dirty="0">
                <a:solidFill>
                  <a:srgbClr val="C00000"/>
                </a:solidFill>
              </a:rPr>
              <a:t>O</a:t>
            </a:r>
            <a:r>
              <a:rPr lang="en-US" sz="1600" dirty="0">
                <a:solidFill>
                  <a:schemeClr val="tx1"/>
                </a:solidFill>
              </a:rPr>
              <a:t>(log </a:t>
            </a:r>
            <a:r>
              <a:rPr lang="en-US" sz="1600" b="1" dirty="0">
                <a:solidFill>
                  <a:srgbClr val="0070C0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) time.</a:t>
            </a:r>
          </a:p>
        </p:txBody>
      </p:sp>
    </p:spTree>
    <p:extLst>
      <p:ext uri="{BB962C8B-B14F-4D97-AF65-F5344CB8AC3E}">
        <p14:creationId xmlns:p14="http://schemas.microsoft.com/office/powerpoint/2010/main" val="367893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uiExpand="1" build="p"/>
      <p:bldP spid="8" grpId="0" build="p"/>
      <p:bldP spid="9" grpId="0" build="p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Red</a:t>
            </a:r>
            <a:r>
              <a:rPr lang="en-US" sz="3600" b="1" dirty="0">
                <a:solidFill>
                  <a:srgbClr val="7030A0"/>
                </a:solidFill>
              </a:rPr>
              <a:t>-</a:t>
            </a:r>
            <a:r>
              <a:rPr lang="en-US" sz="3600" b="1" dirty="0"/>
              <a:t>Black</a:t>
            </a:r>
            <a:r>
              <a:rPr lang="en-US" sz="3600" b="1" dirty="0">
                <a:solidFill>
                  <a:srgbClr val="7030A0"/>
                </a:solidFill>
              </a:rPr>
              <a:t> Tree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How well have you understood ?</a:t>
            </a:r>
            <a:endParaRPr lang="en-US" sz="24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8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grpSp>
        <p:nvGrpSpPr>
          <p:cNvPr id="174" name="Group 173"/>
          <p:cNvGrpSpPr/>
          <p:nvPr/>
        </p:nvGrpSpPr>
        <p:grpSpPr>
          <a:xfrm>
            <a:off x="2362200" y="2819398"/>
            <a:ext cx="1901709" cy="3429002"/>
            <a:chOff x="2362200" y="2819398"/>
            <a:chExt cx="1901709" cy="3429002"/>
          </a:xfrm>
        </p:grpSpPr>
        <p:sp>
          <p:nvSpPr>
            <p:cNvPr id="175" name="Line Callout 1 174"/>
            <p:cNvSpPr/>
            <p:nvPr/>
          </p:nvSpPr>
          <p:spPr>
            <a:xfrm>
              <a:off x="2362200" y="5942076"/>
              <a:ext cx="1345568" cy="306324"/>
            </a:xfrm>
            <a:prstGeom prst="borderCallout1">
              <a:avLst>
                <a:gd name="adj1" fmla="val -3091"/>
                <a:gd name="adj2" fmla="val 18420"/>
                <a:gd name="adj3" fmla="val -692015"/>
                <a:gd name="adj4" fmla="val 7021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Color imbalance</a:t>
              </a:r>
            </a:p>
          </p:txBody>
        </p:sp>
        <p:sp>
          <p:nvSpPr>
            <p:cNvPr id="176" name="Arc 175"/>
            <p:cNvSpPr/>
            <p:nvPr/>
          </p:nvSpPr>
          <p:spPr>
            <a:xfrm rot="10563781">
              <a:off x="3048001" y="2819398"/>
              <a:ext cx="1215908" cy="1088396"/>
            </a:xfrm>
            <a:prstGeom prst="arc">
              <a:avLst>
                <a:gd name="adj1" fmla="val 17188773"/>
                <a:gd name="adj2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loud Callout 2"/>
          <p:cNvSpPr/>
          <p:nvPr/>
        </p:nvSpPr>
        <p:spPr>
          <a:xfrm>
            <a:off x="5504694" y="990600"/>
            <a:ext cx="3563106" cy="1069848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handle it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u="sng" dirty="0">
                <a:solidFill>
                  <a:schemeClr val="tx1"/>
                </a:solidFill>
              </a:rPr>
              <a:t>in general </a:t>
            </a:r>
            <a:r>
              <a:rPr lang="en-US" dirty="0">
                <a:solidFill>
                  <a:schemeClr val="tx1"/>
                </a:solidFill>
              </a:rPr>
              <a:t>as well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6247" y="2396344"/>
            <a:ext cx="48551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72511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002060"/>
                </a:solidFill>
              </a:rPr>
              <a:t>SpecialUnion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0070C0"/>
                </a:solidFill>
              </a:rPr>
              <a:t>T,T’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C00000"/>
                </a:solidFill>
              </a:rPr>
              <a:t>Remember: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every element of 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is </a:t>
            </a:r>
            <a:r>
              <a:rPr lang="en-US" sz="2000" b="1" u="sng" dirty="0">
                <a:solidFill>
                  <a:srgbClr val="7030A0"/>
                </a:solidFill>
              </a:rPr>
              <a:t>smaller</a:t>
            </a:r>
            <a:r>
              <a:rPr lang="en-US" sz="2000" b="1" dirty="0">
                <a:solidFill>
                  <a:schemeClr val="tx1"/>
                </a:solidFill>
              </a:rPr>
              <a:t> than every element of 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</a:p>
        </p:txBody>
      </p:sp>
    </p:spTree>
    <p:extLst>
      <p:ext uri="{BB962C8B-B14F-4D97-AF65-F5344CB8AC3E}">
        <p14:creationId xmlns:p14="http://schemas.microsoft.com/office/powerpoint/2010/main" val="38177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200400" cy="3752910"/>
            <a:chOff x="4953000" y="1371600"/>
            <a:chExt cx="32004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2004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trivial</a:t>
            </a:r>
            <a:r>
              <a:rPr lang="en-US" sz="3200" b="1" dirty="0"/>
              <a:t> algorithm that does not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Time complexity: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O</a:t>
            </a:r>
            <a:r>
              <a:rPr lang="en-US" sz="2000" dirty="0"/>
              <a:t>(log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876800" y="4572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009900" y="2854199"/>
            <a:ext cx="1930089" cy="2103477"/>
            <a:chOff x="3009900" y="2854199"/>
            <a:chExt cx="1930089" cy="2103477"/>
          </a:xfrm>
        </p:grpSpPr>
        <p:sp>
          <p:nvSpPr>
            <p:cNvPr id="12" name="Freeform 11"/>
            <p:cNvSpPr/>
            <p:nvPr/>
          </p:nvSpPr>
          <p:spPr>
            <a:xfrm>
              <a:off x="3021804" y="2854199"/>
              <a:ext cx="1918185" cy="2103477"/>
            </a:xfrm>
            <a:custGeom>
              <a:avLst/>
              <a:gdLst>
                <a:gd name="connsiteX0" fmla="*/ 1919762 w 1919762"/>
                <a:gd name="connsiteY0" fmla="*/ 1809062 h 1999875"/>
                <a:gd name="connsiteX1" fmla="*/ 1719040 w 1919762"/>
                <a:gd name="connsiteY1" fmla="*/ 1954027 h 1999875"/>
                <a:gd name="connsiteX2" fmla="*/ 1429109 w 1919762"/>
                <a:gd name="connsiteY2" fmla="*/ 1987481 h 1999875"/>
                <a:gd name="connsiteX3" fmla="*/ 1150328 w 1919762"/>
                <a:gd name="connsiteY3" fmla="*/ 1764457 h 1999875"/>
                <a:gd name="connsiteX4" fmla="*/ 380894 w 1919762"/>
                <a:gd name="connsiteY4" fmla="*/ 125227 h 1999875"/>
                <a:gd name="connsiteX5" fmla="*/ 57509 w 1919762"/>
                <a:gd name="connsiteY5" fmla="*/ 125227 h 1999875"/>
                <a:gd name="connsiteX6" fmla="*/ 1752 w 1919762"/>
                <a:gd name="connsiteY6" fmla="*/ 225588 h 1999875"/>
                <a:gd name="connsiteX0" fmla="*/ 1918088 w 1918088"/>
                <a:gd name="connsiteY0" fmla="*/ 1874128 h 2064941"/>
                <a:gd name="connsiteX1" fmla="*/ 1717366 w 1918088"/>
                <a:gd name="connsiteY1" fmla="*/ 2019093 h 2064941"/>
                <a:gd name="connsiteX2" fmla="*/ 1427435 w 1918088"/>
                <a:gd name="connsiteY2" fmla="*/ 2052547 h 2064941"/>
                <a:gd name="connsiteX3" fmla="*/ 1148654 w 1918088"/>
                <a:gd name="connsiteY3" fmla="*/ 1829523 h 2064941"/>
                <a:gd name="connsiteX4" fmla="*/ 379220 w 1918088"/>
                <a:gd name="connsiteY4" fmla="*/ 190293 h 2064941"/>
                <a:gd name="connsiteX5" fmla="*/ 189650 w 1918088"/>
                <a:gd name="connsiteY5" fmla="*/ 45327 h 2064941"/>
                <a:gd name="connsiteX6" fmla="*/ 78 w 1918088"/>
                <a:gd name="connsiteY6" fmla="*/ 290654 h 2064941"/>
                <a:gd name="connsiteX0" fmla="*/ 1918143 w 1918143"/>
                <a:gd name="connsiteY0" fmla="*/ 1887425 h 2078238"/>
                <a:gd name="connsiteX1" fmla="*/ 1717421 w 1918143"/>
                <a:gd name="connsiteY1" fmla="*/ 2032390 h 2078238"/>
                <a:gd name="connsiteX2" fmla="*/ 1427490 w 1918143"/>
                <a:gd name="connsiteY2" fmla="*/ 2065844 h 2078238"/>
                <a:gd name="connsiteX3" fmla="*/ 1148709 w 1918143"/>
                <a:gd name="connsiteY3" fmla="*/ 1842820 h 2078238"/>
                <a:gd name="connsiteX4" fmla="*/ 379275 w 1918143"/>
                <a:gd name="connsiteY4" fmla="*/ 203590 h 2078238"/>
                <a:gd name="connsiteX5" fmla="*/ 133949 w 1918143"/>
                <a:gd name="connsiteY5" fmla="*/ 36322 h 2078238"/>
                <a:gd name="connsiteX6" fmla="*/ 133 w 1918143"/>
                <a:gd name="connsiteY6" fmla="*/ 303951 h 2078238"/>
                <a:gd name="connsiteX0" fmla="*/ 1918185 w 1918185"/>
                <a:gd name="connsiteY0" fmla="*/ 1851616 h 2042429"/>
                <a:gd name="connsiteX1" fmla="*/ 1717463 w 1918185"/>
                <a:gd name="connsiteY1" fmla="*/ 1996581 h 2042429"/>
                <a:gd name="connsiteX2" fmla="*/ 1427532 w 1918185"/>
                <a:gd name="connsiteY2" fmla="*/ 2030035 h 2042429"/>
                <a:gd name="connsiteX3" fmla="*/ 1148751 w 1918185"/>
                <a:gd name="connsiteY3" fmla="*/ 1807011 h 2042429"/>
                <a:gd name="connsiteX4" fmla="*/ 490829 w 1918185"/>
                <a:gd name="connsiteY4" fmla="*/ 346201 h 2042429"/>
                <a:gd name="connsiteX5" fmla="*/ 133991 w 1918185"/>
                <a:gd name="connsiteY5" fmla="*/ 513 h 2042429"/>
                <a:gd name="connsiteX6" fmla="*/ 175 w 1918185"/>
                <a:gd name="connsiteY6" fmla="*/ 268142 h 2042429"/>
                <a:gd name="connsiteX0" fmla="*/ 1918185 w 1918185"/>
                <a:gd name="connsiteY0" fmla="*/ 1851616 h 2033346"/>
                <a:gd name="connsiteX1" fmla="*/ 1717463 w 1918185"/>
                <a:gd name="connsiteY1" fmla="*/ 1996581 h 2033346"/>
                <a:gd name="connsiteX2" fmla="*/ 1349474 w 1918185"/>
                <a:gd name="connsiteY2" fmla="*/ 2018884 h 2033346"/>
                <a:gd name="connsiteX3" fmla="*/ 1148751 w 1918185"/>
                <a:gd name="connsiteY3" fmla="*/ 1807011 h 2033346"/>
                <a:gd name="connsiteX4" fmla="*/ 490829 w 1918185"/>
                <a:gd name="connsiteY4" fmla="*/ 346201 h 2033346"/>
                <a:gd name="connsiteX5" fmla="*/ 133991 w 1918185"/>
                <a:gd name="connsiteY5" fmla="*/ 513 h 2033346"/>
                <a:gd name="connsiteX6" fmla="*/ 175 w 1918185"/>
                <a:gd name="connsiteY6" fmla="*/ 268142 h 2033346"/>
                <a:gd name="connsiteX0" fmla="*/ 1918185 w 1918185"/>
                <a:gd name="connsiteY0" fmla="*/ 1851616 h 2103477"/>
                <a:gd name="connsiteX1" fmla="*/ 1717463 w 1918185"/>
                <a:gd name="connsiteY1" fmla="*/ 1996581 h 2103477"/>
                <a:gd name="connsiteX2" fmla="*/ 1427532 w 1918185"/>
                <a:gd name="connsiteY2" fmla="*/ 2096943 h 2103477"/>
                <a:gd name="connsiteX3" fmla="*/ 1148751 w 1918185"/>
                <a:gd name="connsiteY3" fmla="*/ 1807011 h 2103477"/>
                <a:gd name="connsiteX4" fmla="*/ 490829 w 1918185"/>
                <a:gd name="connsiteY4" fmla="*/ 346201 h 2103477"/>
                <a:gd name="connsiteX5" fmla="*/ 133991 w 1918185"/>
                <a:gd name="connsiteY5" fmla="*/ 513 h 2103477"/>
                <a:gd name="connsiteX6" fmla="*/ 175 w 1918185"/>
                <a:gd name="connsiteY6" fmla="*/ 268142 h 210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8185" h="2103477">
                  <a:moveTo>
                    <a:pt x="1918185" y="1851616"/>
                  </a:moveTo>
                  <a:cubicBezTo>
                    <a:pt x="1858712" y="1909230"/>
                    <a:pt x="1799239" y="1955693"/>
                    <a:pt x="1717463" y="1996581"/>
                  </a:cubicBezTo>
                  <a:cubicBezTo>
                    <a:pt x="1635688" y="2037469"/>
                    <a:pt x="1522317" y="2128538"/>
                    <a:pt x="1427532" y="2096943"/>
                  </a:cubicBezTo>
                  <a:cubicBezTo>
                    <a:pt x="1332747" y="2065348"/>
                    <a:pt x="1304868" y="2098801"/>
                    <a:pt x="1148751" y="1807011"/>
                  </a:cubicBezTo>
                  <a:cubicBezTo>
                    <a:pt x="992634" y="1515221"/>
                    <a:pt x="659956" y="647284"/>
                    <a:pt x="490829" y="346201"/>
                  </a:cubicBezTo>
                  <a:cubicBezTo>
                    <a:pt x="321702" y="45118"/>
                    <a:pt x="215767" y="13523"/>
                    <a:pt x="133991" y="513"/>
                  </a:cubicBezTo>
                  <a:cubicBezTo>
                    <a:pt x="52215" y="-12497"/>
                    <a:pt x="-3542" y="226325"/>
                    <a:pt x="175" y="268142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6"/>
              <a:endCxn id="5" idx="0"/>
            </p:cNvCxnSpPr>
            <p:nvPr/>
          </p:nvCxnSpPr>
          <p:spPr>
            <a:xfrm flipH="1">
              <a:off x="3009900" y="3122341"/>
              <a:ext cx="12079" cy="7805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267200" y="320040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&lt;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5257800" y="2362200"/>
            <a:ext cx="533400" cy="10649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81000" y="2590800"/>
            <a:ext cx="1978555" cy="762000"/>
            <a:chOff x="1143000" y="2971800"/>
            <a:chExt cx="1978555" cy="762000"/>
          </a:xfrm>
        </p:grpSpPr>
        <p:sp>
          <p:nvSpPr>
            <p:cNvPr id="30" name="Smiley Face 29"/>
            <p:cNvSpPr/>
            <p:nvPr/>
          </p:nvSpPr>
          <p:spPr>
            <a:xfrm>
              <a:off x="1981200" y="2971800"/>
              <a:ext cx="304800" cy="3810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43000" y="3364468"/>
              <a:ext cx="1978555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Height balance lost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82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Towards an </a:t>
            </a:r>
            <a:r>
              <a:rPr lang="en-US" sz="2400" b="1" dirty="0">
                <a:solidFill>
                  <a:srgbClr val="C00000"/>
                </a:solidFill>
              </a:rPr>
              <a:t>O</a:t>
            </a:r>
            <a:r>
              <a:rPr lang="en-US" sz="2400" b="1" dirty="0"/>
              <a:t>(log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b="1" dirty="0"/>
              <a:t>) time for </a:t>
            </a:r>
            <a:r>
              <a:rPr lang="en-US" sz="2400" b="1" dirty="0" err="1">
                <a:solidFill>
                  <a:srgbClr val="002060"/>
                </a:solidFill>
              </a:rPr>
              <a:t>SpecialUnion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T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0070C0"/>
                </a:solidFill>
              </a:rPr>
              <a:t>T’</a:t>
            </a:r>
            <a:r>
              <a:rPr lang="en-US" sz="2400" b="1" dirty="0"/>
              <a:t>)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Simplifying </a:t>
            </a:r>
            <a:r>
              <a:rPr lang="en-US" sz="2400" b="1" dirty="0">
                <a:solidFill>
                  <a:srgbClr val="002060"/>
                </a:solidFill>
              </a:rPr>
              <a:t>the problem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rgbClr val="7030A0"/>
                </a:solidFill>
              </a:rPr>
              <a:t>Solving the simpler version </a:t>
            </a:r>
            <a:r>
              <a:rPr lang="en-US" sz="2400" b="1" dirty="0">
                <a:solidFill>
                  <a:srgbClr val="002060"/>
                </a:solidFill>
              </a:rPr>
              <a:t>efficiently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400" b="1" dirty="0">
                <a:solidFill>
                  <a:srgbClr val="7030A0"/>
                </a:solidFill>
              </a:rPr>
              <a:t>Extending </a:t>
            </a:r>
            <a:r>
              <a:rPr lang="en-US" sz="2400" b="1" dirty="0">
                <a:solidFill>
                  <a:srgbClr val="002060"/>
                </a:solidFill>
              </a:rPr>
              <a:t>the solution to generic version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5715000" y="1219200"/>
            <a:ext cx="3429000" cy="1371600"/>
          </a:xfrm>
          <a:prstGeom prst="cloudCallout">
            <a:avLst>
              <a:gd name="adj1" fmla="val -28580"/>
              <a:gd name="adj2" fmla="val 7801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solve some simple cases easily ?</a:t>
            </a:r>
          </a:p>
        </p:txBody>
      </p:sp>
    </p:spTree>
    <p:extLst>
      <p:ext uri="{BB962C8B-B14F-4D97-AF65-F5344CB8AC3E}">
        <p14:creationId xmlns:p14="http://schemas.microsoft.com/office/powerpoint/2010/main" val="367314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Simplifying</a:t>
            </a:r>
            <a:r>
              <a:rPr lang="en-US" sz="3200" b="1" dirty="0"/>
              <a:t> the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Simplified problem: </a:t>
            </a:r>
          </a:p>
          <a:p>
            <a:pPr marL="0" indent="0">
              <a:buNone/>
            </a:pPr>
            <a:r>
              <a:rPr lang="en-US" sz="2000" dirty="0"/>
              <a:t>Given two trees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 of </a:t>
            </a:r>
            <a:r>
              <a:rPr lang="en-US" sz="2000" u="sng" dirty="0"/>
              <a:t>same</a:t>
            </a:r>
            <a:r>
              <a:rPr lang="en-US" sz="2000" dirty="0"/>
              <a:t> </a:t>
            </a:r>
            <a:r>
              <a:rPr lang="en-US" sz="2000" b="1" dirty="0"/>
              <a:t>black height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dirty="0"/>
              <a:t>and a key </a:t>
            </a:r>
            <a:r>
              <a:rPr lang="en-US" sz="2000" b="1" dirty="0"/>
              <a:t>x</a:t>
            </a:r>
            <a:r>
              <a:rPr lang="en-US" sz="2000" dirty="0"/>
              <a:t>, such that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&lt;</a:t>
            </a:r>
            <a:r>
              <a:rPr lang="en-US" sz="2000" b="1" dirty="0"/>
              <a:t>x</a:t>
            </a:r>
            <a:r>
              <a:rPr lang="en-US" sz="2000" dirty="0"/>
              <a:t>&lt;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transform them into a tree </a:t>
            </a:r>
            <a:r>
              <a:rPr lang="en-US" sz="2000" b="1" dirty="0">
                <a:solidFill>
                  <a:srgbClr val="00B0F0"/>
                </a:solidFill>
              </a:rPr>
              <a:t>T*</a:t>
            </a:r>
            <a:r>
              <a:rPr lang="en-US" sz="2000" dirty="0"/>
              <a:t>=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U{</a:t>
            </a:r>
            <a:r>
              <a:rPr lang="en-US" sz="2000" b="1" dirty="0"/>
              <a:t>x</a:t>
            </a:r>
            <a:r>
              <a:rPr lang="en-US" sz="2000" dirty="0"/>
              <a:t>}U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72200" y="3168134"/>
            <a:ext cx="1447800" cy="1935778"/>
            <a:chOff x="2286000" y="3200400"/>
            <a:chExt cx="1447800" cy="1935778"/>
          </a:xfrm>
        </p:grpSpPr>
        <p:sp>
          <p:nvSpPr>
            <p:cNvPr id="26" name="Isosceles Triangle 25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9096" y="4736068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962400" y="2362200"/>
            <a:ext cx="1963544" cy="1546086"/>
            <a:chOff x="3962400" y="2362200"/>
            <a:chExt cx="1963544" cy="1546086"/>
          </a:xfrm>
        </p:grpSpPr>
        <p:sp>
          <p:nvSpPr>
            <p:cNvPr id="9" name="Oval 8"/>
            <p:cNvSpPr/>
            <p:nvPr/>
          </p:nvSpPr>
          <p:spPr>
            <a:xfrm>
              <a:off x="4800600" y="2362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62400" y="32004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6400" y="31242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38736" y="2514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573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Solving the simplified</a:t>
            </a:r>
            <a:r>
              <a:rPr lang="en-US" sz="3200" b="1" dirty="0"/>
              <a:t>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Simplified problem: </a:t>
            </a:r>
          </a:p>
          <a:p>
            <a:pPr marL="0" indent="0">
              <a:buNone/>
            </a:pPr>
            <a:r>
              <a:rPr lang="en-US" sz="2000" dirty="0"/>
              <a:t>Given two trees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 of </a:t>
            </a:r>
            <a:r>
              <a:rPr lang="en-US" sz="2000" u="sng" dirty="0"/>
              <a:t>same</a:t>
            </a:r>
            <a:r>
              <a:rPr lang="en-US" sz="2000" dirty="0"/>
              <a:t> </a:t>
            </a:r>
            <a:r>
              <a:rPr lang="en-US" sz="2000" b="1" dirty="0"/>
              <a:t>black height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dirty="0"/>
              <a:t>and a key </a:t>
            </a:r>
            <a:r>
              <a:rPr lang="en-US" sz="2000" b="1" dirty="0"/>
              <a:t>x</a:t>
            </a:r>
            <a:r>
              <a:rPr lang="en-US" sz="2000" dirty="0"/>
              <a:t>, such that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&lt;</a:t>
            </a:r>
            <a:r>
              <a:rPr lang="en-US" sz="2000" b="1" dirty="0"/>
              <a:t>x</a:t>
            </a:r>
            <a:r>
              <a:rPr lang="en-US" sz="2000" dirty="0"/>
              <a:t>&lt;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transform them into a tree </a:t>
            </a:r>
            <a:r>
              <a:rPr lang="en-US" sz="2000" b="1" dirty="0">
                <a:solidFill>
                  <a:srgbClr val="00B0F0"/>
                </a:solidFill>
              </a:rPr>
              <a:t>T*</a:t>
            </a:r>
            <a:r>
              <a:rPr lang="en-US" sz="2000" dirty="0"/>
              <a:t>=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U{</a:t>
            </a:r>
            <a:r>
              <a:rPr lang="en-US" sz="2000" b="1" dirty="0"/>
              <a:t>x</a:t>
            </a:r>
            <a:r>
              <a:rPr lang="en-US" sz="2000" dirty="0"/>
              <a:t>}U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71356" y="2329934"/>
            <a:ext cx="1133644" cy="1022866"/>
            <a:chOff x="1533356" y="2710934"/>
            <a:chExt cx="1133644" cy="1022866"/>
          </a:xfrm>
        </p:grpSpPr>
        <p:sp>
          <p:nvSpPr>
            <p:cNvPr id="30" name="Smiley Face 29"/>
            <p:cNvSpPr/>
            <p:nvPr/>
          </p:nvSpPr>
          <p:spPr>
            <a:xfrm>
              <a:off x="1828800" y="2710934"/>
              <a:ext cx="533400" cy="489466"/>
            </a:xfrm>
            <a:prstGeom prst="smileyFace">
              <a:avLst>
                <a:gd name="adj" fmla="val 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33356" y="3364468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 </a:t>
              </a:r>
              <a:r>
                <a:rPr lang="en-US" dirty="0">
                  <a:solidFill>
                    <a:srgbClr val="002060"/>
                  </a:solidFill>
                </a:rPr>
                <a:t>(1) time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72200" y="3168134"/>
            <a:ext cx="1447800" cy="1935778"/>
            <a:chOff x="2286000" y="3200400"/>
            <a:chExt cx="1447800" cy="1935778"/>
          </a:xfrm>
        </p:grpSpPr>
        <p:sp>
          <p:nvSpPr>
            <p:cNvPr id="26" name="Isosceles Triangle 25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9096" y="4736068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962400" y="2362200"/>
            <a:ext cx="1963544" cy="1546086"/>
            <a:chOff x="3962400" y="2362200"/>
            <a:chExt cx="1963544" cy="1546086"/>
          </a:xfrm>
        </p:grpSpPr>
        <p:sp>
          <p:nvSpPr>
            <p:cNvPr id="9" name="Oval 8"/>
            <p:cNvSpPr/>
            <p:nvPr/>
          </p:nvSpPr>
          <p:spPr>
            <a:xfrm>
              <a:off x="4800600" y="2362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62400" y="32004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6400" y="31242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38736" y="2514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009900" y="2470666"/>
            <a:ext cx="3886200" cy="729734"/>
            <a:chOff x="3009900" y="2470666"/>
            <a:chExt cx="3886200" cy="729734"/>
          </a:xfrm>
        </p:grpSpPr>
        <p:cxnSp>
          <p:nvCxnSpPr>
            <p:cNvPr id="11" name="Straight Arrow Connector 10"/>
            <p:cNvCxnSpPr>
              <a:stCxn id="9" idx="3"/>
              <a:endCxn id="5" idx="0"/>
            </p:cNvCxnSpPr>
            <p:nvPr/>
          </p:nvCxnSpPr>
          <p:spPr>
            <a:xfrm flipH="1">
              <a:off x="3009900" y="2492282"/>
              <a:ext cx="1813018" cy="7081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953000" y="2470666"/>
              <a:ext cx="1943100" cy="72973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334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876800" y="4572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5486400" y="1905000"/>
            <a:ext cx="533400" cy="106494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267200" y="2969941"/>
            <a:ext cx="609600" cy="152586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1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9" grpId="1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3581400" y="2895600"/>
            <a:ext cx="1201544" cy="924818"/>
            <a:chOff x="3657600" y="2776954"/>
            <a:chExt cx="1201544" cy="924818"/>
          </a:xfrm>
        </p:grpSpPr>
        <p:sp>
          <p:nvSpPr>
            <p:cNvPr id="16" name="TextBox 15"/>
            <p:cNvSpPr txBox="1"/>
            <p:nvPr/>
          </p:nvSpPr>
          <p:spPr>
            <a:xfrm>
              <a:off x="3657600" y="2993886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19600" y="2983468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29136" y="277695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085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6096000" y="1371600"/>
            <a:ext cx="2286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2111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9791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638800" y="4724400"/>
            <a:ext cx="447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T’’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Freeform 8"/>
          <p:cNvSpPr/>
          <p:nvPr/>
        </p:nvSpPr>
        <p:spPr>
          <a:xfrm>
            <a:off x="5809785" y="1349298"/>
            <a:ext cx="2263698" cy="3378819"/>
          </a:xfrm>
          <a:custGeom>
            <a:avLst/>
            <a:gdLst>
              <a:gd name="connsiteX0" fmla="*/ 713678 w 2263698"/>
              <a:gd name="connsiteY0" fmla="*/ 0 h 3378819"/>
              <a:gd name="connsiteX1" fmla="*/ 0 w 2263698"/>
              <a:gd name="connsiteY1" fmla="*/ 1538868 h 3378819"/>
              <a:gd name="connsiteX2" fmla="*/ 914400 w 2263698"/>
              <a:gd name="connsiteY2" fmla="*/ 3378819 h 3378819"/>
              <a:gd name="connsiteX3" fmla="*/ 2263698 w 2263698"/>
              <a:gd name="connsiteY3" fmla="*/ 3378819 h 3378819"/>
              <a:gd name="connsiteX4" fmla="*/ 713678 w 2263698"/>
              <a:gd name="connsiteY4" fmla="*/ 55756 h 3378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698" h="3378819">
                <a:moveTo>
                  <a:pt x="713678" y="0"/>
                </a:moveTo>
                <a:lnTo>
                  <a:pt x="0" y="1538868"/>
                </a:lnTo>
                <a:lnTo>
                  <a:pt x="914400" y="3378819"/>
                </a:lnTo>
                <a:lnTo>
                  <a:pt x="2263698" y="3378819"/>
                </a:lnTo>
                <a:lnTo>
                  <a:pt x="713678" y="55756"/>
                </a:lnTo>
              </a:path>
            </a:pathLst>
          </a:custGeom>
          <a:solidFill>
            <a:srgbClr val="92D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4953000" y="3245822"/>
            <a:ext cx="1447800" cy="1524000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715000" y="28194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28" idx="4"/>
            <a:endCxn id="24" idx="0"/>
          </p:cNvCxnSpPr>
          <p:nvPr/>
        </p:nvCxnSpPr>
        <p:spPr>
          <a:xfrm flipH="1">
            <a:off x="5676900" y="2971800"/>
            <a:ext cx="114300" cy="27402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0"/>
          </p:cNvCxnSpPr>
          <p:nvPr/>
        </p:nvCxnSpPr>
        <p:spPr>
          <a:xfrm>
            <a:off x="4267200" y="2873282"/>
            <a:ext cx="1409700" cy="3725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3"/>
            <a:endCxn id="5" idx="0"/>
          </p:cNvCxnSpPr>
          <p:nvPr/>
        </p:nvCxnSpPr>
        <p:spPr>
          <a:xfrm flipH="1">
            <a:off x="3009900" y="2873282"/>
            <a:ext cx="1127218" cy="3271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97530" y="26786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44438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Freeform 8"/>
          <p:cNvSpPr/>
          <p:nvPr/>
        </p:nvSpPr>
        <p:spPr>
          <a:xfrm>
            <a:off x="5809785" y="1349298"/>
            <a:ext cx="2263698" cy="3378819"/>
          </a:xfrm>
          <a:custGeom>
            <a:avLst/>
            <a:gdLst>
              <a:gd name="connsiteX0" fmla="*/ 713678 w 2263698"/>
              <a:gd name="connsiteY0" fmla="*/ 0 h 3378819"/>
              <a:gd name="connsiteX1" fmla="*/ 0 w 2263698"/>
              <a:gd name="connsiteY1" fmla="*/ 1538868 h 3378819"/>
              <a:gd name="connsiteX2" fmla="*/ 914400 w 2263698"/>
              <a:gd name="connsiteY2" fmla="*/ 3378819 h 3378819"/>
              <a:gd name="connsiteX3" fmla="*/ 2263698 w 2263698"/>
              <a:gd name="connsiteY3" fmla="*/ 3378819 h 3378819"/>
              <a:gd name="connsiteX4" fmla="*/ 713678 w 2263698"/>
              <a:gd name="connsiteY4" fmla="*/ 55756 h 3378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698" h="3378819">
                <a:moveTo>
                  <a:pt x="713678" y="0"/>
                </a:moveTo>
                <a:lnTo>
                  <a:pt x="0" y="1538868"/>
                </a:lnTo>
                <a:lnTo>
                  <a:pt x="914400" y="3378819"/>
                </a:lnTo>
                <a:lnTo>
                  <a:pt x="2263698" y="3378819"/>
                </a:lnTo>
                <a:lnTo>
                  <a:pt x="713678" y="55756"/>
                </a:lnTo>
              </a:path>
            </a:pathLst>
          </a:custGeom>
          <a:solidFill>
            <a:srgbClr val="92D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4953000" y="3245822"/>
            <a:ext cx="1447800" cy="1524000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715000" y="28194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0"/>
          </p:cNvCxnSpPr>
          <p:nvPr/>
        </p:nvCxnSpPr>
        <p:spPr>
          <a:xfrm>
            <a:off x="4267200" y="2873282"/>
            <a:ext cx="1409700" cy="3725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3"/>
            <a:endCxn id="5" idx="0"/>
          </p:cNvCxnSpPr>
          <p:nvPr/>
        </p:nvCxnSpPr>
        <p:spPr>
          <a:xfrm flipH="1">
            <a:off x="3009900" y="2873282"/>
            <a:ext cx="1127218" cy="3271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191000" y="2702310"/>
            <a:ext cx="1574181" cy="348933"/>
            <a:chOff x="4191000" y="2702310"/>
            <a:chExt cx="1574181" cy="348933"/>
          </a:xfrm>
        </p:grpSpPr>
        <p:sp>
          <p:nvSpPr>
            <p:cNvPr id="7" name="Freeform 6"/>
            <p:cNvSpPr/>
            <p:nvPr/>
          </p:nvSpPr>
          <p:spPr>
            <a:xfrm>
              <a:off x="4226313" y="2707224"/>
              <a:ext cx="1538868" cy="344019"/>
            </a:xfrm>
            <a:custGeom>
              <a:avLst/>
              <a:gdLst>
                <a:gd name="connsiteX0" fmla="*/ 1542840 w 1542840"/>
                <a:gd name="connsiteY0" fmla="*/ 251871 h 364622"/>
                <a:gd name="connsiteX1" fmla="*/ 1498236 w 1542840"/>
                <a:gd name="connsiteY1" fmla="*/ 329930 h 364622"/>
                <a:gd name="connsiteX2" fmla="*/ 1353270 w 1542840"/>
                <a:gd name="connsiteY2" fmla="*/ 341081 h 364622"/>
                <a:gd name="connsiteX3" fmla="*/ 182392 w 1542840"/>
                <a:gd name="connsiteY3" fmla="*/ 17696 h 364622"/>
                <a:gd name="connsiteX4" fmla="*/ 3972 w 1542840"/>
                <a:gd name="connsiteY4" fmla="*/ 39998 h 364622"/>
                <a:gd name="connsiteX5" fmla="*/ 3972 w 1542840"/>
                <a:gd name="connsiteY5" fmla="*/ 39998 h 364622"/>
                <a:gd name="connsiteX0" fmla="*/ 1539765 w 1539765"/>
                <a:gd name="connsiteY0" fmla="*/ 248726 h 333210"/>
                <a:gd name="connsiteX1" fmla="*/ 1495161 w 1539765"/>
                <a:gd name="connsiteY1" fmla="*/ 326785 h 333210"/>
                <a:gd name="connsiteX2" fmla="*/ 1216380 w 1539765"/>
                <a:gd name="connsiteY2" fmla="*/ 293331 h 333210"/>
                <a:gd name="connsiteX3" fmla="*/ 179317 w 1539765"/>
                <a:gd name="connsiteY3" fmla="*/ 14551 h 333210"/>
                <a:gd name="connsiteX4" fmla="*/ 897 w 1539765"/>
                <a:gd name="connsiteY4" fmla="*/ 36853 h 333210"/>
                <a:gd name="connsiteX5" fmla="*/ 897 w 1539765"/>
                <a:gd name="connsiteY5" fmla="*/ 36853 h 333210"/>
                <a:gd name="connsiteX0" fmla="*/ 1538868 w 1538868"/>
                <a:gd name="connsiteY0" fmla="*/ 289470 h 376219"/>
                <a:gd name="connsiteX1" fmla="*/ 1494264 w 1538868"/>
                <a:gd name="connsiteY1" fmla="*/ 367529 h 376219"/>
                <a:gd name="connsiteX2" fmla="*/ 1215483 w 1538868"/>
                <a:gd name="connsiteY2" fmla="*/ 334075 h 376219"/>
                <a:gd name="connsiteX3" fmla="*/ 200723 w 1538868"/>
                <a:gd name="connsiteY3" fmla="*/ 10690 h 376219"/>
                <a:gd name="connsiteX4" fmla="*/ 0 w 1538868"/>
                <a:gd name="connsiteY4" fmla="*/ 77597 h 376219"/>
                <a:gd name="connsiteX5" fmla="*/ 0 w 1538868"/>
                <a:gd name="connsiteY5" fmla="*/ 77597 h 376219"/>
                <a:gd name="connsiteX0" fmla="*/ 1538868 w 1538868"/>
                <a:gd name="connsiteY0" fmla="*/ 259000 h 344019"/>
                <a:gd name="connsiteX1" fmla="*/ 1494264 w 1538868"/>
                <a:gd name="connsiteY1" fmla="*/ 337059 h 344019"/>
                <a:gd name="connsiteX2" fmla="*/ 1215483 w 1538868"/>
                <a:gd name="connsiteY2" fmla="*/ 303605 h 344019"/>
                <a:gd name="connsiteX3" fmla="*/ 223025 w 1538868"/>
                <a:gd name="connsiteY3" fmla="*/ 13674 h 344019"/>
                <a:gd name="connsiteX4" fmla="*/ 0 w 1538868"/>
                <a:gd name="connsiteY4" fmla="*/ 47127 h 344019"/>
                <a:gd name="connsiteX5" fmla="*/ 0 w 1538868"/>
                <a:gd name="connsiteY5" fmla="*/ 47127 h 3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8868" h="344019">
                  <a:moveTo>
                    <a:pt x="1538868" y="259000"/>
                  </a:moveTo>
                  <a:cubicBezTo>
                    <a:pt x="1532363" y="290595"/>
                    <a:pt x="1548161" y="329625"/>
                    <a:pt x="1494264" y="337059"/>
                  </a:cubicBezTo>
                  <a:cubicBezTo>
                    <a:pt x="1440367" y="344493"/>
                    <a:pt x="1427356" y="357502"/>
                    <a:pt x="1215483" y="303605"/>
                  </a:cubicBezTo>
                  <a:cubicBezTo>
                    <a:pt x="1003610" y="249708"/>
                    <a:pt x="425605" y="56420"/>
                    <a:pt x="223025" y="13674"/>
                  </a:cubicBezTo>
                  <a:cubicBezTo>
                    <a:pt x="20445" y="-29072"/>
                    <a:pt x="37171" y="41552"/>
                    <a:pt x="0" y="47127"/>
                  </a:cubicBezTo>
                  <a:lnTo>
                    <a:pt x="0" y="47127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H="1">
              <a:off x="4191000" y="2702310"/>
              <a:ext cx="152400" cy="4089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5638800" y="4724400"/>
            <a:ext cx="447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T’’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97530" y="26786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1470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Algorithm</a:t>
            </a:r>
            <a:r>
              <a:rPr lang="en-US" sz="2000" dirty="0"/>
              <a:t> for </a:t>
            </a:r>
            <a:r>
              <a:rPr lang="en-US" sz="2000" b="1" dirty="0" err="1">
                <a:solidFill>
                  <a:srgbClr val="002060"/>
                </a:solidFill>
              </a:rPr>
              <a:t>SpecialUnion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dirty="0"/>
              <a:t>,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  <a:r>
              <a:rPr lang="en-US" sz="2000" dirty="0"/>
              <a:t>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Let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be the node storing smallest element of 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  <a:r>
              <a:rPr lang="en-US" sz="20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Delete</a:t>
            </a:r>
            <a:r>
              <a:rPr lang="en-US" sz="2000" dirty="0"/>
              <a:t> the node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from </a:t>
            </a:r>
            <a:r>
              <a:rPr lang="en-US" sz="2000" b="1" dirty="0">
                <a:solidFill>
                  <a:srgbClr val="0070C0"/>
                </a:solidFill>
              </a:rPr>
              <a:t>T’.</a:t>
            </a:r>
          </a:p>
          <a:p>
            <a:pPr marL="0" indent="0">
              <a:buNone/>
            </a:pPr>
            <a:r>
              <a:rPr lang="en-US" sz="2000" dirty="0"/>
              <a:t>Let </a:t>
            </a:r>
            <a:r>
              <a:rPr lang="en-US" sz="2000" b="1" dirty="0"/>
              <a:t>black height </a:t>
            </a:r>
            <a:r>
              <a:rPr lang="en-US" sz="2000" dirty="0"/>
              <a:t>of 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dirty="0"/>
              <a:t> ≤ </a:t>
            </a:r>
            <a:r>
              <a:rPr lang="en-US" sz="2000" b="1" dirty="0"/>
              <a:t>black height </a:t>
            </a:r>
            <a:r>
              <a:rPr lang="en-US" sz="2000" dirty="0"/>
              <a:t>of </a:t>
            </a:r>
            <a:r>
              <a:rPr lang="en-US" sz="2000" b="1">
                <a:solidFill>
                  <a:srgbClr val="0070C0"/>
                </a:solidFill>
              </a:rPr>
              <a:t>T’</a:t>
            </a: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Keep following left pointer of</a:t>
            </a:r>
            <a:r>
              <a:rPr lang="en-US" sz="2000" b="1" dirty="0">
                <a:solidFill>
                  <a:srgbClr val="0070C0"/>
                </a:solidFill>
              </a:rPr>
              <a:t> T’ </a:t>
            </a:r>
            <a:r>
              <a:rPr lang="en-US" sz="2000" dirty="0"/>
              <a:t>until we reach a node </a:t>
            </a:r>
            <a:r>
              <a:rPr lang="en-US" sz="2000" b="1" dirty="0">
                <a:solidFill>
                  <a:srgbClr val="0070C0"/>
                </a:solidFill>
              </a:rPr>
              <a:t>v </a:t>
            </a:r>
            <a:r>
              <a:rPr lang="en-US" sz="2000" dirty="0"/>
              <a:t>such that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b="1" dirty="0"/>
              <a:t>left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is black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The </a:t>
            </a:r>
            <a:r>
              <a:rPr lang="en-US" sz="1800" dirty="0" err="1"/>
              <a:t>subtree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T”</a:t>
            </a:r>
            <a:r>
              <a:rPr lang="en-US" sz="1800" b="1" dirty="0"/>
              <a:t> </a:t>
            </a:r>
            <a:r>
              <a:rPr lang="en-US" sz="1800" dirty="0"/>
              <a:t>rooted at </a:t>
            </a:r>
            <a:r>
              <a:rPr lang="en-US" sz="1800" b="1" dirty="0"/>
              <a:t>Left</a:t>
            </a:r>
            <a:r>
              <a:rPr lang="en-US" sz="1800" dirty="0"/>
              <a:t>(</a:t>
            </a:r>
            <a:r>
              <a:rPr lang="en-US" sz="1800" b="1" dirty="0"/>
              <a:t>v</a:t>
            </a:r>
            <a:r>
              <a:rPr lang="en-US" sz="1800" dirty="0"/>
              <a:t>) has black height same as that of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/>
              <a:t>left(</a:t>
            </a:r>
            <a:r>
              <a:rPr lang="en-US" sz="1800" b="1" dirty="0">
                <a:solidFill>
                  <a:srgbClr val="0070C0"/>
                </a:solidFill>
              </a:rPr>
              <a:t>x</a:t>
            </a:r>
            <a:r>
              <a:rPr lang="en-US" sz="1800" b="1" dirty="0"/>
              <a:t>)</a:t>
            </a:r>
            <a:r>
              <a:rPr lang="en-US" sz="1800" b="1" dirty="0">
                <a:sym typeface="Wingdings" pitchFamily="2" charset="2"/>
              </a:rPr>
              <a:t>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T</a:t>
            </a:r>
            <a:r>
              <a:rPr lang="en-US" sz="1800" b="1" dirty="0">
                <a:sym typeface="Wingdings" pitchFamily="2" charset="2"/>
              </a:rPr>
              <a:t>;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right(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 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T”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Color(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C00000"/>
                </a:solidFill>
                <a:sym typeface="Wingdings" pitchFamily="2" charset="2"/>
              </a:rPr>
              <a:t>red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left(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parent(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ym typeface="Wingdings" pitchFamily="2" charset="2"/>
              </a:rPr>
              <a:t>If </a:t>
            </a:r>
            <a:r>
              <a:rPr lang="en-US" sz="1800" b="1" dirty="0">
                <a:sym typeface="Wingdings" pitchFamily="2" charset="2"/>
              </a:rPr>
              <a:t>color(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) </a:t>
            </a:r>
            <a:r>
              <a:rPr lang="en-US" sz="1800" dirty="0">
                <a:sym typeface="Wingdings" pitchFamily="2" charset="2"/>
              </a:rPr>
              <a:t>is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C00000"/>
                </a:solidFill>
                <a:sym typeface="Wingdings" pitchFamily="2" charset="2"/>
              </a:rPr>
              <a:t>red</a:t>
            </a:r>
            <a:r>
              <a:rPr lang="en-US" sz="1800" b="1" dirty="0">
                <a:sym typeface="Wingdings" pitchFamily="2" charset="2"/>
              </a:rPr>
              <a:t>, </a:t>
            </a:r>
            <a:r>
              <a:rPr lang="en-US" sz="1800" dirty="0">
                <a:sym typeface="Wingdings" pitchFamily="2" charset="2"/>
              </a:rPr>
              <a:t>remove the color imbalance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                             (like in the usual procedure of insertion in a </a:t>
            </a:r>
            <a:r>
              <a:rPr lang="en-US" sz="1800" b="1" dirty="0">
                <a:sym typeface="Wingdings" pitchFamily="2" charset="2"/>
              </a:rPr>
              <a:t>red-black</a:t>
            </a:r>
            <a:r>
              <a:rPr lang="en-US" sz="1800" dirty="0">
                <a:sym typeface="Wingdings" pitchFamily="2" charset="2"/>
              </a:rPr>
              <a:t> tree) 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5715000" y="4495800"/>
                <a:ext cx="32004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Total time :</a:t>
                </a:r>
                <a:r>
                  <a:rPr lang="en-US" b="1" dirty="0">
                    <a:solidFill>
                      <a:srgbClr val="C00000"/>
                    </a:solidFill>
                  </a:rPr>
                  <a:t> O</a:t>
                </a:r>
                <a:r>
                  <a:rPr lang="en-US" b="1" dirty="0">
                    <a:solidFill>
                      <a:schemeClr val="tx1"/>
                    </a:solidFill>
                  </a:rPr>
                  <a:t>(log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)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495800"/>
                <a:ext cx="32004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61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Split(</a:t>
            </a:r>
            <a:r>
              <a:rPr lang="en-US" sz="3600" b="1" dirty="0" err="1">
                <a:solidFill>
                  <a:srgbClr val="0070C0"/>
                </a:solidFill>
              </a:rPr>
              <a:t>T,x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52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Achieving </a:t>
            </a:r>
            <a:r>
              <a:rPr lang="en-US" sz="3200" b="1" dirty="0">
                <a:solidFill>
                  <a:srgbClr val="C00000"/>
                </a:solidFill>
              </a:rPr>
              <a:t>O</a:t>
            </a:r>
            <a:r>
              <a:rPr lang="en-US" sz="3200" b="1" dirty="0"/>
              <a:t>(log 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b="1" dirty="0"/>
              <a:t>) time for </a:t>
            </a:r>
            <a:r>
              <a:rPr lang="en-US" sz="3200" b="1" dirty="0">
                <a:solidFill>
                  <a:srgbClr val="002060"/>
                </a:solidFill>
              </a:rPr>
              <a:t>Split</a:t>
            </a:r>
            <a:r>
              <a:rPr lang="en-US" sz="3200" b="1" dirty="0"/>
              <a:t>(</a:t>
            </a:r>
            <a:r>
              <a:rPr lang="en-US" sz="3200" b="1" dirty="0" err="1">
                <a:solidFill>
                  <a:srgbClr val="0070C0"/>
                </a:solidFill>
              </a:rPr>
              <a:t>T</a:t>
            </a:r>
            <a:r>
              <a:rPr lang="en-US" sz="3200" b="1" dirty="0" err="1"/>
              <a:t>,x</a:t>
            </a:r>
            <a:r>
              <a:rPr lang="en-US" sz="3200" b="1" dirty="0"/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000" dirty="0"/>
              <a:t>Take a scissor</a:t>
            </a:r>
          </a:p>
          <a:p>
            <a:r>
              <a:rPr lang="en-US" sz="2000" dirty="0"/>
              <a:t>cut 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dirty="0"/>
              <a:t> into trees starting from </a:t>
            </a:r>
            <a:r>
              <a:rPr lang="en-US" sz="2000" b="1" dirty="0"/>
              <a:t>x</a:t>
            </a:r>
          </a:p>
          <a:p>
            <a:r>
              <a:rPr lang="en-US" sz="2000" dirty="0"/>
              <a:t>Make use of </a:t>
            </a:r>
            <a:r>
              <a:rPr lang="en-US" sz="2000" b="1" dirty="0" err="1"/>
              <a:t>SpecialUnion</a:t>
            </a:r>
            <a:r>
              <a:rPr lang="en-US" sz="2000" b="1" dirty="0"/>
              <a:t> </a:t>
            </a:r>
            <a:r>
              <a:rPr lang="en-US" sz="2000" dirty="0"/>
              <a:t>algorithm.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0" y="20574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15000" y="4724400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90586" y="2090182"/>
            <a:ext cx="780585" cy="3211552"/>
            <a:chOff x="4606382" y="2036955"/>
            <a:chExt cx="780585" cy="3211552"/>
          </a:xfrm>
        </p:grpSpPr>
        <p:sp>
          <p:nvSpPr>
            <p:cNvPr id="12" name="Freeform 11"/>
            <p:cNvSpPr/>
            <p:nvPr/>
          </p:nvSpPr>
          <p:spPr>
            <a:xfrm>
              <a:off x="4606382" y="2036955"/>
              <a:ext cx="780585" cy="3211552"/>
            </a:xfrm>
            <a:custGeom>
              <a:avLst/>
              <a:gdLst>
                <a:gd name="connsiteX0" fmla="*/ 234175 w 780585"/>
                <a:gd name="connsiteY0" fmla="*/ 0 h 3211552"/>
                <a:gd name="connsiteX1" fmla="*/ 111512 w 780585"/>
                <a:gd name="connsiteY1" fmla="*/ 267630 h 3211552"/>
                <a:gd name="connsiteX2" fmla="*/ 245326 w 780585"/>
                <a:gd name="connsiteY2" fmla="*/ 490654 h 3211552"/>
                <a:gd name="connsiteX3" fmla="*/ 133814 w 780585"/>
                <a:gd name="connsiteY3" fmla="*/ 702527 h 3211552"/>
                <a:gd name="connsiteX4" fmla="*/ 0 w 780585"/>
                <a:gd name="connsiteY4" fmla="*/ 959005 h 3211552"/>
                <a:gd name="connsiteX5" fmla="*/ 356839 w 780585"/>
                <a:gd name="connsiteY5" fmla="*/ 1494264 h 3211552"/>
                <a:gd name="connsiteX6" fmla="*/ 234175 w 780585"/>
                <a:gd name="connsiteY6" fmla="*/ 1683835 h 3211552"/>
                <a:gd name="connsiteX7" fmla="*/ 379141 w 780585"/>
                <a:gd name="connsiteY7" fmla="*/ 1873405 h 3211552"/>
                <a:gd name="connsiteX8" fmla="*/ 223024 w 780585"/>
                <a:gd name="connsiteY8" fmla="*/ 2085278 h 3211552"/>
                <a:gd name="connsiteX9" fmla="*/ 367990 w 780585"/>
                <a:gd name="connsiteY9" fmla="*/ 2252547 h 3211552"/>
                <a:gd name="connsiteX10" fmla="*/ 234175 w 780585"/>
                <a:gd name="connsiteY10" fmla="*/ 2430966 h 3211552"/>
                <a:gd name="connsiteX11" fmla="*/ 780585 w 780585"/>
                <a:gd name="connsiteY11" fmla="*/ 3100039 h 3211552"/>
                <a:gd name="connsiteX12" fmla="*/ 680224 w 780585"/>
                <a:gd name="connsiteY12" fmla="*/ 3211552 h 321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0585" h="3211552">
                  <a:moveTo>
                    <a:pt x="234175" y="0"/>
                  </a:moveTo>
                  <a:lnTo>
                    <a:pt x="111512" y="267630"/>
                  </a:lnTo>
                  <a:lnTo>
                    <a:pt x="245326" y="490654"/>
                  </a:lnTo>
                  <a:lnTo>
                    <a:pt x="133814" y="702527"/>
                  </a:lnTo>
                  <a:lnTo>
                    <a:pt x="0" y="959005"/>
                  </a:lnTo>
                  <a:lnTo>
                    <a:pt x="356839" y="1494264"/>
                  </a:lnTo>
                  <a:lnTo>
                    <a:pt x="234175" y="1683835"/>
                  </a:lnTo>
                  <a:lnTo>
                    <a:pt x="379141" y="1873405"/>
                  </a:lnTo>
                  <a:lnTo>
                    <a:pt x="223024" y="2085278"/>
                  </a:lnTo>
                  <a:lnTo>
                    <a:pt x="367990" y="2252547"/>
                  </a:lnTo>
                  <a:lnTo>
                    <a:pt x="234175" y="2430966"/>
                  </a:lnTo>
                  <a:lnTo>
                    <a:pt x="780585" y="3100039"/>
                  </a:lnTo>
                  <a:lnTo>
                    <a:pt x="680224" y="3211552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5018975" y="4677937"/>
              <a:ext cx="128238" cy="1524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181600" y="5117068"/>
            <a:ext cx="366664" cy="369332"/>
            <a:chOff x="5181600" y="5117068"/>
            <a:chExt cx="366664" cy="369332"/>
          </a:xfrm>
        </p:grpSpPr>
        <p:sp>
          <p:nvSpPr>
            <p:cNvPr id="10" name="Oval 9"/>
            <p:cNvSpPr/>
            <p:nvPr/>
          </p:nvSpPr>
          <p:spPr>
            <a:xfrm>
              <a:off x="5181600" y="5257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51170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4654" y="3883910"/>
            <a:ext cx="916691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0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45 0.2446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00" y="1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10944</TotalTime>
  <Words>1241</Words>
  <Application>Microsoft Macintosh PowerPoint</Application>
  <PresentationFormat>On-screen Show (4:3)</PresentationFormat>
  <Paragraphs>410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Red Black tree  (Height Balanced BST)</vt:lpstr>
      <vt:lpstr>Binary Search Tree</vt:lpstr>
      <vt:lpstr>PowerPoint Presentation</vt:lpstr>
      <vt:lpstr>Predecessor(T,x)</vt:lpstr>
      <vt:lpstr>Predecessor(T,x)</vt:lpstr>
      <vt:lpstr>Predecessor(T,x)</vt:lpstr>
      <vt:lpstr>Predecessor(T,x)</vt:lpstr>
      <vt:lpstr>Predecessor(T,x)</vt:lpstr>
      <vt:lpstr>Predecessor(T,x)</vt:lpstr>
      <vt:lpstr>Predecessor(T,x)</vt:lpstr>
      <vt:lpstr>Predecessor(T,x)</vt:lpstr>
      <vt:lpstr>Successor(T,x)</vt:lpstr>
      <vt:lpstr>Red Black tree  (Height Balanced BST)</vt:lpstr>
      <vt:lpstr>Red-Black Tree</vt:lpstr>
      <vt:lpstr>Insertion in a red-black tree </vt:lpstr>
      <vt:lpstr>SpecialUnion(T,T’)</vt:lpstr>
      <vt:lpstr>A trivial algorithm that does not work</vt:lpstr>
      <vt:lpstr>Towards an O(log n) time for SpecialUnion(T,T’) …</vt:lpstr>
      <vt:lpstr>Simplifying the problem </vt:lpstr>
      <vt:lpstr>Solving the simplified problem 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Split(T,x)</vt:lpstr>
      <vt:lpstr>Achieving O(log n) time for Split(T,x)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1107</cp:revision>
  <dcterms:created xsi:type="dcterms:W3CDTF">2011-12-03T04:13:03Z</dcterms:created>
  <dcterms:modified xsi:type="dcterms:W3CDTF">2025-09-11T15:13:46Z</dcterms:modified>
</cp:coreProperties>
</file>