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2"/>
  </p:notesMasterIdLst>
  <p:sldIdLst>
    <p:sldId id="613" r:id="rId2"/>
    <p:sldId id="614" r:id="rId3"/>
    <p:sldId id="615" r:id="rId4"/>
    <p:sldId id="617" r:id="rId5"/>
    <p:sldId id="618" r:id="rId6"/>
    <p:sldId id="573" r:id="rId7"/>
    <p:sldId id="619" r:id="rId8"/>
    <p:sldId id="620" r:id="rId9"/>
    <p:sldId id="621" r:id="rId10"/>
    <p:sldId id="622" r:id="rId11"/>
    <p:sldId id="632" r:id="rId12"/>
    <p:sldId id="629" r:id="rId13"/>
    <p:sldId id="633" r:id="rId14"/>
    <p:sldId id="570" r:id="rId15"/>
    <p:sldId id="631" r:id="rId16"/>
    <p:sldId id="637" r:id="rId17"/>
    <p:sldId id="635" r:id="rId18"/>
    <p:sldId id="636" r:id="rId19"/>
    <p:sldId id="626" r:id="rId20"/>
    <p:sldId id="566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3741" autoAdjust="0"/>
  </p:normalViewPr>
  <p:slideViewPr>
    <p:cSldViewPr>
      <p:cViewPr varScale="1">
        <p:scale>
          <a:sx n="113" d="100"/>
          <a:sy n="113" d="100"/>
        </p:scale>
        <p:origin x="179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A2B48C9D-D8E1-9347-902E-47105A5921B2}"/>
    <pc:docChg chg="delSld modSld">
      <pc:chgData name="Raghunath Tewari" userId="2638bdda-d406-4938-a2a6-e4e967acb772" providerId="ADAL" clId="{A2B48C9D-D8E1-9347-902E-47105A5921B2}" dt="2021-02-06T11:08:06.834" v="7" actId="20577"/>
      <pc:docMkLst>
        <pc:docMk/>
      </pc:docMkLst>
      <pc:sldChg chg="del">
        <pc:chgData name="Raghunath Tewari" userId="2638bdda-d406-4938-a2a6-e4e967acb772" providerId="ADAL" clId="{A2B48C9D-D8E1-9347-902E-47105A5921B2}" dt="2021-02-06T11:06:17.912" v="0" actId="2696"/>
        <pc:sldMkLst>
          <pc:docMk/>
          <pc:sldMk cId="660521225" sldId="571"/>
        </pc:sldMkLst>
      </pc:sldChg>
      <pc:sldChg chg="modSp mod">
        <pc:chgData name="Raghunath Tewari" userId="2638bdda-d406-4938-a2a6-e4e967acb772" providerId="ADAL" clId="{A2B48C9D-D8E1-9347-902E-47105A5921B2}" dt="2021-02-06T11:08:06.834" v="7" actId="20577"/>
        <pc:sldMkLst>
          <pc:docMk/>
          <pc:sldMk cId="959369453" sldId="613"/>
        </pc:sldMkLst>
        <pc:spChg chg="mod">
          <ac:chgData name="Raghunath Tewari" userId="2638bdda-d406-4938-a2a6-e4e967acb772" providerId="ADAL" clId="{A2B48C9D-D8E1-9347-902E-47105A5921B2}" dt="2021-02-06T11:08:06.834" v="7" actId="20577"/>
          <ac:spMkLst>
            <pc:docMk/>
            <pc:sldMk cId="959369453" sldId="613"/>
            <ac:spMk id="2" creationId="{00000000-0000-0000-0000-000000000000}"/>
          </ac:spMkLst>
        </pc:spChg>
      </pc:sldChg>
      <pc:sldChg chg="del">
        <pc:chgData name="Raghunath Tewari" userId="2638bdda-d406-4938-a2a6-e4e967acb772" providerId="ADAL" clId="{A2B48C9D-D8E1-9347-902E-47105A5921B2}" dt="2021-02-06T11:06:24.981" v="1" actId="2696"/>
        <pc:sldMkLst>
          <pc:docMk/>
          <pc:sldMk cId="467248116" sldId="6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79248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Lecture 13:</a:t>
            </a:r>
          </a:p>
          <a:p>
            <a:pPr marL="457200" indent="-4572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Majority element </a:t>
            </a:r>
            <a:r>
              <a:rPr lang="en-US" sz="2000" b="1" dirty="0">
                <a:solidFill>
                  <a:schemeClr val="tx1"/>
                </a:solidFill>
              </a:rPr>
              <a:t>: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an efficient and practical algorithm  </a:t>
            </a:r>
          </a:p>
          <a:p>
            <a:pPr marL="457200" indent="-4572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chemeClr val="tx1"/>
                </a:solidFill>
              </a:rPr>
              <a:t>Implementing </a:t>
            </a:r>
            <a:r>
              <a:rPr lang="en-US" sz="1800" b="1" dirty="0">
                <a:solidFill>
                  <a:srgbClr val="7030A0"/>
                </a:solidFill>
              </a:rPr>
              <a:t>Stack </a:t>
            </a:r>
            <a:r>
              <a:rPr lang="en-US" sz="1800" b="1" dirty="0">
                <a:solidFill>
                  <a:schemeClr val="tx1"/>
                </a:solidFill>
              </a:rPr>
              <a:t>using a</a:t>
            </a:r>
            <a:r>
              <a:rPr lang="en-US" sz="1800" b="1" dirty="0">
                <a:solidFill>
                  <a:srgbClr val="7030A0"/>
                </a:solidFill>
              </a:rPr>
              <a:t> single Queue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endParaRPr 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6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Majority element</a:t>
            </a:r>
            <a:endParaRPr lang="en-IN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839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400" dirty="0"/>
                  <a:t>: </a:t>
                </a:r>
                <a:r>
                  <a:rPr lang="en-US" sz="2000" dirty="0"/>
                  <a:t>Given a </a:t>
                </a:r>
                <a:r>
                  <a:rPr lang="en-US" sz="2000" b="1" dirty="0" err="1"/>
                  <a:t>multiset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elements,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∈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is said to be majority element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it appears more than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/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times 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= {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𝒅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𝒛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𝒘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𝒛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839200" cy="4525963"/>
              </a:xfrm>
              <a:blipFill rotWithShape="1">
                <a:blip r:embed="rId2"/>
                <a:stretch>
                  <a:fillRect l="-1034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Majority element</a:t>
            </a:r>
            <a:endParaRPr lang="en-IN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839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400" dirty="0"/>
                  <a:t>: </a:t>
                </a:r>
                <a:r>
                  <a:rPr lang="en-US" sz="2000" dirty="0"/>
                  <a:t>Given a </a:t>
                </a:r>
                <a:r>
                  <a:rPr lang="en-US" sz="2000" b="1" dirty="0" err="1"/>
                  <a:t>multiset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elements,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∈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is said to be majority element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it appears more than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/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times 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= {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𝒅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𝒛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𝒘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𝒛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a </a:t>
                </a:r>
                <a:r>
                  <a:rPr lang="en-US" sz="2000" b="1" dirty="0" err="1"/>
                  <a:t>multiset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elements, find the majority element, if any,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</a:t>
                </a: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839200" cy="4525963"/>
              </a:xfrm>
              <a:blipFill rotWithShape="1">
                <a:blip r:embed="rId2"/>
                <a:stretch>
                  <a:fillRect l="-1034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3429000" y="2735766"/>
            <a:ext cx="2743200" cy="464634"/>
            <a:chOff x="3429000" y="2735766"/>
            <a:chExt cx="2743200" cy="464634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429000" y="27432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114800" y="2735766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648200" y="2735766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953000" y="27432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410200" y="27432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638800" y="27432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867400" y="27432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172200" y="2743200"/>
              <a:ext cx="0" cy="457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429000" y="2743200"/>
              <a:ext cx="27432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029200" y="2362200"/>
                <a:ext cx="375424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𝟖</m:t>
                      </m:r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2362200"/>
                <a:ext cx="375424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9355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48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Majority element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02060"/>
                    </a:solidFill>
                  </a:rPr>
                  <a:t>Trivial algorithms</a:t>
                </a:r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Algorithm 1</a:t>
                </a:r>
                <a:r>
                  <a:rPr lang="en-US" sz="2400" dirty="0"/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Count occurrence of each element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If there is any element with count 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000" dirty="0"/>
                  <a:t> , report it.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Running time</a:t>
                </a:r>
                <a:r>
                  <a:rPr lang="en-US" sz="2000" dirty="0"/>
                  <a:t>: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 rotWithShape="1">
                <a:blip r:embed="rId2"/>
                <a:stretch>
                  <a:fillRect l="-1111" t="-994" b="-10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33600" y="4120248"/>
                <a:ext cx="1223348" cy="37555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) time</a:t>
                </a:r>
                <a:endParaRPr lang="en-IN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120248"/>
                <a:ext cx="1223348" cy="375552"/>
              </a:xfrm>
              <a:prstGeom prst="rect">
                <a:avLst/>
              </a:prstGeom>
              <a:blipFill rotWithShape="1">
                <a:blip r:embed="rId3"/>
                <a:stretch>
                  <a:fillRect l="-3980" t="-6452" r="-7960" b="-2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08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Majority element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02060"/>
                    </a:solidFill>
                  </a:rPr>
                  <a:t>Trivial algorithms</a:t>
                </a:r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Algorithm 2</a:t>
                </a:r>
                <a:r>
                  <a:rPr lang="en-US" sz="2000" dirty="0"/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Sort the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to find its median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be the median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Count the occurrence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 and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return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if its count is more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Running time</a:t>
                </a:r>
                <a:r>
                  <a:rPr lang="en-US" sz="2000" dirty="0"/>
                  <a:t>: 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Critical assumption </a:t>
                </a:r>
                <a:r>
                  <a:rPr lang="en-US" sz="2000" b="1" dirty="0"/>
                  <a:t>underlying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Algorithm 2</a:t>
                </a:r>
                <a:r>
                  <a:rPr lang="en-US" sz="2000" b="1" dirty="0"/>
                  <a:t> 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elements of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can be compared under some </a:t>
                </a:r>
                <a:r>
                  <a:rPr lang="en-US" sz="2000" u="sng" dirty="0"/>
                  <a:t>total order 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=</a:t>
                </a:r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&lt;</a:t>
                </a:r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&gt;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 rotWithShape="1">
                <a:blip r:embed="rId2"/>
                <a:stretch>
                  <a:fillRect l="-1111" t="-994" b="-279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33600" y="4355068"/>
                <a:ext cx="173797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𝐥𝐨𝐠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 time</a:t>
                </a:r>
                <a:endParaRPr lang="en-IN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355068"/>
                <a:ext cx="1737976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807" t="-8197" r="-315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Ribbon 4"/>
          <p:cNvSpPr/>
          <p:nvPr/>
        </p:nvSpPr>
        <p:spPr>
          <a:xfrm>
            <a:off x="5029200" y="2514600"/>
            <a:ext cx="3962400" cy="11460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 assumption is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not justified </a:t>
            </a:r>
            <a:r>
              <a:rPr lang="en-US" dirty="0">
                <a:solidFill>
                  <a:schemeClr val="tx1"/>
                </a:solidFill>
              </a:rPr>
              <a:t> in many real life applications.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07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Some observations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295400"/>
                <a:ext cx="8991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a </a:t>
                </a:r>
                <a:r>
                  <a:rPr lang="en-US" sz="2000" b="1" dirty="0" err="1"/>
                  <a:t>multiset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elements, </a:t>
                </a:r>
              </a:p>
              <a:p>
                <a:pPr marL="0" indent="0">
                  <a:buNone/>
                </a:pPr>
                <a:r>
                  <a:rPr lang="en-US" sz="2000" dirty="0"/>
                  <a:t>where the only relation between any two elements is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US" sz="2000" dirty="0"/>
                  <a:t> ,</a:t>
                </a:r>
              </a:p>
              <a:p>
                <a:pPr marL="0" indent="0">
                  <a:buNone/>
                </a:pPr>
                <a:r>
                  <a:rPr lang="en-US" sz="2000" dirty="0"/>
                  <a:t>find the majority element, if any,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</a:t>
                </a:r>
                <a:endParaRPr lang="en-IN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b="1" dirty="0"/>
                  <a:t>: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How much time does it take to determine if an element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206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is majority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time</a:t>
                </a:r>
                <a:endParaRPr lang="en-IN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 1</a:t>
                </a:r>
                <a:r>
                  <a:rPr lang="en-US" sz="2000" dirty="0">
                    <a:solidFill>
                      <a:srgbClr val="7030A0"/>
                    </a:solidFill>
                  </a:rPr>
                  <a:t>:  </a:t>
                </a:r>
                <a:r>
                  <a:rPr lang="en-US" sz="2000" dirty="0"/>
                  <a:t>It is easy to verify whether an element is a majority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295400"/>
                <a:ext cx="8991600" cy="4830763"/>
              </a:xfrm>
              <a:blipFill rotWithShape="1">
                <a:blip r:embed="rId2"/>
                <a:stretch>
                  <a:fillRect l="-1017" t="-631" r="-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9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Some observations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Observation 2</a:t>
            </a:r>
            <a:r>
              <a:rPr lang="en-US" sz="2000" b="1" dirty="0"/>
              <a:t>: </a:t>
            </a:r>
            <a:r>
              <a:rPr lang="en-US" sz="2000" dirty="0"/>
              <a:t>whenever we cancel a pair of </a:t>
            </a:r>
            <a:r>
              <a:rPr lang="en-US" sz="2000" u="sng" dirty="0"/>
              <a:t>distinct</a:t>
            </a:r>
            <a:r>
              <a:rPr lang="en-US" sz="2000" dirty="0"/>
              <a:t> elements from the array,</a:t>
            </a:r>
          </a:p>
          <a:p>
            <a:pPr marL="0" indent="0">
              <a:buNone/>
            </a:pPr>
            <a:r>
              <a:rPr lang="en-US" sz="2000" dirty="0"/>
              <a:t>the majority element of the array </a:t>
            </a:r>
            <a:r>
              <a:rPr lang="en-US" sz="2000" u="sng" dirty="0"/>
              <a:t>remains preserved</a:t>
            </a:r>
            <a:r>
              <a:rPr lang="en-US" sz="2000" dirty="0"/>
              <a:t>.</a:t>
            </a:r>
            <a:endParaRPr lang="en-US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3429000" y="1700044"/>
            <a:ext cx="316112" cy="2514600"/>
            <a:chOff x="3429000" y="3581400"/>
            <a:chExt cx="316112" cy="2514600"/>
          </a:xfrm>
        </p:grpSpPr>
        <p:sp>
          <p:nvSpPr>
            <p:cNvPr id="5" name="TextBox 4"/>
            <p:cNvSpPr txBox="1"/>
            <p:nvPr/>
          </p:nvSpPr>
          <p:spPr>
            <a:xfrm>
              <a:off x="3429000" y="3581400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α</a:t>
              </a:r>
              <a:endParaRPr 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429000" y="3897868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α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429000" y="5498068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α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29000" y="4736068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α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29000" y="5726668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α</a:t>
              </a:r>
              <a:endParaRPr lang="en-US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581400" y="45720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581400" y="5410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3581400" y="5105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755624" y="1676400"/>
            <a:ext cx="349776" cy="2157244"/>
            <a:chOff x="4755624" y="3593068"/>
            <a:chExt cx="349776" cy="2157244"/>
          </a:xfrm>
        </p:grpSpPr>
        <p:sp>
          <p:nvSpPr>
            <p:cNvPr id="8" name="TextBox 7"/>
            <p:cNvSpPr txBox="1"/>
            <p:nvPr/>
          </p:nvSpPr>
          <p:spPr>
            <a:xfrm>
              <a:off x="4789288" y="35930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00600" y="38862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55624" y="50408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16538" y="538098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4876800" y="4343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4884769" y="4977678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876800" y="4648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Connector 27"/>
          <p:cNvCxnSpPr/>
          <p:nvPr/>
        </p:nvCxnSpPr>
        <p:spPr>
          <a:xfrm>
            <a:off x="3276600" y="1928644"/>
            <a:ext cx="181286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 flipV="1">
            <a:off x="4945031" y="3224044"/>
            <a:ext cx="15938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3228624" y="4347865"/>
            <a:ext cx="716863" cy="995065"/>
            <a:chOff x="5075447" y="3581400"/>
            <a:chExt cx="716863" cy="995065"/>
          </a:xfrm>
        </p:grpSpPr>
        <p:sp>
          <p:nvSpPr>
            <p:cNvPr id="41" name="TextBox 40"/>
            <p:cNvSpPr txBox="1"/>
            <p:nvPr/>
          </p:nvSpPr>
          <p:spPr>
            <a:xfrm>
              <a:off x="5075447" y="4114800"/>
              <a:ext cx="7168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Majority</a:t>
              </a:r>
            </a:p>
            <a:p>
              <a:r>
                <a:rPr lang="en-US" sz="1200" dirty="0"/>
                <a:t>element</a:t>
              </a:r>
            </a:p>
          </p:txBody>
        </p:sp>
        <p:sp>
          <p:nvSpPr>
            <p:cNvPr id="42" name="Up Arrow 41"/>
            <p:cNvSpPr/>
            <p:nvPr/>
          </p:nvSpPr>
          <p:spPr>
            <a:xfrm>
              <a:off x="5320236" y="3581400"/>
              <a:ext cx="243474" cy="445532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572000" y="4343400"/>
            <a:ext cx="765146" cy="995065"/>
            <a:chOff x="5075447" y="3581400"/>
            <a:chExt cx="765146" cy="995065"/>
          </a:xfrm>
        </p:grpSpPr>
        <p:sp>
          <p:nvSpPr>
            <p:cNvPr id="44" name="TextBox 43"/>
            <p:cNvSpPr txBox="1"/>
            <p:nvPr/>
          </p:nvSpPr>
          <p:spPr>
            <a:xfrm>
              <a:off x="5075447" y="4114800"/>
              <a:ext cx="7651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other</a:t>
              </a:r>
            </a:p>
            <a:p>
              <a:r>
                <a:rPr lang="en-US" sz="1200" dirty="0"/>
                <a:t>elements</a:t>
              </a:r>
            </a:p>
          </p:txBody>
        </p:sp>
        <p:sp>
          <p:nvSpPr>
            <p:cNvPr id="45" name="Up Arrow 44"/>
            <p:cNvSpPr/>
            <p:nvPr/>
          </p:nvSpPr>
          <p:spPr>
            <a:xfrm>
              <a:off x="5320236" y="3581400"/>
              <a:ext cx="243474" cy="445532"/>
            </a:xfrm>
            <a:prstGeom prst="up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2057400" y="1884710"/>
            <a:ext cx="914400" cy="2253734"/>
            <a:chOff x="2057400" y="3080266"/>
            <a:chExt cx="914400" cy="2253734"/>
          </a:xfrm>
        </p:grpSpPr>
        <p:sp>
          <p:nvSpPr>
            <p:cNvPr id="46" name="Left Brace 45"/>
            <p:cNvSpPr/>
            <p:nvPr/>
          </p:nvSpPr>
          <p:spPr>
            <a:xfrm>
              <a:off x="2667000" y="3080266"/>
              <a:ext cx="304800" cy="2253734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2057400" y="4038600"/>
                  <a:ext cx="461986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&gt;</a:t>
                  </a:r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4038600"/>
                  <a:ext cx="461986" cy="46038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2000" r="-22667" b="-78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/>
          <p:cNvGrpSpPr/>
          <p:nvPr/>
        </p:nvGrpSpPr>
        <p:grpSpPr>
          <a:xfrm>
            <a:off x="5257801" y="1840776"/>
            <a:ext cx="847188" cy="1992868"/>
            <a:chOff x="5257801" y="3036332"/>
            <a:chExt cx="847188" cy="1992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5643003" y="3821668"/>
                  <a:ext cx="461986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&lt;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3003" y="3821668"/>
                  <a:ext cx="461986" cy="46038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2000" r="-22667" b="-9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Left Brace 48"/>
            <p:cNvSpPr/>
            <p:nvPr/>
          </p:nvSpPr>
          <p:spPr>
            <a:xfrm rot="10800000">
              <a:off x="5257801" y="3036332"/>
              <a:ext cx="304800" cy="1992868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661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Some observations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 3</a:t>
                </a:r>
                <a:r>
                  <a:rPr lang="en-US" sz="2000" dirty="0"/>
                  <a:t>: If there are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2000" dirty="0"/>
                  <a:t> pairs of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identical elements</a:t>
                </a:r>
                <a:r>
                  <a:rPr lang="en-US" sz="2000" dirty="0"/>
                  <a:t>, then </a:t>
                </a:r>
              </a:p>
              <a:p>
                <a:pPr marL="0" indent="0">
                  <a:buNone/>
                </a:pPr>
                <a:r>
                  <a:rPr lang="en-US" sz="2000" dirty="0"/>
                  <a:t>majority element is preserved even if we keep </a:t>
                </a:r>
                <a:r>
                  <a:rPr lang="en-US" sz="2000" b="1" dirty="0"/>
                  <a:t>one element </a:t>
                </a:r>
                <a:r>
                  <a:rPr lang="en-US" sz="2000" u="sng" dirty="0"/>
                  <a:t>per pair</a:t>
                </a:r>
                <a:r>
                  <a:rPr lang="en-US" sz="2000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 rotWithShape="1">
                <a:blip r:embed="rId2"/>
                <a:stretch>
                  <a:fillRect l="-741" t="-645" b="-3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124413"/>
              </p:ext>
            </p:extLst>
          </p:nvPr>
        </p:nvGraphicFramePr>
        <p:xfrm>
          <a:off x="1371600" y="1915160"/>
          <a:ext cx="6096000" cy="3708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ight Brace 6"/>
          <p:cNvSpPr/>
          <p:nvPr/>
        </p:nvSpPr>
        <p:spPr>
          <a:xfrm rot="5400000">
            <a:off x="1598676" y="2058924"/>
            <a:ext cx="307848" cy="7620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e 7"/>
          <p:cNvSpPr/>
          <p:nvPr/>
        </p:nvSpPr>
        <p:spPr>
          <a:xfrm rot="5400000">
            <a:off x="3122676" y="2058924"/>
            <a:ext cx="307848" cy="7620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e 8"/>
          <p:cNvSpPr/>
          <p:nvPr/>
        </p:nvSpPr>
        <p:spPr>
          <a:xfrm rot="5400000">
            <a:off x="4646676" y="2058924"/>
            <a:ext cx="307848" cy="7620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Brace 9"/>
          <p:cNvSpPr/>
          <p:nvPr/>
        </p:nvSpPr>
        <p:spPr>
          <a:xfrm rot="5400000">
            <a:off x="6170676" y="2058924"/>
            <a:ext cx="307848" cy="7620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Brace 10"/>
          <p:cNvSpPr/>
          <p:nvPr/>
        </p:nvSpPr>
        <p:spPr>
          <a:xfrm rot="16200000">
            <a:off x="6932676" y="1370076"/>
            <a:ext cx="307848" cy="7620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ght Brace 11"/>
          <p:cNvSpPr/>
          <p:nvPr/>
        </p:nvSpPr>
        <p:spPr>
          <a:xfrm rot="16200000">
            <a:off x="5408676" y="1370076"/>
            <a:ext cx="307848" cy="7620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Brace 12"/>
          <p:cNvSpPr/>
          <p:nvPr/>
        </p:nvSpPr>
        <p:spPr>
          <a:xfrm rot="16200000">
            <a:off x="3884676" y="1370076"/>
            <a:ext cx="307848" cy="7620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Brace 13"/>
          <p:cNvSpPr/>
          <p:nvPr/>
        </p:nvSpPr>
        <p:spPr>
          <a:xfrm rot="16200000">
            <a:off x="2360676" y="1370076"/>
            <a:ext cx="307848" cy="7620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371600" y="1905000"/>
                <a:ext cx="63113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sz="2000" b="1" dirty="0">
                    <a:solidFill>
                      <a:srgbClr val="0070C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905000"/>
                <a:ext cx="6311343" cy="400110"/>
              </a:xfrm>
              <a:prstGeom prst="rect">
                <a:avLst/>
              </a:prstGeom>
              <a:blipFill rotWithShape="1">
                <a:blip r:embed="rId3"/>
                <a:stretch>
                  <a:fillRect t="-7692" r="-966" b="-26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 flipH="1">
            <a:off x="1371600" y="2133600"/>
            <a:ext cx="762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2895600" y="2133600"/>
            <a:ext cx="762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3657600" y="2133600"/>
            <a:ext cx="762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6705600" y="2133600"/>
            <a:ext cx="762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065257"/>
              </p:ext>
            </p:extLst>
          </p:nvPr>
        </p:nvGraphicFramePr>
        <p:xfrm>
          <a:off x="2590800" y="3276600"/>
          <a:ext cx="3048000" cy="3708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604057" y="3257490"/>
                <a:ext cx="32431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IN" sz="2000" b="1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057" y="3257490"/>
                <a:ext cx="3243196" cy="400110"/>
              </a:xfrm>
              <a:prstGeom prst="rect">
                <a:avLst/>
              </a:prstGeom>
              <a:blipFill rotWithShape="1">
                <a:blip r:embed="rId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08335"/>
              </p:ext>
            </p:extLst>
          </p:nvPr>
        </p:nvGraphicFramePr>
        <p:xfrm>
          <a:off x="3352800" y="4582160"/>
          <a:ext cx="1524000" cy="3708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352800" y="4552890"/>
                <a:ext cx="157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𝒄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𝒄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𝒄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IN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552890"/>
                <a:ext cx="1572866" cy="400110"/>
              </a:xfrm>
              <a:prstGeom prst="rect">
                <a:avLst/>
              </a:prstGeom>
              <a:blipFill rotWithShape="1">
                <a:blip r:embed="rId5"/>
                <a:stretch>
                  <a:fillRect t="-7576" r="-542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Down Arrow 43"/>
          <p:cNvSpPr/>
          <p:nvPr/>
        </p:nvSpPr>
        <p:spPr>
          <a:xfrm>
            <a:off x="3657600" y="2590800"/>
            <a:ext cx="955945" cy="609600"/>
          </a:xfrm>
          <a:prstGeom prst="down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Down Arrow 44"/>
          <p:cNvSpPr/>
          <p:nvPr/>
        </p:nvSpPr>
        <p:spPr>
          <a:xfrm>
            <a:off x="3657600" y="3886200"/>
            <a:ext cx="955945" cy="609600"/>
          </a:xfrm>
          <a:prstGeom prst="down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Left Arrow Callout 45"/>
          <p:cNvSpPr/>
          <p:nvPr/>
        </p:nvSpPr>
        <p:spPr>
          <a:xfrm>
            <a:off x="5029200" y="4267200"/>
            <a:ext cx="2514600" cy="1066800"/>
          </a:xfrm>
          <a:prstGeom prst="leftArrowCallout">
            <a:avLst>
              <a:gd name="adj1" fmla="val 17683"/>
              <a:gd name="adj2" fmla="val 25000"/>
              <a:gd name="adj3" fmla="val 18902"/>
              <a:gd name="adj4" fmla="val 6497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problem size reduced by at least </a:t>
            </a:r>
            <a:r>
              <a:rPr lang="en-US" b="1" dirty="0">
                <a:solidFill>
                  <a:schemeClr val="tx1"/>
                </a:solidFill>
              </a:rPr>
              <a:t>half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4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28" grpId="0"/>
      <p:bldP spid="43" grpId="0"/>
      <p:bldP spid="44" grpId="0" animBg="1"/>
      <p:bldP spid="45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Algorithm for </a:t>
            </a:r>
            <a:r>
              <a:rPr lang="en-US" sz="3600" b="1" dirty="0">
                <a:solidFill>
                  <a:srgbClr val="7030A0"/>
                </a:solidFill>
              </a:rPr>
              <a:t>2-majority </a:t>
            </a:r>
            <a:r>
              <a:rPr lang="en-US" sz="3600" b="1" dirty="0"/>
              <a:t>element</a:t>
            </a:r>
            <a:br>
              <a:rPr lang="en-US" sz="3600" b="1" dirty="0"/>
            </a:b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Repeat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u="sng" dirty="0"/>
                  <a:t>Pair up </a:t>
                </a:r>
                <a:r>
                  <a:rPr lang="en-US" sz="2000" dirty="0"/>
                  <a:t>the elements;    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C00000"/>
                    </a:solidFill>
                  </a:rPr>
                  <a:t>Eliminate </a:t>
                </a:r>
                <a:r>
                  <a:rPr lang="en-US" sz="2000" dirty="0"/>
                  <a:t>all pairs of </a:t>
                </a:r>
                <a:r>
                  <a:rPr lang="en-US" sz="2000" u="sng" dirty="0"/>
                  <a:t>distinct elements</a:t>
                </a:r>
                <a:r>
                  <a:rPr lang="en-US" sz="2000" dirty="0"/>
                  <a:t>;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0070C0"/>
                    </a:solidFill>
                  </a:rPr>
                  <a:t>Keep one element </a:t>
                </a:r>
                <a:r>
                  <a:rPr lang="en-US" sz="2000" dirty="0"/>
                  <a:t>per pair of </a:t>
                </a:r>
                <a:r>
                  <a:rPr lang="en-US" sz="2000" u="sng" dirty="0"/>
                  <a:t>identical elements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Until</a:t>
                </a:r>
                <a:r>
                  <a:rPr lang="en-US" sz="2000" dirty="0"/>
                  <a:t> only one element is left.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Verify if the last element is a </a:t>
                </a:r>
                <a:r>
                  <a:rPr lang="en-US" sz="2000" b="1" dirty="0"/>
                  <a:t>majority</a:t>
                </a:r>
                <a:r>
                  <a:rPr lang="en-US" sz="2000" dirty="0"/>
                  <a:t> element.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Time complexity</a:t>
                </a:r>
                <a:r>
                  <a:rPr lang="en-US" sz="2000" dirty="0">
                    <a:solidFill>
                      <a:srgbClr val="7030A0"/>
                    </a:solidFill>
                  </a:rPr>
                  <a:t>: </a:t>
                </a:r>
              </a:p>
              <a:p>
                <a:pPr marL="0" indent="0" algn="ctr">
                  <a:buNone/>
                </a:pP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= c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+ c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000" dirty="0"/>
                  <a:t> + c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sz="2000" dirty="0"/>
                  <a:t> + …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Extra/working space </a:t>
                </a:r>
                <a:r>
                  <a:rPr lang="en-US" sz="2000" b="1" dirty="0"/>
                  <a:t>requiremen</a:t>
                </a:r>
                <a:r>
                  <a:rPr lang="en-US" sz="2000" b="1" dirty="0">
                    <a:sym typeface="Wingdings" pitchFamily="2" charset="2"/>
                  </a:rPr>
                  <a:t>t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dirty="0"/>
                  <a:t>(assuming input is</a:t>
                </a:r>
                <a:r>
                  <a:rPr lang="en-US" sz="2000" b="1" dirty="0"/>
                  <a:t> “read only”</a:t>
                </a:r>
                <a:r>
                  <a:rPr lang="en-US" sz="2000" dirty="0"/>
                  <a:t>)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</a:t>
                </a: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01134" y="2069068"/>
            <a:ext cx="373326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Take care if the no. of elements is odd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659595" y="4964668"/>
                <a:ext cx="1112805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 time</a:t>
                </a:r>
                <a:endParaRPr lang="en-IN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595" y="4964668"/>
                <a:ext cx="111280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4372" t="-8197" r="-929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01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Further</a:t>
            </a:r>
            <a:r>
              <a:rPr lang="en-US" sz="3600" b="1" dirty="0">
                <a:solidFill>
                  <a:srgbClr val="7030A0"/>
                </a:solidFill>
              </a:rPr>
              <a:t> restrictions </a:t>
            </a:r>
            <a:r>
              <a:rPr lang="en-US" sz="3600" b="1" dirty="0"/>
              <a:t>on the problem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Restrictions</a:t>
                </a:r>
                <a:r>
                  <a:rPr lang="en-US" sz="2000" dirty="0"/>
                  <a:t>: </a:t>
                </a:r>
              </a:p>
              <a:p>
                <a:r>
                  <a:rPr lang="en-US" sz="2000" dirty="0"/>
                  <a:t>We are allowed to make </a:t>
                </a:r>
                <a:r>
                  <a:rPr lang="en-US" sz="2000" u="sng" dirty="0"/>
                  <a:t>single scan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We have very </a:t>
                </a:r>
                <a:r>
                  <a:rPr lang="en-US" sz="2000" u="sng" dirty="0"/>
                  <a:t>limited extra space</a:t>
                </a:r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Real life example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sz="2000" dirty="0"/>
                  <a:t> numbers stored on hard disk.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RAM</a:t>
                </a:r>
                <a:r>
                  <a:rPr lang="en-US" sz="2000" dirty="0"/>
                  <a:t> can’t provide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extra (working) space in this case.</a:t>
                </a:r>
                <a:endParaRPr lang="en-IN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 rotWithShape="1">
                <a:blip r:embed="rId2"/>
                <a:stretch>
                  <a:fillRect l="-741" t="-645" b="-189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5257800" y="2819400"/>
            <a:ext cx="3151888" cy="1194375"/>
            <a:chOff x="5257800" y="2819400"/>
            <a:chExt cx="3151888" cy="1194375"/>
          </a:xfrm>
        </p:grpSpPr>
        <p:sp>
          <p:nvSpPr>
            <p:cNvPr id="7" name="Smiley Face 6"/>
            <p:cNvSpPr/>
            <p:nvPr/>
          </p:nvSpPr>
          <p:spPr>
            <a:xfrm>
              <a:off x="6477000" y="2819400"/>
              <a:ext cx="533400" cy="609600"/>
            </a:xfrm>
            <a:prstGeom prst="smileyFace">
              <a:avLst>
                <a:gd name="adj" fmla="val -4653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257800" y="3429000"/>
              <a:ext cx="3151888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Our current algorithm doesn’t work</a:t>
              </a:r>
            </a:p>
            <a:p>
              <a:pPr algn="ctr"/>
              <a:r>
                <a:rPr lang="en-US" sz="1600" dirty="0"/>
                <a:t>for this real life example.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5442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524125"/>
            <a:ext cx="7772400" cy="1362075"/>
          </a:xfrm>
        </p:spPr>
        <p:txBody>
          <a:bodyPr/>
          <a:lstStyle/>
          <a:p>
            <a:r>
              <a:rPr lang="en-US" sz="3200" dirty="0"/>
              <a:t>algorithm for </a:t>
            </a:r>
            <a:r>
              <a:rPr lang="en-US" sz="3200" dirty="0">
                <a:solidFill>
                  <a:srgbClr val="7030A0"/>
                </a:solidFill>
              </a:rPr>
              <a:t>2-majority </a:t>
            </a:r>
            <a:r>
              <a:rPr lang="en-US" sz="3200" dirty="0"/>
              <a:t>element</a:t>
            </a:r>
            <a:br>
              <a:rPr lang="en-US" sz="3200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4191000"/>
                <a:ext cx="7772400" cy="1500187"/>
              </a:xfrm>
            </p:spPr>
            <p:txBody>
              <a:bodyPr/>
              <a:lstStyle/>
              <a:p>
                <a:pPr marL="342900" indent="-342900">
                  <a:buFont typeface="Arial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 Single scan and</a:t>
                </a:r>
                <a:r>
                  <a:rPr lang="en-US" b="1" dirty="0"/>
                  <a:t> 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  <a:r>
                  <a:rPr lang="en-US" b="1" dirty="0">
                    <a:solidFill>
                      <a:schemeClr val="tx1"/>
                    </a:solidFill>
                  </a:rPr>
                  <a:t>extra space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800" y="4191000"/>
                <a:ext cx="7772400" cy="1500187"/>
              </a:xfrm>
              <a:blipFill rotWithShape="1">
                <a:blip r:embed="rId2"/>
                <a:stretch>
                  <a:fillRect l="-706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8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Designing algorithm for 2-majority element</a:t>
                </a:r>
                <a:br>
                  <a:rPr lang="en-US" sz="3200" b="1" dirty="0">
                    <a:solidFill>
                      <a:srgbClr val="7030A0"/>
                    </a:solidFill>
                  </a:rPr>
                </a:br>
                <a:r>
                  <a:rPr lang="en-US" sz="3200" b="1" dirty="0"/>
                  <a:t>single scan and using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800" dirty="0"/>
                  <a:t>) </a:t>
                </a:r>
                <a:r>
                  <a:rPr lang="en-US" sz="2800" b="1" dirty="0"/>
                  <a:t>extra space</a:t>
                </a:r>
                <a:endParaRPr lang="en-IN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723" b="-13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Should we design algorithm from scratch to meet these constraints ?</a:t>
            </a:r>
          </a:p>
          <a:p>
            <a:pPr marL="0" indent="0">
              <a:buNone/>
            </a:pPr>
            <a:r>
              <a:rPr lang="en-US" sz="2000" b="1" dirty="0"/>
              <a:t>Answer</a:t>
            </a:r>
            <a:r>
              <a:rPr lang="en-US" sz="2000" dirty="0"/>
              <a:t>: No! We should try to </a:t>
            </a:r>
            <a:r>
              <a:rPr lang="en-US" sz="2000" u="sng" dirty="0"/>
              <a:t>adapt our current algorithm </a:t>
            </a:r>
            <a:r>
              <a:rPr lang="en-US" sz="2000" dirty="0"/>
              <a:t>to meet these constraints.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How crucial is pairing of elements in our current algorithm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8" name="Down Ribbon 7"/>
          <p:cNvSpPr/>
          <p:nvPr/>
        </p:nvSpPr>
        <p:spPr>
          <a:xfrm>
            <a:off x="2819400" y="5012808"/>
            <a:ext cx="3810000" cy="7650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Think over this question before going ahead.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5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Designing algorithm for 2-majority element</a:t>
                </a:r>
                <a:br>
                  <a:rPr lang="en-US" sz="3200" b="1" dirty="0">
                    <a:solidFill>
                      <a:srgbClr val="7030A0"/>
                    </a:solidFill>
                  </a:rPr>
                </a:br>
                <a:r>
                  <a:rPr lang="en-US" sz="3200" b="1" dirty="0"/>
                  <a:t>single scan and using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800" dirty="0"/>
                  <a:t>) </a:t>
                </a:r>
                <a:r>
                  <a:rPr lang="en-US" sz="2800" b="1" dirty="0"/>
                  <a:t>extra space</a:t>
                </a:r>
                <a:endParaRPr lang="en-IN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723" b="-13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Insightful </a:t>
            </a:r>
            <a:r>
              <a:rPr lang="en-US" sz="2000" b="1" dirty="0">
                <a:solidFill>
                  <a:srgbClr val="C00000"/>
                </a:solidFill>
              </a:rPr>
              <a:t>questions</a:t>
            </a:r>
            <a:r>
              <a:rPr lang="en-US" sz="2000" b="1" dirty="0">
                <a:solidFill>
                  <a:srgbClr val="7030A0"/>
                </a:solidFill>
              </a:rPr>
              <a:t>: </a:t>
            </a: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r>
              <a:rPr lang="en-US" sz="2000" dirty="0"/>
              <a:t>Do we really need to keep more than </a:t>
            </a:r>
            <a:r>
              <a:rPr lang="en-US" sz="2000" u="sng" dirty="0"/>
              <a:t>one</a:t>
            </a:r>
            <a:r>
              <a:rPr lang="en-US" sz="2000" dirty="0"/>
              <a:t> element ?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r>
              <a:rPr lang="en-US" sz="2000" dirty="0"/>
              <a:t>Do we really need to keep multiple </a:t>
            </a:r>
            <a:r>
              <a:rPr lang="en-US" sz="2000" u="sng" dirty="0"/>
              <a:t>copies</a:t>
            </a:r>
            <a:r>
              <a:rPr lang="en-US" sz="2000" dirty="0"/>
              <a:t> of an element </a:t>
            </a:r>
            <a:r>
              <a:rPr lang="en-US" sz="2000" b="1" dirty="0"/>
              <a:t>explicitly</a:t>
            </a:r>
            <a:r>
              <a:rPr lang="en-US" sz="2000" dirty="0"/>
              <a:t> ?</a:t>
            </a:r>
          </a:p>
          <a:p>
            <a:pPr marL="0" indent="0" algn="ctr">
              <a:buNone/>
            </a:pPr>
            <a:endParaRPr lang="en-US" sz="2000" dirty="0">
              <a:solidFill>
                <a:srgbClr val="006C3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006C31"/>
                </a:solidFill>
              </a:rPr>
              <a:t>Ponder over these insights and make an attempt to design the algorithm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6C31"/>
                </a:solidFill>
              </a:rPr>
              <a:t>before moving ahead </a:t>
            </a:r>
            <a:r>
              <a:rPr lang="en-US" sz="2000" dirty="0">
                <a:solidFill>
                  <a:srgbClr val="006C31"/>
                </a:solidFill>
                <a:sym typeface="Wingdings" pitchFamily="2" charset="2"/>
              </a:rPr>
              <a:t></a:t>
            </a:r>
            <a:endParaRPr lang="en-US" sz="2000" dirty="0">
              <a:solidFill>
                <a:srgbClr val="006C3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rgbClr val="006C3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574491"/>
              </p:ext>
            </p:extLst>
          </p:nvPr>
        </p:nvGraphicFramePr>
        <p:xfrm>
          <a:off x="1371600" y="2590800"/>
          <a:ext cx="6096000" cy="3708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71600" y="2590800"/>
                <a:ext cx="63113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sz="2000" b="1" dirty="0">
                    <a:solidFill>
                      <a:srgbClr val="0070C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590800"/>
                <a:ext cx="6311343" cy="400110"/>
              </a:xfrm>
              <a:prstGeom prst="rect">
                <a:avLst/>
              </a:prstGeom>
              <a:blipFill rotWithShape="1">
                <a:blip r:embed="rId3"/>
                <a:stretch>
                  <a:fillRect t="-7576" r="-96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triped Right Arrow 6"/>
          <p:cNvSpPr/>
          <p:nvPr/>
        </p:nvSpPr>
        <p:spPr>
          <a:xfrm>
            <a:off x="1371600" y="1905000"/>
            <a:ext cx="2438400" cy="637032"/>
          </a:xfrm>
          <a:prstGeom prst="stripedRightArrow">
            <a:avLst/>
          </a:prstGeom>
          <a:solidFill>
            <a:srgbClr val="006C3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scan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4583668"/>
            <a:ext cx="680256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No</a:t>
            </a:r>
            <a:r>
              <a:rPr lang="en-US" dirty="0"/>
              <a:t>. Just </a:t>
            </a:r>
            <a:r>
              <a:rPr lang="en-US" b="1" u="sng" dirty="0"/>
              <a:t>cancel suitably </a:t>
            </a:r>
            <a:r>
              <a:rPr lang="en-US" dirty="0"/>
              <a:t>whenever we encounter two </a:t>
            </a:r>
            <a:r>
              <a:rPr lang="en-US" i="1" dirty="0">
                <a:solidFill>
                  <a:srgbClr val="FF0000"/>
                </a:solidFill>
              </a:rPr>
              <a:t>distinct</a:t>
            </a:r>
            <a:r>
              <a:rPr lang="en-US" dirty="0"/>
              <a:t> elements.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324469" y="5345668"/>
            <a:ext cx="368934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No</a:t>
            </a:r>
            <a:r>
              <a:rPr lang="en-US" dirty="0"/>
              <a:t>. Just keeping its </a:t>
            </a:r>
            <a:r>
              <a:rPr lang="en-US" b="1" u="sng" dirty="0"/>
              <a:t>count</a:t>
            </a:r>
            <a:r>
              <a:rPr lang="en-US" dirty="0"/>
              <a:t> will suffice.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34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7030A0"/>
                    </a:solidFill>
                  </a:rPr>
                  <a:t>Algorithm for 2-majority element</a:t>
                </a:r>
                <a:br>
                  <a:rPr lang="en-US" sz="3600" b="1" dirty="0">
                    <a:solidFill>
                      <a:srgbClr val="7030A0"/>
                    </a:solidFill>
                  </a:rPr>
                </a:br>
                <a:r>
                  <a:rPr lang="en-US" sz="3200" b="1" dirty="0"/>
                  <a:t>single scan and using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800" dirty="0"/>
                  <a:t>) </a:t>
                </a:r>
                <a:r>
                  <a:rPr lang="en-US" sz="2800" b="1" dirty="0"/>
                  <a:t>extra space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7447" b="-164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Algo-2-majority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A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</a:t>
                </a:r>
                <a:r>
                  <a:rPr lang="en-US" sz="2000" b="1" dirty="0">
                    <a:sym typeface="Wingdings" pitchFamily="2" charset="2"/>
                  </a:rPr>
                  <a:t>for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  <m:r>
                      <a:rPr lang="en-US" sz="2000" i="1" dirty="0" smtClean="0">
                        <a:latin typeface="Cambria Math"/>
                        <a:sym typeface="Wingdings" pitchFamily="2" charset="2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0</m:t>
                    </m:r>
                    <m:r>
                      <a:rPr lang="en-US" sz="2000" i="1" dirty="0" smtClean="0"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{     </a:t>
                </a:r>
                <a:r>
                  <a:rPr lang="en-US" sz="2000" b="1" dirty="0">
                    <a:sym typeface="Wingdings" pitchFamily="2" charset="2"/>
                  </a:rPr>
                  <a:t> if </a:t>
                </a:r>
                <a:r>
                  <a:rPr lang="en-US" sz="2000" dirty="0">
                    <a:sym typeface="Wingdings" pitchFamily="2" charset="2"/>
                  </a:rPr>
                  <a:t>( 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0 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){       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dirty="0">
                    <a:sym typeface="Wingdings" pitchFamily="2" charset="2"/>
                  </a:rPr>
                  <a:t>        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                        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dirty="0">
                    <a:sym typeface="Wingdings" pitchFamily="2" charset="2"/>
                  </a:rPr>
                  <a:t>         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        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</a:t>
                </a:r>
                <a:r>
                  <a:rPr lang="en-US" sz="2000" b="1" dirty="0">
                    <a:sym typeface="Wingdings" pitchFamily="2" charset="2"/>
                  </a:rPr>
                  <a:t>else 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x</a:t>
                </a:r>
                <a:r>
                  <a:rPr lang="en-US" sz="2000" dirty="0">
                    <a:sym typeface="Wingdings" pitchFamily="2" charset="2"/>
                  </a:rPr>
                  <a:t>&lt;&gt;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])               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dirty="0">
                    <a:sym typeface="Wingdings" pitchFamily="2" charset="2"/>
                  </a:rPr>
                  <a:t>                    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</a:t>
                </a:r>
                <a:r>
                  <a:rPr lang="en-US" sz="2000" b="1" dirty="0">
                    <a:sym typeface="Wingdings" pitchFamily="2" charset="2"/>
                  </a:rPr>
                  <a:t>else                           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b="1" dirty="0">
                    <a:sym typeface="Wingdings" pitchFamily="2" charset="2"/>
                  </a:rPr>
                  <a:t>                    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}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</a:t>
                </a:r>
                <a:r>
                  <a:rPr lang="en-US" sz="1800" dirty="0">
                    <a:sym typeface="Wingdings" pitchFamily="2" charset="2"/>
                  </a:rPr>
                  <a:t>Count the occurrences of </a:t>
                </a:r>
                <a:r>
                  <a:rPr lang="en-US" sz="1800" b="1" dirty="0">
                    <a:solidFill>
                      <a:srgbClr val="0070C0"/>
                    </a:solidFill>
                    <a:sym typeface="Wingdings" pitchFamily="2" charset="2"/>
                  </a:rPr>
                  <a:t>x</a:t>
                </a:r>
                <a:r>
                  <a:rPr lang="en-US" sz="1800" dirty="0">
                    <a:sym typeface="Wingdings" pitchFamily="2" charset="2"/>
                  </a:rPr>
                  <a:t> in </a:t>
                </a:r>
                <a:r>
                  <a:rPr lang="en-US" sz="1800" b="1" dirty="0">
                    <a:solidFill>
                      <a:srgbClr val="7030A0"/>
                    </a:solidFill>
                    <a:sym typeface="Wingdings" pitchFamily="2" charset="2"/>
                  </a:rPr>
                  <a:t>A</a:t>
                </a:r>
                <a:r>
                  <a:rPr lang="en-US" sz="1800" dirty="0">
                    <a:sym typeface="Wingdings" pitchFamily="2" charset="2"/>
                  </a:rPr>
                  <a:t>, and </a:t>
                </a:r>
                <a:r>
                  <a:rPr lang="en-US" sz="1800" b="1" dirty="0">
                    <a:sym typeface="Wingdings" pitchFamily="2" charset="2"/>
                  </a:rPr>
                  <a:t>if</a:t>
                </a:r>
                <a:r>
                  <a:rPr lang="en-US" sz="1800" dirty="0">
                    <a:sym typeface="Wingdings" pitchFamily="2" charset="2"/>
                  </a:rPr>
                  <a:t> it is more than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𝑛</m:t>
                    </m:r>
                    <m:r>
                      <a:rPr lang="en-US" sz="1800" i="1" dirty="0" smtClean="0">
                        <a:latin typeface="Cambria Math"/>
                        <a:sym typeface="Wingdings" pitchFamily="2" charset="2"/>
                      </a:rPr>
                      <m:t>/</m:t>
                    </m:r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2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, then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      print</a:t>
                </a:r>
                <a:r>
                  <a:rPr lang="en-US" sz="1800" dirty="0">
                    <a:sym typeface="Wingdings" pitchFamily="2" charset="2"/>
                  </a:rPr>
                  <a:t>(</a:t>
                </a:r>
                <a:r>
                  <a:rPr lang="en-US" sz="1800" b="1" dirty="0">
                    <a:solidFill>
                      <a:srgbClr val="0070C0"/>
                    </a:solidFill>
                    <a:sym typeface="Wingdings" pitchFamily="2" charset="2"/>
                  </a:rPr>
                  <a:t>x</a:t>
                </a:r>
                <a:r>
                  <a:rPr lang="en-US" sz="1800" dirty="0">
                    <a:sym typeface="Wingdings" pitchFamily="2" charset="2"/>
                  </a:rPr>
                  <a:t> is 2-majority element) </a:t>
                </a:r>
                <a:r>
                  <a:rPr lang="en-US" sz="1800" b="1" dirty="0">
                    <a:sym typeface="Wingdings" pitchFamily="2" charset="2"/>
                  </a:rPr>
                  <a:t>else</a:t>
                </a:r>
                <a:r>
                  <a:rPr lang="en-US" sz="1800" dirty="0">
                    <a:sym typeface="Wingdings" pitchFamily="2" charset="2"/>
                  </a:rPr>
                  <a:t> </a:t>
                </a:r>
                <a:r>
                  <a:rPr lang="en-US" sz="1800" b="1" dirty="0">
                    <a:sym typeface="Wingdings" pitchFamily="2" charset="2"/>
                  </a:rPr>
                  <a:t>print</a:t>
                </a:r>
                <a:r>
                  <a:rPr lang="en-US" sz="1800" dirty="0">
                    <a:sym typeface="Wingdings" pitchFamily="2" charset="2"/>
                  </a:rPr>
                  <a:t>(there is no majority element in A)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08906" y="2667000"/>
                <a:ext cx="1084079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x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A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];</a:t>
                </a:r>
                <a:endParaRPr lang="en-IN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8906" y="2667000"/>
                <a:ext cx="1084079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5618" t="-9231" r="-11236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743200" y="3124200"/>
            <a:ext cx="1287853" cy="4001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count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</a:t>
            </a:r>
            <a:r>
              <a:rPr lang="en-US" sz="2000" dirty="0">
                <a:sym typeface="Wingdings" pitchFamily="2" charset="2"/>
              </a:rPr>
              <a:t>;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971800" y="3790890"/>
            <a:ext cx="2065630" cy="4001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count</a:t>
            </a:r>
            <a:r>
              <a:rPr lang="en-US" sz="2000" dirty="0">
                <a:sym typeface="Wingdings" pitchFamily="2" charset="2"/>
              </a:rPr>
              <a:t> 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count</a:t>
            </a:r>
            <a:r>
              <a:rPr lang="en-US" sz="2000" dirty="0">
                <a:sym typeface="Wingdings" pitchFamily="2" charset="2"/>
              </a:rPr>
              <a:t> -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971585" y="4248090"/>
            <a:ext cx="2057615" cy="4001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count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count</a:t>
            </a:r>
            <a:r>
              <a:rPr lang="en-US" sz="2000" dirty="0">
                <a:sym typeface="Wingdings" pitchFamily="2" charset="2"/>
              </a:rPr>
              <a:t> +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9000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  <p:bldP spid="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Algorithm for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2-majority </a:t>
                </a:r>
                <a:r>
                  <a:rPr lang="en-US" sz="3600" b="1" dirty="0"/>
                  <a:t>element</a:t>
                </a:r>
                <a:br>
                  <a:rPr lang="en-US" sz="3600" b="1" dirty="0"/>
                </a:br>
                <a:r>
                  <a:rPr lang="en-US" sz="3200" b="1" dirty="0"/>
                  <a:t>single scan and using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800" dirty="0"/>
                  <a:t>) </a:t>
                </a:r>
                <a:r>
                  <a:rPr lang="en-US" sz="2800" b="1" dirty="0"/>
                  <a:t>extra space</a:t>
                </a:r>
                <a:endParaRPr lang="en-IN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7447" b="-16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There is an algorithm that makes just </a:t>
                </a:r>
                <a:r>
                  <a:rPr lang="en-US" sz="2000" b="1" dirty="0"/>
                  <a:t>a single scan </a:t>
                </a:r>
                <a:r>
                  <a:rPr lang="en-US" sz="2000" dirty="0"/>
                  <a:t>and uses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) </a:t>
                </a:r>
                <a:r>
                  <a:rPr lang="en-US" sz="2000" b="1" dirty="0"/>
                  <a:t>extra space </a:t>
                </a:r>
                <a:r>
                  <a:rPr lang="en-US" sz="2000" dirty="0"/>
                  <a:t>to compute majority element for a given multi-set.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dirty="0"/>
                  <a:t>: Algorithm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3</m:t>
                    </m:r>
                  </m:oMath>
                </a14:m>
                <a:r>
                  <a:rPr lang="en-US" sz="2000" dirty="0"/>
                  <a:t>-majority element</a:t>
                </a:r>
                <a:br>
                  <a:rPr lang="en-US" sz="2000" dirty="0"/>
                </a:b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2438400" y="1676400"/>
            <a:ext cx="4114800" cy="838200"/>
            <a:chOff x="2438400" y="1676400"/>
            <a:chExt cx="4114800" cy="838200"/>
          </a:xfrm>
        </p:grpSpPr>
        <p:grpSp>
          <p:nvGrpSpPr>
            <p:cNvPr id="16" name="Group 15"/>
            <p:cNvGrpSpPr/>
            <p:nvPr/>
          </p:nvGrpSpPr>
          <p:grpSpPr>
            <a:xfrm>
              <a:off x="2438400" y="2057400"/>
              <a:ext cx="4114800" cy="457200"/>
              <a:chOff x="2590800" y="1981200"/>
              <a:chExt cx="4114800" cy="4572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590800" y="1981200"/>
                <a:ext cx="4114800" cy="457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048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505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962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4196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8768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334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5791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6248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/>
            <p:cNvSpPr txBox="1"/>
            <p:nvPr/>
          </p:nvSpPr>
          <p:spPr>
            <a:xfrm>
              <a:off x="2438400" y="1676400"/>
              <a:ext cx="4057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0        1         2       3        4        5       6       7        8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</a:t>
            </a:r>
            <a:r>
              <a:rPr lang="en-US" sz="3200" b="1" dirty="0">
                <a:solidFill>
                  <a:srgbClr val="7030A0"/>
                </a:solidFill>
              </a:rPr>
              <a:t>nice</a:t>
            </a:r>
            <a:r>
              <a:rPr lang="en-US" sz="3200" b="1" dirty="0"/>
              <a:t> programming exercise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2535348" y="2362200"/>
            <a:ext cx="284052" cy="826532"/>
            <a:chOff x="2535348" y="2514600"/>
            <a:chExt cx="284052" cy="826532"/>
          </a:xfrm>
        </p:grpSpPr>
        <p:cxnSp>
          <p:nvCxnSpPr>
            <p:cNvPr id="63" name="Straight Arrow Connector 62"/>
            <p:cNvCxnSpPr/>
            <p:nvPr/>
          </p:nvCxnSpPr>
          <p:spPr>
            <a:xfrm flipV="1">
              <a:off x="2688967" y="2514600"/>
              <a:ext cx="0" cy="533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2535348" y="2971800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x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590800" y="2209800"/>
            <a:ext cx="3810000" cy="152400"/>
            <a:chOff x="2590800" y="2209800"/>
            <a:chExt cx="3810000" cy="152400"/>
          </a:xfrm>
        </p:grpSpPr>
        <p:grpSp>
          <p:nvGrpSpPr>
            <p:cNvPr id="8" name="Group 7"/>
            <p:cNvGrpSpPr/>
            <p:nvPr/>
          </p:nvGrpSpPr>
          <p:grpSpPr>
            <a:xfrm>
              <a:off x="3048000" y="2209800"/>
              <a:ext cx="3352800" cy="152400"/>
              <a:chOff x="3048000" y="2209800"/>
              <a:chExt cx="3352800" cy="152400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3048000" y="2209800"/>
                <a:ext cx="196334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3505200" y="2209800"/>
                <a:ext cx="196334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4375666" y="2209800"/>
                <a:ext cx="196334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5290066" y="2209800"/>
                <a:ext cx="196334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5823466" y="2209800"/>
                <a:ext cx="196334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62400" y="2209800"/>
                <a:ext cx="196334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4832866" y="2209800"/>
                <a:ext cx="196334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6204466" y="2209800"/>
                <a:ext cx="196334" cy="152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Oval 50"/>
            <p:cNvSpPr/>
            <p:nvPr/>
          </p:nvSpPr>
          <p:spPr>
            <a:xfrm>
              <a:off x="2590800" y="2209800"/>
              <a:ext cx="196334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/>
          <p:cNvSpPr/>
          <p:nvPr/>
        </p:nvSpPr>
        <p:spPr>
          <a:xfrm>
            <a:off x="2590800" y="2209800"/>
            <a:ext cx="196334" cy="152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2438400" y="1676400"/>
            <a:ext cx="4114800" cy="838200"/>
            <a:chOff x="2438400" y="1676400"/>
            <a:chExt cx="4114800" cy="838200"/>
          </a:xfrm>
        </p:grpSpPr>
        <p:grpSp>
          <p:nvGrpSpPr>
            <p:cNvPr id="16" name="Group 15"/>
            <p:cNvGrpSpPr/>
            <p:nvPr/>
          </p:nvGrpSpPr>
          <p:grpSpPr>
            <a:xfrm>
              <a:off x="2438400" y="2057400"/>
              <a:ext cx="4114800" cy="457200"/>
              <a:chOff x="2590800" y="1981200"/>
              <a:chExt cx="4114800" cy="4572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590800" y="1981200"/>
                <a:ext cx="4114800" cy="457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048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505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962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4196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8768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334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5791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6248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/>
            <p:cNvSpPr txBox="1"/>
            <p:nvPr/>
          </p:nvSpPr>
          <p:spPr>
            <a:xfrm>
              <a:off x="2438400" y="1676400"/>
              <a:ext cx="4057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0        1         2       3        4        5       6       7        8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</a:t>
            </a:r>
            <a:r>
              <a:rPr lang="en-US" sz="3200" b="1" dirty="0">
                <a:solidFill>
                  <a:srgbClr val="7030A0"/>
                </a:solidFill>
              </a:rPr>
              <a:t>nice</a:t>
            </a:r>
            <a:r>
              <a:rPr lang="en-US" sz="3200" b="1" dirty="0"/>
              <a:t> programming exercise 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90800" y="2209800"/>
            <a:ext cx="196334" cy="152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48000" y="2209800"/>
            <a:ext cx="3352800" cy="152400"/>
            <a:chOff x="3048000" y="2209800"/>
            <a:chExt cx="3352800" cy="152400"/>
          </a:xfrm>
        </p:grpSpPr>
        <p:sp>
          <p:nvSpPr>
            <p:cNvPr id="42" name="Oval 41"/>
            <p:cNvSpPr/>
            <p:nvPr/>
          </p:nvSpPr>
          <p:spPr>
            <a:xfrm>
              <a:off x="3048000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3505200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43756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52900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58234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3962400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4832866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6204466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2535348" y="2362200"/>
            <a:ext cx="284052" cy="826532"/>
            <a:chOff x="2535348" y="2514600"/>
            <a:chExt cx="284052" cy="826532"/>
          </a:xfrm>
        </p:grpSpPr>
        <p:cxnSp>
          <p:nvCxnSpPr>
            <p:cNvPr id="63" name="Straight Arrow Connector 62"/>
            <p:cNvCxnSpPr/>
            <p:nvPr/>
          </p:nvCxnSpPr>
          <p:spPr>
            <a:xfrm flipV="1">
              <a:off x="2688967" y="2514600"/>
              <a:ext cx="0" cy="533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2535348" y="2971800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x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3124200" y="2362200"/>
            <a:ext cx="4495800" cy="641866"/>
            <a:chOff x="3124200" y="2362200"/>
            <a:chExt cx="4495800" cy="641866"/>
          </a:xfrm>
        </p:grpSpPr>
        <p:grpSp>
          <p:nvGrpSpPr>
            <p:cNvPr id="68" name="Group 67"/>
            <p:cNvGrpSpPr/>
            <p:nvPr/>
          </p:nvGrpSpPr>
          <p:grpSpPr>
            <a:xfrm>
              <a:off x="3124200" y="2362200"/>
              <a:ext cx="4006334" cy="457200"/>
              <a:chOff x="3146167" y="2667000"/>
              <a:chExt cx="4006334" cy="457200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 flipV="1">
                <a:off x="3146167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 flipV="1">
                <a:off x="4038599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/>
              <p:nvPr/>
            </p:nvCxnSpPr>
            <p:spPr>
              <a:xfrm flipV="1">
                <a:off x="4495799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 flipV="1">
                <a:off x="5410199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/>
              <p:nvPr/>
            </p:nvCxnSpPr>
            <p:spPr>
              <a:xfrm flipV="1">
                <a:off x="5867399" y="2667000"/>
                <a:ext cx="1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146167" y="3124200"/>
                <a:ext cx="400633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/>
            <p:cNvSpPr txBox="1"/>
            <p:nvPr/>
          </p:nvSpPr>
          <p:spPr>
            <a:xfrm>
              <a:off x="7220532" y="2634734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&lt;</a:t>
              </a:r>
              <a:r>
                <a:rPr lang="en-US" dirty="0">
                  <a:solidFill>
                    <a:srgbClr val="0070C0"/>
                  </a:solidFill>
                </a:rPr>
                <a:t>x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3581400" y="1600200"/>
            <a:ext cx="4057068" cy="609600"/>
            <a:chOff x="3581400" y="1600200"/>
            <a:chExt cx="4057068" cy="609600"/>
          </a:xfrm>
        </p:grpSpPr>
        <p:grpSp>
          <p:nvGrpSpPr>
            <p:cNvPr id="79" name="Group 78"/>
            <p:cNvGrpSpPr/>
            <p:nvPr/>
          </p:nvGrpSpPr>
          <p:grpSpPr>
            <a:xfrm>
              <a:off x="3581400" y="1752600"/>
              <a:ext cx="3549134" cy="457200"/>
              <a:chOff x="4343400" y="3962400"/>
              <a:chExt cx="3549134" cy="457200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4343400" y="3962400"/>
                <a:ext cx="354913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/>
              <p:nvPr/>
            </p:nvCxnSpPr>
            <p:spPr>
              <a:xfrm>
                <a:off x="4343400" y="3962400"/>
                <a:ext cx="0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5715000" y="3962400"/>
                <a:ext cx="0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/>
              <p:nvPr/>
            </p:nvCxnSpPr>
            <p:spPr>
              <a:xfrm>
                <a:off x="7086600" y="3962400"/>
                <a:ext cx="0" cy="457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TextBox 79"/>
            <p:cNvSpPr txBox="1"/>
            <p:nvPr/>
          </p:nvSpPr>
          <p:spPr>
            <a:xfrm>
              <a:off x="7239000" y="1600200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&gt;</a:t>
              </a:r>
              <a:r>
                <a:rPr lang="en-US" dirty="0">
                  <a:solidFill>
                    <a:srgbClr val="0070C0"/>
                  </a:solidFill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902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2438400" y="1676400"/>
            <a:ext cx="4114800" cy="838200"/>
            <a:chOff x="2438400" y="1676400"/>
            <a:chExt cx="4114800" cy="838200"/>
          </a:xfrm>
        </p:grpSpPr>
        <p:grpSp>
          <p:nvGrpSpPr>
            <p:cNvPr id="16" name="Group 15"/>
            <p:cNvGrpSpPr/>
            <p:nvPr/>
          </p:nvGrpSpPr>
          <p:grpSpPr>
            <a:xfrm>
              <a:off x="2438400" y="2057400"/>
              <a:ext cx="4114800" cy="457200"/>
              <a:chOff x="2590800" y="1981200"/>
              <a:chExt cx="4114800" cy="4572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590800" y="1981200"/>
                <a:ext cx="4114800" cy="457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048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505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962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4196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8768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334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5791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6248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/>
            <p:cNvSpPr txBox="1"/>
            <p:nvPr/>
          </p:nvSpPr>
          <p:spPr>
            <a:xfrm>
              <a:off x="2438400" y="1676400"/>
              <a:ext cx="4057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0        1         2       3        4        5       6       7        8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</a:t>
            </a:r>
            <a:r>
              <a:rPr lang="en-US" sz="3200" b="1" dirty="0">
                <a:solidFill>
                  <a:srgbClr val="7030A0"/>
                </a:solidFill>
              </a:rPr>
              <a:t>nice</a:t>
            </a:r>
            <a:r>
              <a:rPr lang="en-US" sz="3200" b="1" dirty="0"/>
              <a:t> programming exercise 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4102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procedure is called </a:t>
            </a: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Partition</a:t>
            </a:r>
            <a:r>
              <a:rPr lang="en-US" sz="2000" dirty="0"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It </a:t>
            </a:r>
            <a:r>
              <a:rPr lang="en-US" sz="2000" b="1" dirty="0">
                <a:sym typeface="Wingdings" pitchFamily="2" charset="2"/>
              </a:rPr>
              <a:t>rearranges</a:t>
            </a:r>
            <a:r>
              <a:rPr lang="en-US" sz="2000" dirty="0">
                <a:sym typeface="Wingdings" pitchFamily="2" charset="2"/>
              </a:rPr>
              <a:t> the elements so that all elements less than </a:t>
            </a:r>
            <a:r>
              <a:rPr lang="en-US" sz="2000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appear to the left of </a:t>
            </a:r>
            <a:r>
              <a:rPr lang="en-US" sz="2000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and all elements greater than </a:t>
            </a:r>
            <a:r>
              <a:rPr lang="en-US" sz="2000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appear to the right of </a:t>
            </a:r>
            <a:r>
              <a:rPr lang="en-US" sz="2000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.</a:t>
            </a:r>
            <a:r>
              <a:rPr lang="en-US" sz="2000" dirty="0">
                <a:sym typeface="Wingdings" pitchFamily="2" charset="2"/>
              </a:rPr>
              <a:t>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2514600" y="4267200"/>
            <a:ext cx="4114800" cy="762000"/>
            <a:chOff x="2514600" y="4267200"/>
            <a:chExt cx="4114800" cy="762000"/>
          </a:xfrm>
        </p:grpSpPr>
        <p:grpSp>
          <p:nvGrpSpPr>
            <p:cNvPr id="19" name="Group 18"/>
            <p:cNvGrpSpPr/>
            <p:nvPr/>
          </p:nvGrpSpPr>
          <p:grpSpPr>
            <a:xfrm>
              <a:off x="2514600" y="4572000"/>
              <a:ext cx="4114800" cy="457200"/>
              <a:chOff x="2590800" y="1981200"/>
              <a:chExt cx="4114800" cy="457200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2590800" y="1981200"/>
                <a:ext cx="4114800" cy="457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/>
              <p:cNvCxnSpPr/>
              <p:nvPr/>
            </p:nvCxnSpPr>
            <p:spPr>
              <a:xfrm>
                <a:off x="3048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505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962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44196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48768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3340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7912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6248400" y="1981200"/>
                <a:ext cx="0" cy="457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/>
            <p:cNvSpPr txBox="1"/>
            <p:nvPr/>
          </p:nvSpPr>
          <p:spPr>
            <a:xfrm>
              <a:off x="2514600" y="4267200"/>
              <a:ext cx="4057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0        1         2       3        4        5       6       7        8</a:t>
              </a:r>
            </a:p>
          </p:txBody>
        </p:sp>
      </p:grpSp>
      <p:sp>
        <p:nvSpPr>
          <p:cNvPr id="33" name="Down Arrow 32"/>
          <p:cNvSpPr/>
          <p:nvPr/>
        </p:nvSpPr>
        <p:spPr>
          <a:xfrm>
            <a:off x="4305300" y="2907792"/>
            <a:ext cx="533400" cy="1130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2558534" y="5105400"/>
            <a:ext cx="2242066" cy="750332"/>
            <a:chOff x="2558534" y="5105400"/>
            <a:chExt cx="2242066" cy="750332"/>
          </a:xfrm>
        </p:grpSpPr>
        <p:sp>
          <p:nvSpPr>
            <p:cNvPr id="30" name="Right Brace 29"/>
            <p:cNvSpPr/>
            <p:nvPr/>
          </p:nvSpPr>
          <p:spPr>
            <a:xfrm rot="5400000">
              <a:off x="3489067" y="4174867"/>
              <a:ext cx="381000" cy="2242066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29000" y="5486400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&lt;x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5257800" y="5105400"/>
            <a:ext cx="1371600" cy="674132"/>
            <a:chOff x="5257800" y="5105400"/>
            <a:chExt cx="1371600" cy="674132"/>
          </a:xfrm>
        </p:grpSpPr>
        <p:sp>
          <p:nvSpPr>
            <p:cNvPr id="31" name="Right Brace 30"/>
            <p:cNvSpPr/>
            <p:nvPr/>
          </p:nvSpPr>
          <p:spPr>
            <a:xfrm rot="5400000">
              <a:off x="5753100" y="4610100"/>
              <a:ext cx="381000" cy="137160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755098" y="5410200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&gt;x</a:t>
              </a:r>
            </a:p>
          </p:txBody>
        </p:sp>
      </p:grpSp>
      <p:sp>
        <p:nvSpPr>
          <p:cNvPr id="6" name="Oval 5"/>
          <p:cNvSpPr/>
          <p:nvPr/>
        </p:nvSpPr>
        <p:spPr>
          <a:xfrm>
            <a:off x="2590800" y="2209800"/>
            <a:ext cx="196334" cy="152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3048000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3505200" y="2209800"/>
            <a:ext cx="196334" cy="1524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375666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5290066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823466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962400" y="2209800"/>
            <a:ext cx="196334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832866" y="2209800"/>
            <a:ext cx="196334" cy="1524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6204466" y="2209800"/>
            <a:ext cx="196334" cy="1524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2590800" y="2209800"/>
            <a:ext cx="196334" cy="152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3048000" y="2209800"/>
            <a:ext cx="3352800" cy="152400"/>
            <a:chOff x="3048000" y="2209800"/>
            <a:chExt cx="3352800" cy="152400"/>
          </a:xfrm>
        </p:grpSpPr>
        <p:sp>
          <p:nvSpPr>
            <p:cNvPr id="52" name="Oval 51"/>
            <p:cNvSpPr/>
            <p:nvPr/>
          </p:nvSpPr>
          <p:spPr>
            <a:xfrm>
              <a:off x="3048000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3505200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43756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/>
            <p:cNvSpPr/>
            <p:nvPr/>
          </p:nvSpPr>
          <p:spPr>
            <a:xfrm>
              <a:off x="52900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5823466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3962400" y="2209800"/>
              <a:ext cx="196334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4832866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6204466" y="2209800"/>
              <a:ext cx="196334" cy="1524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loud Callout 7"/>
              <p:cNvSpPr/>
              <p:nvPr/>
            </p:nvSpPr>
            <p:spPr>
              <a:xfrm>
                <a:off x="5083433" y="2816352"/>
                <a:ext cx="4060567" cy="1222248"/>
              </a:xfrm>
              <a:prstGeom prst="cloudCallout">
                <a:avLst>
                  <a:gd name="adj1" fmla="val 13220"/>
                  <a:gd name="adj2" fmla="val 7618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Implement </a:t>
                </a:r>
                <a:r>
                  <a:rPr lang="en-US" b="1" dirty="0">
                    <a:solidFill>
                      <a:srgbClr val="7030A0"/>
                    </a:solidFill>
                    <a:sym typeface="Wingdings" pitchFamily="2" charset="2"/>
                  </a:rPr>
                  <a:t>Partition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()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in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 time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using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 space?</a:t>
                </a:r>
                <a:endParaRPr lang="en-IN" dirty="0"/>
              </a:p>
            </p:txBody>
          </p:sp>
        </mc:Choice>
        <mc:Fallback xmlns="">
          <p:sp>
            <p:nvSpPr>
              <p:cNvPr id="8" name="Cloud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433" y="2816352"/>
                <a:ext cx="4060567" cy="1222248"/>
              </a:xfrm>
              <a:prstGeom prst="cloudCallout">
                <a:avLst>
                  <a:gd name="adj1" fmla="val 13220"/>
                  <a:gd name="adj2" fmla="val 76185"/>
                </a:avLst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510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-0.0441 0.3555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5" y="1777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-0.0441 0.3555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5" y="1777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33333E-6 L -0.13924 0.3555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62" y="17778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33333E-6 L -0.14757 0.3555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78" y="1777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33333E-6 L -0.1559 0.3555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95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0.19757 0.3555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78" y="1777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33333E-6 L 0.16076 0.3555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38" y="17778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33333E-6 L -0.03924 0.3555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2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0.2559 0.3555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95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3" grpId="0" animBg="1"/>
      <p:bldP spid="6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Exercise Questions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ym typeface="Wingdings" pitchFamily="2" charset="2"/>
              </a:rPr>
              <a:t>Can you implement a stack using a single queue (you need to define the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pop</a:t>
            </a:r>
            <a:r>
              <a:rPr lang="en-US" sz="2400" dirty="0">
                <a:sym typeface="Wingdings" pitchFamily="2" charset="2"/>
              </a:rPr>
              <a:t> and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push</a:t>
            </a:r>
            <a:r>
              <a:rPr lang="en-US" sz="2400" dirty="0">
                <a:sym typeface="Wingdings" pitchFamily="2" charset="2"/>
              </a:rPr>
              <a:t> operations  using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enqueue</a:t>
            </a:r>
            <a:r>
              <a:rPr lang="en-US" sz="2400" dirty="0">
                <a:sym typeface="Wingdings" pitchFamily="2" charset="2"/>
              </a:rPr>
              <a:t> and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dequeue)</a:t>
            </a:r>
            <a:r>
              <a:rPr lang="en-US" sz="2400" dirty="0">
                <a:sym typeface="Wingdings" pitchFamily="2" charset="2"/>
              </a:rPr>
              <a:t>?</a:t>
            </a:r>
            <a:br>
              <a:rPr lang="en-US" sz="2400" dirty="0">
                <a:sym typeface="Wingdings" pitchFamily="2" charset="2"/>
              </a:rPr>
            </a:b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What about the converse?</a:t>
            </a:r>
            <a:br>
              <a:rPr lang="en-US" sz="2400" dirty="0">
                <a:sym typeface="Wingdings" pitchFamily="2" charset="2"/>
              </a:rPr>
            </a:br>
            <a:endParaRPr lang="en-US" sz="2400" dirty="0">
              <a:sym typeface="Wingdings" pitchFamily="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ym typeface="Wingdings" pitchFamily="2" charset="2"/>
              </a:rPr>
              <a:t>Can you implement a queue using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a) a single stack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b) two stacks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c) single stack and recursion?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71B4BC6-C1A7-FEE4-D644-36BFA0F4F582}"/>
              </a:ext>
            </a:extLst>
          </p:cNvPr>
          <p:cNvSpPr/>
          <p:nvPr/>
        </p:nvSpPr>
        <p:spPr>
          <a:xfrm>
            <a:off x="762000" y="5791200"/>
            <a:ext cx="3581400" cy="5651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Question 2 is left as an exercise.</a:t>
            </a:r>
          </a:p>
        </p:txBody>
      </p:sp>
    </p:spTree>
    <p:extLst>
      <p:ext uri="{BB962C8B-B14F-4D97-AF65-F5344CB8AC3E}">
        <p14:creationId xmlns:p14="http://schemas.microsoft.com/office/powerpoint/2010/main" val="99615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Implementation of </a:t>
            </a:r>
            <a:r>
              <a:rPr lang="en-US" sz="3600" b="1" dirty="0">
                <a:solidFill>
                  <a:srgbClr val="7030A0"/>
                </a:solidFill>
              </a:rPr>
              <a:t>Stack </a:t>
            </a:r>
            <a:r>
              <a:rPr lang="en-US" sz="3600" b="1" dirty="0"/>
              <a:t>using a</a:t>
            </a:r>
            <a:r>
              <a:rPr lang="en-US" sz="3600" b="1" dirty="0">
                <a:solidFill>
                  <a:srgbClr val="7030A0"/>
                </a:solidFill>
              </a:rPr>
              <a:t> Queue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64820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</a:rPr>
              <a:t>Push</a:t>
            </a:r>
            <a:r>
              <a:rPr lang="en-US" sz="1600" dirty="0"/>
              <a:t>(</a:t>
            </a:r>
            <a:r>
              <a:rPr lang="en-US" sz="1600" dirty="0" err="1"/>
              <a:t>x,</a:t>
            </a:r>
            <a:r>
              <a:rPr lang="en-US" sz="1600" b="1" dirty="0" err="1">
                <a:solidFill>
                  <a:srgbClr val="7030A0"/>
                </a:solidFill>
              </a:rPr>
              <a:t>S</a:t>
            </a:r>
            <a:r>
              <a:rPr lang="en-US" sz="1600" dirty="0"/>
              <a:t>){	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</a:rPr>
              <a:t>	Enqueue</a:t>
            </a:r>
            <a:r>
              <a:rPr lang="en-US" sz="1600" dirty="0"/>
              <a:t>(</a:t>
            </a:r>
            <a:r>
              <a:rPr lang="en-US" sz="1600" dirty="0" err="1"/>
              <a:t>x,</a:t>
            </a:r>
            <a:r>
              <a:rPr lang="en-US" sz="1600" b="1" dirty="0" err="1">
                <a:solidFill>
                  <a:srgbClr val="7030A0"/>
                </a:solidFill>
              </a:rPr>
              <a:t>S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</a:rPr>
              <a:t>Pop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7030A0"/>
                </a:solidFill>
              </a:rPr>
              <a:t>S</a:t>
            </a:r>
            <a:r>
              <a:rPr lang="en-US" sz="1600" dirty="0"/>
              <a:t>){           	</a:t>
            </a:r>
          </a:p>
          <a:p>
            <a:pPr marL="0" indent="0">
              <a:buNone/>
            </a:pPr>
            <a:r>
              <a:rPr lang="en-US" sz="1600" b="1" dirty="0"/>
              <a:t>if</a:t>
            </a:r>
            <a:r>
              <a:rPr lang="en-US" sz="1600" dirty="0"/>
              <a:t> (</a:t>
            </a:r>
            <a:r>
              <a:rPr lang="en-US" sz="1600" b="1" dirty="0" err="1">
                <a:solidFill>
                  <a:srgbClr val="C00000"/>
                </a:solidFill>
              </a:rPr>
              <a:t>IsEmpty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7030A0"/>
                </a:solidFill>
              </a:rPr>
              <a:t>S</a:t>
            </a:r>
            <a:r>
              <a:rPr lang="en-US" sz="1600" dirty="0"/>
              <a:t>) == true) </a:t>
            </a:r>
            <a:r>
              <a:rPr lang="en-US" sz="1600" dirty="0">
                <a:solidFill>
                  <a:srgbClr val="0070C0"/>
                </a:solidFill>
                <a:sym typeface="Wingdings" pitchFamily="2" charset="2"/>
              </a:rPr>
              <a:t>return</a:t>
            </a:r>
            <a:r>
              <a:rPr lang="en-US" sz="1600" dirty="0"/>
              <a:t> NULL;</a:t>
            </a:r>
          </a:p>
          <a:p>
            <a:pPr marL="0" indent="0">
              <a:buNone/>
            </a:pPr>
            <a:r>
              <a:rPr lang="en-US" sz="1600" b="1" dirty="0"/>
              <a:t>else</a:t>
            </a:r>
            <a:r>
              <a:rPr lang="en-US" sz="1600" dirty="0"/>
              <a:t>{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</a:rPr>
              <a:t>	Enqueue</a:t>
            </a:r>
            <a:r>
              <a:rPr lang="en-US" sz="1600" dirty="0"/>
              <a:t>(#,</a:t>
            </a:r>
            <a:r>
              <a:rPr lang="en-US" sz="1600" b="1" dirty="0">
                <a:solidFill>
                  <a:srgbClr val="7030A0"/>
                </a:solidFill>
              </a:rPr>
              <a:t>S</a:t>
            </a:r>
            <a:r>
              <a:rPr lang="en-US" sz="1600" dirty="0"/>
              <a:t>);		</a:t>
            </a:r>
            <a:r>
              <a:rPr lang="en-US" sz="1600" dirty="0">
                <a:solidFill>
                  <a:schemeClr val="accent1"/>
                </a:solidFill>
              </a:rPr>
              <a:t>//add a marker symbol to denote the end</a:t>
            </a:r>
          </a:p>
          <a:p>
            <a:pPr marL="0" indent="0">
              <a:buNone/>
            </a:pPr>
            <a:r>
              <a:rPr lang="en-US" sz="1600" dirty="0"/>
              <a:t>	x</a:t>
            </a:r>
            <a:r>
              <a:rPr lang="en-US" sz="1600" dirty="0">
                <a:sym typeface="Wingdings" pitchFamily="2" charset="2"/>
              </a:rPr>
              <a:t>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Dequeue(</a:t>
            </a:r>
            <a:r>
              <a:rPr lang="en-US" sz="1600" b="1" dirty="0">
                <a:solidFill>
                  <a:srgbClr val="7030A0"/>
                </a:solidFill>
              </a:rPr>
              <a:t>S</a:t>
            </a:r>
            <a:r>
              <a:rPr lang="en-US" sz="1600" b="1" dirty="0">
                <a:solidFill>
                  <a:srgbClr val="C00000"/>
                </a:solidFill>
              </a:rPr>
              <a:t>)</a:t>
            </a:r>
            <a:r>
              <a:rPr lang="en-US" sz="1600" b="1" dirty="0"/>
              <a:t>;</a:t>
            </a:r>
            <a:endParaRPr lang="en-US" sz="16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	</a:t>
            </a:r>
            <a:r>
              <a:rPr lang="en-US" sz="1600" dirty="0"/>
              <a:t>y</a:t>
            </a:r>
            <a:r>
              <a:rPr lang="en-US" sz="1600" dirty="0">
                <a:sym typeface="Wingdings" pitchFamily="2" charset="2"/>
              </a:rPr>
              <a:t>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Dequeue(</a:t>
            </a:r>
            <a:r>
              <a:rPr lang="en-US" sz="1600" b="1" dirty="0">
                <a:solidFill>
                  <a:srgbClr val="7030A0"/>
                </a:solidFill>
              </a:rPr>
              <a:t>S</a:t>
            </a:r>
            <a:r>
              <a:rPr lang="en-US" sz="1600" b="1" dirty="0">
                <a:solidFill>
                  <a:srgbClr val="C00000"/>
                </a:solidFill>
              </a:rPr>
              <a:t>)</a:t>
            </a:r>
            <a:r>
              <a:rPr lang="en-US" sz="1600" b="1" dirty="0"/>
              <a:t>;</a:t>
            </a:r>
            <a:endParaRPr lang="en-US" sz="16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	</a:t>
            </a:r>
            <a:r>
              <a:rPr lang="en-US" sz="1600" b="1" dirty="0">
                <a:sym typeface="Wingdings" pitchFamily="2" charset="2"/>
              </a:rPr>
              <a:t>while</a:t>
            </a:r>
            <a:r>
              <a:rPr lang="en-US" sz="1600" dirty="0">
                <a:sym typeface="Wingdings" pitchFamily="2" charset="2"/>
              </a:rPr>
              <a:t>(y &lt;&gt; #){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		</a:t>
            </a:r>
            <a:r>
              <a:rPr lang="en-US" sz="1600" b="1" dirty="0">
                <a:solidFill>
                  <a:srgbClr val="C00000"/>
                </a:solidFill>
              </a:rPr>
              <a:t>Enqueue(</a:t>
            </a:r>
            <a:r>
              <a:rPr lang="en-US" sz="1600" dirty="0" err="1"/>
              <a:t>x,</a:t>
            </a:r>
            <a:r>
              <a:rPr lang="en-US" sz="1600" b="1" dirty="0" err="1">
                <a:solidFill>
                  <a:srgbClr val="7030A0"/>
                </a:solidFill>
              </a:rPr>
              <a:t>S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		</a:t>
            </a:r>
            <a:r>
              <a:rPr lang="en-US" sz="1600" dirty="0"/>
              <a:t> x</a:t>
            </a:r>
            <a:r>
              <a:rPr lang="en-US" sz="1600" dirty="0">
                <a:sym typeface="Wingdings" pitchFamily="2" charset="2"/>
              </a:rPr>
              <a:t> y;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		</a:t>
            </a:r>
            <a:r>
              <a:rPr lang="en-US" sz="1600" dirty="0"/>
              <a:t> y</a:t>
            </a:r>
            <a:r>
              <a:rPr lang="en-US" sz="1600" dirty="0">
                <a:sym typeface="Wingdings" pitchFamily="2" charset="2"/>
              </a:rPr>
              <a:t>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Dequeue(</a:t>
            </a:r>
            <a:r>
              <a:rPr lang="en-US" sz="1600" b="1" dirty="0">
                <a:solidFill>
                  <a:srgbClr val="7030A0"/>
                </a:solidFill>
              </a:rPr>
              <a:t>S</a:t>
            </a:r>
            <a:r>
              <a:rPr lang="en-US" sz="1600" b="1" dirty="0">
                <a:solidFill>
                  <a:srgbClr val="C00000"/>
                </a:solidFill>
              </a:rPr>
              <a:t>)</a:t>
            </a:r>
            <a:r>
              <a:rPr lang="en-US" sz="1600" b="1" dirty="0"/>
              <a:t>;</a:t>
            </a:r>
          </a:p>
          <a:p>
            <a:pPr marL="0" indent="0">
              <a:buNone/>
            </a:pPr>
            <a:r>
              <a:rPr lang="en-US" sz="1600" b="1" dirty="0">
                <a:sym typeface="Wingdings" pitchFamily="2" charset="2"/>
              </a:rPr>
              <a:t>	}</a:t>
            </a:r>
            <a:endParaRPr lang="en-US" sz="16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  <a:sym typeface="Wingdings" pitchFamily="2" charset="2"/>
              </a:rPr>
              <a:t>return </a:t>
            </a:r>
            <a:r>
              <a:rPr lang="en-US" sz="1600" dirty="0"/>
              <a:t>x</a:t>
            </a:r>
            <a:r>
              <a:rPr lang="en-US" sz="16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ym typeface="Wingdings" pitchFamily="2" charset="2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0E16FD7-91AE-4339-22AE-14A6066D2B33}"/>
              </a:ext>
            </a:extLst>
          </p:cNvPr>
          <p:cNvSpPr/>
          <p:nvPr/>
        </p:nvSpPr>
        <p:spPr>
          <a:xfrm>
            <a:off x="762000" y="1295400"/>
            <a:ext cx="7543800" cy="76993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We will implement a stack S using a queue such that the top of the stack corresponds to the rear of the queue.  </a:t>
            </a:r>
          </a:p>
        </p:txBody>
      </p:sp>
    </p:spTree>
    <p:extLst>
      <p:ext uri="{BB962C8B-B14F-4D97-AF65-F5344CB8AC3E}">
        <p14:creationId xmlns:p14="http://schemas.microsoft.com/office/powerpoint/2010/main" val="79182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7861</TotalTime>
  <Words>1331</Words>
  <Application>Microsoft Macintosh PowerPoint</Application>
  <PresentationFormat>On-screen Show (4:3)</PresentationFormat>
  <Paragraphs>281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Majority element</vt:lpstr>
      <vt:lpstr>Majority element</vt:lpstr>
      <vt:lpstr>Majority element</vt:lpstr>
      <vt:lpstr>Majority element</vt:lpstr>
      <vt:lpstr>Some observations </vt:lpstr>
      <vt:lpstr>Some observations </vt:lpstr>
      <vt:lpstr>Some observations </vt:lpstr>
      <vt:lpstr>Algorithm for 2-majority element </vt:lpstr>
      <vt:lpstr>Further restrictions on the problem</vt:lpstr>
      <vt:lpstr>algorithm for 2-majority element </vt:lpstr>
      <vt:lpstr>Designing algorithm for 2-majority element single scan and using O(1) extra space</vt:lpstr>
      <vt:lpstr>Designing algorithm for 2-majority element single scan and using O(1) extra space</vt:lpstr>
      <vt:lpstr>Algorithm for 2-majority element single scan and using O(1) extra space</vt:lpstr>
      <vt:lpstr>Algorithm for 2-majority element single scan and using O(1) extra space</vt:lpstr>
      <vt:lpstr>A nice programming exercise ?</vt:lpstr>
      <vt:lpstr>A nice programming exercise ?</vt:lpstr>
      <vt:lpstr>A nice programming exercise ?</vt:lpstr>
      <vt:lpstr>Exercise Questions</vt:lpstr>
      <vt:lpstr>Implementation of Stack using a Queue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823</cp:revision>
  <dcterms:created xsi:type="dcterms:W3CDTF">2011-12-03T04:13:03Z</dcterms:created>
  <dcterms:modified xsi:type="dcterms:W3CDTF">2025-08-28T15:51:32Z</dcterms:modified>
</cp:coreProperties>
</file>