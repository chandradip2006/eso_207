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30"/>
  </p:notesMasterIdLst>
  <p:sldIdLst>
    <p:sldId id="418" r:id="rId2"/>
    <p:sldId id="439" r:id="rId3"/>
    <p:sldId id="433" r:id="rId4"/>
    <p:sldId id="440" r:id="rId5"/>
    <p:sldId id="443" r:id="rId6"/>
    <p:sldId id="444" r:id="rId7"/>
    <p:sldId id="445" r:id="rId8"/>
    <p:sldId id="435" r:id="rId9"/>
    <p:sldId id="446" r:id="rId10"/>
    <p:sldId id="436" r:id="rId11"/>
    <p:sldId id="437" r:id="rId12"/>
    <p:sldId id="447" r:id="rId13"/>
    <p:sldId id="419" r:id="rId14"/>
    <p:sldId id="411" r:id="rId15"/>
    <p:sldId id="412" r:id="rId16"/>
    <p:sldId id="430" r:id="rId17"/>
    <p:sldId id="424" r:id="rId18"/>
    <p:sldId id="425" r:id="rId19"/>
    <p:sldId id="422" r:id="rId20"/>
    <p:sldId id="426" r:id="rId21"/>
    <p:sldId id="423" r:id="rId22"/>
    <p:sldId id="427" r:id="rId23"/>
    <p:sldId id="416" r:id="rId24"/>
    <p:sldId id="429" r:id="rId25"/>
    <p:sldId id="414" r:id="rId26"/>
    <p:sldId id="415" r:id="rId27"/>
    <p:sldId id="431" r:id="rId28"/>
    <p:sldId id="438" r:id="rId29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2000" autoAdjust="0"/>
  </p:normalViewPr>
  <p:slideViewPr>
    <p:cSldViewPr>
      <p:cViewPr varScale="1">
        <p:scale>
          <a:sx n="111" d="100"/>
          <a:sy n="111" d="100"/>
        </p:scale>
        <p:origin x="1904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microsoft.com/office/2016/11/relationships/changesInfo" Target="changesInfos/changesInfo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3C0131F9-5036-DC4D-B613-FD0B0701E4B7}"/>
    <pc:docChg chg="custSel modSld">
      <pc:chgData name="Raghunath Tewari" userId="2638bdda-d406-4938-a2a6-e4e967acb772" providerId="ADAL" clId="{3C0131F9-5036-DC4D-B613-FD0B0701E4B7}" dt="2023-08-02T04:07:07.214" v="47" actId="20577"/>
      <pc:docMkLst>
        <pc:docMk/>
      </pc:docMkLst>
      <pc:sldChg chg="modSp">
        <pc:chgData name="Raghunath Tewari" userId="2638bdda-d406-4938-a2a6-e4e967acb772" providerId="ADAL" clId="{3C0131F9-5036-DC4D-B613-FD0B0701E4B7}" dt="2023-08-02T03:56:28.411" v="11" actId="20577"/>
        <pc:sldMkLst>
          <pc:docMk/>
          <pc:sldMk cId="1542713575" sldId="436"/>
        </pc:sldMkLst>
        <pc:spChg chg="mod">
          <ac:chgData name="Raghunath Tewari" userId="2638bdda-d406-4938-a2a6-e4e967acb772" providerId="ADAL" clId="{3C0131F9-5036-DC4D-B613-FD0B0701E4B7}" dt="2023-08-02T03:56:28.411" v="11" actId="20577"/>
          <ac:spMkLst>
            <pc:docMk/>
            <pc:sldMk cId="1542713575" sldId="436"/>
            <ac:spMk id="58" creationId="{00000000-0000-0000-0000-000000000000}"/>
          </ac:spMkLst>
        </pc:spChg>
      </pc:sldChg>
      <pc:sldChg chg="modSp mod">
        <pc:chgData name="Raghunath Tewari" userId="2638bdda-d406-4938-a2a6-e4e967acb772" providerId="ADAL" clId="{3C0131F9-5036-DC4D-B613-FD0B0701E4B7}" dt="2023-08-02T04:07:07.214" v="47" actId="20577"/>
        <pc:sldMkLst>
          <pc:docMk/>
          <pc:sldMk cId="1027880852" sldId="437"/>
        </pc:sldMkLst>
        <pc:spChg chg="mod">
          <ac:chgData name="Raghunath Tewari" userId="2638bdda-d406-4938-a2a6-e4e967acb772" providerId="ADAL" clId="{3C0131F9-5036-DC4D-B613-FD0B0701E4B7}" dt="2023-08-02T04:07:07.214" v="47" actId="20577"/>
          <ac:spMkLst>
            <pc:docMk/>
            <pc:sldMk cId="1027880852" sldId="437"/>
            <ac:spMk id="3" creationId="{00000000-0000-0000-0000-000000000000}"/>
          </ac:spMkLst>
        </pc:spChg>
      </pc:sldChg>
      <pc:sldChg chg="modSp modAnim">
        <pc:chgData name="Raghunath Tewari" userId="2638bdda-d406-4938-a2a6-e4e967acb772" providerId="ADAL" clId="{3C0131F9-5036-DC4D-B613-FD0B0701E4B7}" dt="2023-08-02T03:51:09.402" v="6" actId="20577"/>
        <pc:sldMkLst>
          <pc:docMk/>
          <pc:sldMk cId="2259058480" sldId="443"/>
        </pc:sldMkLst>
        <pc:spChg chg="mod">
          <ac:chgData name="Raghunath Tewari" userId="2638bdda-d406-4938-a2a6-e4e967acb772" providerId="ADAL" clId="{3C0131F9-5036-DC4D-B613-FD0B0701E4B7}" dt="2023-08-02T03:51:09.402" v="6" actId="20577"/>
          <ac:spMkLst>
            <pc:docMk/>
            <pc:sldMk cId="2259058480" sldId="443"/>
            <ac:spMk id="2" creationId="{00000000-0000-0000-0000-000000000000}"/>
          </ac:spMkLst>
        </pc:spChg>
        <pc:spChg chg="mod">
          <ac:chgData name="Raghunath Tewari" userId="2638bdda-d406-4938-a2a6-e4e967acb772" providerId="ADAL" clId="{3C0131F9-5036-DC4D-B613-FD0B0701E4B7}" dt="2023-08-01T05:30:38.450" v="3" actId="20577"/>
          <ac:spMkLst>
            <pc:docMk/>
            <pc:sldMk cId="2259058480" sldId="443"/>
            <ac:spMk id="3" creationId="{00000000-0000-0000-0000-000000000000}"/>
          </ac:spMkLst>
        </pc:spChg>
      </pc:sldChg>
    </pc:docChg>
  </pc:docChgLst>
  <pc:docChgLst>
    <pc:chgData name="Raghunath Tewari" userId="2638bdda-d406-4938-a2a6-e4e967acb772" providerId="ADAL" clId="{5ECF7C50-D51D-8840-A110-7FCBD24E8EF8}"/>
    <pc:docChg chg="delSld">
      <pc:chgData name="Raghunath Tewari" userId="2638bdda-d406-4938-a2a6-e4e967acb772" providerId="ADAL" clId="{5ECF7C50-D51D-8840-A110-7FCBD24E8EF8}" dt="2023-08-28T06:03:29.673" v="0" actId="2696"/>
      <pc:docMkLst>
        <pc:docMk/>
      </pc:docMkLst>
      <pc:sldChg chg="del">
        <pc:chgData name="Raghunath Tewari" userId="2638bdda-d406-4938-a2a6-e4e967acb772" providerId="ADAL" clId="{5ECF7C50-D51D-8840-A110-7FCBD24E8EF8}" dt="2023-08-28T06:03:29.673" v="0" actId="2696"/>
        <pc:sldMkLst>
          <pc:docMk/>
          <pc:sldMk cId="4130751991" sldId="434"/>
        </pc:sldMkLst>
      </pc:sldChg>
    </pc:docChg>
  </pc:docChgLst>
  <pc:docChgLst>
    <pc:chgData name="Raghunath Tewari" userId="2638bdda-d406-4938-a2a6-e4e967acb772" providerId="ADAL" clId="{9BCE329C-FF4E-AC47-8FA2-9044E50F1027}"/>
    <pc:docChg chg="undo custSel modSld">
      <pc:chgData name="Raghunath Tewari" userId="2638bdda-d406-4938-a2a6-e4e967acb772" providerId="ADAL" clId="{9BCE329C-FF4E-AC47-8FA2-9044E50F1027}" dt="2021-01-14T04:21:12.420" v="130" actId="20577"/>
      <pc:docMkLst>
        <pc:docMk/>
      </pc:docMkLst>
      <pc:sldChg chg="modSp mod">
        <pc:chgData name="Raghunath Tewari" userId="2638bdda-d406-4938-a2a6-e4e967acb772" providerId="ADAL" clId="{9BCE329C-FF4E-AC47-8FA2-9044E50F1027}" dt="2021-01-14T04:12:33.797" v="5" actId="20577"/>
        <pc:sldMkLst>
          <pc:docMk/>
          <pc:sldMk cId="3763997737" sldId="418"/>
        </pc:sldMkLst>
        <pc:spChg chg="mod">
          <ac:chgData name="Raghunath Tewari" userId="2638bdda-d406-4938-a2a6-e4e967acb772" providerId="ADAL" clId="{9BCE329C-FF4E-AC47-8FA2-9044E50F1027}" dt="2021-01-14T04:12:33.797" v="5" actId="20577"/>
          <ac:spMkLst>
            <pc:docMk/>
            <pc:sldMk cId="3763997737" sldId="418"/>
            <ac:spMk id="2" creationId="{00000000-0000-0000-0000-000000000000}"/>
          </ac:spMkLst>
        </pc:spChg>
      </pc:sldChg>
      <pc:sldChg chg="delSp modSp mod delAnim modAnim">
        <pc:chgData name="Raghunath Tewari" userId="2638bdda-d406-4938-a2a6-e4e967acb772" providerId="ADAL" clId="{9BCE329C-FF4E-AC47-8FA2-9044E50F1027}" dt="2021-01-14T04:21:12.420" v="130" actId="20577"/>
        <pc:sldMkLst>
          <pc:docMk/>
          <pc:sldMk cId="1673448065" sldId="438"/>
        </pc:sldMkLst>
        <pc:spChg chg="mod">
          <ac:chgData name="Raghunath Tewari" userId="2638bdda-d406-4938-a2a6-e4e967acb772" providerId="ADAL" clId="{9BCE329C-FF4E-AC47-8FA2-9044E50F1027}" dt="2021-01-14T04:21:12.420" v="130" actId="20577"/>
          <ac:spMkLst>
            <pc:docMk/>
            <pc:sldMk cId="1673448065" sldId="438"/>
            <ac:spMk id="3" creationId="{00000000-0000-0000-0000-000000000000}"/>
          </ac:spMkLst>
        </pc:spChg>
        <pc:spChg chg="del">
          <ac:chgData name="Raghunath Tewari" userId="2638bdda-d406-4938-a2a6-e4e967acb772" providerId="ADAL" clId="{9BCE329C-FF4E-AC47-8FA2-9044E50F1027}" dt="2021-01-14T04:21:07.403" v="118" actId="478"/>
          <ac:spMkLst>
            <pc:docMk/>
            <pc:sldMk cId="1673448065" sldId="438"/>
            <ac:spMk id="6" creationId="{00000000-0000-0000-0000-000000000000}"/>
          </ac:spMkLst>
        </pc:spChg>
      </pc:sldChg>
      <pc:sldChg chg="modSp modAnim">
        <pc:chgData name="Raghunath Tewari" userId="2638bdda-d406-4938-a2a6-e4e967acb772" providerId="ADAL" clId="{9BCE329C-FF4E-AC47-8FA2-9044E50F1027}" dt="2021-01-14T04:13:10.441" v="26" actId="20577"/>
        <pc:sldMkLst>
          <pc:docMk/>
          <pc:sldMk cId="3515172352" sldId="440"/>
        </pc:sldMkLst>
        <pc:spChg chg="mod">
          <ac:chgData name="Raghunath Tewari" userId="2638bdda-d406-4938-a2a6-e4e967acb772" providerId="ADAL" clId="{9BCE329C-FF4E-AC47-8FA2-9044E50F1027}" dt="2021-01-14T04:13:10.441" v="26" actId="20577"/>
          <ac:spMkLst>
            <pc:docMk/>
            <pc:sldMk cId="3515172352" sldId="440"/>
            <ac:spMk id="3" creationId="{00000000-0000-0000-0000-000000000000}"/>
          </ac:spMkLst>
        </pc:spChg>
      </pc:sldChg>
      <pc:sldChg chg="addSp delSp modSp mod addAnim delAnim">
        <pc:chgData name="Raghunath Tewari" userId="2638bdda-d406-4938-a2a6-e4e967acb772" providerId="ADAL" clId="{9BCE329C-FF4E-AC47-8FA2-9044E50F1027}" dt="2021-01-14T04:15:33.351" v="117" actId="20577"/>
        <pc:sldMkLst>
          <pc:docMk/>
          <pc:sldMk cId="2259058480" sldId="443"/>
        </pc:sldMkLst>
        <pc:spChg chg="add del mod">
          <ac:chgData name="Raghunath Tewari" userId="2638bdda-d406-4938-a2a6-e4e967acb772" providerId="ADAL" clId="{9BCE329C-FF4E-AC47-8FA2-9044E50F1027}" dt="2021-01-14T04:15:33.351" v="117" actId="20577"/>
          <ac:spMkLst>
            <pc:docMk/>
            <pc:sldMk cId="2259058480" sldId="443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4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0.png"/><Relationship Id="rId4" Type="http://schemas.openxmlformats.org/officeDocument/2006/relationships/image" Target="../media/image10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8.png"/><Relationship Id="rId7" Type="http://schemas.openxmlformats.org/officeDocument/2006/relationships/image" Target="../media/image19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7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101.png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Data Structures and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(</a:t>
            </a:r>
            <a:r>
              <a:rPr lang="en-US" sz="2700" b="1" dirty="0">
                <a:solidFill>
                  <a:srgbClr val="7030A0"/>
                </a:solidFill>
              </a:rPr>
              <a:t>ESO207</a:t>
            </a:r>
            <a:r>
              <a:rPr lang="en-US" sz="2700" dirty="0">
                <a:solidFill>
                  <a:srgbClr val="002060"/>
                </a:solidFill>
              </a:rPr>
              <a:t>)</a:t>
            </a:r>
            <a:br>
              <a:rPr lang="en-US" sz="2700" dirty="0">
                <a:solidFill>
                  <a:srgbClr val="00206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371600" y="4495800"/>
                <a:ext cx="6400800" cy="1143000"/>
              </a:xfrm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>
                <a:normAutofit fontScale="92500" lnSpcReduction="10000"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Lecture 2:</a:t>
                </a:r>
              </a:p>
              <a:p>
                <a:pPr marL="342900" indent="-342900" algn="l">
                  <a:buFont typeface="Arial" pitchFamily="34" charset="0"/>
                  <a:buChar char="•"/>
                </a:pPr>
                <a:r>
                  <a:rPr lang="en-US" sz="2400" dirty="0">
                    <a:solidFill>
                      <a:srgbClr val="002060"/>
                    </a:solidFill>
                  </a:rPr>
                  <a:t>Model of computation </a:t>
                </a:r>
              </a:p>
              <a:p>
                <a:pPr marL="342900" indent="-342900" algn="l">
                  <a:buFont typeface="Arial" pitchFamily="34" charset="0"/>
                  <a:buChar char="•"/>
                </a:pPr>
                <a:r>
                  <a:rPr lang="en-US" sz="2400" dirty="0">
                    <a:solidFill>
                      <a:srgbClr val="002060"/>
                    </a:solidFill>
                  </a:rPr>
                  <a:t>Efficient algorithm for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2400" dirty="0">
                    <a:solidFill>
                      <a:srgbClr val="002060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) 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mod</a:t>
                </a:r>
                <a:r>
                  <a:rPr lang="en-US" sz="2400" dirty="0">
                    <a:solidFill>
                      <a:srgbClr val="00206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>
                    <a:solidFill>
                      <a:srgbClr val="002060"/>
                    </a:solidFill>
                  </a:rPr>
                  <a:t>.</a:t>
                </a:r>
              </a:p>
              <a:p>
                <a:pPr algn="l"/>
                <a:endParaRPr lang="en-US" sz="2400" dirty="0">
                  <a:solidFill>
                    <a:srgbClr val="002060"/>
                  </a:solidFill>
                </a:endParaRPr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371600" y="4495800"/>
                <a:ext cx="6400800" cy="1143000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99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722313" y="2209800"/>
            <a:ext cx="7772400" cy="1362075"/>
          </a:xfrm>
        </p:spPr>
        <p:txBody>
          <a:bodyPr/>
          <a:lstStyle/>
          <a:p>
            <a:pPr algn="ctr"/>
            <a:r>
              <a:rPr lang="en-US" dirty="0"/>
              <a:t>Recap of the </a:t>
            </a:r>
            <a:r>
              <a:rPr lang="en-US" dirty="0">
                <a:solidFill>
                  <a:srgbClr val="0070C0"/>
                </a:solidFill>
              </a:rPr>
              <a:t>1</a:t>
            </a:r>
            <a:r>
              <a:rPr lang="en-US" baseline="30000" dirty="0"/>
              <a:t>st</a:t>
            </a:r>
            <a:r>
              <a:rPr lang="en-US" dirty="0"/>
              <a:t> Lecture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1153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Current-state-of-the-art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017B3A-A1E9-47A6-B0A9-B671E1C0B20B}" type="slidenum">
              <a:rPr lang="en-US"/>
              <a:pPr>
                <a:defRPr/>
              </a:pPr>
              <a:t>3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00200" y="1828800"/>
            <a:ext cx="1173163" cy="1062038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3505200"/>
            <a:ext cx="1476375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5075238"/>
            <a:ext cx="1371600" cy="12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3659188" y="1524000"/>
            <a:ext cx="5332412" cy="1524000"/>
            <a:chOff x="3659197" y="2927350"/>
            <a:chExt cx="5332403" cy="1524000"/>
          </a:xfrm>
        </p:grpSpPr>
        <p:sp>
          <p:nvSpPr>
            <p:cNvPr id="13" name="Left Arrow 12"/>
            <p:cNvSpPr/>
            <p:nvPr/>
          </p:nvSpPr>
          <p:spPr>
            <a:xfrm>
              <a:off x="3659197" y="2927350"/>
              <a:ext cx="5332403" cy="1524000"/>
            </a:xfrm>
            <a:prstGeom prst="leftArrow">
              <a:avLst>
                <a:gd name="adj1" fmla="val 69440"/>
                <a:gd name="adj2" fmla="val 3768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13" name="TextBox 9"/>
            <p:cNvSpPr txBox="1">
              <a:spLocks noChangeArrowheads="1"/>
            </p:cNvSpPr>
            <p:nvPr/>
          </p:nvSpPr>
          <p:spPr bwMode="auto">
            <a:xfrm>
              <a:off x="4040197" y="3329226"/>
              <a:ext cx="4037003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b="1">
                  <a:solidFill>
                    <a:srgbClr val="0070C0"/>
                  </a:solidFill>
                </a:rPr>
                <a:t>A processor (CPU)   </a:t>
              </a:r>
            </a:p>
            <a:p>
              <a:r>
                <a:rPr lang="en-US" sz="1600" b="1"/>
                <a:t>speed</a:t>
              </a:r>
              <a:r>
                <a:rPr lang="en-US" sz="1600"/>
                <a:t> = few GHz</a:t>
              </a:r>
            </a:p>
            <a:p>
              <a:r>
                <a:rPr lang="en-US" sz="1600"/>
                <a:t>(a few </a:t>
              </a:r>
              <a:r>
                <a:rPr lang="en-US" sz="1600" b="1">
                  <a:solidFill>
                    <a:srgbClr val="7030A0"/>
                  </a:solidFill>
                </a:rPr>
                <a:t>nanoseconds</a:t>
              </a:r>
              <a:r>
                <a:rPr lang="en-US" sz="1600"/>
                <a:t> to execute an instruction)</a:t>
              </a:r>
            </a:p>
          </p:txBody>
        </p:sp>
      </p:grp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3581400" y="4953000"/>
            <a:ext cx="5410200" cy="1524000"/>
            <a:chOff x="2057400" y="4572000"/>
            <a:chExt cx="5410200" cy="1524000"/>
          </a:xfrm>
        </p:grpSpPr>
        <p:sp>
          <p:nvSpPr>
            <p:cNvPr id="19" name="Left Arrow 18"/>
            <p:cNvSpPr/>
            <p:nvPr/>
          </p:nvSpPr>
          <p:spPr>
            <a:xfrm>
              <a:off x="2057400" y="4572000"/>
              <a:ext cx="5410200" cy="1524000"/>
            </a:xfrm>
            <a:prstGeom prst="leftArrow">
              <a:avLst>
                <a:gd name="adj1" fmla="val 69440"/>
                <a:gd name="adj2" fmla="val 3768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11" name="TextBox 11"/>
            <p:cNvSpPr txBox="1">
              <a:spLocks noChangeArrowheads="1"/>
            </p:cNvSpPr>
            <p:nvPr/>
          </p:nvSpPr>
          <p:spPr bwMode="auto">
            <a:xfrm>
              <a:off x="2488124" y="4804827"/>
              <a:ext cx="4735271" cy="11387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b="1">
                  <a:solidFill>
                    <a:srgbClr val="0070C0"/>
                  </a:solidFill>
                </a:rPr>
                <a:t>                     </a:t>
              </a:r>
              <a:r>
                <a:rPr lang="en-US" b="1">
                  <a:solidFill>
                    <a:srgbClr val="002060"/>
                  </a:solidFill>
                </a:rPr>
                <a:t>External Memory </a:t>
              </a:r>
              <a:r>
                <a:rPr lang="en-US" b="1">
                  <a:solidFill>
                    <a:srgbClr val="0070C0"/>
                  </a:solidFill>
                </a:rPr>
                <a:t>(Hard Disk Drive)</a:t>
              </a:r>
            </a:p>
            <a:p>
              <a:r>
                <a:rPr lang="en-US"/>
                <a:t> </a:t>
              </a:r>
              <a:r>
                <a:rPr lang="en-US" sz="1600" b="1"/>
                <a:t>size</a:t>
              </a:r>
              <a:r>
                <a:rPr lang="en-US" sz="1600"/>
                <a:t> = a few tera bytes</a:t>
              </a:r>
            </a:p>
            <a:p>
              <a:r>
                <a:rPr lang="en-US" sz="1600"/>
                <a:t> </a:t>
              </a:r>
              <a:r>
                <a:rPr lang="en-US" sz="1600" b="1"/>
                <a:t>speed</a:t>
              </a:r>
              <a:r>
                <a:rPr lang="en-US" sz="1600"/>
                <a:t>  :  seek time =</a:t>
              </a:r>
              <a:r>
                <a:rPr lang="en-US" sz="1600" b="1">
                  <a:solidFill>
                    <a:srgbClr val="7030A0"/>
                  </a:solidFill>
                </a:rPr>
                <a:t> miliseconds</a:t>
              </a:r>
              <a:r>
                <a:rPr lang="en-US" sz="1600"/>
                <a:t> </a:t>
              </a:r>
            </a:p>
            <a:p>
              <a:r>
                <a:rPr lang="en-US" sz="1600"/>
                <a:t>                 transfer rate= a </a:t>
              </a:r>
              <a:r>
                <a:rPr lang="en-US" sz="1600" b="1"/>
                <a:t>billion</a:t>
              </a:r>
              <a:r>
                <a:rPr lang="en-US" sz="1600"/>
                <a:t> bytes per second</a:t>
              </a:r>
            </a:p>
          </p:txBody>
        </p:sp>
      </p:grpSp>
      <p:grpSp>
        <p:nvGrpSpPr>
          <p:cNvPr id="18" name="Group 17"/>
          <p:cNvGrpSpPr>
            <a:grpSpLocks/>
          </p:cNvGrpSpPr>
          <p:nvPr/>
        </p:nvGrpSpPr>
        <p:grpSpPr bwMode="auto">
          <a:xfrm>
            <a:off x="3659188" y="3276600"/>
            <a:ext cx="5443537" cy="1447800"/>
            <a:chOff x="3659197" y="3276600"/>
            <a:chExt cx="5443011" cy="1447800"/>
          </a:xfrm>
        </p:grpSpPr>
        <p:sp>
          <p:nvSpPr>
            <p:cNvPr id="17" name="Left Arrow 16"/>
            <p:cNvSpPr/>
            <p:nvPr/>
          </p:nvSpPr>
          <p:spPr>
            <a:xfrm>
              <a:off x="3659197" y="3276600"/>
              <a:ext cx="5331897" cy="1447800"/>
            </a:xfrm>
            <a:prstGeom prst="leftArrow">
              <a:avLst>
                <a:gd name="adj1" fmla="val 69440"/>
                <a:gd name="adj2" fmla="val 37688"/>
              </a:avLst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dirty="0"/>
            </a:p>
          </p:txBody>
        </p:sp>
        <p:sp>
          <p:nvSpPr>
            <p:cNvPr id="4109" name="TextBox 10"/>
            <p:cNvSpPr txBox="1">
              <a:spLocks noChangeArrowheads="1"/>
            </p:cNvSpPr>
            <p:nvPr/>
          </p:nvSpPr>
          <p:spPr bwMode="auto">
            <a:xfrm>
              <a:off x="3921879" y="3505200"/>
              <a:ext cx="5180329" cy="861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r>
                <a:rPr lang="en-US" b="1"/>
                <a:t>                           Internal memory (</a:t>
              </a:r>
              <a:r>
                <a:rPr lang="en-US" b="1">
                  <a:solidFill>
                    <a:srgbClr val="0070C0"/>
                  </a:solidFill>
                </a:rPr>
                <a:t>RAM)</a:t>
              </a:r>
              <a:r>
                <a:rPr lang="en-US">
                  <a:solidFill>
                    <a:srgbClr val="0070C0"/>
                  </a:solidFill>
                </a:rPr>
                <a:t>   </a:t>
              </a:r>
              <a:r>
                <a:rPr lang="en-US"/>
                <a:t> </a:t>
              </a:r>
            </a:p>
            <a:p>
              <a:r>
                <a:rPr lang="en-US" sz="1600" b="1"/>
                <a:t>size</a:t>
              </a:r>
              <a:r>
                <a:rPr lang="en-US" sz="1600"/>
                <a:t> = a few GB  (Stores few million bytes/words)</a:t>
              </a:r>
            </a:p>
            <a:p>
              <a:r>
                <a:rPr lang="en-US" sz="1600" b="1"/>
                <a:t>speed</a:t>
              </a:r>
              <a:r>
                <a:rPr lang="en-US" sz="1600"/>
                <a:t> = a few GHz(a few </a:t>
              </a:r>
              <a:r>
                <a:rPr lang="en-US" sz="1600" b="1">
                  <a:solidFill>
                    <a:srgbClr val="7030A0"/>
                  </a:solidFill>
                </a:rPr>
                <a:t>nanoseconds </a:t>
              </a:r>
              <a:r>
                <a:rPr lang="en-US" sz="1600"/>
                <a:t>to read a byte/word)</a:t>
              </a:r>
            </a:p>
          </p:txBody>
        </p:sp>
      </p:grpSp>
      <p:sp>
        <p:nvSpPr>
          <p:cNvPr id="3" name="Up-Down Arrow 2"/>
          <p:cNvSpPr/>
          <p:nvPr/>
        </p:nvSpPr>
        <p:spPr>
          <a:xfrm>
            <a:off x="1981200" y="2895600"/>
            <a:ext cx="304800" cy="608013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Up-Down Arrow 20"/>
          <p:cNvSpPr/>
          <p:nvPr/>
        </p:nvSpPr>
        <p:spPr>
          <a:xfrm>
            <a:off x="1905000" y="4497388"/>
            <a:ext cx="304800" cy="608012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838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9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for Efficient algorithms</a:t>
            </a:r>
          </a:p>
          <a:p>
            <a:pPr lvl="1"/>
            <a:r>
              <a:rPr lang="en-US" sz="2000" dirty="0"/>
              <a:t>Subset sum problem</a:t>
            </a:r>
          </a:p>
          <a:p>
            <a:pPr lvl="1"/>
            <a:r>
              <a:rPr lang="en-US" sz="2000" dirty="0"/>
              <a:t>Sorting</a:t>
            </a:r>
          </a:p>
          <a:p>
            <a:endParaRPr lang="en-US" sz="2400" dirty="0"/>
          </a:p>
          <a:p>
            <a:r>
              <a:rPr lang="en-US" sz="2400" dirty="0"/>
              <a:t>for Efficient Data Structures</a:t>
            </a:r>
          </a:p>
          <a:p>
            <a:pPr lvl="1"/>
            <a:r>
              <a:rPr lang="en-US" sz="2000" dirty="0"/>
              <a:t>Telephone Directory</a:t>
            </a:r>
          </a:p>
          <a:p>
            <a:pPr lvl="1"/>
            <a:r>
              <a:rPr lang="en-US" sz="2000" dirty="0"/>
              <a:t>Range Minima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72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solidFill>
                  <a:srgbClr val="006C31"/>
                </a:solidFill>
              </a:rPr>
              <a:t>Homework 1</a:t>
            </a:r>
            <a:br>
              <a:rPr lang="en-US" sz="3200" b="1" dirty="0">
                <a:solidFill>
                  <a:srgbClr val="006C31"/>
                </a:solidFill>
              </a:rPr>
            </a:br>
            <a:endParaRPr lang="en-US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sz="2400" b="1" u="sng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dirty="0"/>
                  <a:t>Write a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C</a:t>
                </a:r>
                <a:r>
                  <a:rPr lang="en-US" sz="2000" dirty="0"/>
                  <a:t> program for the following problem: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Input</a:t>
                </a:r>
                <a:r>
                  <a:rPr lang="en-US" sz="2000" dirty="0"/>
                  <a:t>:     a number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 :  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long </a:t>
                </a:r>
                <a:r>
                  <a:rPr lang="en-US" sz="2000" b="1" dirty="0" err="1">
                    <a:solidFill>
                      <a:srgbClr val="002060"/>
                    </a:solidFill>
                  </a:rPr>
                  <a:t>long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b="1" dirty="0" err="1">
                    <a:solidFill>
                      <a:srgbClr val="002060"/>
                    </a:solidFill>
                  </a:rPr>
                  <a:t>int</a:t>
                </a:r>
                <a:r>
                  <a:rPr lang="en-US" sz="2000" b="1" dirty="0">
                    <a:solidFill>
                      <a:srgbClr val="002060"/>
                    </a:solidFill>
                  </a:rPr>
                  <a:t> </a:t>
                </a:r>
                <a:r>
                  <a:rPr lang="en-US" sz="2000" dirty="0"/>
                  <a:t>(64 bit integer).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Output</a:t>
                </a:r>
                <a:r>
                  <a:rPr lang="en-US" sz="2000" dirty="0"/>
                  <a:t>: 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2000" b="1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b="1" dirty="0"/>
                  <a:t>)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b="1" dirty="0"/>
                  <a:t>mod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𝟐𝟎𝟐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𝟓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1ACDA-D648-4719-8CCF-388E5A063B5E}" type="slidenum">
              <a:rPr lang="en-US" smtClean="0"/>
              <a:t>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816304"/>
                  </p:ext>
                </p:extLst>
              </p:nvPr>
            </p:nvGraphicFramePr>
            <p:xfrm>
              <a:off x="1371600" y="4038136"/>
              <a:ext cx="6096000" cy="1753064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0320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633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Time </a:t>
                          </a:r>
                          <a:r>
                            <a:rPr lang="en-US" baseline="0" dirty="0"/>
                            <a:t> </a:t>
                          </a:r>
                          <a:r>
                            <a:rPr lang="en-US" dirty="0"/>
                            <a:t>Taken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Largest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800" b="1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for</a:t>
                          </a:r>
                          <a:r>
                            <a:rPr lang="en-US" dirty="0">
                              <a:solidFill>
                                <a:srgbClr val="7030A0"/>
                              </a:solidFill>
                            </a:rPr>
                            <a:t> Rfib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Largest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𝒏</m:t>
                              </m:r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dirty="0">
                              <a:solidFill>
                                <a:schemeClr val="tx1"/>
                              </a:solidFill>
                            </a:rPr>
                            <a:t>for</a:t>
                          </a:r>
                          <a:r>
                            <a:rPr lang="en-US" baseline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en-US" dirty="0">
                              <a:solidFill>
                                <a:srgbClr val="7030A0"/>
                              </a:solidFill>
                            </a:rPr>
                            <a:t>IFib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16060815"/>
                  </p:ext>
                </p:extLst>
              </p:nvPr>
            </p:nvGraphicFramePr>
            <p:xfrm>
              <a:off x="1371600" y="4038136"/>
              <a:ext cx="6096000" cy="1753064"/>
            </p:xfrm>
            <a:graphic>
              <a:graphicData uri="http://schemas.openxmlformats.org/drawingml/2006/table">
                <a:tbl>
                  <a:tblPr firstRow="1" bandRow="1">
                    <a:tableStyleId>{BC89EF96-8CEA-46FF-86C4-4CE0E7609802}</a:tableStyleId>
                  </a:tblPr>
                  <a:tblGrid>
                    <a:gridCol w="2032000"/>
                    <a:gridCol w="2032000"/>
                    <a:gridCol w="2032000"/>
                  </a:tblGrid>
                  <a:tr h="633365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 smtClean="0"/>
                            <a:t>Time </a:t>
                          </a:r>
                          <a:r>
                            <a:rPr lang="en-US" baseline="0" dirty="0" smtClean="0"/>
                            <a:t> </a:t>
                          </a:r>
                          <a:r>
                            <a:rPr lang="en-US" dirty="0" smtClean="0"/>
                            <a:t>Taken</a:t>
                          </a:r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99701" t="-4808" r="-99701" b="-176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3"/>
                          <a:stretch>
                            <a:fillRect l="-200300" t="-4808" b="-176923"/>
                          </a:stretch>
                        </a:blipFill>
                      </a:tcPr>
                    </a:tc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</a:tr>
                  <a:tr h="37323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TextBox 6"/>
          <p:cNvSpPr txBox="1"/>
          <p:nvPr/>
        </p:nvSpPr>
        <p:spPr>
          <a:xfrm>
            <a:off x="1815868" y="4724400"/>
            <a:ext cx="1025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</a:t>
            </a:r>
            <a:r>
              <a:rPr lang="en-US" dirty="0"/>
              <a:t> minute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15868" y="5029200"/>
            <a:ext cx="1232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10</a:t>
            </a:r>
            <a:r>
              <a:rPr lang="en-US" dirty="0"/>
              <a:t>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15868" y="5410200"/>
            <a:ext cx="12321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60</a:t>
            </a:r>
            <a:r>
              <a:rPr lang="en-US" dirty="0"/>
              <a:t>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42790" y="5888878"/>
            <a:ext cx="5347554" cy="646331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Here are the values obtained by executing the program</a:t>
            </a:r>
          </a:p>
          <a:p>
            <a:r>
              <a:rPr lang="en-US" dirty="0"/>
              <a:t>on a typical computer.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46598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50408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54218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58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134496" y="4648200"/>
                <a:ext cx="122014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4.5 </m:t>
                      </m:r>
                      <m:r>
                        <a:rPr lang="en-US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9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34496" y="4648200"/>
                <a:ext cx="1220142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6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096000" y="5040868"/>
                <a:ext cx="13177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dirty="0" smtClean="0">
                          <a:latin typeface="Cambria Math"/>
                        </a:rPr>
                        <m:t>4.5 </m:t>
                      </m:r>
                      <m:r>
                        <a:rPr lang="en-US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10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040868"/>
                <a:ext cx="1317797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509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/>
              <p:cNvSpPr txBox="1"/>
              <p:nvPr/>
            </p:nvSpPr>
            <p:spPr>
              <a:xfrm>
                <a:off x="6096000" y="5421868"/>
                <a:ext cx="13177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/>
                        </a:rPr>
                        <m:t>2.6</m:t>
                      </m:r>
                      <m:r>
                        <a:rPr lang="en-US" i="1" dirty="0" smtClean="0">
                          <a:latin typeface="Cambria Math"/>
                        </a:rPr>
                        <m:t> </m:t>
                      </m:r>
                      <m:r>
                        <a:rPr lang="en-US" b="0" i="1" smtClean="0">
                          <a:latin typeface="Cambria Math"/>
                        </a:rPr>
                        <m:t>×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/>
                            </a:rPr>
                            <m:t>10</m:t>
                          </m:r>
                        </m:e>
                        <m:sup>
                          <m:r>
                            <a:rPr lang="en-US" b="0" i="1" smtClean="0">
                              <a:latin typeface="Cambria Math"/>
                            </a:rPr>
                            <m:t>11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5" name="TextBox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5421868"/>
                <a:ext cx="1317797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509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TextBox 15"/>
          <p:cNvSpPr txBox="1"/>
          <p:nvPr/>
        </p:nvSpPr>
        <p:spPr>
          <a:xfrm>
            <a:off x="7413797" y="4832866"/>
            <a:ext cx="1767535" cy="338554"/>
          </a:xfrm>
          <a:prstGeom prst="rect">
            <a:avLst/>
          </a:prstGeom>
          <a:solidFill>
            <a:schemeClr val="accent1"/>
          </a:solidFill>
        </p:spPr>
        <p:txBody>
          <a:bodyPr wrap="none" rtlCol="0">
            <a:spAutoFit/>
          </a:bodyPr>
          <a:lstStyle/>
          <a:p>
            <a:r>
              <a:rPr lang="en-US" sz="1600" b="1" dirty="0"/>
              <a:t>Processor: 2.7 GHz</a:t>
            </a:r>
          </a:p>
        </p:txBody>
      </p:sp>
    </p:spTree>
    <p:extLst>
      <p:ext uri="{BB962C8B-B14F-4D97-AF65-F5344CB8AC3E}">
        <p14:creationId xmlns:p14="http://schemas.microsoft.com/office/powerpoint/2010/main" val="2259058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/>
      <p:bldP spid="8" grpId="0"/>
      <p:bldP spid="9" grpId="0"/>
      <p:bldP spid="5" grpId="0" animBg="1"/>
      <p:bldP spid="10" grpId="0"/>
      <p:bldP spid="11" grpId="0"/>
      <p:bldP spid="12" grpId="0"/>
      <p:bldP spid="13" grpId="0"/>
      <p:bldP spid="14" grpId="0"/>
      <p:bldP spid="15" grpId="0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Inferences</a:t>
            </a:r>
            <a:r>
              <a:rPr lang="en-US" b="1" dirty="0">
                <a:solidFill>
                  <a:srgbClr val="006C31"/>
                </a:solidFill>
              </a:rPr>
              <a:t> </a:t>
            </a:r>
            <a:br>
              <a:rPr lang="en-US" b="1" dirty="0">
                <a:solidFill>
                  <a:srgbClr val="006C31"/>
                </a:solidFill>
              </a:rPr>
            </a:br>
            <a:r>
              <a:rPr lang="en-US" sz="3200" b="1" dirty="0">
                <a:solidFill>
                  <a:srgbClr val="006C31"/>
                </a:solidFill>
              </a:rPr>
              <a:t>from the Homework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Inference for </a:t>
            </a:r>
            <a:r>
              <a:rPr lang="en-US" sz="2000" b="1" dirty="0" err="1">
                <a:solidFill>
                  <a:srgbClr val="7030A0"/>
                </a:solidFill>
              </a:rPr>
              <a:t>RFib</a:t>
            </a:r>
            <a:r>
              <a:rPr lang="en-US" sz="2000" dirty="0"/>
              <a:t> algorithm</a:t>
            </a:r>
          </a:p>
          <a:p>
            <a:pPr lvl="1"/>
            <a:r>
              <a:rPr lang="en-US" sz="1600" dirty="0"/>
              <a:t>Too slow </a:t>
            </a:r>
            <a:r>
              <a:rPr lang="en-US" sz="1600" dirty="0">
                <a:solidFill>
                  <a:srgbClr val="C00000"/>
                </a:solidFill>
                <a:sym typeface="Wingdings" pitchFamily="2" charset="2"/>
              </a:rPr>
              <a:t></a:t>
            </a:r>
            <a:r>
              <a:rPr lang="en-US" sz="1600" dirty="0"/>
              <a:t> </a:t>
            </a:r>
          </a:p>
          <a:p>
            <a:endParaRPr lang="en-US" sz="2000" dirty="0"/>
          </a:p>
          <a:p>
            <a:r>
              <a:rPr lang="en-US" sz="2000" dirty="0"/>
              <a:t>Inference for </a:t>
            </a:r>
            <a:r>
              <a:rPr lang="en-US" sz="2000" b="1" dirty="0" err="1">
                <a:solidFill>
                  <a:srgbClr val="7030A0"/>
                </a:solidFill>
              </a:rPr>
              <a:t>Ifib</a:t>
            </a:r>
            <a:r>
              <a:rPr lang="en-US" sz="2000" dirty="0"/>
              <a:t> algorithm  :</a:t>
            </a:r>
          </a:p>
          <a:p>
            <a:pPr lvl="1"/>
            <a:r>
              <a:rPr lang="en-US" sz="1600" dirty="0"/>
              <a:t>Faster than </a:t>
            </a:r>
            <a:r>
              <a:rPr lang="en-US" sz="1600" b="1" dirty="0" err="1">
                <a:solidFill>
                  <a:srgbClr val="7030A0"/>
                </a:solidFill>
              </a:rPr>
              <a:t>Rfib</a:t>
            </a:r>
            <a:r>
              <a:rPr lang="en-US" sz="1600" dirty="0"/>
              <a:t>  </a:t>
            </a:r>
          </a:p>
          <a:p>
            <a:pPr lvl="1"/>
            <a:r>
              <a:rPr lang="en-US" sz="1600" dirty="0"/>
              <a:t>But not a solution for the problem </a:t>
            </a:r>
            <a:r>
              <a:rPr lang="en-US" sz="1600" dirty="0">
                <a:solidFill>
                  <a:srgbClr val="C00000"/>
                </a:solidFill>
                <a:sym typeface="Wingdings" pitchFamily="2" charset="2"/>
              </a:rPr>
              <a:t></a:t>
            </a:r>
            <a:endParaRPr lang="en-US" sz="1600" dirty="0">
              <a:solidFill>
                <a:srgbClr val="C00000"/>
              </a:solidFill>
            </a:endParaRPr>
          </a:p>
          <a:p>
            <a:endParaRPr lang="en-US" sz="2000" dirty="0"/>
          </a:p>
          <a:p>
            <a:r>
              <a:rPr lang="en-US" sz="2000" dirty="0"/>
              <a:t>Efficiency of an algorithm 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Time taken to solve a problem may vary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5029199" y="4648200"/>
            <a:ext cx="3922741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2000" dirty="0"/>
              <a:t>depending upon the algorithm used</a:t>
            </a:r>
          </a:p>
        </p:txBody>
      </p:sp>
      <p:sp>
        <p:nvSpPr>
          <p:cNvPr id="9" name="Cloud Callout 8"/>
          <p:cNvSpPr/>
          <p:nvPr/>
        </p:nvSpPr>
        <p:spPr>
          <a:xfrm>
            <a:off x="2667000" y="5486400"/>
            <a:ext cx="4475970" cy="1123890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to </a:t>
            </a:r>
            <a:r>
              <a:rPr lang="en-US" dirty="0" err="1">
                <a:solidFill>
                  <a:schemeClr val="tx1"/>
                </a:solidFill>
              </a:rPr>
              <a:t>analyse</a:t>
            </a:r>
            <a:r>
              <a:rPr lang="en-US" dirty="0">
                <a:solidFill>
                  <a:schemeClr val="tx1"/>
                </a:solidFill>
              </a:rPr>
              <a:t> the efficiency of an algorithm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9049" y="3954966"/>
            <a:ext cx="132292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does matter</a:t>
            </a:r>
          </a:p>
        </p:txBody>
      </p:sp>
    </p:spTree>
    <p:extLst>
      <p:ext uri="{BB962C8B-B14F-4D97-AF65-F5344CB8AC3E}">
        <p14:creationId xmlns:p14="http://schemas.microsoft.com/office/powerpoint/2010/main" val="1970241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1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9" grpId="0" animBg="1"/>
      <p:bldP spid="10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Current-state-of-the-art Computer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5017B3A-A1E9-47A6-B0A9-B671E1C0B20B}" type="slidenum">
              <a:rPr lang="en-US"/>
              <a:pPr>
                <a:defRPr/>
              </a:pPr>
              <a:t>7</a:t>
            </a:fld>
            <a:endParaRPr lang="en-US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857625" y="1828800"/>
            <a:ext cx="1173163" cy="1062038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5" y="3505200"/>
            <a:ext cx="1476375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5225" y="5075238"/>
            <a:ext cx="1371600" cy="1249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Up-Down Arrow 2"/>
          <p:cNvSpPr/>
          <p:nvPr/>
        </p:nvSpPr>
        <p:spPr>
          <a:xfrm>
            <a:off x="4238625" y="2895600"/>
            <a:ext cx="304800" cy="608013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1" name="Up-Down Arrow 20"/>
          <p:cNvSpPr/>
          <p:nvPr/>
        </p:nvSpPr>
        <p:spPr>
          <a:xfrm>
            <a:off x="4162425" y="4497388"/>
            <a:ext cx="304800" cy="608012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Down Ribbon 1"/>
          <p:cNvSpPr/>
          <p:nvPr/>
        </p:nvSpPr>
        <p:spPr>
          <a:xfrm>
            <a:off x="2438400" y="2816352"/>
            <a:ext cx="4267200" cy="8412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A model of computation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92162" y="3809484"/>
            <a:ext cx="817853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Simple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57228" y="4397267"/>
            <a:ext cx="3019994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Close to real world computer</a:t>
            </a:r>
          </a:p>
        </p:txBody>
      </p:sp>
    </p:spTree>
    <p:extLst>
      <p:ext uri="{BB962C8B-B14F-4D97-AF65-F5344CB8AC3E}">
        <p14:creationId xmlns:p14="http://schemas.microsoft.com/office/powerpoint/2010/main" val="2959235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5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8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3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3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0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3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1" grpId="0" animBg="1"/>
      <p:bldP spid="2" grpId="0" animBg="1"/>
      <p:bldP spid="5" grpId="0" animBg="1"/>
      <p:bldP spid="2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5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word RAM : 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2800" b="1" dirty="0"/>
              <a:t>a model of computation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8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733800" y="1752600"/>
            <a:ext cx="4343400" cy="3886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itle 5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word RAM : 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2800" b="1" dirty="0"/>
              <a:t>a model of computation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53340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5626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7912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0198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2484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4770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7056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9342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1628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914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76200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8486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733800" y="28956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733800" y="31242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733800" y="33528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733800" y="35814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733800" y="38100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733800" y="40386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733800" y="42672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562600" y="571500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3733800" y="1752600"/>
            <a:ext cx="1600200" cy="11430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 51"/>
          <p:cNvSpPr/>
          <p:nvPr/>
        </p:nvSpPr>
        <p:spPr>
          <a:xfrm>
            <a:off x="96644" y="3278458"/>
            <a:ext cx="2341756" cy="836342"/>
          </a:xfrm>
          <a:custGeom>
            <a:avLst/>
            <a:gdLst>
              <a:gd name="connsiteX0" fmla="*/ 0 w 2341756"/>
              <a:gd name="connsiteY0" fmla="*/ 0 h 836342"/>
              <a:gd name="connsiteX1" fmla="*/ 992458 w 2341756"/>
              <a:gd name="connsiteY1" fmla="*/ 0 h 836342"/>
              <a:gd name="connsiteX2" fmla="*/ 1204332 w 2341756"/>
              <a:gd name="connsiteY2" fmla="*/ 234176 h 836342"/>
              <a:gd name="connsiteX3" fmla="*/ 1382751 w 2341756"/>
              <a:gd name="connsiteY3" fmla="*/ 0 h 836342"/>
              <a:gd name="connsiteX4" fmla="*/ 2341756 w 2341756"/>
              <a:gd name="connsiteY4" fmla="*/ 0 h 836342"/>
              <a:gd name="connsiteX5" fmla="*/ 1795346 w 2341756"/>
              <a:gd name="connsiteY5" fmla="*/ 836342 h 836342"/>
              <a:gd name="connsiteX6" fmla="*/ 713678 w 2341756"/>
              <a:gd name="connsiteY6" fmla="*/ 836342 h 836342"/>
              <a:gd name="connsiteX7" fmla="*/ 0 w 2341756"/>
              <a:gd name="connsiteY7" fmla="*/ 0 h 836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1756" h="836342">
                <a:moveTo>
                  <a:pt x="0" y="0"/>
                </a:moveTo>
                <a:lnTo>
                  <a:pt x="992458" y="0"/>
                </a:lnTo>
                <a:lnTo>
                  <a:pt x="1204332" y="234176"/>
                </a:lnTo>
                <a:lnTo>
                  <a:pt x="1382751" y="0"/>
                </a:lnTo>
                <a:lnTo>
                  <a:pt x="2341756" y="0"/>
                </a:lnTo>
                <a:lnTo>
                  <a:pt x="1795346" y="836342"/>
                </a:lnTo>
                <a:lnTo>
                  <a:pt x="713678" y="83634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Left-Right Arrow 1"/>
          <p:cNvSpPr/>
          <p:nvPr/>
        </p:nvSpPr>
        <p:spPr>
          <a:xfrm>
            <a:off x="2133600" y="3505200"/>
            <a:ext cx="1600200" cy="533400"/>
          </a:xfrm>
          <a:prstGeom prst="leftRightArrow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51054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3733800" y="19812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733800" y="22098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733800" y="24384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733800" y="26670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191000" y="2362200"/>
            <a:ext cx="6339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Data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733800" y="4267200"/>
            <a:ext cx="1371600" cy="13716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48768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6482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4196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1910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3962400" y="1728216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733800" y="44958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3733800" y="47244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3733800" y="49530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733800" y="51816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3733800" y="54102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3955483" y="4736068"/>
            <a:ext cx="997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Program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2400" y="4191000"/>
            <a:ext cx="10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Processor</a:t>
            </a:r>
          </a:p>
        </p:txBody>
      </p:sp>
    </p:spTree>
    <p:extLst>
      <p:ext uri="{BB962C8B-B14F-4D97-AF65-F5344CB8AC3E}">
        <p14:creationId xmlns:p14="http://schemas.microsoft.com/office/powerpoint/2010/main" val="3525919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2" grpId="0" animBg="1"/>
      <p:bldP spid="2" grpId="0" animBg="1"/>
      <p:bldP spid="6" grpId="0"/>
      <p:bldP spid="63" grpId="0" animBg="1"/>
      <p:bldP spid="64" grpId="0"/>
      <p:bldP spid="5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56"/>
          <p:cNvSpPr>
            <a:spLocks noGrp="1"/>
          </p:cNvSpPr>
          <p:nvPr>
            <p:ph type="title"/>
          </p:nvPr>
        </p:nvSpPr>
        <p:spPr>
          <a:xfrm>
            <a:off x="533400" y="37171"/>
            <a:ext cx="8229600" cy="1143000"/>
          </a:xfrm>
        </p:spPr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How is an instruction executed?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4000" dirty="0">
              <a:solidFill>
                <a:srgbClr val="7030A0"/>
              </a:solidFill>
            </a:endParaRPr>
          </a:p>
        </p:txBody>
      </p:sp>
      <p:sp>
        <p:nvSpPr>
          <p:cNvPr id="58" name="Content Placeholder 57"/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5867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Decoding instruction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fetching the operands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performing arithmetic/logical operation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storing the result back </a:t>
            </a:r>
          </a:p>
          <a:p>
            <a:pPr marL="0" indent="0">
              <a:buNone/>
            </a:pPr>
            <a:r>
              <a:rPr lang="en-US" sz="2000" dirty="0"/>
              <a:t>        into RAM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ym typeface="Wingdings" pitchFamily="2" charset="2"/>
              </a:rPr>
              <a:t> </a:t>
            </a:r>
            <a:r>
              <a:rPr lang="en-US" sz="2000" dirty="0"/>
              <a:t>Each instruction takes a </a:t>
            </a:r>
            <a:r>
              <a:rPr lang="en-US" sz="2000" u="sng" dirty="0"/>
              <a:t>few cycles (clock ticks) </a:t>
            </a:r>
            <a:r>
              <a:rPr lang="en-US" sz="2000" dirty="0"/>
              <a:t>to get executed.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3733800" y="1752600"/>
            <a:ext cx="4343400" cy="3886200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3962400" y="1728216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1910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44196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46482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48768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51054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3340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55626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7912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60198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62484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64770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67056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/>
          <p:nvPr/>
        </p:nvCxnSpPr>
        <p:spPr>
          <a:xfrm>
            <a:off x="69342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71628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>
            <a:off x="73914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76200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7848600" y="1752600"/>
            <a:ext cx="0" cy="388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3733800" y="19812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>
            <a:off x="3733800" y="22098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/>
          <p:cNvCxnSpPr/>
          <p:nvPr/>
        </p:nvCxnSpPr>
        <p:spPr>
          <a:xfrm>
            <a:off x="3733800" y="24384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/>
          <p:nvPr/>
        </p:nvCxnSpPr>
        <p:spPr>
          <a:xfrm>
            <a:off x="3733800" y="26670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/>
        </p:nvCxnSpPr>
        <p:spPr>
          <a:xfrm>
            <a:off x="3733800" y="28956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>
            <a:off x="3733800" y="31242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/>
          <p:nvPr/>
        </p:nvCxnSpPr>
        <p:spPr>
          <a:xfrm>
            <a:off x="3733800" y="33528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>
            <a:off x="3733800" y="35814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3733800" y="38100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3733800" y="40386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>
            <a:off x="3733800" y="42672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>
            <a:off x="3733800" y="44958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3733800" y="47244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>
            <a:off x="3733800" y="49530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>
            <a:off x="3733800" y="51816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>
            <a:off x="3733800" y="5410200"/>
            <a:ext cx="4343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562600" y="5715000"/>
            <a:ext cx="6399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52400" y="4191000"/>
            <a:ext cx="1096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Processor</a:t>
            </a:r>
          </a:p>
        </p:txBody>
      </p:sp>
      <p:sp>
        <p:nvSpPr>
          <p:cNvPr id="52" name="Freeform 51"/>
          <p:cNvSpPr/>
          <p:nvPr/>
        </p:nvSpPr>
        <p:spPr>
          <a:xfrm>
            <a:off x="96644" y="3278458"/>
            <a:ext cx="2341756" cy="836342"/>
          </a:xfrm>
          <a:custGeom>
            <a:avLst/>
            <a:gdLst>
              <a:gd name="connsiteX0" fmla="*/ 0 w 2341756"/>
              <a:gd name="connsiteY0" fmla="*/ 0 h 836342"/>
              <a:gd name="connsiteX1" fmla="*/ 992458 w 2341756"/>
              <a:gd name="connsiteY1" fmla="*/ 0 h 836342"/>
              <a:gd name="connsiteX2" fmla="*/ 1204332 w 2341756"/>
              <a:gd name="connsiteY2" fmla="*/ 234176 h 836342"/>
              <a:gd name="connsiteX3" fmla="*/ 1382751 w 2341756"/>
              <a:gd name="connsiteY3" fmla="*/ 0 h 836342"/>
              <a:gd name="connsiteX4" fmla="*/ 2341756 w 2341756"/>
              <a:gd name="connsiteY4" fmla="*/ 0 h 836342"/>
              <a:gd name="connsiteX5" fmla="*/ 1795346 w 2341756"/>
              <a:gd name="connsiteY5" fmla="*/ 836342 h 836342"/>
              <a:gd name="connsiteX6" fmla="*/ 713678 w 2341756"/>
              <a:gd name="connsiteY6" fmla="*/ 836342 h 836342"/>
              <a:gd name="connsiteX7" fmla="*/ 0 w 2341756"/>
              <a:gd name="connsiteY7" fmla="*/ 0 h 8363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341756" h="836342">
                <a:moveTo>
                  <a:pt x="0" y="0"/>
                </a:moveTo>
                <a:lnTo>
                  <a:pt x="992458" y="0"/>
                </a:lnTo>
                <a:lnTo>
                  <a:pt x="1204332" y="234176"/>
                </a:lnTo>
                <a:lnTo>
                  <a:pt x="1382751" y="0"/>
                </a:lnTo>
                <a:lnTo>
                  <a:pt x="2341756" y="0"/>
                </a:lnTo>
                <a:lnTo>
                  <a:pt x="1795346" y="836342"/>
                </a:lnTo>
                <a:lnTo>
                  <a:pt x="713678" y="83634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9" name="Group 58"/>
          <p:cNvGrpSpPr/>
          <p:nvPr/>
        </p:nvGrpSpPr>
        <p:grpSpPr>
          <a:xfrm>
            <a:off x="228600" y="2590796"/>
            <a:ext cx="3505200" cy="685803"/>
            <a:chOff x="228600" y="2286000"/>
            <a:chExt cx="3505200" cy="990600"/>
          </a:xfrm>
        </p:grpSpPr>
        <p:sp>
          <p:nvSpPr>
            <p:cNvPr id="54" name="Bent-Up Arrow 53"/>
            <p:cNvSpPr/>
            <p:nvPr/>
          </p:nvSpPr>
          <p:spPr>
            <a:xfrm rot="10800000">
              <a:off x="228600" y="2286000"/>
              <a:ext cx="3505200" cy="990600"/>
            </a:xfrm>
            <a:prstGeom prst="bentUpArrow">
              <a:avLst>
                <a:gd name="adj1" fmla="val 18246"/>
                <a:gd name="adj2" fmla="val 17120"/>
                <a:gd name="adj3" fmla="val 2500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Bent-Up Arrow 54"/>
            <p:cNvSpPr/>
            <p:nvPr/>
          </p:nvSpPr>
          <p:spPr>
            <a:xfrm rot="10800000">
              <a:off x="1676397" y="2726268"/>
              <a:ext cx="2057402" cy="550329"/>
            </a:xfrm>
            <a:prstGeom prst="bentUpArrow">
              <a:avLst>
                <a:gd name="adj1" fmla="val 24750"/>
                <a:gd name="adj2" fmla="val 26063"/>
                <a:gd name="adj3" fmla="val 33130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6" name="Bent-Up Arrow 55"/>
          <p:cNvSpPr/>
          <p:nvPr/>
        </p:nvSpPr>
        <p:spPr>
          <a:xfrm rot="5400000">
            <a:off x="2187479" y="3254279"/>
            <a:ext cx="685800" cy="2406841"/>
          </a:xfrm>
          <a:prstGeom prst="bentUpArrow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2" name="Group 61"/>
          <p:cNvGrpSpPr/>
          <p:nvPr/>
        </p:nvGrpSpPr>
        <p:grpSpPr>
          <a:xfrm>
            <a:off x="5334000" y="2438400"/>
            <a:ext cx="1600200" cy="685800"/>
            <a:chOff x="5334000" y="2209800"/>
            <a:chExt cx="1600200" cy="685800"/>
          </a:xfrm>
        </p:grpSpPr>
        <p:sp>
          <p:nvSpPr>
            <p:cNvPr id="60" name="Rectangle 59"/>
            <p:cNvSpPr/>
            <p:nvPr/>
          </p:nvSpPr>
          <p:spPr>
            <a:xfrm>
              <a:off x="5334000" y="2209800"/>
              <a:ext cx="228600" cy="2286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70C0"/>
                </a:solidFill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705600" y="2667000"/>
              <a:ext cx="228600" cy="228600"/>
            </a:xfrm>
            <a:prstGeom prst="rect">
              <a:avLst/>
            </a:prstGeom>
            <a:solidFill>
              <a:srgbClr val="0070C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Rectangle 49"/>
          <p:cNvSpPr/>
          <p:nvPr/>
        </p:nvSpPr>
        <p:spPr>
          <a:xfrm>
            <a:off x="4876800" y="4495800"/>
            <a:ext cx="228600" cy="228600"/>
          </a:xfrm>
          <a:prstGeom prst="rec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2713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 tmFilter="0, 0; .2, .5; .8, .5; 1, 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9" dur="250" autoRev="1" fill="hold"/>
                                        <p:tgtEl>
                                          <p:spTgt spid="5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5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58" grpId="0" uiExpand="1" build="p"/>
      <p:bldP spid="52" grpId="0" animBg="1"/>
      <p:bldP spid="56" grpId="0" animBg="1"/>
      <p:bldP spid="5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C00000"/>
                </a:solidFill>
              </a:rPr>
              <a:t>word RAM </a:t>
            </a:r>
            <a:r>
              <a:rPr lang="en-US" sz="3600" b="1" dirty="0"/>
              <a:t>model of computation:</a:t>
            </a:r>
            <a:br>
              <a:rPr lang="en-US" sz="3600" b="1" dirty="0"/>
            </a:br>
            <a:r>
              <a:rPr lang="en-US" sz="3600" b="1" dirty="0">
                <a:solidFill>
                  <a:srgbClr val="7030A0"/>
                </a:solidFill>
              </a:rPr>
              <a:t>Characteristics</a:t>
            </a:r>
            <a:endParaRPr lang="en-US" sz="3600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53000"/>
          </a:xfrm>
        </p:spPr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Word (can be a number, name)  is the </a:t>
            </a:r>
            <a:r>
              <a:rPr lang="en-US" sz="2000" b="1" u="sng" dirty="0">
                <a:solidFill>
                  <a:srgbClr val="C00000"/>
                </a:solidFill>
              </a:rPr>
              <a:t>basic storage</a:t>
            </a:r>
            <a:r>
              <a:rPr lang="en-US" sz="2000" dirty="0"/>
              <a:t> unit of RAM. Word is a collection of few bytes. 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Each word is stored in </a:t>
            </a:r>
            <a:r>
              <a:rPr lang="en-US" sz="2000" b="1" u="sng" dirty="0">
                <a:solidFill>
                  <a:srgbClr val="C00000"/>
                </a:solidFill>
              </a:rPr>
              <a:t>binary format</a:t>
            </a:r>
            <a:r>
              <a:rPr lang="en-US" sz="2000" dirty="0"/>
              <a:t>.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RAM can be viewed as a huge array of words. </a:t>
            </a:r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Any arbitrary location of RAM can be </a:t>
            </a:r>
            <a:r>
              <a:rPr lang="en-US" sz="2000" b="1" u="sng" dirty="0">
                <a:solidFill>
                  <a:srgbClr val="C00000"/>
                </a:solidFill>
              </a:rPr>
              <a:t>accessed</a:t>
            </a:r>
            <a:r>
              <a:rPr lang="en-US" sz="2000" dirty="0"/>
              <a:t> in the same time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000" dirty="0"/>
              <a:t>      </a:t>
            </a:r>
            <a:r>
              <a:rPr lang="en-US" sz="2000" b="1" u="sng" dirty="0">
                <a:solidFill>
                  <a:srgbClr val="C00000"/>
                </a:solidFill>
              </a:rPr>
              <a:t>irrespective</a:t>
            </a:r>
            <a:r>
              <a:rPr lang="en-US" sz="2000" dirty="0"/>
              <a:t> of the location.</a:t>
            </a:r>
          </a:p>
          <a:p>
            <a:pPr fontAlgn="auto">
              <a:spcAft>
                <a:spcPts val="0"/>
              </a:spcAft>
              <a:defRPr/>
            </a:pPr>
            <a:r>
              <a:rPr lang="en-US" sz="2000" dirty="0"/>
              <a:t>Data as well as Program </a:t>
            </a:r>
            <a:r>
              <a:rPr lang="en-US" sz="2000" b="1" u="sng" dirty="0">
                <a:solidFill>
                  <a:srgbClr val="C00000"/>
                </a:solidFill>
              </a:rPr>
              <a:t>reside fully </a:t>
            </a:r>
            <a:r>
              <a:rPr lang="en-US" sz="2000" dirty="0"/>
              <a:t> in RAM</a:t>
            </a:r>
            <a:r>
              <a:rPr lang="en-US" sz="2000"/>
              <a:t>. </a:t>
            </a:r>
            <a:endParaRPr lang="en-US" sz="2000" dirty="0"/>
          </a:p>
          <a:p>
            <a:pPr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dirty="0"/>
              <a:t>Each arithmetic or logical operation </a:t>
            </a:r>
            <a:r>
              <a:rPr lang="en-US" sz="2000" dirty="0">
                <a:solidFill>
                  <a:srgbClr val="002060"/>
                </a:solidFill>
              </a:rPr>
              <a:t>(+,-,*,/,or, </a:t>
            </a:r>
            <a:r>
              <a:rPr lang="en-US" sz="2000" dirty="0" err="1">
                <a:solidFill>
                  <a:srgbClr val="002060"/>
                </a:solidFill>
              </a:rPr>
              <a:t>xor</a:t>
            </a:r>
            <a:r>
              <a:rPr lang="en-US" sz="2000" dirty="0">
                <a:solidFill>
                  <a:srgbClr val="002060"/>
                </a:solidFill>
              </a:rPr>
              <a:t>,…</a:t>
            </a:r>
            <a:r>
              <a:rPr lang="en-US" sz="2000" dirty="0"/>
              <a:t>)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000" dirty="0"/>
              <a:t>       involving a </a:t>
            </a:r>
            <a:r>
              <a:rPr lang="en-US" sz="2000" u="sng" dirty="0"/>
              <a:t>constant</a:t>
            </a:r>
            <a:r>
              <a:rPr lang="en-US" sz="2000" dirty="0"/>
              <a:t> number of words </a:t>
            </a:r>
          </a:p>
          <a:p>
            <a:pPr marL="0" indent="0" fontAlgn="auto">
              <a:spcAft>
                <a:spcPts val="0"/>
              </a:spcAft>
              <a:buNone/>
              <a:defRPr/>
            </a:pPr>
            <a:r>
              <a:rPr lang="en-US" sz="2000" dirty="0"/>
              <a:t>       takes </a:t>
            </a:r>
            <a:r>
              <a:rPr lang="en-US" sz="2000" b="1" u="sng" dirty="0">
                <a:solidFill>
                  <a:srgbClr val="C00000"/>
                </a:solidFill>
              </a:rPr>
              <a:t>a constant number of cycles (steps) </a:t>
            </a:r>
            <a:r>
              <a:rPr lang="en-US" sz="2000" dirty="0"/>
              <a:t>by the CPU.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B1774D3-E1F5-4845-858D-3A2D05DE0E3C}" type="slidenum">
              <a:rPr lang="en-US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8808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Efficiency</a:t>
            </a:r>
            <a:r>
              <a:rPr lang="en-US" sz="3600" b="1" dirty="0"/>
              <a:t> of 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sz="2400" dirty="0">
                <a:solidFill>
                  <a:srgbClr val="C00000"/>
                </a:solidFill>
              </a:rPr>
              <a:t>Question</a:t>
            </a:r>
            <a:r>
              <a:rPr lang="en-US" sz="2400" dirty="0"/>
              <a:t>:  How to measure time taken by an algorithm ?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Number of instructions taken in </a:t>
            </a:r>
            <a:r>
              <a:rPr lang="en-US" sz="2400" b="1" dirty="0">
                <a:solidFill>
                  <a:srgbClr val="C00000"/>
                </a:solidFill>
              </a:rPr>
              <a:t>word RAM </a:t>
            </a:r>
            <a:r>
              <a:rPr lang="en-US" sz="2400" dirty="0"/>
              <a:t>model.</a:t>
            </a: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152400" y="3657600"/>
            <a:ext cx="4495800" cy="1295400"/>
          </a:xfrm>
          <a:prstGeom prst="cloudCallout">
            <a:avLst>
              <a:gd name="adj1" fmla="val -20833"/>
              <a:gd name="adj2" fmla="val 75008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What about the influence of  so many other parameters ?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07006" y="4829206"/>
            <a:ext cx="375211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Multitasking  due to Operating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7006" y="4090542"/>
            <a:ext cx="2683042" cy="369332"/>
          </a:xfrm>
          <a:prstGeom prst="rect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Architecture : 32 versus 64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07006" y="4459874"/>
            <a:ext cx="3519297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Code optimization due to Compiler 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07006" y="3745160"/>
            <a:ext cx="4236994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Variation in the time of various instructions</a:t>
            </a:r>
          </a:p>
        </p:txBody>
      </p:sp>
      <p:sp>
        <p:nvSpPr>
          <p:cNvPr id="12" name="Down Ribbon 11"/>
          <p:cNvSpPr/>
          <p:nvPr/>
        </p:nvSpPr>
        <p:spPr>
          <a:xfrm>
            <a:off x="1828800" y="4275208"/>
            <a:ext cx="5761247" cy="1058792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We shall judge the influence, if any, of these parameters through experiments.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76870" y="5709424"/>
            <a:ext cx="4939750" cy="6463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Who knows, these factors might have </a:t>
            </a:r>
          </a:p>
          <a:p>
            <a:pPr algn="ctr"/>
            <a:r>
              <a:rPr lang="en-US" dirty="0"/>
              <a:t>little or negligible impact on most of algorithms. </a:t>
            </a:r>
            <a:r>
              <a:rPr lang="en-US" dirty="0">
                <a:sym typeface="Wingdings" pitchFamily="2" charset="2"/>
              </a:rPr>
              <a:t>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164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0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8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3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4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  <p:bldP spid="5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 animBg="1"/>
      <p:bldP spid="14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Homework 1 from Lecture 1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Subtitle 5"/>
              <p:cNvSpPr>
                <a:spLocks noGrp="1"/>
              </p:cNvSpPr>
              <p:nvPr>
                <p:ph type="subTitle" idx="1"/>
              </p:nvPr>
            </p:nvSpPr>
            <p:spPr/>
            <p:txBody>
              <a:bodyPr/>
              <a:lstStyle/>
              <a:p>
                <a:r>
                  <a:rPr lang="en-US" b="1" dirty="0">
                    <a:solidFill>
                      <a:srgbClr val="002060"/>
                    </a:solidFill>
                  </a:rPr>
                  <a:t>Computing </a:t>
                </a:r>
                <a:r>
                  <a:rPr lang="en-US" b="1" dirty="0">
                    <a:solidFill>
                      <a:srgbClr val="7030A0"/>
                    </a:solidFill>
                  </a:rPr>
                  <a:t>F(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b="1" dirty="0">
                    <a:solidFill>
                      <a:srgbClr val="7030A0"/>
                    </a:solidFill>
                  </a:rPr>
                  <a:t>) </a:t>
                </a:r>
                <a:r>
                  <a:rPr lang="en-US" b="1" dirty="0">
                    <a:solidFill>
                      <a:schemeClr val="tx1"/>
                    </a:solidFill>
                  </a:rPr>
                  <a:t>mod</a:t>
                </a:r>
                <a:r>
                  <a:rPr lang="en-US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Subtitle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blipFill rotWithShape="1">
                <a:blip r:embed="rId2"/>
                <a:stretch>
                  <a:fillRect t="-41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589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Iterative Algorithm for</a:t>
                </a:r>
                <a:r>
                  <a:rPr lang="en-US" sz="4000" dirty="0"/>
                  <a:t>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F(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b="1" dirty="0">
                    <a:solidFill>
                      <a:srgbClr val="7030A0"/>
                    </a:solidFill>
                  </a:rPr>
                  <a:t>) </a:t>
                </a:r>
                <a:r>
                  <a:rPr lang="en-US" sz="4000" b="1" dirty="0"/>
                  <a:t>mod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endParaRPr lang="en-US" sz="4000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</p:spPr>
            <p:txBody>
              <a:bodyPr/>
              <a:lstStyle/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en-US" b="1" dirty="0">
                    <a:solidFill>
                      <a:srgbClr val="7030A0"/>
                    </a:solidFill>
                  </a:rPr>
                  <a:t>IFib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) 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US" sz="2000" b="1" dirty="0"/>
                  <a:t>if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=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return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</a:t>
                </a:r>
                <a:r>
                  <a:rPr lang="en-US" sz="2000" b="1" dirty="0"/>
                  <a:t>else</a:t>
                </a:r>
                <a:r>
                  <a:rPr lang="en-US" sz="2000" dirty="0"/>
                  <a:t> </a:t>
                </a:r>
                <a:r>
                  <a:rPr lang="en-US" sz="2000" b="1" dirty="0"/>
                  <a:t>if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=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 </a:t>
                </a:r>
                <a:r>
                  <a:rPr lang="en-US" sz="2000" b="1" dirty="0"/>
                  <a:t>return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</a:t>
                </a:r>
                <a:r>
                  <a:rPr lang="en-US" sz="2000" b="1" dirty="0"/>
                  <a:t>else</a:t>
                </a:r>
                <a:r>
                  <a:rPr lang="en-US" sz="2000" dirty="0"/>
                  <a:t> {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dirty="0">
                    <a:sym typeface="Wingdings" pitchFamily="2" charset="2"/>
                  </a:rPr>
                  <a:t>;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             </a:t>
                </a:r>
                <a:r>
                  <a:rPr lang="en-US" sz="2000" b="1" dirty="0">
                    <a:sym typeface="Wingdings" pitchFamily="2" charset="2"/>
                  </a:rPr>
                  <a:t>For</a:t>
                </a:r>
                <a:r>
                  <a:rPr lang="en-US" sz="2000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=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2</a:t>
                </a:r>
                <a:r>
                  <a:rPr lang="en-US" sz="2000" dirty="0">
                    <a:sym typeface="Wingdings" pitchFamily="2" charset="2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) </a:t>
                </a:r>
                <a:r>
                  <a:rPr lang="en-US" sz="2000" b="1" dirty="0">
                    <a:sym typeface="Wingdings" pitchFamily="2" charset="2"/>
                  </a:rPr>
                  <a:t>do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             {     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temp</a:t>
                </a:r>
                <a:r>
                  <a:rPr lang="en-US" sz="2000" dirty="0">
                    <a:sym typeface="Wingdings" pitchFamily="2" charset="2"/>
                  </a:rPr>
                  <a:t> 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		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+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  </a:t>
                </a:r>
                <a:r>
                  <a:rPr lang="en-US" sz="2000" dirty="0">
                    <a:sym typeface="Wingdings" pitchFamily="2" charset="2"/>
                  </a:rPr>
                  <a:t>mod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		          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temp</a:t>
                </a:r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      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                    }</a:t>
                </a:r>
              </a:p>
              <a:p>
                <a:pPr marL="0" indent="0">
                  <a:buNone/>
                </a:pPr>
                <a:r>
                  <a:rPr lang="en-US" sz="2000" dirty="0">
                    <a:sym typeface="Wingdings" pitchFamily="2" charset="2"/>
                  </a:rPr>
                  <a:t>   return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;</a:t>
                </a:r>
              </a:p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en-US" sz="2000" b="1" dirty="0">
                    <a:sym typeface="Wingdings" pitchFamily="2" charset="2"/>
                  </a:rPr>
                  <a:t>Let us calculate the </a:t>
                </a:r>
                <a:r>
                  <a:rPr lang="en-US" sz="2000" b="1" dirty="0">
                    <a:solidFill>
                      <a:srgbClr val="006C31"/>
                    </a:solidFill>
                    <a:sym typeface="Wingdings" pitchFamily="2" charset="2"/>
                  </a:rPr>
                  <a:t>number of instructions </a:t>
                </a:r>
                <a:r>
                  <a:rPr lang="en-US" sz="2000" b="1" dirty="0">
                    <a:sym typeface="Wingdings" pitchFamily="2" charset="2"/>
                  </a:rPr>
                  <a:t>executed by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IFib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</a:t>
                </a: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724400"/>
              </a:xfrm>
              <a:blipFill rotWithShape="1">
                <a:blip r:embed="rId3"/>
                <a:stretch>
                  <a:fillRect l="-1852" t="-154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grpSp>
        <p:nvGrpSpPr>
          <p:cNvPr id="9" name="Group 8"/>
          <p:cNvGrpSpPr/>
          <p:nvPr/>
        </p:nvGrpSpPr>
        <p:grpSpPr>
          <a:xfrm>
            <a:off x="4882051" y="2144752"/>
            <a:ext cx="1823549" cy="1066800"/>
            <a:chOff x="4357340" y="2144752"/>
            <a:chExt cx="1823549" cy="1066800"/>
          </a:xfrm>
        </p:grpSpPr>
        <p:sp>
          <p:nvSpPr>
            <p:cNvPr id="7" name="Right Brace 6"/>
            <p:cNvSpPr/>
            <p:nvPr/>
          </p:nvSpPr>
          <p:spPr>
            <a:xfrm>
              <a:off x="4357340" y="2144752"/>
              <a:ext cx="381000" cy="1066800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724400" y="2514600"/>
              <a:ext cx="14564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 instructions</a:t>
              </a:r>
            </a:p>
          </p:txBody>
        </p:sp>
      </p:grpSp>
      <p:sp>
        <p:nvSpPr>
          <p:cNvPr id="10" name="Left Arrow 9"/>
          <p:cNvSpPr/>
          <p:nvPr/>
        </p:nvSpPr>
        <p:spPr>
          <a:xfrm>
            <a:off x="4355592" y="3211552"/>
            <a:ext cx="2883408" cy="446048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n-1 iterations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4891844" y="3733800"/>
            <a:ext cx="3032956" cy="914400"/>
            <a:chOff x="4371280" y="2144752"/>
            <a:chExt cx="3032956" cy="914400"/>
          </a:xfrm>
        </p:grpSpPr>
        <p:sp>
          <p:nvSpPr>
            <p:cNvPr id="12" name="Right Brace 11"/>
            <p:cNvSpPr/>
            <p:nvPr/>
          </p:nvSpPr>
          <p:spPr>
            <a:xfrm>
              <a:off x="4371280" y="2144752"/>
              <a:ext cx="367060" cy="914400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724400" y="2385020"/>
              <a:ext cx="26798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3 instructions per iteration</a:t>
              </a:r>
            </a:p>
          </p:txBody>
        </p:sp>
      </p:grpSp>
      <p:sp>
        <p:nvSpPr>
          <p:cNvPr id="14" name="Left Arrow 13"/>
          <p:cNvSpPr/>
          <p:nvPr/>
        </p:nvSpPr>
        <p:spPr>
          <a:xfrm>
            <a:off x="4419600" y="5421352"/>
            <a:ext cx="2883408" cy="446048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the final instruction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Horizontal Scroll 14"/>
              <p:cNvSpPr/>
              <p:nvPr/>
            </p:nvSpPr>
            <p:spPr>
              <a:xfrm>
                <a:off x="5334000" y="1143000"/>
                <a:ext cx="3276600" cy="1033272"/>
              </a:xfrm>
              <a:prstGeom prst="horizontalScroll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tx1"/>
                    </a:solidFill>
                  </a:rPr>
                  <a:t>Total number of instructions= </a:t>
                </a:r>
                <a:r>
                  <a:rPr lang="en-US" dirty="0">
                    <a:solidFill>
                      <a:srgbClr val="0070C0"/>
                    </a:solidFill>
                  </a:rPr>
                  <a:t>4+3(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rgbClr val="0070C0"/>
                    </a:solidFill>
                  </a:rPr>
                  <a:t>-1)+1</a:t>
                </a:r>
                <a:endParaRPr lang="en-US" b="1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Horizontal Scroll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34000" y="1143000"/>
                <a:ext cx="3276600" cy="1033272"/>
              </a:xfrm>
              <a:prstGeom prst="horizontalScroll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7579326" y="1600200"/>
                <a:ext cx="6615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≈</m:t>
                    </m:r>
                  </m:oMath>
                </a14:m>
                <a:r>
                  <a:rPr lang="en-US" b="1" dirty="0">
                    <a:solidFill>
                      <a:srgbClr val="0070C0"/>
                    </a:solidFill>
                  </a:rPr>
                  <a:t> 3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326" y="1600200"/>
                <a:ext cx="661528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333" r="-1559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6961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14" grpId="0" animBg="1"/>
      <p:bldP spid="15" grpId="0" animBg="1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/>
              <a:t>Recursive algorithm for </a:t>
            </a:r>
            <a:r>
              <a:rPr lang="en-US" sz="4000" b="1" dirty="0">
                <a:solidFill>
                  <a:srgbClr val="7030A0"/>
                </a:solidFill>
              </a:rPr>
              <a:t>F(</a:t>
            </a:r>
            <a:r>
              <a:rPr lang="en-US" sz="4000" b="1" dirty="0">
                <a:solidFill>
                  <a:srgbClr val="0070C0"/>
                </a:solidFill>
              </a:rPr>
              <a:t>n</a:t>
            </a:r>
            <a:r>
              <a:rPr lang="en-US" sz="4000" b="1" dirty="0">
                <a:solidFill>
                  <a:srgbClr val="7030A0"/>
                </a:solidFill>
              </a:rPr>
              <a:t>) </a:t>
            </a:r>
            <a:r>
              <a:rPr lang="en-US" sz="4000" b="1" dirty="0"/>
              <a:t>mod </a:t>
            </a:r>
            <a:r>
              <a:rPr lang="en-US" sz="4000" b="1" dirty="0">
                <a:solidFill>
                  <a:srgbClr val="0070C0"/>
                </a:solidFill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4648200"/>
              </a:xfrm>
            </p:spPr>
            <p:txBody>
              <a:bodyPr/>
              <a:lstStyle/>
              <a:p>
                <a:pPr marL="0" indent="0" fontAlgn="auto">
                  <a:spcBef>
                    <a:spcPts val="0"/>
                  </a:spcBef>
                  <a:spcAft>
                    <a:spcPts val="0"/>
                  </a:spcAft>
                  <a:buNone/>
                  <a:defRPr/>
                </a:pPr>
                <a:r>
                  <a:rPr lang="en-US" b="1" dirty="0">
                    <a:solidFill>
                      <a:srgbClr val="7030A0"/>
                    </a:solidFill>
                  </a:rPr>
                  <a:t>RFib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,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/>
                  <a:t>) </a:t>
                </a:r>
                <a:endParaRPr lang="en-IN" dirty="0"/>
              </a:p>
              <a:p>
                <a:pPr marL="0" indent="0">
                  <a:buNone/>
                </a:pPr>
                <a:r>
                  <a:rPr lang="en-US" sz="2000" dirty="0"/>
                  <a:t>{    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=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 return </a:t>
                </a:r>
                <a:r>
                  <a:rPr lang="en-US" sz="2000" dirty="0">
                    <a:solidFill>
                      <a:srgbClr val="0070C0"/>
                    </a:solidFill>
                  </a:rPr>
                  <a:t>0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else if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=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 return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</a:t>
                </a:r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else return((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RFib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+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RFib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−2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) mod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ym typeface="Wingdings" pitchFamily="2" charset="2"/>
                  </a:rPr>
                  <a:t>Let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G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)</a:t>
                </a:r>
                <a:r>
                  <a:rPr lang="en-US" sz="2000" b="1" dirty="0">
                    <a:solidFill>
                      <a:srgbClr val="00B050"/>
                    </a:solidFill>
                    <a:sym typeface="Wingdings" pitchFamily="2" charset="2"/>
                  </a:rPr>
                  <a:t> </a:t>
                </a:r>
                <a:r>
                  <a:rPr lang="en-US" sz="2000" b="1" dirty="0">
                    <a:sym typeface="Wingdings" pitchFamily="2" charset="2"/>
                  </a:rPr>
                  <a:t>denote the </a:t>
                </a:r>
                <a:r>
                  <a:rPr lang="en-US" sz="2000" b="1" dirty="0">
                    <a:solidFill>
                      <a:srgbClr val="006C31"/>
                    </a:solidFill>
                    <a:sym typeface="Wingdings" pitchFamily="2" charset="2"/>
                  </a:rPr>
                  <a:t>number of instructions </a:t>
                </a:r>
                <a:r>
                  <a:rPr lang="en-US" sz="2000" b="1" dirty="0">
                    <a:sym typeface="Wingdings" pitchFamily="2" charset="2"/>
                  </a:rPr>
                  <a:t>executed by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RFib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 </a:t>
                </a:r>
                <a:endParaRPr lang="en-IN" sz="2000" dirty="0"/>
              </a:p>
              <a:p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G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0</a:t>
                </a:r>
                <a:r>
                  <a:rPr lang="en-US" sz="2000" b="1" dirty="0">
                    <a:sym typeface="Wingdings" pitchFamily="2" charset="2"/>
                  </a:rPr>
                  <a:t>) =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b="1" dirty="0">
                    <a:sym typeface="Wingdings" pitchFamily="2" charset="2"/>
                  </a:rPr>
                  <a:t>;   </a:t>
                </a:r>
              </a:p>
              <a:p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G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b="1" dirty="0">
                    <a:sym typeface="Wingdings" pitchFamily="2" charset="2"/>
                  </a:rPr>
                  <a:t>) = 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2</a:t>
                </a:r>
                <a:r>
                  <a:rPr lang="en-US" sz="2000" b="1" dirty="0">
                    <a:sym typeface="Wingdings" pitchFamily="2" charset="2"/>
                  </a:rPr>
                  <a:t>; </a:t>
                </a:r>
              </a:p>
              <a:p>
                <a:r>
                  <a:rPr lang="en-US" sz="2000" dirty="0">
                    <a:sym typeface="Wingdings" pitchFamily="2" charset="2"/>
                  </a:rPr>
                  <a:t>For</a:t>
                </a:r>
                <a:r>
                  <a:rPr lang="en-US" sz="2000" b="1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&gt;</a:t>
                </a:r>
                <a:r>
                  <a:rPr lang="en-US" sz="2000" b="1" dirty="0">
                    <a:solidFill>
                      <a:srgbClr val="0070C0"/>
                    </a:solidFill>
                    <a:sym typeface="Wingdings" pitchFamily="2" charset="2"/>
                  </a:rPr>
                  <a:t>1</a:t>
                </a:r>
                <a:r>
                  <a:rPr lang="en-US" sz="2000" b="1" dirty="0">
                    <a:sym typeface="Wingdings" pitchFamily="2" charset="2"/>
                  </a:rPr>
                  <a:t>  </a:t>
                </a:r>
              </a:p>
              <a:p>
                <a:pPr marL="0" indent="0" algn="ctr">
                  <a:buNone/>
                </a:pPr>
                <a:r>
                  <a:rPr lang="en-US" sz="2000" b="1" dirty="0">
                    <a:sym typeface="Wingdings" pitchFamily="2" charset="2"/>
                  </a:rPr>
                  <a:t>      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G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) = 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G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)+</a:t>
                </a:r>
                <a:r>
                  <a:rPr lang="en-US" sz="2000" b="1" dirty="0">
                    <a:solidFill>
                      <a:srgbClr val="C00000"/>
                    </a:solidFill>
                    <a:sym typeface="Wingdings" pitchFamily="2" charset="2"/>
                  </a:rPr>
                  <a:t>G</a:t>
                </a:r>
                <a:r>
                  <a:rPr lang="en-US" sz="2000" b="1" dirty="0">
                    <a:sym typeface="Wingdings" pitchFamily="2" charset="2"/>
                  </a:rPr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−2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) + </a:t>
                </a:r>
                <a:r>
                  <a:rPr lang="en-US" sz="2000" dirty="0">
                    <a:solidFill>
                      <a:srgbClr val="0070C0"/>
                    </a:solidFill>
                    <a:sym typeface="Wingdings" pitchFamily="2" charset="2"/>
                  </a:rPr>
                  <a:t>4</a:t>
                </a:r>
              </a:p>
              <a:p>
                <a:endParaRPr lang="en-US" sz="2000" b="1" dirty="0">
                  <a:solidFill>
                    <a:srgbClr val="0070C0"/>
                  </a:solidFill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u="sng" dirty="0"/>
                  <a:t>Observation 1:</a:t>
                </a:r>
                <a:r>
                  <a:rPr lang="en-US" sz="2000" dirty="0"/>
                  <a:t>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)&gt;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 for all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 </a:t>
                </a:r>
                <a:r>
                  <a:rPr lang="en-US" sz="2000" dirty="0">
                    <a:sym typeface="Wingdings" pitchFamily="2" charset="2"/>
                  </a:rPr>
                  <a:t>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G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)&gt;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(</m:t>
                        </m:r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−2)/2</m:t>
                        </m:r>
                      </m:sup>
                    </m:sSup>
                  </m:oMath>
                </a14:m>
                <a:r>
                  <a:rPr lang="en-US" sz="2000" b="1" dirty="0"/>
                  <a:t>!!!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4648200"/>
              </a:xfrm>
              <a:blipFill rotWithShape="1">
                <a:blip r:embed="rId2"/>
                <a:stretch>
                  <a:fillRect l="-1852" t="-1575" b="-9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168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b="1" dirty="0"/>
                  <a:t>Algorithms for </a:t>
                </a:r>
                <a:r>
                  <a:rPr lang="en-US" b="1" dirty="0">
                    <a:solidFill>
                      <a:srgbClr val="7030A0"/>
                    </a:solidFill>
                  </a:rPr>
                  <a:t>F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/>
                  <a:t>)</a:t>
                </a:r>
                <a:r>
                  <a:rPr lang="en-US" b="1" dirty="0"/>
                  <a:t>mod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b="-851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400" dirty="0"/>
                  <a:t># instructions by </a:t>
                </a:r>
                <a:r>
                  <a:rPr lang="en-US" sz="2400" b="1" dirty="0"/>
                  <a:t>Recursive</a:t>
                </a:r>
                <a:r>
                  <a:rPr lang="en-US" sz="2400" dirty="0"/>
                  <a:t> algorithm 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RFib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):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  <m:sSup>
                      <m:s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e>
                      <m:sup>
                        <m:f>
                          <m:fPr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𝑛</m:t>
                            </m:r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−2</m:t>
                            </m:r>
                          </m:num>
                          <m:den>
                            <m: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(</a:t>
                </a:r>
                <a:r>
                  <a:rPr lang="en-US" sz="2400" dirty="0">
                    <a:solidFill>
                      <a:srgbClr val="C00000"/>
                    </a:solidFill>
                  </a:rPr>
                  <a:t>exponential</a:t>
                </a:r>
                <a:r>
                  <a:rPr lang="en-US" sz="2400" dirty="0"/>
                  <a:t> in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)</a:t>
                </a:r>
                <a:endParaRPr lang="en-US" sz="2400" dirty="0"/>
              </a:p>
              <a:p>
                <a:r>
                  <a:rPr lang="en-US" sz="2400" dirty="0"/>
                  <a:t># instructions by </a:t>
                </a:r>
                <a:r>
                  <a:rPr lang="en-US" sz="2400" b="1" dirty="0"/>
                  <a:t>Iterative</a:t>
                </a:r>
                <a:r>
                  <a:rPr lang="en-US" sz="2400" dirty="0"/>
                  <a:t> algorithm 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IFib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):    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solidFill>
                          <a:srgbClr val="0070C0"/>
                        </a:solidFill>
                        <a:latin typeface="Cambria Math"/>
                      </a:rPr>
                      <m:t>3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endParaRPr lang="en-US" sz="2400" dirty="0">
                  <a:solidFill>
                    <a:srgbClr val="C0000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400" dirty="0"/>
                  <a:t>( </a:t>
                </a:r>
                <a:r>
                  <a:rPr lang="en-US" sz="2400" dirty="0">
                    <a:solidFill>
                      <a:srgbClr val="C00000"/>
                    </a:solidFill>
                  </a:rPr>
                  <a:t>linear</a:t>
                </a:r>
                <a:r>
                  <a:rPr lang="en-US" sz="2400" dirty="0"/>
                  <a:t> in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>
                    <a:solidFill>
                      <a:srgbClr val="0070C0"/>
                    </a:solidFill>
                  </a:rPr>
                  <a:t>)</a:t>
                </a:r>
              </a:p>
              <a:p>
                <a:endParaRPr lang="en-US" sz="240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400" dirty="0"/>
                  <a:t>: Can we compute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)</a:t>
                </a:r>
                <a:r>
                  <a:rPr lang="en-US" sz="2400" b="1" dirty="0"/>
                  <a:t>mod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quickly ?              </a:t>
                </a: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  <a:blipFill rotWithShape="1">
                <a:blip r:embed="rId3"/>
                <a:stretch>
                  <a:fillRect l="-1091" t="-10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1676400" y="4114800"/>
            <a:ext cx="6257290" cy="990600"/>
            <a:chOff x="1676400" y="3505200"/>
            <a:chExt cx="6257290" cy="990600"/>
          </a:xfrm>
        </p:grpSpPr>
        <p:sp>
          <p:nvSpPr>
            <p:cNvPr id="5" name="Smiley Face 4"/>
            <p:cNvSpPr/>
            <p:nvPr/>
          </p:nvSpPr>
          <p:spPr>
            <a:xfrm>
              <a:off x="4343400" y="3505200"/>
              <a:ext cx="609600" cy="533400"/>
            </a:xfrm>
            <a:prstGeom prst="smileyFace">
              <a:avLst>
                <a:gd name="adj" fmla="val -4653"/>
              </a:avLst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/>
                <p:cNvSpPr txBox="1"/>
                <p:nvPr/>
              </p:nvSpPr>
              <p:spPr>
                <a:xfrm>
                  <a:off x="1676400" y="4126468"/>
                  <a:ext cx="6257290" cy="369332"/>
                </a:xfrm>
                <a:prstGeom prst="rect">
                  <a:avLst/>
                </a:prstGeom>
                <a:solidFill>
                  <a:schemeClr val="tx2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None of them works for entire range of </a:t>
                  </a:r>
                  <a:r>
                    <a:rPr lang="en-US" b="1" dirty="0">
                      <a:solidFill>
                        <a:srgbClr val="C00000"/>
                      </a:solidFill>
                    </a:rPr>
                    <a:t>long </a:t>
                  </a:r>
                  <a:r>
                    <a:rPr lang="en-US" b="1" dirty="0" err="1">
                      <a:solidFill>
                        <a:srgbClr val="C00000"/>
                      </a:solidFill>
                    </a:rPr>
                    <a:t>long</a:t>
                  </a:r>
                  <a:r>
                    <a:rPr lang="en-US" b="1" dirty="0">
                      <a:solidFill>
                        <a:srgbClr val="C00000"/>
                      </a:solidFill>
                    </a:rPr>
                    <a:t> </a:t>
                  </a:r>
                  <a:r>
                    <a:rPr lang="en-US" b="1" dirty="0" err="1">
                      <a:solidFill>
                        <a:srgbClr val="C00000"/>
                      </a:solidFill>
                    </a:rPr>
                    <a:t>int</a:t>
                  </a:r>
                  <a:r>
                    <a:rPr lang="en-US" b="1" dirty="0">
                      <a:solidFill>
                        <a:srgbClr val="C0000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>
                      <a:solidFill>
                        <a:srgbClr val="0070C0"/>
                      </a:solidFill>
                    </a:rPr>
                    <a:t> </a:t>
                  </a:r>
                  <a:r>
                    <a:rPr lang="en-US" dirty="0"/>
                    <a:t>and </a:t>
                  </a:r>
                  <a:r>
                    <a:rPr lang="en-US" b="1" dirty="0" err="1">
                      <a:solidFill>
                        <a:srgbClr val="C00000"/>
                      </a:solidFill>
                    </a:rPr>
                    <a:t>int</a:t>
                  </a:r>
                  <a:r>
                    <a:rPr lang="en-US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𝑚</m:t>
                      </m:r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" name="TextBox 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400" y="4126468"/>
                  <a:ext cx="625729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780" t="-8197" r="-682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1285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ctrTitle"/>
              </p:nvPr>
            </p:nvSpPr>
            <p:spPr>
              <a:xfrm>
                <a:off x="228600" y="2130425"/>
                <a:ext cx="8763000" cy="1470025"/>
              </a:xfrm>
            </p:spPr>
            <p:txBody>
              <a:bodyPr/>
              <a:lstStyle/>
              <a:p>
                <a:r>
                  <a:rPr lang="en-US" sz="4000" b="1" dirty="0"/>
                  <a:t>How to compute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</a:t>
                </a:r>
                <a:r>
                  <a:rPr lang="en-US" sz="4000" b="1" dirty="0"/>
                  <a:t>mod </a:t>
                </a:r>
                <a14:m>
                  <m:oMath xmlns:m="http://schemas.openxmlformats.org/officeDocument/2006/math">
                    <m:r>
                      <a:rPr lang="en-US" sz="4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4000" b="1" dirty="0"/>
                  <a:t>quickly ?</a:t>
                </a:r>
                <a:endParaRPr lang="en-US" sz="4000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xfrm>
                <a:off x="228600" y="2130425"/>
                <a:ext cx="8763000" cy="1470025"/>
              </a:xfr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914400" y="3886200"/>
            <a:ext cx="7696200" cy="175260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… need some better insight 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846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A warm-up example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066800" y="3886200"/>
            <a:ext cx="7010400" cy="1752600"/>
          </a:xfrm>
        </p:spPr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How good are your programming skills 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36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>
                    <a:solidFill>
                      <a:srgbClr val="7030A0"/>
                    </a:solidFill>
                  </a:rPr>
                  <a:t>Compute</a:t>
                </a:r>
                <a:r>
                  <a:rPr lang="en-US" sz="40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4000" b="1" i="0" smtClean="0">
                        <a:latin typeface="Cambria Math"/>
                      </a:rPr>
                      <m:t>𝐦𝐨𝐝</m:t>
                    </m:r>
                    <m:r>
                      <a:rPr lang="en-US" sz="4000" b="0" i="1" smtClean="0">
                        <a:latin typeface="Cambria Math"/>
                      </a:rPr>
                      <m:t> </m:t>
                    </m:r>
                    <m:r>
                      <a:rPr lang="en-US" sz="4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br>
                  <a:rPr lang="en-IN" sz="4000" dirty="0">
                    <a:solidFill>
                      <a:srgbClr val="0070C0"/>
                    </a:solidFill>
                  </a:rPr>
                </a:br>
                <a:endParaRPr lang="en-IN" sz="4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7021" b="-297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Problem</a:t>
                </a:r>
                <a:r>
                  <a:rPr lang="en-US" sz="2400" dirty="0"/>
                  <a:t>: Given three integers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IN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IN" sz="2400" dirty="0"/>
                  <a:t>, 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400" b="1">
                        <a:latin typeface="Cambria Math"/>
                      </a:rPr>
                      <m:t>𝐦𝐨𝐝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If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400" dirty="0"/>
                  <a:t>) return 1;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else {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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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×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/>
                      </a:rPr>
                      <m:t>𝐦𝐨𝐝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 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            return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    }</a:t>
                </a:r>
              </a:p>
              <a:p>
                <a:pPr marL="0" indent="0">
                  <a:buNone/>
                </a:pPr>
                <a:r>
                  <a:rPr lang="en-US" sz="2400" dirty="0"/>
                  <a:t>  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4983163"/>
              </a:xfrm>
              <a:blipFill rotWithShape="1">
                <a:blip r:embed="rId3"/>
                <a:stretch>
                  <a:fillRect l="-1111" t="-979" r="-1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048000" y="1676400"/>
                <a:ext cx="3733800" cy="7620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1 </m:t>
                              </m:r>
                              <m:r>
                                <a:rPr lang="en-US" sz="2400" b="0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0 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 smtClean="0">
                                  <a:solidFill>
                                    <a:schemeClr val="tx1"/>
                                  </a:solidFill>
                                </a:rPr>
                                <m:t>×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4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676400"/>
                <a:ext cx="3733800" cy="7620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6253651" y="3048000"/>
            <a:ext cx="1825509" cy="2133600"/>
            <a:chOff x="4357340" y="2144752"/>
            <a:chExt cx="1991986" cy="1066800"/>
          </a:xfrm>
        </p:grpSpPr>
        <p:sp>
          <p:nvSpPr>
            <p:cNvPr id="8" name="Right Brace 7"/>
            <p:cNvSpPr/>
            <p:nvPr/>
          </p:nvSpPr>
          <p:spPr>
            <a:xfrm>
              <a:off x="4357340" y="2144752"/>
              <a:ext cx="381000" cy="1066800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724399" y="2514600"/>
              <a:ext cx="16249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4 instructions</a:t>
              </a:r>
            </a:p>
            <a:p>
              <a:r>
                <a:rPr lang="en-US" dirty="0"/>
                <a:t>excluding  the</a:t>
              </a:r>
            </a:p>
            <a:p>
              <a:r>
                <a:rPr lang="en-US" b="1" dirty="0"/>
                <a:t>Recursive</a:t>
              </a:r>
              <a:r>
                <a:rPr lang="en-US" dirty="0"/>
                <a:t> call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69639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>
                    <a:solidFill>
                      <a:srgbClr val="7030A0"/>
                    </a:solidFill>
                  </a:rPr>
                  <a:t>Compute</a:t>
                </a:r>
                <a:r>
                  <a:rPr lang="en-US" sz="40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4000" b="1" i="0" smtClean="0">
                        <a:latin typeface="Cambria Math"/>
                      </a:rPr>
                      <m:t>𝐦𝐨𝐝</m:t>
                    </m:r>
                    <m:r>
                      <a:rPr lang="en-US" sz="4000" b="0" i="1" smtClean="0">
                        <a:latin typeface="Cambria Math"/>
                      </a:rPr>
                      <m:t> </m:t>
                    </m:r>
                    <m:r>
                      <a:rPr lang="en-US" sz="4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br>
                  <a:rPr lang="en-IN" sz="4000" dirty="0">
                    <a:solidFill>
                      <a:srgbClr val="0070C0"/>
                    </a:solidFill>
                  </a:rPr>
                </a:br>
                <a:endParaRPr lang="en-IN" sz="4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7021" b="-297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Problem</a:t>
                </a:r>
                <a:r>
                  <a:rPr lang="en-US" sz="2400" dirty="0"/>
                  <a:t>: Given three integers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IN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IN" sz="2400" dirty="0"/>
                  <a:t>, 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400" b="1">
                        <a:latin typeface="Cambria Math"/>
                      </a:rPr>
                      <m:t>𝐦𝐨𝐝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);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−2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);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                       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410200"/>
              </a:xfrm>
              <a:blipFill rotWithShape="1">
                <a:blip r:embed="rId3"/>
                <a:stretch>
                  <a:fillRect l="-1111" t="-902" r="-1333" b="-22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048000" y="1676400"/>
                <a:ext cx="3733800" cy="7620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4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1 </m:t>
                              </m:r>
                              <m:r>
                                <a:rPr lang="en-US" sz="2400" b="0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0 </m:t>
                              </m:r>
                            </m:e>
                            <m:e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sz="2400" b="0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sz="2400" dirty="0" smtClean="0">
                                  <a:solidFill>
                                    <a:schemeClr val="tx1"/>
                                  </a:solidFill>
                                </a:rPr>
                                <m:t>×</m:t>
                              </m:r>
                              <m:r>
                                <m:rPr>
                                  <m:nor/>
                                </m:rPr>
                                <a:rPr lang="en-US" sz="2400" b="0" i="0" dirty="0" smtClean="0">
                                  <a:solidFill>
                                    <a:schemeClr val="tx1"/>
                                  </a:solidFill>
                                </a:rPr>
                                <m:t> </m:t>
                              </m:r>
                              <m:sSup>
                                <m:sSupPr>
                                  <m:ctrlPr>
                                    <a:rPr lang="en-US" sz="2400" b="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𝑛</m:t>
                                  </m:r>
                                  <m:r>
                                    <a:rPr lang="en-US" sz="24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−1</m:t>
                                  </m:r>
                                </m:sup>
                              </m:sSup>
                              <m:r>
                                <a:rPr lang="en-US" sz="24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676400"/>
                <a:ext cx="3733800" cy="7620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Down Arrow 4"/>
          <p:cNvSpPr/>
          <p:nvPr/>
        </p:nvSpPr>
        <p:spPr>
          <a:xfrm>
            <a:off x="1281684" y="2895600"/>
            <a:ext cx="242316" cy="4892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Down Arrow 9"/>
          <p:cNvSpPr/>
          <p:nvPr/>
        </p:nvSpPr>
        <p:spPr>
          <a:xfrm>
            <a:off x="1281684" y="3777996"/>
            <a:ext cx="242316" cy="4892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Down Arrow 10"/>
          <p:cNvSpPr/>
          <p:nvPr/>
        </p:nvSpPr>
        <p:spPr>
          <a:xfrm>
            <a:off x="1281684" y="4692396"/>
            <a:ext cx="242316" cy="4892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8" name="Group 17"/>
          <p:cNvGrpSpPr/>
          <p:nvPr/>
        </p:nvGrpSpPr>
        <p:grpSpPr>
          <a:xfrm>
            <a:off x="1295400" y="5273802"/>
            <a:ext cx="152400" cy="593598"/>
            <a:chOff x="1295400" y="5273802"/>
            <a:chExt cx="152400" cy="593598"/>
          </a:xfrm>
        </p:grpSpPr>
        <p:sp>
          <p:nvSpPr>
            <p:cNvPr id="12" name="Oval 11"/>
            <p:cNvSpPr/>
            <p:nvPr/>
          </p:nvSpPr>
          <p:spPr>
            <a:xfrm>
              <a:off x="1295400" y="5273802"/>
              <a:ext cx="152400" cy="136398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1295400" y="5502402"/>
              <a:ext cx="152400" cy="136398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295400" y="5731002"/>
              <a:ext cx="152400" cy="136398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ounded Rectangle 15"/>
              <p:cNvSpPr/>
              <p:nvPr/>
            </p:nvSpPr>
            <p:spPr>
              <a:xfrm>
                <a:off x="3581400" y="3581400"/>
                <a:ext cx="5486400" cy="914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No. of instructions  executed by </a:t>
                </a:r>
                <a:r>
                  <a:rPr lang="en-US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=      </a:t>
                </a:r>
                <a:r>
                  <a:rPr lang="en-US" dirty="0">
                    <a:solidFill>
                      <a:srgbClr val="C00000"/>
                    </a:solidFill>
                  </a:rPr>
                  <a:t>?   </a:t>
                </a:r>
                <a:endParaRPr lang="en-I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6" name="Rounded 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1400" y="3581400"/>
                <a:ext cx="5486400" cy="914400"/>
              </a:xfrm>
              <a:prstGeom prst="roundRect">
                <a:avLst/>
              </a:prstGeom>
              <a:blipFill rotWithShape="1">
                <a:blip r:embed="rId5"/>
                <a:stretch>
                  <a:fillRect r="-154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8412570" y="3821668"/>
                <a:ext cx="502830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>
                          <a:solidFill>
                            <a:srgbClr val="0070C0"/>
                          </a:solidFill>
                          <a:latin typeface="Cambria Math"/>
                        </a:rPr>
                        <m:t>4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2570" y="3821668"/>
                <a:ext cx="502830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5663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4361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10" grpId="0" animBg="1"/>
      <p:bldP spid="11" grpId="0" animBg="1"/>
      <p:bldP spid="16" grpId="0" animBg="1"/>
      <p:bldP spid="1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>
                    <a:solidFill>
                      <a:srgbClr val="7030A0"/>
                    </a:solidFill>
                  </a:rPr>
                  <a:t>Compute</a:t>
                </a:r>
                <a:r>
                  <a:rPr lang="en-US" sz="40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4000" b="1" i="0" smtClean="0">
                        <a:latin typeface="Cambria Math"/>
                      </a:rPr>
                      <m:t>𝐦𝐨𝐝</m:t>
                    </m:r>
                    <m:r>
                      <a:rPr lang="en-US" sz="4000" b="0" i="1" smtClean="0">
                        <a:latin typeface="Cambria Math"/>
                      </a:rPr>
                      <m:t> </m:t>
                    </m:r>
                    <m:r>
                      <a:rPr lang="en-US" sz="4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br>
                  <a:rPr lang="en-IN" sz="4000" dirty="0">
                    <a:solidFill>
                      <a:srgbClr val="0070C0"/>
                    </a:solidFill>
                  </a:rPr>
                </a:br>
                <a:endParaRPr lang="en-IN" sz="4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7021" b="-297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Problem</a:t>
                </a:r>
                <a:r>
                  <a:rPr lang="en-US" sz="2400" dirty="0"/>
                  <a:t>: Given three integers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IN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IN" sz="2400" dirty="0"/>
                  <a:t>, 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400" b="1">
                        <a:latin typeface="Cambria Math"/>
                      </a:rPr>
                      <m:t>𝐦𝐨𝐝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If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=0</m:t>
                    </m:r>
                  </m:oMath>
                </a14:m>
                <a:r>
                  <a:rPr lang="en-US" sz="2400" dirty="0"/>
                  <a:t>) return 1;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400" dirty="0">
                    <a:solidFill>
                      <a:srgbClr val="0070C0"/>
                    </a:solidFill>
                  </a:rPr>
                  <a:t>     </a:t>
                </a:r>
                <a:r>
                  <a:rPr lang="en-US" sz="2400" dirty="0"/>
                  <a:t>else { 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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/2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</a:t>
                </a:r>
                <a:r>
                  <a:rPr lang="en-US" sz="2400" dirty="0"/>
                  <a:t>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×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/>
                      </a:rPr>
                      <m:t>𝐦𝐨𝐝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 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if 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0" smtClean="0">
                        <a:solidFill>
                          <a:schemeClr val="tx1"/>
                        </a:solidFill>
                        <a:latin typeface="Cambria Math"/>
                      </a:rPr>
                      <m:t>𝐦𝐨𝐝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 2</m:t>
                    </m:r>
                    <m:r>
                      <a:rPr lang="en-US" sz="2400" i="1" smtClean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1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)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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×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)</a:t>
                </a:r>
                <a14:m>
                  <m:oMath xmlns:m="http://schemas.openxmlformats.org/officeDocument/2006/math">
                    <m:r>
                      <a:rPr lang="en-US" sz="2400" b="1">
                        <a:latin typeface="Cambria Math"/>
                      </a:rPr>
                      <m:t>𝐦𝐨𝐝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 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return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𝑡𝑒𝑚𝑝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}</a:t>
                </a: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334000"/>
              </a:xfrm>
              <a:blipFill rotWithShape="1">
                <a:blip r:embed="rId3"/>
                <a:stretch>
                  <a:fillRect l="-1111" t="-914" r="-1333" b="-16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048000" y="1524000"/>
                <a:ext cx="5562600" cy="14478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</m:t>
                              </m:r>
                              <m:r>
                                <a:rPr lang="en-US" sz="2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    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           </m:t>
                              </m:r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?</m:t>
                              </m:r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    </m:t>
                              </m:r>
                              <m:r>
                                <a:rPr lang="en-US" sz="2800" b="0" i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800" b="0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is</m:t>
                              </m:r>
                              <m: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800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𝐞𝐯𝐞𝐧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         </m:t>
                              </m:r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?</m:t>
                              </m:r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 </m:t>
                              </m:r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</m:t>
                              </m:r>
                              <m: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800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𝐨𝐝𝐝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524000"/>
                <a:ext cx="5562600" cy="1447800"/>
              </a:xfrm>
              <a:prstGeom prst="roundRect">
                <a:avLst/>
              </a:prstGeom>
              <a:blipFill rotWithShape="1">
                <a:blip r:embed="rId4"/>
                <a:stretch>
                  <a:fillRect r="-7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72000" y="2039149"/>
                <a:ext cx="1735860" cy="47545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/2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× 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039149"/>
                <a:ext cx="1735860" cy="475451"/>
              </a:xfrm>
              <a:prstGeom prst="rect">
                <a:avLst/>
              </a:prstGeom>
              <a:blipFill rotWithShape="1">
                <a:blip r:embed="rId5"/>
                <a:stretch>
                  <a:fillRect t="-7692" r="-6667" b="-282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267200" y="2438400"/>
                <a:ext cx="2155526" cy="47545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/2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× 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/2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/>
                        <m:t>×</m:t>
                      </m:r>
                      <m:r>
                        <a:rPr lang="en-US" sz="2400" b="0" i="1" dirty="0" smtClean="0"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438400"/>
                <a:ext cx="2155526" cy="475451"/>
              </a:xfrm>
              <a:prstGeom prst="rect">
                <a:avLst/>
              </a:prstGeom>
              <a:blipFill rotWithShape="1">
                <a:blip r:embed="rId6"/>
                <a:stretch>
                  <a:fillRect t="-7692" r="-5085" b="-282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7391400" y="3505200"/>
            <a:ext cx="1825509" cy="2133600"/>
            <a:chOff x="4357340" y="2144752"/>
            <a:chExt cx="1991986" cy="1066800"/>
          </a:xfrm>
        </p:grpSpPr>
        <p:sp>
          <p:nvSpPr>
            <p:cNvPr id="9" name="Right Brace 8"/>
            <p:cNvSpPr/>
            <p:nvPr/>
          </p:nvSpPr>
          <p:spPr>
            <a:xfrm>
              <a:off x="4357340" y="2144752"/>
              <a:ext cx="381000" cy="1066800"/>
            </a:xfrm>
            <a:prstGeom prst="rightBrace">
              <a:avLst/>
            </a:prstGeom>
            <a:ln w="28575">
              <a:solidFill>
                <a:srgbClr val="C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C00000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724399" y="2514600"/>
              <a:ext cx="162492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5 instructions</a:t>
              </a:r>
            </a:p>
            <a:p>
              <a:r>
                <a:rPr lang="en-US" dirty="0"/>
                <a:t>excluding  the</a:t>
              </a:r>
            </a:p>
            <a:p>
              <a:r>
                <a:rPr lang="en-US" b="1" dirty="0"/>
                <a:t>Recursive</a:t>
              </a:r>
              <a:r>
                <a:rPr lang="en-US" dirty="0"/>
                <a:t> call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35444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5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4000" b="1" dirty="0">
                    <a:solidFill>
                      <a:srgbClr val="7030A0"/>
                    </a:solidFill>
                  </a:rPr>
                  <a:t>Compute</a:t>
                </a:r>
                <a:r>
                  <a:rPr lang="en-US" sz="4000" b="1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40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4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4000" b="1" i="0" smtClean="0">
                        <a:latin typeface="Cambria Math"/>
                      </a:rPr>
                      <m:t>𝐦𝐨𝐝</m:t>
                    </m:r>
                    <m:r>
                      <a:rPr lang="en-US" sz="4000" b="0" i="1" smtClean="0">
                        <a:latin typeface="Cambria Math"/>
                      </a:rPr>
                      <m:t> </m:t>
                    </m:r>
                    <m:r>
                      <a:rPr lang="en-US" sz="4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br>
                  <a:rPr lang="en-IN" sz="4000" dirty="0">
                    <a:solidFill>
                      <a:srgbClr val="0070C0"/>
                    </a:solidFill>
                  </a:rPr>
                </a:br>
                <a:endParaRPr lang="en-IN" sz="4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7021" b="-2978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143000"/>
                <a:ext cx="8229600" cy="5334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Problem</a:t>
                </a:r>
                <a:r>
                  <a:rPr lang="en-US" sz="2400" dirty="0"/>
                  <a:t>: Given three integers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IN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:r>
                  <a:rPr lang="en-US" sz="2400" dirty="0"/>
                  <a:t>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IN" sz="2400" dirty="0"/>
                  <a:t>, 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400" b="1">
                        <a:latin typeface="Cambria Math"/>
                      </a:rPr>
                      <m:t>𝐦𝐨𝐝</m:t>
                    </m:r>
                    <m:r>
                      <a:rPr lang="en-US" sz="2400" i="1">
                        <a:latin typeface="Cambria Math"/>
                      </a:rPr>
                      <m:t> </m:t>
                    </m:r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IN" sz="24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/2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/4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           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12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           </a:t>
                </a:r>
                <a:endParaRPr lang="en-IN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IN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143000"/>
                <a:ext cx="8229600" cy="5334000"/>
              </a:xfrm>
              <a:blipFill rotWithShape="1">
                <a:blip r:embed="rId3"/>
                <a:stretch>
                  <a:fillRect l="-1111" t="-914" r="-1333" b="-139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3048000" y="1524000"/>
                <a:ext cx="5562600" cy="14478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8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8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sup>
                      </m:sSup>
                      <m:r>
                        <a:rPr lang="en-US" sz="2800" b="0" i="1" smtClean="0">
                          <a:solidFill>
                            <a:schemeClr val="tx1"/>
                          </a:solidFill>
                          <a:latin typeface="Cambria Math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</m:t>
                              </m:r>
                              <m:r>
                                <a:rPr lang="en-US" sz="2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    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           </m:t>
                              </m:r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?</m:t>
                              </m:r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    </m:t>
                              </m:r>
                              <m:r>
                                <a:rPr lang="en-US" sz="2800" b="0" i="0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800" b="0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is</m:t>
                              </m:r>
                              <m: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800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𝐞𝐯𝐞𝐧</m:t>
                              </m:r>
                            </m:e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            </m:t>
                              </m:r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?</m:t>
                              </m:r>
                              <m:r>
                                <a:rPr lang="en-US" sz="2800" b="0" i="1" smtClean="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 </m:t>
                              </m:r>
                              <m:r>
                                <a:rPr lang="en-US" sz="2800" i="1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</m:t>
                              </m:r>
                              <m:r>
                                <a:rPr lang="en-US" sz="2800">
                                  <a:solidFill>
                                    <a:srgbClr val="C00000"/>
                                  </a:solidFill>
                                  <a:latin typeface="Cambria Math"/>
                                </a:rPr>
                                <m:t>   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sz="2800" i="1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2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280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sz="280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i</m:t>
                              </m:r>
                              <m:r>
                                <m:rPr>
                                  <m:sty m:val="p"/>
                                </m:rP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s</m:t>
                              </m:r>
                              <m:r>
                                <a:rPr lang="en-US" sz="2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  </m:t>
                              </m:r>
                              <m:r>
                                <a:rPr lang="en-US" sz="2800" b="1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𝐨𝐝𝐝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6" name="Rounded 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1524000"/>
                <a:ext cx="5562600" cy="1447800"/>
              </a:xfrm>
              <a:prstGeom prst="roundRect">
                <a:avLst/>
              </a:prstGeom>
              <a:blipFill rotWithShape="1">
                <a:blip r:embed="rId4"/>
                <a:stretch>
                  <a:fillRect r="-7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72000" y="2039149"/>
                <a:ext cx="1735860" cy="47545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/2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× 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/2</m:t>
                          </m:r>
                        </m:sup>
                      </m:sSup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2039149"/>
                <a:ext cx="1735860" cy="475451"/>
              </a:xfrm>
              <a:prstGeom prst="rect">
                <a:avLst/>
              </a:prstGeom>
              <a:blipFill rotWithShape="1">
                <a:blip r:embed="rId5"/>
                <a:stretch>
                  <a:fillRect t="-7692" r="-6667" b="-282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267200" y="2438400"/>
                <a:ext cx="2155526" cy="475451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/2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r>
                        <m:rPr>
                          <m:nor/>
                        </m:rPr>
                        <a:rPr lang="en-US" sz="2400" dirty="0"/>
                        <m:t>× </m:t>
                      </m:r>
                      <m:sSup>
                        <m:sSupPr>
                          <m:ctrlPr>
                            <a:rPr lang="en-US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𝑥</m:t>
                          </m:r>
                        </m:e>
                        <m:sup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sz="2400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/2</m:t>
                          </m:r>
                        </m:sup>
                      </m:sSup>
                      <m:r>
                        <m:rPr>
                          <m:nor/>
                        </m:rPr>
                        <a:rPr lang="en-US" sz="2400" dirty="0"/>
                        <m:t>×</m:t>
                      </m:r>
                      <m:r>
                        <a:rPr lang="en-US" sz="2400" b="0" i="1" dirty="0" smtClean="0">
                          <a:latin typeface="Cambria Math"/>
                        </a:rPr>
                        <m:t> </m:t>
                      </m:r>
                      <m:r>
                        <a:rPr lang="en-US" sz="2400" i="1">
                          <a:solidFill>
                            <a:srgbClr val="0070C0"/>
                          </a:solidFill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7200" y="2438400"/>
                <a:ext cx="2155526" cy="475451"/>
              </a:xfrm>
              <a:prstGeom prst="rect">
                <a:avLst/>
              </a:prstGeom>
              <a:blipFill rotWithShape="1">
                <a:blip r:embed="rId6"/>
                <a:stretch>
                  <a:fillRect t="-7692" r="-5085" b="-282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Down Arrow 7"/>
          <p:cNvSpPr/>
          <p:nvPr/>
        </p:nvSpPr>
        <p:spPr>
          <a:xfrm>
            <a:off x="1281684" y="3352800"/>
            <a:ext cx="242316" cy="4892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Down Arrow 8"/>
          <p:cNvSpPr/>
          <p:nvPr/>
        </p:nvSpPr>
        <p:spPr>
          <a:xfrm>
            <a:off x="1281684" y="4235196"/>
            <a:ext cx="242316" cy="489204"/>
          </a:xfrm>
          <a:prstGeom prst="downArrow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1" name="Group 10"/>
          <p:cNvGrpSpPr/>
          <p:nvPr/>
        </p:nvGrpSpPr>
        <p:grpSpPr>
          <a:xfrm>
            <a:off x="1295400" y="5121402"/>
            <a:ext cx="152400" cy="593598"/>
            <a:chOff x="1295400" y="5273802"/>
            <a:chExt cx="152400" cy="593598"/>
          </a:xfrm>
        </p:grpSpPr>
        <p:sp>
          <p:nvSpPr>
            <p:cNvPr id="12" name="Oval 11"/>
            <p:cNvSpPr/>
            <p:nvPr/>
          </p:nvSpPr>
          <p:spPr>
            <a:xfrm>
              <a:off x="1295400" y="5273802"/>
              <a:ext cx="152400" cy="136398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Oval 12"/>
            <p:cNvSpPr/>
            <p:nvPr/>
          </p:nvSpPr>
          <p:spPr>
            <a:xfrm>
              <a:off x="1295400" y="5502402"/>
              <a:ext cx="152400" cy="136398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Oval 13"/>
            <p:cNvSpPr/>
            <p:nvPr/>
          </p:nvSpPr>
          <p:spPr>
            <a:xfrm>
              <a:off x="1295400" y="5731002"/>
              <a:ext cx="152400" cy="136398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ounded Rectangle 14"/>
              <p:cNvSpPr/>
              <p:nvPr/>
            </p:nvSpPr>
            <p:spPr>
              <a:xfrm>
                <a:off x="3200400" y="4572000"/>
                <a:ext cx="5851128" cy="914400"/>
              </a:xfrm>
              <a:prstGeom prst="round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No. of instructions  executed by </a:t>
                </a:r>
                <a:r>
                  <a:rPr lang="en-US" b="1" dirty="0">
                    <a:solidFill>
                      <a:srgbClr val="7030A0"/>
                    </a:solidFill>
                  </a:rPr>
                  <a:t>Power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,</a:t>
                </a:r>
                <a:r>
                  <a:rPr lang="en-US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=            </a:t>
                </a:r>
                <a:r>
                  <a:rPr lang="en-US" dirty="0">
                    <a:solidFill>
                      <a:srgbClr val="C00000"/>
                    </a:solidFill>
                  </a:rPr>
                  <a:t>? </a:t>
                </a:r>
                <a:r>
                  <a:rPr lang="en-US" dirty="0">
                    <a:solidFill>
                      <a:schemeClr val="tx1"/>
                    </a:solidFill>
                  </a:rPr>
                  <a:t>       </a:t>
                </a:r>
                <a:endParaRPr lang="en-IN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15" name="Rounded 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572000"/>
                <a:ext cx="5851128" cy="914400"/>
              </a:xfrm>
              <a:prstGeom prst="roundRect">
                <a:avLst/>
              </a:prstGeom>
              <a:blipFill rotWithShape="1">
                <a:blip r:embed="rId7"/>
                <a:stretch>
                  <a:fillRect r="-57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8031570" y="4876800"/>
                <a:ext cx="1019958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/>
                        </a:rPr>
                        <m:t>5 </m:t>
                      </m:r>
                      <m:sSub>
                        <m:sSubPr>
                          <m:ctrlP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log</m:t>
                          </m:r>
                        </m:e>
                        <m:sub>
                          <m:r>
                            <a:rPr lang="en-US" b="0" i="0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1570" y="4876800"/>
                <a:ext cx="1019958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7186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03236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 animBg="1"/>
      <p:bldP spid="9" grpId="0" animBg="1"/>
      <p:bldP spid="15" grpId="0" animBg="1"/>
      <p:bldP spid="1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ctrTitle"/>
              </p:nvPr>
            </p:nvSpPr>
            <p:spPr/>
            <p:txBody>
              <a:bodyPr/>
              <a:lstStyle/>
              <a:p>
                <a:r>
                  <a:rPr lang="en-US" sz="4000" b="1" dirty="0"/>
                  <a:t>Efficient Algorithm for </a:t>
                </a:r>
                <a:r>
                  <a:rPr lang="en-US" sz="40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4000" dirty="0"/>
                  <a:t>(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4000" dirty="0"/>
                  <a:t>)</a:t>
                </a:r>
                <a:r>
                  <a:rPr lang="en-US" sz="4000" b="1" dirty="0"/>
                  <a:t>mod </a:t>
                </a:r>
                <a14:m>
                  <m:oMath xmlns:m="http://schemas.openxmlformats.org/officeDocument/2006/math"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4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40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ctrTitle"/>
              </p:nvPr>
            </p:nvSpPr>
            <p:spPr>
              <a:blipFill rotWithShape="1">
                <a:blip r:embed="rId2"/>
                <a:stretch>
                  <a:fillRect l="-549" r="-19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60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6C31"/>
                </a:solidFill>
              </a:rPr>
              <a:t>Idea 1</a:t>
            </a:r>
            <a:endParaRPr lang="en-US" sz="4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400" b="1" dirty="0"/>
              </a:p>
              <a:p>
                <a:pPr marL="0" indent="0">
                  <a:buNone/>
                </a:pPr>
                <a:endParaRPr lang="en-US" sz="2400" b="1" dirty="0">
                  <a:solidFill>
                    <a:srgbClr val="006C31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400" b="1" dirty="0"/>
                  <a:t>:  </a:t>
                </a:r>
                <a:r>
                  <a:rPr lang="en-US" sz="2400" dirty="0"/>
                  <a:t>Can we express 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)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𝑎</m:t>
                        </m:r>
                      </m:e>
                      <m:sup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for some constant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𝑎</m:t>
                    </m:r>
                  </m:oMath>
                </a14:m>
                <a:r>
                  <a:rPr lang="en-US" sz="2400" dirty="0"/>
                  <a:t> ?</a:t>
                </a: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dirty="0"/>
                  <a:t>Unfortunately 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no</a:t>
                </a:r>
                <a:r>
                  <a:rPr lang="en-US" sz="2400" dirty="0"/>
                  <a:t>.</a:t>
                </a:r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b="1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1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9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2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Idea 2</a:t>
            </a:r>
          </a:p>
        </p:txBody>
      </p:sp>
      <p:sp>
        <p:nvSpPr>
          <p:cNvPr id="29" name="Content Placeholder 2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A7131A-5F98-4DE9-B58E-5AC46F8F2B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776934" y="2057400"/>
            <a:ext cx="125226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lain"/>
            </a:pPr>
            <a:r>
              <a:rPr lang="en-US" sz="2000" b="1" dirty="0">
                <a:solidFill>
                  <a:srgbClr val="7030A0"/>
                </a:solidFill>
              </a:rPr>
              <a:t>         1</a:t>
            </a:r>
          </a:p>
          <a:p>
            <a:pPr marL="342900" indent="-342900">
              <a:buAutoNum type="arabicPlain"/>
            </a:pPr>
            <a:endParaRPr lang="en-US" sz="2000" b="1" dirty="0">
              <a:solidFill>
                <a:srgbClr val="7030A0"/>
              </a:solidFill>
            </a:endParaRPr>
          </a:p>
          <a:p>
            <a:pPr marL="342900" indent="-342900">
              <a:buAutoNum type="arabicPlain"/>
            </a:pPr>
            <a:endParaRPr lang="en-US" sz="2000" b="1" dirty="0">
              <a:solidFill>
                <a:srgbClr val="7030A0"/>
              </a:solidFill>
            </a:endParaRPr>
          </a:p>
          <a:p>
            <a:r>
              <a:rPr lang="en-US" sz="2000" b="1" dirty="0">
                <a:solidFill>
                  <a:srgbClr val="7030A0"/>
                </a:solidFill>
              </a:rPr>
              <a:t>1              0</a:t>
            </a:r>
          </a:p>
        </p:txBody>
      </p:sp>
      <p:grpSp>
        <p:nvGrpSpPr>
          <p:cNvPr id="26" name="Group 25"/>
          <p:cNvGrpSpPr/>
          <p:nvPr/>
        </p:nvGrpSpPr>
        <p:grpSpPr>
          <a:xfrm>
            <a:off x="1981200" y="4618672"/>
            <a:ext cx="4572000" cy="1553528"/>
            <a:chOff x="2057400" y="4085272"/>
            <a:chExt cx="4572000" cy="1553528"/>
          </a:xfrm>
        </p:grpSpPr>
        <p:sp>
          <p:nvSpPr>
            <p:cNvPr id="13" name="TextBox 12"/>
            <p:cNvSpPr txBox="1"/>
            <p:nvPr/>
          </p:nvSpPr>
          <p:spPr>
            <a:xfrm>
              <a:off x="3853134" y="4239161"/>
              <a:ext cx="1252266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342900" indent="-342900">
                <a:buAutoNum type="arabicPlain"/>
              </a:pPr>
              <a:r>
                <a:rPr lang="en-US" sz="2000" b="1" dirty="0">
                  <a:solidFill>
                    <a:srgbClr val="7030A0"/>
                  </a:solidFill>
                </a:rPr>
                <a:t>         1</a:t>
              </a:r>
            </a:p>
            <a:p>
              <a:pPr marL="342900" indent="-342900">
                <a:buAutoNum type="arabicPlain"/>
              </a:pPr>
              <a:endParaRPr lang="en-US" sz="2000" b="1" dirty="0">
                <a:solidFill>
                  <a:srgbClr val="7030A0"/>
                </a:solidFill>
              </a:endParaRPr>
            </a:p>
            <a:p>
              <a:pPr marL="342900" indent="-342900">
                <a:buAutoNum type="arabicPlain"/>
              </a:pPr>
              <a:endParaRPr lang="en-US" sz="2000" b="1" dirty="0">
                <a:solidFill>
                  <a:srgbClr val="7030A0"/>
                </a:solidFill>
              </a:endParaRPr>
            </a:p>
            <a:p>
              <a:r>
                <a:rPr lang="en-US" sz="2000" b="1" dirty="0">
                  <a:solidFill>
                    <a:srgbClr val="7030A0"/>
                  </a:solidFill>
                </a:rPr>
                <a:t>1              0</a:t>
              </a:r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2057400" y="4085272"/>
              <a:ext cx="4572000" cy="1553528"/>
              <a:chOff x="2819400" y="4343400"/>
              <a:chExt cx="4572000" cy="1553528"/>
            </a:xfrm>
          </p:grpSpPr>
          <p:grpSp>
            <p:nvGrpSpPr>
              <p:cNvPr id="15" name="Group 14"/>
              <p:cNvGrpSpPr/>
              <p:nvPr/>
            </p:nvGrpSpPr>
            <p:grpSpPr>
              <a:xfrm>
                <a:off x="6477000" y="4343400"/>
                <a:ext cx="914400" cy="1477328"/>
                <a:chOff x="5562600" y="4343400"/>
                <a:chExt cx="914400" cy="1477328"/>
              </a:xfrm>
            </p:grpSpPr>
            <p:sp>
              <p:nvSpPr>
                <p:cNvPr id="22" name="Double Bracket 21"/>
                <p:cNvSpPr/>
                <p:nvPr/>
              </p:nvSpPr>
              <p:spPr>
                <a:xfrm>
                  <a:off x="5562600" y="4419600"/>
                  <a:ext cx="914400" cy="1371600"/>
                </a:xfrm>
                <a:prstGeom prst="bracketPair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3" name="TextBox 22"/>
                <p:cNvSpPr txBox="1"/>
                <p:nvPr/>
              </p:nvSpPr>
              <p:spPr>
                <a:xfrm>
                  <a:off x="5659892" y="4343400"/>
                  <a:ext cx="566181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    1</a:t>
                  </a:r>
                </a:p>
                <a:p>
                  <a:endParaRPr lang="en-US" dirty="0"/>
                </a:p>
                <a:p>
                  <a:endParaRPr lang="en-US" dirty="0"/>
                </a:p>
                <a:p>
                  <a:endParaRPr lang="en-US" dirty="0"/>
                </a:p>
                <a:p>
                  <a:r>
                    <a:rPr lang="en-US" dirty="0"/>
                    <a:t>     0</a:t>
                  </a:r>
                </a:p>
              </p:txBody>
            </p:sp>
          </p:grpSp>
          <p:grpSp>
            <p:nvGrpSpPr>
              <p:cNvPr id="16" name="Group 15"/>
              <p:cNvGrpSpPr/>
              <p:nvPr/>
            </p:nvGrpSpPr>
            <p:grpSpPr>
              <a:xfrm>
                <a:off x="2819400" y="4419600"/>
                <a:ext cx="990600" cy="1477328"/>
                <a:chOff x="2819400" y="4419600"/>
                <a:chExt cx="990600" cy="1477328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TextBox 19"/>
                    <p:cNvSpPr txBox="1"/>
                    <p:nvPr/>
                  </p:nvSpPr>
                  <p:spPr>
                    <a:xfrm>
                      <a:off x="2819400" y="4419600"/>
                      <a:ext cx="990600" cy="1477328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   F</a:t>
                      </a:r>
                      <a:r>
                        <a:rPr lang="en-US" dirty="0"/>
                        <a:t>(</a:t>
                      </a:r>
                      <a14:m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</m:oMath>
                      </a14:m>
                      <a:r>
                        <a:rPr lang="en-US" dirty="0"/>
                        <a:t>)</a:t>
                      </a:r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r>
                        <a:rPr lang="en-US" b="1" dirty="0">
                          <a:solidFill>
                            <a:srgbClr val="7030A0"/>
                          </a:solidFill>
                        </a:rPr>
                        <a:t>F</a:t>
                      </a:r>
                      <a:r>
                        <a:rPr lang="en-US" dirty="0"/>
                        <a:t>(</a:t>
                      </a:r>
                      <a14:m>
                        <m:oMath xmlns:m="http://schemas.openxmlformats.org/officeDocument/2006/math"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𝑛</m:t>
                          </m:r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−1</m:t>
                          </m:r>
                        </m:oMath>
                      </a14:m>
                      <a:r>
                        <a:rPr lang="en-US" dirty="0"/>
                        <a:t>)</a:t>
                      </a:r>
                    </a:p>
                  </p:txBody>
                </p:sp>
              </mc:Choice>
              <mc:Fallback xmlns="">
                <p:sp>
                  <p:nvSpPr>
                    <p:cNvPr id="20" name="TextBox 1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819400" y="4419600"/>
                      <a:ext cx="990600" cy="1477328"/>
                    </a:xfrm>
                    <a:prstGeom prst="rect">
                      <a:avLst/>
                    </a:prstGeom>
                    <a:blipFill rotWithShape="1">
                      <a:blip r:embed="rId4"/>
                      <a:stretch>
                        <a:fillRect l="-4908" t="-2058" r="-7975" b="-535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1" name="Double Bracket 20"/>
                <p:cNvSpPr/>
                <p:nvPr/>
              </p:nvSpPr>
              <p:spPr>
                <a:xfrm>
                  <a:off x="2819400" y="4495800"/>
                  <a:ext cx="914400" cy="1371600"/>
                </a:xfrm>
                <a:prstGeom prst="bracketPair">
                  <a:avLst/>
                </a:prstGeom>
                <a:ln w="28575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7" name="Equal 16"/>
              <p:cNvSpPr/>
              <p:nvPr/>
            </p:nvSpPr>
            <p:spPr>
              <a:xfrm>
                <a:off x="3810000" y="4648200"/>
                <a:ext cx="457200" cy="914400"/>
              </a:xfrm>
              <a:prstGeom prst="mathEqual">
                <a:avLst>
                  <a:gd name="adj1" fmla="val 7666"/>
                  <a:gd name="adj2" fmla="val 11760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Double Bracket 17"/>
              <p:cNvSpPr/>
              <p:nvPr/>
            </p:nvSpPr>
            <p:spPr>
              <a:xfrm>
                <a:off x="4495800" y="4419600"/>
                <a:ext cx="1447800" cy="1401128"/>
              </a:xfrm>
              <a:prstGeom prst="bracketPair">
                <a:avLst/>
              </a:prstGeom>
              <a:ln w="285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Multiply 18"/>
              <p:cNvSpPr/>
              <p:nvPr/>
            </p:nvSpPr>
            <p:spPr>
              <a:xfrm>
                <a:off x="5943600" y="4800600"/>
                <a:ext cx="533400" cy="457200"/>
              </a:xfrm>
              <a:prstGeom prst="mathMultiply">
                <a:avLst>
                  <a:gd name="adj1" fmla="val 6447"/>
                </a:avLst>
              </a:prstGeom>
              <a:solidFill>
                <a:srgbClr val="00206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7" name="TextBox 26"/>
          <p:cNvSpPr txBox="1"/>
          <p:nvPr/>
        </p:nvSpPr>
        <p:spPr>
          <a:xfrm>
            <a:off x="4038600" y="2057400"/>
            <a:ext cx="6126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7200" dirty="0">
                <a:solidFill>
                  <a:srgbClr val="FF0000"/>
                </a:solidFill>
              </a:rPr>
              <a:t>?</a:t>
            </a:r>
          </a:p>
        </p:txBody>
      </p:sp>
      <p:sp>
        <p:nvSpPr>
          <p:cNvPr id="30" name="Cloud Callout 29"/>
          <p:cNvSpPr/>
          <p:nvPr/>
        </p:nvSpPr>
        <p:spPr>
          <a:xfrm>
            <a:off x="5867400" y="3382329"/>
            <a:ext cx="3276600" cy="1189672"/>
          </a:xfrm>
          <a:prstGeom prst="cloudCallout">
            <a:avLst>
              <a:gd name="adj1" fmla="val 34866"/>
              <a:gd name="adj2" fmla="val 65085"/>
            </a:avLst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rgbClr val="0070C0"/>
                </a:solidFill>
              </a:rPr>
              <a:t>Unfolding</a:t>
            </a:r>
            <a:r>
              <a:rPr lang="en-US" sz="1600" dirty="0">
                <a:solidFill>
                  <a:schemeClr val="tx1"/>
                </a:solidFill>
              </a:rPr>
              <a:t> the RHS of this equation, we get …</a:t>
            </a:r>
          </a:p>
        </p:txBody>
      </p:sp>
      <p:sp>
        <p:nvSpPr>
          <p:cNvPr id="33" name="Equal 32"/>
          <p:cNvSpPr/>
          <p:nvPr/>
        </p:nvSpPr>
        <p:spPr>
          <a:xfrm>
            <a:off x="2971800" y="2209800"/>
            <a:ext cx="457200" cy="914400"/>
          </a:xfrm>
          <a:prstGeom prst="mathEqual">
            <a:avLst>
              <a:gd name="adj1" fmla="val 7666"/>
              <a:gd name="adj2" fmla="val 1176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0" name="Double Bracket 39"/>
          <p:cNvSpPr/>
          <p:nvPr/>
        </p:nvSpPr>
        <p:spPr>
          <a:xfrm>
            <a:off x="3657600" y="1981200"/>
            <a:ext cx="1447800" cy="1401128"/>
          </a:xfrm>
          <a:prstGeom prst="bracketPair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Multiply 40"/>
          <p:cNvSpPr/>
          <p:nvPr/>
        </p:nvSpPr>
        <p:spPr>
          <a:xfrm>
            <a:off x="5105400" y="2362200"/>
            <a:ext cx="533400" cy="457200"/>
          </a:xfrm>
          <a:prstGeom prst="mathMultiply">
            <a:avLst>
              <a:gd name="adj1" fmla="val 6447"/>
            </a:avLst>
          </a:prstGeom>
          <a:solidFill>
            <a:srgbClr val="00206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4" name="Group 43"/>
          <p:cNvGrpSpPr/>
          <p:nvPr/>
        </p:nvGrpSpPr>
        <p:grpSpPr>
          <a:xfrm>
            <a:off x="1981200" y="1981200"/>
            <a:ext cx="972510" cy="1477328"/>
            <a:chOff x="1981200" y="1981200"/>
            <a:chExt cx="972510" cy="1477328"/>
          </a:xfrm>
        </p:grpSpPr>
        <p:sp>
          <p:nvSpPr>
            <p:cNvPr id="32" name="Double Bracket 31"/>
            <p:cNvSpPr/>
            <p:nvPr/>
          </p:nvSpPr>
          <p:spPr>
            <a:xfrm>
              <a:off x="1988634" y="2057400"/>
              <a:ext cx="914400" cy="1371600"/>
            </a:xfrm>
            <a:prstGeom prst="bracketPair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TextBox 42"/>
                <p:cNvSpPr txBox="1"/>
                <p:nvPr/>
              </p:nvSpPr>
              <p:spPr>
                <a:xfrm>
                  <a:off x="1981200" y="1981200"/>
                  <a:ext cx="972510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   F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</m:oMath>
                  </a14:m>
                  <a:r>
                    <a:rPr lang="en-US" dirty="0"/>
                    <a:t>)</a:t>
                  </a:r>
                </a:p>
                <a:p>
                  <a:endParaRPr lang="en-US" dirty="0"/>
                </a:p>
                <a:p>
                  <a:endParaRPr lang="en-US" dirty="0"/>
                </a:p>
                <a:p>
                  <a:endParaRPr lang="en-US" dirty="0"/>
                </a:p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F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43" name="TextBox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200" y="1981200"/>
                  <a:ext cx="972510" cy="1477328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5000" t="-2066" r="-10000" b="-578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6" name="Group 45"/>
          <p:cNvGrpSpPr/>
          <p:nvPr/>
        </p:nvGrpSpPr>
        <p:grpSpPr>
          <a:xfrm>
            <a:off x="5638800" y="1951672"/>
            <a:ext cx="972510" cy="1477328"/>
            <a:chOff x="5638800" y="1951672"/>
            <a:chExt cx="972510" cy="147732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/>
                <p:cNvSpPr txBox="1"/>
                <p:nvPr/>
              </p:nvSpPr>
              <p:spPr>
                <a:xfrm>
                  <a:off x="5638800" y="1951672"/>
                  <a:ext cx="972510" cy="147732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F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a14:m>
                  <a:r>
                    <a:rPr lang="en-US" dirty="0"/>
                    <a:t>)</a:t>
                  </a:r>
                </a:p>
                <a:p>
                  <a:endParaRPr lang="en-US" dirty="0"/>
                </a:p>
                <a:p>
                  <a:endParaRPr lang="en-US" dirty="0"/>
                </a:p>
                <a:p>
                  <a:endParaRPr lang="en-US" dirty="0"/>
                </a:p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F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i="1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−2</m:t>
                      </m:r>
                    </m:oMath>
                  </a14:m>
                  <a:r>
                    <a:rPr lang="en-US" dirty="0"/>
                    <a:t>)</a:t>
                  </a:r>
                </a:p>
              </p:txBody>
            </p:sp>
          </mc:Choice>
          <mc:Fallback xmlns="">
            <p:sp>
              <p:nvSpPr>
                <p:cNvPr id="34" name="TextBox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38800" y="1951672"/>
                  <a:ext cx="972510" cy="1477328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5000" t="-2058" r="-10000" b="-535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5" name="Double Bracket 44"/>
            <p:cNvSpPr/>
            <p:nvPr/>
          </p:nvSpPr>
          <p:spPr>
            <a:xfrm>
              <a:off x="5638800" y="1981200"/>
              <a:ext cx="914400" cy="1371600"/>
            </a:xfrm>
            <a:prstGeom prst="bracketPair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5029200" y="4431268"/>
            <a:ext cx="30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4876800" y="4355068"/>
                <a:ext cx="778546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𝑛</m:t>
                      </m:r>
                      <m:r>
                        <a:rPr lang="en-US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−1</m:t>
                      </m:r>
                    </m:oMath>
                  </m:oMathPara>
                </a14:m>
                <a:endParaRPr lang="en-US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355068"/>
                <a:ext cx="778546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93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Down Arrow 52"/>
          <p:cNvSpPr/>
          <p:nvPr/>
        </p:nvSpPr>
        <p:spPr>
          <a:xfrm>
            <a:off x="3962400" y="3657600"/>
            <a:ext cx="762000" cy="808672"/>
          </a:xfrm>
          <a:prstGeom prst="downArrow">
            <a:avLst/>
          </a:prstGeom>
          <a:solidFill>
            <a:srgbClr val="006C3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857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1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4" grpId="0"/>
      <p:bldP spid="27" grpId="0"/>
      <p:bldP spid="27" grpId="1"/>
      <p:bldP spid="30" grpId="0" animBg="1"/>
      <p:bldP spid="30" grpId="1" animBg="1"/>
      <p:bldP spid="33" grpId="0" animBg="1"/>
      <p:bldP spid="40" grpId="0" animBg="1"/>
      <p:bldP spid="41" grpId="0" animBg="1"/>
      <p:bldP spid="48" grpId="0"/>
      <p:bldP spid="47" grpId="0" animBg="1"/>
      <p:bldP spid="53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006C31"/>
                    </a:solidFill>
                  </a:rPr>
                  <a:t>A clever algorithm for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3600" dirty="0"/>
                  <a:t>(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3600" dirty="0"/>
                  <a:t>)</a:t>
                </a:r>
                <a:r>
                  <a:rPr lang="en-US" sz="3600" b="1" dirty="0"/>
                  <a:t>mod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36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3600" b="1" dirty="0">
                    <a:solidFill>
                      <a:srgbClr val="006C31"/>
                    </a:solidFill>
                  </a:rPr>
                  <a:t> </a:t>
                </a:r>
                <a:endParaRPr lang="en-US" sz="36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Clever-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400" b="1" dirty="0">
                    <a:solidFill>
                      <a:srgbClr val="7030A0"/>
                    </a:solidFill>
                  </a:rPr>
                  <a:t>-Fib</a:t>
                </a:r>
                <a:r>
                  <a:rPr lang="en-US" sz="2400" dirty="0"/>
                  <a:t>(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,</a:t>
                </a:r>
                <a:r>
                  <a:rPr lang="en-US" sz="24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)</a:t>
                </a:r>
              </a:p>
              <a:p>
                <a:pPr marL="0" indent="0">
                  <a:buNone/>
                </a:pPr>
                <a:r>
                  <a:rPr lang="en-US" sz="2400" dirty="0"/>
                  <a:t>{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1">
                        <a:solidFill>
                          <a:srgbClr val="002060"/>
                        </a:solidFill>
                        <a:latin typeface="Cambria Math"/>
                      </a:rPr>
                      <m:t>A</m:t>
                    </m:r>
                    <m:r>
                      <a:rPr lang="en-US" sz="2400" b="1" i="1">
                        <a:solidFill>
                          <a:srgbClr val="002060"/>
                        </a:solidFill>
                        <a:latin typeface="Cambria Math"/>
                      </a:rPr>
                      <m:t> </m:t>
                    </m:r>
                    <m:r>
                      <a:rPr lang="en-US" sz="2400" b="1" i="1" smtClean="0">
                        <a:solidFill>
                          <a:srgbClr val="00206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sz="24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1" smtClean="0">
                        <a:solidFill>
                          <a:srgbClr val="002060"/>
                        </a:solidFill>
                        <a:latin typeface="Cambria Math"/>
                      </a:rPr>
                      <m:t>B</m:t>
                    </m:r>
                  </m:oMath>
                </a14:m>
                <a:r>
                  <a:rPr lang="en-US" sz="2400" dirty="0"/>
                  <a:t>   </a:t>
                </a:r>
                <a:r>
                  <a:rPr lang="en-US" sz="2400" dirty="0">
                    <a:sym typeface="Wingdings" pitchFamily="2" charset="2"/>
                  </a:rPr>
                  <a:t> 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4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A</m:t>
                        </m:r>
                      </m:e>
                      <m:sup>
                        <m:r>
                          <a:rPr lang="en-US" sz="2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4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400" dirty="0"/>
                  <a:t> mod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1" smtClean="0">
                        <a:solidFill>
                          <a:srgbClr val="002060"/>
                        </a:solidFill>
                        <a:latin typeface="Cambria Math"/>
                      </a:rPr>
                      <m:t>C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   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1">
                        <a:solidFill>
                          <a:srgbClr val="002060"/>
                        </a:solidFill>
                        <a:latin typeface="Cambria Math"/>
                      </a:rPr>
                      <m:t>B</m:t>
                    </m:r>
                  </m:oMath>
                </a14:m>
                <a:r>
                  <a:rPr lang="en-US" sz="2400" dirty="0"/>
                  <a:t>  ×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sz="240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1</m:t>
                            </m:r>
                          </m:num>
                          <m:den>
                            <m:r>
                              <a:rPr lang="en-US" sz="2400" b="0" i="1" dirty="0" smtClean="0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0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return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1">
                        <a:solidFill>
                          <a:srgbClr val="002060"/>
                        </a:solidFill>
                        <a:latin typeface="Cambria Math"/>
                      </a:rPr>
                      <m:t>C</m:t>
                    </m:r>
                  </m:oMath>
                </a14:m>
                <a:r>
                  <a:rPr lang="en-US" sz="2400" dirty="0"/>
                  <a:t>[</a:t>
                </a:r>
                <a:r>
                  <a:rPr lang="en-US" sz="2400" dirty="0">
                    <a:solidFill>
                      <a:srgbClr val="0070C0"/>
                    </a:solidFill>
                  </a:rPr>
                  <a:t>1</a:t>
                </a:r>
                <a:r>
                  <a:rPr lang="en-US" sz="2400" dirty="0"/>
                  <a:t>];        </a:t>
                </a:r>
                <a:r>
                  <a:rPr lang="en-US" sz="1800" dirty="0"/>
                  <a:t>//   the first element of vector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1800" b="1" i="1">
                        <a:solidFill>
                          <a:srgbClr val="002060"/>
                        </a:solidFill>
                        <a:latin typeface="Cambria Math"/>
                      </a:rPr>
                      <m:t>C</m:t>
                    </m:r>
                  </m:oMath>
                </a14:m>
                <a:r>
                  <a:rPr lang="en-US" sz="1800" dirty="0"/>
                  <a:t> stores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1800" dirty="0"/>
                  <a:t>)</a:t>
                </a:r>
                <a:r>
                  <a:rPr lang="en-US" sz="1800" b="1" dirty="0"/>
                  <a:t>mod </a:t>
                </a:r>
                <a14:m>
                  <m:oMath xmlns:m="http://schemas.openxmlformats.org/officeDocument/2006/math"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18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r>
                  <a:rPr lang="en-US" sz="2400" dirty="0"/>
                  <a:t>}</a:t>
                </a:r>
                <a:endParaRPr lang="en-US" sz="2400" i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How to 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sz="2000" dirty="0"/>
                  <a:t>efficiently ?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 :</a:t>
                </a:r>
                <a:endParaRPr lang="en-US" sz="2000" i="1" dirty="0"/>
              </a:p>
              <a:p>
                <a:pPr marL="0" indent="0">
                  <a:buNone/>
                </a:pPr>
                <a:endParaRPr lang="en-US" sz="2000" i="1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34400" cy="4525963"/>
              </a:xfrm>
              <a:blipFill rotWithShape="1">
                <a:blip r:embed="rId3"/>
                <a:stretch>
                  <a:fillRect l="-1429" t="-1078" b="-246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3048000" y="5334000"/>
                <a:ext cx="4800600" cy="914400"/>
              </a:xfrm>
              <a:prstGeom prst="roundRect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2000" dirty="0">
                    <a:solidFill>
                      <a:schemeClr val="tx1"/>
                    </a:solidFill>
                  </a:rPr>
                  <a:t>Inspiration from Algorithm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𝑥</m:t>
                        </m:r>
                      </m:e>
                      <m:sup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sz="2000" b="1">
                        <a:solidFill>
                          <a:schemeClr val="tx1"/>
                        </a:solidFill>
                        <a:latin typeface="Cambria Math"/>
                      </a:rPr>
                      <m:t>𝐦𝐨𝐝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endParaRPr lang="en-US" sz="2000" i="1" dirty="0"/>
              </a:p>
            </p:txBody>
          </p:sp>
        </mc:Choice>
        <mc:Fallback xmlns="">
          <p:sp>
            <p:nvSpPr>
              <p:cNvPr id="5" name="Rounded 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5334000"/>
                <a:ext cx="4800600" cy="914400"/>
              </a:xfrm>
              <a:prstGeom prst="round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Left Arrow 5"/>
          <p:cNvSpPr/>
          <p:nvPr/>
        </p:nvSpPr>
        <p:spPr>
          <a:xfrm>
            <a:off x="4355592" y="2209800"/>
            <a:ext cx="2197608" cy="446048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 instructions</a:t>
            </a:r>
          </a:p>
        </p:txBody>
      </p:sp>
      <p:sp>
        <p:nvSpPr>
          <p:cNvPr id="7" name="Left Arrow 6"/>
          <p:cNvSpPr/>
          <p:nvPr/>
        </p:nvSpPr>
        <p:spPr>
          <a:xfrm>
            <a:off x="4355592" y="3211552"/>
            <a:ext cx="2197608" cy="446048"/>
          </a:xfrm>
          <a:prstGeom prst="leftArrow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 instructions</a:t>
            </a:r>
          </a:p>
        </p:txBody>
      </p:sp>
    </p:spTree>
    <p:extLst>
      <p:ext uri="{BB962C8B-B14F-4D97-AF65-F5344CB8AC3E}">
        <p14:creationId xmlns:p14="http://schemas.microsoft.com/office/powerpoint/2010/main" val="2448878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600" b="1" dirty="0">
                    <a:solidFill>
                      <a:srgbClr val="006C31"/>
                    </a:solidFill>
                  </a:rPr>
                  <a:t>A clever algorithm for </a:t>
                </a:r>
                <a:r>
                  <a:rPr lang="en-US" sz="3600" b="1" dirty="0">
                    <a:solidFill>
                      <a:srgbClr val="7030A0"/>
                    </a:solidFill>
                  </a:rPr>
                  <a:t>F</a:t>
                </a:r>
                <a:r>
                  <a:rPr lang="en-US" sz="3600" dirty="0"/>
                  <a:t>(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3600" dirty="0"/>
                  <a:t>)</a:t>
                </a:r>
                <a:r>
                  <a:rPr lang="en-US" sz="3600" b="1" dirty="0"/>
                  <a:t>mod </a:t>
                </a:r>
                <a14:m>
                  <m:oMath xmlns:m="http://schemas.openxmlformats.org/officeDocument/2006/math">
                    <m:r>
                      <a:rPr lang="en-US" sz="36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  <m:r>
                      <a:rPr lang="en-US" sz="36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endParaRPr lang="en-US" sz="3600" b="1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5344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400" b="1" i="1" smtClean="0">
                        <a:solidFill>
                          <a:srgbClr val="002060"/>
                        </a:solidFill>
                        <a:latin typeface="Cambria Math"/>
                      </a:rPr>
                      <m:t>A</m:t>
                    </m:r>
                    <m:r>
                      <a:rPr lang="en-US" sz="2400" b="1" i="1">
                        <a:latin typeface="Cambria Math"/>
                      </a:rPr>
                      <m:t> </m:t>
                    </m:r>
                  </m:oMath>
                </a14:m>
                <a:r>
                  <a:rPr lang="en-US" sz="2400" dirty="0"/>
                  <a:t> be a </a:t>
                </a:r>
                <a:r>
                  <a:rPr lang="en-US" sz="2400" dirty="0">
                    <a:solidFill>
                      <a:srgbClr val="0070C0"/>
                    </a:solidFill>
                  </a:rPr>
                  <a:t>2</a:t>
                </a:r>
                <a:r>
                  <a:rPr lang="en-US" sz="2400" dirty="0"/>
                  <a:t>×</a:t>
                </a:r>
                <a:r>
                  <a:rPr lang="en-US" sz="2400" dirty="0">
                    <a:solidFill>
                      <a:srgbClr val="0070C0"/>
                    </a:solidFill>
                  </a:rPr>
                  <a:t>2</a:t>
                </a:r>
                <a:r>
                  <a:rPr lang="en-US" sz="2400" dirty="0"/>
                  <a:t> matrix. 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 is even</a:t>
                </a:r>
                <a:r>
                  <a:rPr lang="en-US" sz="2000" dirty="0"/>
                  <a:t>,   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US" sz="280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000" dirty="0"/>
                  <a:t> =  </a:t>
                </a:r>
                <a:endParaRPr lang="en-US" sz="2400" i="1" dirty="0"/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400" dirty="0"/>
                  <a:t> is odd,            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 smtClean="0">
                            <a:solidFill>
                              <a:srgbClr val="002060"/>
                            </a:solidFill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2800" dirty="0"/>
                  <a:t> =</a:t>
                </a:r>
              </a:p>
              <a:p>
                <a:endParaRPr lang="en-US" sz="2400" i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How many instructions are required to multiply two </a:t>
                </a:r>
                <a:r>
                  <a:rPr lang="en-US" sz="2000" dirty="0">
                    <a:solidFill>
                      <a:srgbClr val="0070C0"/>
                    </a:solidFill>
                  </a:rPr>
                  <a:t>2</a:t>
                </a:r>
                <a:r>
                  <a:rPr lang="en-US" sz="2000" dirty="0"/>
                  <a:t>×</a:t>
                </a:r>
                <a:r>
                  <a:rPr lang="en-US" sz="2000" dirty="0">
                    <a:solidFill>
                      <a:srgbClr val="0070C0"/>
                    </a:solidFill>
                  </a:rPr>
                  <a:t>2 </a:t>
                </a:r>
                <a:r>
                  <a:rPr lang="en-US" sz="2000" dirty="0"/>
                  <a:t>matrices ?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Answer: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12 </a:t>
                </a:r>
                <a:r>
                  <a:rPr lang="en-US" sz="2000" i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Number of instructions for computing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m>
                              <m:mPr>
                                <m:mcs>
                                  <m:mc>
                                    <m:mcPr>
                                      <m:count m:val="2"/>
                                      <m:mcJc m:val="center"/>
                                    </m:mcPr>
                                  </m:mc>
                                </m:mcs>
                                <m:ctrlPr>
                                  <a:rPr lang="en-US" sz="2000" i="1" smtClean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mPr>
                              <m:m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</m:mr>
                              <m:mr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1</m:t>
                                  </m:r>
                                </m:e>
                                <m:e>
                                  <m:r>
                                    <a:rPr lang="en-US" sz="2000" b="0" i="1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mr>
                            </m:m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−1</m:t>
                        </m:r>
                      </m:sup>
                    </m:sSup>
                    <m:r>
                      <m:rPr>
                        <m:sty m:val="p"/>
                      </m:rPr>
                      <a:rPr lang="en-US" sz="2000" b="0" i="0" smtClean="0">
                        <a:solidFill>
                          <a:schemeClr val="tx1"/>
                        </a:solidFill>
                        <a:latin typeface="Cambria Math"/>
                      </a:rPr>
                      <m:t>mod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 :  </a:t>
                </a:r>
                <a:r>
                  <a:rPr lang="en-US" sz="2000" dirty="0">
                    <a:solidFill>
                      <a:srgbClr val="0070C0"/>
                    </a:solidFill>
                  </a:rPr>
                  <a:t>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r>
                  <a:rPr lang="en-US" sz="2000" dirty="0">
                    <a:solidFill>
                      <a:srgbClr val="0070C0"/>
                    </a:solidFill>
                  </a:rPr>
                  <a:t>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𝐥𝐨𝐠</m:t>
                        </m:r>
                      </m:e>
                      <m:sub>
                        <m:r>
                          <a:rPr lang="en-US" sz="2000" b="0" i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−1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i="1" dirty="0"/>
                  <a:t> </a:t>
                </a:r>
              </a:p>
              <a:p>
                <a:pPr marL="0" indent="0">
                  <a:buNone/>
                </a:pPr>
                <a:endParaRPr lang="en-US" sz="2000" i="1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Number of instructions in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New-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-Fib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sz="2000" dirty="0"/>
                  <a:t>,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Answer: </a:t>
                </a:r>
                <a:r>
                  <a:rPr lang="en-US" sz="2000" dirty="0">
                    <a:solidFill>
                      <a:srgbClr val="0070C0"/>
                    </a:solidFill>
                  </a:rPr>
                  <a:t>35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>
                            <a:latin typeface="Cambria Math"/>
                          </a:rPr>
                          <m:t>𝐥𝐨𝐠</m:t>
                        </m:r>
                      </m:e>
                      <m:sub>
                        <m:r>
                          <a:rPr lang="en-US" sz="2000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sz="2000">
                        <a:latin typeface="Cambria Math"/>
                      </a:rPr>
                      <m:t>(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𝑛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−1)</m:t>
                    </m:r>
                  </m:oMath>
                </a14:m>
                <a:r>
                  <a:rPr lang="en-US" sz="2000" dirty="0"/>
                  <a:t>+ </a:t>
                </a:r>
                <a:r>
                  <a:rPr lang="en-US" sz="2000" dirty="0">
                    <a:solidFill>
                      <a:srgbClr val="0070C0"/>
                    </a:solidFill>
                  </a:rPr>
                  <a:t>11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i="1" dirty="0"/>
              </a:p>
              <a:p>
                <a:pPr marL="0" indent="0">
                  <a:buNone/>
                </a:pPr>
                <a:endParaRPr lang="en-US" sz="2000" i="1" dirty="0"/>
              </a:p>
              <a:p>
                <a:pPr marL="0" indent="0">
                  <a:buNone/>
                </a:pPr>
                <a:endParaRPr lang="en-US" sz="2800" dirty="0"/>
              </a:p>
              <a:p>
                <a:pPr marL="0" indent="0">
                  <a:buNone/>
                </a:pPr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534400" cy="4830763"/>
              </a:xfrm>
              <a:blipFill rotWithShape="1">
                <a:blip r:embed="rId3"/>
                <a:stretch>
                  <a:fillRect l="-1429" t="-1010" b="-464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1694985" y="4613309"/>
            <a:ext cx="1159292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16 + 16 +3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52600" y="4589665"/>
            <a:ext cx="1053494" cy="369332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70C0"/>
                </a:solidFill>
              </a:rPr>
              <a:t>           35 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38800" y="3962400"/>
            <a:ext cx="1981200" cy="762000"/>
          </a:xfrm>
          <a:prstGeom prst="round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038600" y="1682758"/>
                <a:ext cx="1863267" cy="539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/</m:t>
                        </m:r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/</m:t>
                        </m:r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8600" y="1682758"/>
                <a:ext cx="1863267" cy="539315"/>
              </a:xfrm>
              <a:prstGeom prst="rect">
                <a:avLst/>
              </a:prstGeom>
              <a:blipFill rotWithShape="1">
                <a:blip r:embed="rId4"/>
                <a:stretch>
                  <a:fillRect t="-6742" r="-10164" b="-314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3987818" y="2222073"/>
                <a:ext cx="2565382" cy="53931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/</m:t>
                        </m:r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 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1" i="1">
                            <a:solidFill>
                              <a:srgbClr val="002060"/>
                            </a:solidFill>
                            <a:latin typeface="Cambria Math"/>
                          </a:rPr>
                          <m:t>𝑨</m:t>
                        </m:r>
                      </m:e>
                      <m:sup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sz="2800" i="1">
                            <a:latin typeface="Cambria Math"/>
                          </a:rPr>
                          <m:t>/</m:t>
                        </m:r>
                        <m:r>
                          <a:rPr lang="en-US" sz="28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800" dirty="0"/>
                  <a:t> ×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z="2800" b="1" i="1">
                        <a:solidFill>
                          <a:srgbClr val="002060"/>
                        </a:solidFill>
                        <a:latin typeface="Cambria Math"/>
                      </a:rPr>
                      <m:t>A</m:t>
                    </m:r>
                  </m:oMath>
                </a14:m>
                <a:endParaRPr lang="en-US" sz="2400" i="1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7818" y="2222073"/>
                <a:ext cx="2565382" cy="539315"/>
              </a:xfrm>
              <a:prstGeom prst="rect">
                <a:avLst/>
              </a:prstGeom>
              <a:blipFill rotWithShape="1">
                <a:blip r:embed="rId5"/>
                <a:stretch>
                  <a:fillRect t="-10227" r="-7126" b="-32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517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1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/>
      <p:bldP spid="9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Three algorithms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000" dirty="0"/>
              <a:t>Which algorithm is the best ?</a:t>
            </a:r>
          </a:p>
          <a:p>
            <a:r>
              <a:rPr lang="en-US" sz="2000" dirty="0"/>
              <a:t>Are we justified in ignoring the influence of so many other parameters ?</a:t>
            </a:r>
          </a:p>
          <a:p>
            <a:pPr marL="0" indent="0">
              <a:buNone/>
            </a:pPr>
            <a:r>
              <a:rPr lang="en-US" sz="2000" dirty="0"/>
              <a:t>          (Variation in the time of instructions/Architecture/Code optimization/…)</a:t>
            </a:r>
          </a:p>
          <a:p>
            <a:r>
              <a:rPr lang="en-US" sz="2000" dirty="0"/>
              <a:t>How close to </a:t>
            </a:r>
            <a:r>
              <a:rPr lang="en-US" sz="2000" b="1" u="sng" dirty="0"/>
              <a:t>reality</a:t>
            </a:r>
            <a:r>
              <a:rPr lang="en-US" sz="2000" dirty="0"/>
              <a:t> is the RAM model of computation ?</a:t>
            </a:r>
          </a:p>
          <a:p>
            <a:pPr marL="0" indent="0" algn="ctr">
              <a:buNone/>
            </a:pPr>
            <a:r>
              <a:rPr lang="en-US" sz="2400" b="1" dirty="0"/>
              <a:t>Find out yourself !</a:t>
            </a:r>
          </a:p>
          <a:p>
            <a:pPr marL="0" indent="0" algn="ctr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endParaRPr lang="en-IN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991333"/>
                  </p:ext>
                </p:extLst>
              </p:nvPr>
            </p:nvGraphicFramePr>
            <p:xfrm>
              <a:off x="1524000" y="1564639"/>
              <a:ext cx="6248400" cy="20929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2420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12420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1032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Algorithm for  </a:t>
                          </a:r>
                          <a:r>
                            <a:rPr lang="en-US" sz="1800" b="1" dirty="0">
                              <a:solidFill>
                                <a:srgbClr val="7030A0"/>
                              </a:solidFill>
                            </a:rPr>
                            <a:t>F</a:t>
                          </a:r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sz="180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r>
                            <a:rPr lang="en-US" sz="1800" b="1" dirty="0">
                              <a:solidFill>
                                <a:schemeClr val="tx1"/>
                              </a:solidFill>
                            </a:rPr>
                            <a:t>mod</a:t>
                          </a:r>
                          <a:r>
                            <a:rPr lang="en-US" sz="1800" b="1" dirty="0"/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</m:oMath>
                          </a14:m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No. of Instructions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529865">
                    <a:tc>
                      <a:txBody>
                        <a:bodyPr/>
                        <a:lstStyle/>
                        <a:p>
                          <a:r>
                            <a:rPr lang="en-US" b="1" dirty="0">
                              <a:solidFill>
                                <a:srgbClr val="7030A0"/>
                              </a:solidFill>
                            </a:rPr>
                            <a:t>RFib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dirty="0"/>
                            <a:t>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&gt;</m:t>
                                </m:r>
                                <m:sSup>
                                  <m:sSupPr>
                                    <m:ctrlP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2</m:t>
                                    </m:r>
                                  </m:e>
                                  <m:sup>
                                    <m: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(</m:t>
                                    </m:r>
                                    <m:r>
                                      <a:rPr lang="en-US" sz="180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𝑛</m:t>
                                    </m:r>
                                    <m:r>
                                      <a:rPr lang="en-US" sz="1800" b="0" i="1" smtClean="0">
                                        <a:solidFill>
                                          <a:srgbClr val="0070C0"/>
                                        </a:solidFill>
                                        <a:latin typeface="Cambria Math"/>
                                      </a:rPr>
                                      <m:t>−2)/2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521032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b="1" dirty="0" err="1">
                              <a:solidFill>
                                <a:srgbClr val="7030A0"/>
                              </a:solidFill>
                            </a:rPr>
                            <a:t>IterFib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dirty="0"/>
                            <a:t>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3</m:t>
                                </m:r>
                                <m:r>
                                  <a:rPr lang="en-US" sz="1800" i="1" smtClean="0">
                                    <a:solidFill>
                                      <a:srgbClr val="0070C0"/>
                                    </a:solidFill>
                                    <a:latin typeface="Cambria Math"/>
                                  </a:rPr>
                                  <m:t>𝑛</m:t>
                                </m:r>
                              </m:oMath>
                            </m:oMathPara>
                          </a14:m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21032">
                    <a:tc>
                      <a:txBody>
                        <a:bodyPr/>
                        <a:lstStyle/>
                        <a:p>
                          <a:r>
                            <a:rPr lang="en-US" b="1" dirty="0" err="1">
                              <a:solidFill>
                                <a:srgbClr val="7030A0"/>
                              </a:solidFill>
                            </a:rPr>
                            <a:t>Clever_Algo_Fib</a:t>
                          </a:r>
                          <a:r>
                            <a:rPr lang="en-US" dirty="0"/>
                            <a:t>(</a:t>
                          </a:r>
                          <a14:m>
                            <m:oMath xmlns:m="http://schemas.openxmlformats.org/officeDocument/2006/math">
                              <m:r>
                                <a:rPr lang="en-US" sz="180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oMath>
                          </a14:m>
                          <a:r>
                            <a:rPr lang="en-US" dirty="0"/>
                            <a:t>,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𝑚</m:t>
                              </m:r>
                            </m:oMath>
                          </a14:m>
                          <a:r>
                            <a:rPr lang="en-US" dirty="0"/>
                            <a:t>) </a:t>
                          </a:r>
                          <a:endParaRPr lang="en-IN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sz="1800" dirty="0">
                              <a:solidFill>
                                <a:srgbClr val="0070C0"/>
                              </a:solidFill>
                            </a:rPr>
                            <a:t>        35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sz="1800" b="0" i="1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800" b="1" i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</a:rPr>
                                    <m:t>𝐥𝐨𝐠</m:t>
                                  </m:r>
                                </m:e>
                                <m:sub>
                                  <m:r>
                                    <a:rPr lang="en-US" sz="1800" b="0" i="0" smtClean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800" b="0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sz="1800" b="0" i="0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(</m:t>
                              </m:r>
                              <m:r>
                                <a:rPr lang="en-US" sz="1800" i="1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𝑛</m:t>
                              </m:r>
                              <m:r>
                                <a:rPr lang="en-US" sz="1800" b="0" i="1" smtClean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−1</m:t>
                              </m:r>
                              <m:r>
                                <a:rPr lang="en-US" sz="1800" b="0" i="1" smtClean="0">
                                  <a:solidFill>
                                    <a:schemeClr val="tx1"/>
                                  </a:solidFill>
                                  <a:latin typeface="Cambria Math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800" i="1" dirty="0"/>
                            <a:t> </a:t>
                          </a:r>
                          <a:r>
                            <a:rPr lang="en-US" sz="1800" dirty="0"/>
                            <a:t>+ </a:t>
                          </a:r>
                          <a:r>
                            <a:rPr lang="en-US" sz="1800" dirty="0">
                              <a:solidFill>
                                <a:srgbClr val="0070C0"/>
                              </a:solidFill>
                            </a:rPr>
                            <a:t>11</a:t>
                          </a:r>
                          <a:endParaRPr lang="en-IN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5991333"/>
                  </p:ext>
                </p:extLst>
              </p:nvPr>
            </p:nvGraphicFramePr>
            <p:xfrm>
              <a:off x="1524000" y="1564639"/>
              <a:ext cx="6248400" cy="2092961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24200"/>
                    <a:gridCol w="3124200"/>
                  </a:tblGrid>
                  <a:tr h="5210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5882" r="-99805" b="-30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 smtClean="0"/>
                            <a:t>No. of Instructions</a:t>
                          </a:r>
                          <a:endParaRPr lang="en-IN" dirty="0"/>
                        </a:p>
                      </a:txBody>
                      <a:tcPr/>
                    </a:tc>
                  </a:tr>
                  <a:tr h="5298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103448" r="-99805" b="-19655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195" t="-103448" b="-196552"/>
                          </a:stretch>
                        </a:blipFill>
                      </a:tcPr>
                    </a:tc>
                  </a:tr>
                  <a:tr h="5210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205814" r="-99805" b="-9883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195" t="-205814" b="-98837"/>
                          </a:stretch>
                        </a:blipFill>
                      </a:tcPr>
                    </a:tc>
                  </a:tr>
                  <a:tr h="52103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t="-309412" r="-998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 rotWithShape="1">
                          <a:blip r:embed="rId2"/>
                          <a:stretch>
                            <a:fillRect l="-100195" t="-309412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Oval 6"/>
          <p:cNvSpPr/>
          <p:nvPr/>
        </p:nvSpPr>
        <p:spPr>
          <a:xfrm>
            <a:off x="5562600" y="2057400"/>
            <a:ext cx="342900" cy="457200"/>
          </a:xfrm>
          <a:prstGeom prst="ellipse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/>
          <p:cNvCxnSpPr>
            <a:stCxn id="7" idx="5"/>
          </p:cNvCxnSpPr>
          <p:nvPr/>
        </p:nvCxnSpPr>
        <p:spPr>
          <a:xfrm>
            <a:off x="5855283" y="2447645"/>
            <a:ext cx="2450517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305800" y="2209800"/>
            <a:ext cx="3273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673448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7" grpId="0" animBg="1"/>
      <p:bldP spid="1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2916</TotalTime>
  <Words>1671</Words>
  <Application>Microsoft Macintosh PowerPoint</Application>
  <PresentationFormat>On-screen Show (4:3)</PresentationFormat>
  <Paragraphs>361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3" baseType="lpstr">
      <vt:lpstr>Arial</vt:lpstr>
      <vt:lpstr>Calibri</vt:lpstr>
      <vt:lpstr>Cambria Math</vt:lpstr>
      <vt:lpstr>Wingdings</vt:lpstr>
      <vt:lpstr>Office Theme</vt:lpstr>
      <vt:lpstr>Data Structures and Algorithms (ESO207) </vt:lpstr>
      <vt:lpstr>Recap of the 1st Lecture</vt:lpstr>
      <vt:lpstr>Current-state-of-the-art computer</vt:lpstr>
      <vt:lpstr>Motivation</vt:lpstr>
      <vt:lpstr>Homework 1 </vt:lpstr>
      <vt:lpstr>Inferences  from the Homework</vt:lpstr>
      <vt:lpstr>Current-state-of-the-art Computer</vt:lpstr>
      <vt:lpstr>word RAM :  a model of computation</vt:lpstr>
      <vt:lpstr>word RAM :  a model of computation</vt:lpstr>
      <vt:lpstr>How is an instruction executed? </vt:lpstr>
      <vt:lpstr>word RAM model of computation: Characteristics</vt:lpstr>
      <vt:lpstr>Efficiency of an algorithm</vt:lpstr>
      <vt:lpstr>Homework 1 from Lecture 1</vt:lpstr>
      <vt:lpstr>Iterative Algorithm for F(n) mod m</vt:lpstr>
      <vt:lpstr>Recursive algorithm for F(n) mod m</vt:lpstr>
      <vt:lpstr>Algorithms for F(n)mod m </vt:lpstr>
      <vt:lpstr>How to compute F(n)mod m quickly ?</vt:lpstr>
      <vt:lpstr>A warm-up example</vt:lpstr>
      <vt:lpstr>Compute x^n mod m </vt:lpstr>
      <vt:lpstr>Compute x^n mod m </vt:lpstr>
      <vt:lpstr>Compute x^n mod m </vt:lpstr>
      <vt:lpstr>Compute x^n mod m </vt:lpstr>
      <vt:lpstr>Efficient Algorithm for F(n)mod m </vt:lpstr>
      <vt:lpstr>Idea 1</vt:lpstr>
      <vt:lpstr>Idea 2</vt:lpstr>
      <vt:lpstr>A clever algorithm for F(n)mod m  </vt:lpstr>
      <vt:lpstr>A clever algorithm for F(n)mod m </vt:lpstr>
      <vt:lpstr>Three algorithms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432</cp:revision>
  <dcterms:created xsi:type="dcterms:W3CDTF">2011-12-03T04:13:03Z</dcterms:created>
  <dcterms:modified xsi:type="dcterms:W3CDTF">2025-08-08T03:02:48Z</dcterms:modified>
</cp:coreProperties>
</file>