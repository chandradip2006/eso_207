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7"/>
  </p:notesMasterIdLst>
  <p:sldIdLst>
    <p:sldId id="393" r:id="rId2"/>
    <p:sldId id="399" r:id="rId3"/>
    <p:sldId id="388" r:id="rId4"/>
    <p:sldId id="373" r:id="rId5"/>
    <p:sldId id="374" r:id="rId6"/>
    <p:sldId id="354" r:id="rId7"/>
    <p:sldId id="397" r:id="rId8"/>
    <p:sldId id="396" r:id="rId9"/>
    <p:sldId id="376" r:id="rId10"/>
    <p:sldId id="377" r:id="rId11"/>
    <p:sldId id="380" r:id="rId12"/>
    <p:sldId id="383" r:id="rId13"/>
    <p:sldId id="385" r:id="rId14"/>
    <p:sldId id="382" r:id="rId15"/>
    <p:sldId id="381" r:id="rId16"/>
    <p:sldId id="379" r:id="rId17"/>
    <p:sldId id="387" r:id="rId18"/>
    <p:sldId id="398" r:id="rId19"/>
    <p:sldId id="386" r:id="rId20"/>
    <p:sldId id="389" r:id="rId21"/>
    <p:sldId id="392" r:id="rId22"/>
    <p:sldId id="391" r:id="rId23"/>
    <p:sldId id="370" r:id="rId24"/>
    <p:sldId id="371" r:id="rId25"/>
    <p:sldId id="390" r:id="rId2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A68685-9A4B-B04F-B6B1-1EDF769C526C}" v="5" dt="2025-11-02T13:33:33.5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92" autoAdjust="0"/>
  </p:normalViewPr>
  <p:slideViewPr>
    <p:cSldViewPr>
      <p:cViewPr varScale="1">
        <p:scale>
          <a:sx n="114" d="100"/>
          <a:sy n="114" d="100"/>
        </p:scale>
        <p:origin x="1752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unath Tewari" userId="2638bdda-d406-4938-a2a6-e4e967acb772" providerId="ADAL" clId="{5BB0A526-9D3F-5694-B192-877B52D1FAF9}"/>
    <pc:docChg chg="modSld">
      <pc:chgData name="Raghunath Tewari" userId="2638bdda-d406-4938-a2a6-e4e967acb772" providerId="ADAL" clId="{5BB0A526-9D3F-5694-B192-877B52D1FAF9}" dt="2025-11-02T13:33:33.504" v="4" actId="20577"/>
      <pc:docMkLst>
        <pc:docMk/>
      </pc:docMkLst>
      <pc:sldChg chg="modSp">
        <pc:chgData name="Raghunath Tewari" userId="2638bdda-d406-4938-a2a6-e4e967acb772" providerId="ADAL" clId="{5BB0A526-9D3F-5694-B192-877B52D1FAF9}" dt="2025-11-02T13:33:33.504" v="4" actId="20577"/>
        <pc:sldMkLst>
          <pc:docMk/>
          <pc:sldMk cId="881194629" sldId="380"/>
        </pc:sldMkLst>
        <pc:spChg chg="mod">
          <ac:chgData name="Raghunath Tewari" userId="2638bdda-d406-4938-a2a6-e4e967acb772" providerId="ADAL" clId="{5BB0A526-9D3F-5694-B192-877B52D1FAF9}" dt="2025-11-02T13:33:33.504" v="4" actId="20577"/>
          <ac:spMkLst>
            <pc:docMk/>
            <pc:sldMk cId="881194629" sldId="380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AA3A7DB-FD4B-4A56-961D-EE92B832D86A}" type="datetimeFigureOut">
              <a:rPr lang="en-US"/>
              <a:pPr>
                <a:defRPr/>
              </a:pPr>
              <a:t>11/2/25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8B6ACE-7DA9-451D-B4FE-F8D8CCE41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2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3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11/2/25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11/2/25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11/2/25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2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11/2/25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11/2/25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11/2/25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00.png"/><Relationship Id="rId7" Type="http://schemas.openxmlformats.org/officeDocument/2006/relationships/image" Target="../media/image140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0.png"/><Relationship Id="rId4" Type="http://schemas.openxmlformats.org/officeDocument/2006/relationships/image" Target="../media/image1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.jpeg"/><Relationship Id="rId4" Type="http://schemas.openxmlformats.org/officeDocument/2006/relationships/image" Target="../media/image28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9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1.png"/><Relationship Id="rId4" Type="http://schemas.openxmlformats.org/officeDocument/2006/relationships/image" Target="../media/image27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1.png"/><Relationship Id="rId10" Type="http://schemas.openxmlformats.org/officeDocument/2006/relationships/image" Target="../media/image37.png"/><Relationship Id="rId4" Type="http://schemas.openxmlformats.org/officeDocument/2006/relationships/image" Target="../media/image33.png"/><Relationship Id="rId9" Type="http://schemas.openxmlformats.org/officeDocument/2006/relationships/image" Target="../media/image28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1.png"/><Relationship Id="rId3" Type="http://schemas.openxmlformats.org/officeDocument/2006/relationships/image" Target="../media/image38.png"/><Relationship Id="rId7" Type="http://schemas.openxmlformats.org/officeDocument/2006/relationships/image" Target="../media/image3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1.png"/><Relationship Id="rId9" Type="http://schemas.openxmlformats.org/officeDocument/2006/relationships/image" Target="../media/image28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png"/><Relationship Id="rId3" Type="http://schemas.openxmlformats.org/officeDocument/2006/relationships/image" Target="../media/image32.png"/><Relationship Id="rId7" Type="http://schemas.openxmlformats.org/officeDocument/2006/relationships/image" Target="../media/image33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4.png"/><Relationship Id="rId5" Type="http://schemas.openxmlformats.org/officeDocument/2006/relationships/image" Target="../media/image320.png"/><Relationship Id="rId10" Type="http://schemas.openxmlformats.org/officeDocument/2006/relationships/image" Target="../media/image43.png"/><Relationship Id="rId4" Type="http://schemas.openxmlformats.org/officeDocument/2006/relationships/image" Target="../media/image41.png"/><Relationship Id="rId9" Type="http://schemas.openxmlformats.org/officeDocument/2006/relationships/image" Target="../media/image4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Structures and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700" dirty="0">
                <a:solidFill>
                  <a:srgbClr val="002060"/>
                </a:solidFill>
              </a:rPr>
              <a:t>(</a:t>
            </a:r>
            <a:r>
              <a:rPr lang="en-US" sz="2700" b="1" dirty="0">
                <a:solidFill>
                  <a:srgbClr val="7030A0"/>
                </a:solidFill>
              </a:rPr>
              <a:t>ESO207</a:t>
            </a:r>
            <a:r>
              <a:rPr lang="en-US" sz="2700" dirty="0">
                <a:solidFill>
                  <a:srgbClr val="002060"/>
                </a:solidFill>
              </a:rPr>
              <a:t>)</a:t>
            </a:r>
            <a:br>
              <a:rPr lang="en-US" sz="2700" dirty="0">
                <a:solidFill>
                  <a:srgbClr val="002060"/>
                </a:solidFill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09600" y="4495800"/>
                <a:ext cx="8153400" cy="1447800"/>
              </a:xfr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pPr fontAlgn="auto">
                  <a:spcAft>
                    <a:spcPts val="0"/>
                  </a:spcAft>
                  <a:defRPr/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Lecture 33</a:t>
                </a: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342900" indent="-342900" algn="l" fontAlgn="auto">
                  <a:spcAft>
                    <a:spcPts val="0"/>
                  </a:spcAft>
                  <a:buFont typeface="Arial" pitchFamily="34" charset="0"/>
                  <a:buChar char="•"/>
                  <a:defRPr/>
                </a:pPr>
                <a:r>
                  <a:rPr lang="en-US" sz="2000" b="1" dirty="0">
                    <a:solidFill>
                      <a:schemeClr val="tx1"/>
                    </a:solidFill>
                  </a:rPr>
                  <a:t>Algorithm for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b="1" dirty="0" err="1">
                    <a:solidFill>
                      <a:srgbClr val="7030A0"/>
                    </a:solidFill>
                  </a:rPr>
                  <a:t>th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2000" b="1" u="sng" dirty="0">
                    <a:solidFill>
                      <a:srgbClr val="7030A0"/>
                    </a:solidFill>
                  </a:rPr>
                  <a:t>order statistic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2000" b="1" dirty="0">
                    <a:solidFill>
                      <a:schemeClr val="tx1"/>
                    </a:solidFill>
                  </a:rPr>
                  <a:t>of a set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b="1" dirty="0">
                    <a:solidFill>
                      <a:srgbClr val="7030A0"/>
                    </a:solidFill>
                  </a:rPr>
                  <a:t>.</a:t>
                </a:r>
                <a:endParaRPr 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09600" y="4495800"/>
                <a:ext cx="8153400" cy="1447800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626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Problem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600200"/>
                <a:ext cx="86106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dirty="0"/>
                  <a:t>Given</a:t>
                </a:r>
                <a:r>
                  <a:rPr lang="en-US" sz="1800" b="1" dirty="0"/>
                  <a:t> </a:t>
                </a:r>
                <a:r>
                  <a:rPr lang="en-US" sz="1800" dirty="0"/>
                  <a:t>a</a:t>
                </a:r>
                <a:r>
                  <a:rPr lang="en-US" sz="1800" b="1" dirty="0"/>
                  <a:t> </a:t>
                </a:r>
                <a:r>
                  <a:rPr lang="en-US" sz="1800" dirty="0"/>
                  <a:t>set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of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dirty="0"/>
                  <a:t> elements and a positive integer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≤</m:t>
                    </m:r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dirty="0"/>
                  <a:t>, </a:t>
                </a:r>
              </a:p>
              <a:p>
                <a:pPr marL="0" indent="0">
                  <a:buNone/>
                </a:pPr>
                <a:r>
                  <a:rPr lang="en-US" sz="1800" dirty="0"/>
                  <a:t>compute </a:t>
                </a:r>
                <a:r>
                  <a:rPr lang="en-US" sz="1800" b="1" dirty="0"/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dirty="0" err="1"/>
                  <a:t>th</a:t>
                </a:r>
                <a:r>
                  <a:rPr lang="en-US" sz="1800" dirty="0"/>
                  <a:t> </a:t>
                </a:r>
                <a:r>
                  <a:rPr lang="en-US" sz="1800" b="1" u="sng" dirty="0"/>
                  <a:t>smallest</a:t>
                </a:r>
                <a:r>
                  <a:rPr lang="en-US" sz="1800" dirty="0"/>
                  <a:t> element from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002060"/>
                    </a:solidFill>
                  </a:rPr>
                  <a:t>Applications:</a:t>
                </a:r>
                <a:r>
                  <a:rPr lang="en-US" sz="1800" b="1" dirty="0"/>
                  <a:t> </a:t>
                </a:r>
                <a:r>
                  <a:rPr lang="en-US" sz="1800" dirty="0"/>
                  <a:t>As wide as that of sorting.</a:t>
                </a: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006C31"/>
                  </a:solidFill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006C31"/>
                    </a:solidFill>
                  </a:rPr>
                  <a:t>Trivial algorithm: </a:t>
                </a:r>
                <a:r>
                  <a:rPr lang="en-US" sz="1800" dirty="0"/>
                  <a:t>Sort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               </a:t>
                </a:r>
                <a:r>
                  <a:rPr lang="en-US" sz="1800" b="1" dirty="0"/>
                  <a:t>                               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AIM: </a:t>
                </a:r>
                <a:r>
                  <a:rPr lang="en-US" sz="1800" dirty="0"/>
                  <a:t>To design an algorithm with 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800" b="1" dirty="0"/>
                  <a:t>(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b="1" dirty="0"/>
                  <a:t>) </a:t>
                </a:r>
                <a:r>
                  <a:rPr lang="en-US" sz="1800" dirty="0"/>
                  <a:t>time complexity.</a:t>
                </a:r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Assumption </a:t>
                </a:r>
                <a:r>
                  <a:rPr lang="en-US" sz="1800" dirty="0"/>
                  <a:t>(For the sake of </a:t>
                </a:r>
                <a:r>
                  <a:rPr lang="en-US" sz="1800" b="1" dirty="0"/>
                  <a:t>neat description </a:t>
                </a:r>
                <a:r>
                  <a:rPr lang="en-US" sz="1800" dirty="0"/>
                  <a:t>and </a:t>
                </a:r>
                <a:r>
                  <a:rPr lang="en-US" sz="1800" b="1" dirty="0"/>
                  <a:t>analysis </a:t>
                </a:r>
                <a:r>
                  <a:rPr lang="en-US" sz="1800" dirty="0"/>
                  <a:t>of algorithms of this lecture):</a:t>
                </a:r>
              </a:p>
              <a:p>
                <a:r>
                  <a:rPr lang="en-US" sz="1800" dirty="0"/>
                  <a:t>All elements of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are assumed to be </a:t>
                </a:r>
                <a:r>
                  <a:rPr lang="en-US" sz="1800" b="1" dirty="0"/>
                  <a:t>distinct</a:t>
                </a:r>
                <a:r>
                  <a:rPr lang="en-US" sz="1800" dirty="0"/>
                  <a:t>.</a:t>
                </a:r>
                <a:endParaRPr lang="en-US" sz="18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600200"/>
                <a:ext cx="8610600" cy="4525963"/>
              </a:xfrm>
              <a:blipFill rotWithShape="1">
                <a:blip r:embed="rId2"/>
                <a:stretch>
                  <a:fillRect l="-566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676400" y="2516459"/>
            <a:ext cx="2514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971800" y="1524000"/>
            <a:ext cx="28194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057400" y="3124200"/>
            <a:ext cx="12573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5791200" y="2286000"/>
            <a:ext cx="2549159" cy="1664732"/>
            <a:chOff x="5791200" y="2286000"/>
            <a:chExt cx="2549159" cy="1664732"/>
          </a:xfrm>
        </p:grpSpPr>
        <p:sp>
          <p:nvSpPr>
            <p:cNvPr id="12" name="Smiley Face 11"/>
            <p:cNvSpPr/>
            <p:nvPr/>
          </p:nvSpPr>
          <p:spPr>
            <a:xfrm>
              <a:off x="6629400" y="2286000"/>
              <a:ext cx="914400" cy="914400"/>
            </a:xfrm>
            <a:prstGeom prst="smileyFace">
              <a:avLst>
                <a:gd name="adj" fmla="val -4653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791200" y="3212068"/>
              <a:ext cx="2549159" cy="73866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But sorting takes </a:t>
              </a:r>
              <a:r>
                <a:rPr lang="en-US" sz="1400" b="1" dirty="0">
                  <a:solidFill>
                    <a:srgbClr val="C00000"/>
                  </a:solidFill>
                </a:rPr>
                <a:t>O</a:t>
              </a:r>
              <a:r>
                <a:rPr lang="en-US" sz="1400" dirty="0"/>
                <a:t>(</a:t>
              </a:r>
              <a:r>
                <a:rPr lang="en-US" sz="1400" b="1" dirty="0">
                  <a:solidFill>
                    <a:srgbClr val="0070C0"/>
                  </a:solidFill>
                </a:rPr>
                <a:t>n</a:t>
              </a:r>
              <a:r>
                <a:rPr lang="en-US" sz="1400" dirty="0"/>
                <a:t> log </a:t>
              </a:r>
              <a:r>
                <a:rPr lang="en-US" sz="1400" b="1" dirty="0">
                  <a:solidFill>
                    <a:srgbClr val="0070C0"/>
                  </a:solidFill>
                </a:rPr>
                <a:t>n</a:t>
              </a:r>
              <a:r>
                <a:rPr lang="en-US" sz="1400" dirty="0"/>
                <a:t>) time</a:t>
              </a:r>
            </a:p>
            <a:p>
              <a:pPr algn="ctr"/>
              <a:r>
                <a:rPr lang="en-US" sz="1400" dirty="0"/>
                <a:t>and appears to be an overkill </a:t>
              </a:r>
            </a:p>
            <a:p>
              <a:pPr algn="ctr"/>
              <a:r>
                <a:rPr lang="en-US" sz="1400" dirty="0"/>
                <a:t>for this simple problem.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78662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A motivational background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600200"/>
                <a:ext cx="85344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1800" dirty="0"/>
                  <a:t>Though it was </a:t>
                </a:r>
                <a:r>
                  <a:rPr lang="en-US" sz="1800" b="1" dirty="0"/>
                  <a:t>intuitively appealing</a:t>
                </a:r>
                <a:r>
                  <a:rPr lang="en-US" sz="1800" dirty="0"/>
                  <a:t> to believe that there exists an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dirty="0"/>
                  <a:t>) time algorithm to compute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dirty="0" err="1"/>
                  <a:t>th</a:t>
                </a:r>
                <a:r>
                  <a:rPr lang="en-US" sz="1800" dirty="0"/>
                  <a:t> smallest element, it remained a challenge for many years to design such an algorithm…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In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1972</a:t>
                </a:r>
                <a:r>
                  <a:rPr lang="en-US" sz="1800" dirty="0"/>
                  <a:t>, five well known researchers: </a:t>
                </a:r>
                <a:r>
                  <a:rPr lang="en-US" sz="1800" b="1" dirty="0">
                    <a:solidFill>
                      <a:srgbClr val="006C31"/>
                    </a:solidFill>
                  </a:rPr>
                  <a:t>Blum, Floyd, Pratt, </a:t>
                </a:r>
                <a:r>
                  <a:rPr lang="en-US" sz="1800" b="1" dirty="0" err="1">
                    <a:solidFill>
                      <a:srgbClr val="006C31"/>
                    </a:solidFill>
                  </a:rPr>
                  <a:t>Rivest</a:t>
                </a:r>
                <a:r>
                  <a:rPr lang="en-US" sz="1800" dirty="0"/>
                  <a:t>, and </a:t>
                </a:r>
                <a:r>
                  <a:rPr lang="en-US" sz="1800" b="1" dirty="0" err="1">
                    <a:solidFill>
                      <a:srgbClr val="006C31"/>
                    </a:solidFill>
                  </a:rPr>
                  <a:t>Tarjan</a:t>
                </a:r>
                <a:r>
                  <a:rPr lang="en-US" sz="1800" dirty="0"/>
                  <a:t> designed the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dirty="0"/>
                  <a:t>) time algorithm. It was designed during a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lunch break </a:t>
                </a:r>
                <a:r>
                  <a:rPr lang="en-US" sz="1800" dirty="0"/>
                  <a:t>of a conference when these five researchers sat together for the first time to solve the problem. 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In this way, the problem which remained unsolved for many years got solved in less than an hour</a:t>
                </a:r>
                <a:r>
                  <a:rPr lang="en-US" sz="1800" dirty="0">
                    <a:sym typeface="Wingdings" pitchFamily="2" charset="2"/>
                  </a:rPr>
                  <a:t>. But one should not ignore the efforts these researchers spent for years before arriving at the solution … It was their effort whose fruit got ripened in that hour .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600200"/>
                <a:ext cx="8534400" cy="4525963"/>
              </a:xfrm>
              <a:blipFill rotWithShape="1">
                <a:blip r:embed="rId2"/>
                <a:stretch>
                  <a:fillRect l="-714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154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Notations</a:t>
            </a:r>
            <a:endParaRPr lang="en-US" sz="3200" b="1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>
                <a:solidFill>
                  <a:schemeClr val="tx1"/>
                </a:solidFill>
              </a:rPr>
              <a:t>We shall now introduce some notations which will help in a neat description of the algorithm.</a:t>
            </a:r>
          </a:p>
        </p:txBody>
      </p:sp>
    </p:spTree>
    <p:extLst>
      <p:ext uri="{BB962C8B-B14F-4D97-AF65-F5344CB8AC3E}">
        <p14:creationId xmlns:p14="http://schemas.microsoft.com/office/powerpoint/2010/main" val="2988967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Notations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8382000" cy="49069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b="1" dirty="0"/>
                  <a:t> :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 </a:t>
                </a:r>
                <a:r>
                  <a:rPr lang="en-US" sz="2000" dirty="0"/>
                  <a:t>the given set of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elements.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: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70C0"/>
                    </a:solidFill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 err="1"/>
                  <a:t>th</a:t>
                </a:r>
                <a:r>
                  <a:rPr lang="en-US" sz="2000" dirty="0"/>
                  <a:t> </a:t>
                </a:r>
                <a:r>
                  <a:rPr lang="en-US" sz="2000" b="1" dirty="0"/>
                  <a:t>smallest</a:t>
                </a:r>
                <a:r>
                  <a:rPr lang="en-US" sz="2000" dirty="0"/>
                  <a:t> element of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𝑺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&lt;</m:t>
                        </m:r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sz="2000" b="1" dirty="0"/>
                  <a:t> :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</a:t>
                </a:r>
                <a:r>
                  <a:rPr lang="en-US" sz="2000" dirty="0"/>
                  <a:t>subset of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consisting of all elements </a:t>
                </a:r>
                <a:r>
                  <a:rPr lang="en-US" sz="2000" b="1" dirty="0"/>
                  <a:t>smaller than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b="1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𝑺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&gt;</m:t>
                        </m:r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sz="2000" b="1" dirty="0"/>
                  <a:t> :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</a:t>
                </a:r>
                <a:r>
                  <a:rPr lang="en-US" sz="2000" dirty="0"/>
                  <a:t>subset of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consisting of all elements </a:t>
                </a:r>
                <a:r>
                  <a:rPr lang="en-US" sz="2000" b="1" dirty="0"/>
                  <a:t>greater than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b="1" dirty="0"/>
                  <a:t>.</a:t>
                </a:r>
              </a:p>
              <a:p>
                <a:r>
                  <a:rPr lang="en-US" sz="2000" b="1" dirty="0"/>
                  <a:t>rank(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b="1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) :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           1</a:t>
                </a:r>
                <a:r>
                  <a:rPr lang="en-US" sz="2000" b="1" dirty="0">
                    <a:sym typeface="Wingdings" pitchFamily="2" charset="2"/>
                  </a:rPr>
                  <a:t> + </a:t>
                </a:r>
                <a:r>
                  <a:rPr lang="en-US" sz="2000" dirty="0">
                    <a:sym typeface="Wingdings" pitchFamily="2" charset="2"/>
                  </a:rPr>
                  <a:t>number of elements in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that are smaller than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.</a:t>
                </a:r>
                <a:endParaRPr lang="en-US" sz="2000" b="1" dirty="0">
                  <a:solidFill>
                    <a:srgbClr val="7030A0"/>
                  </a:solidFill>
                  <a:sym typeface="Wingdings" pitchFamily="2" charset="2"/>
                </a:endParaRPr>
              </a:p>
              <a:p>
                <a:r>
                  <a:rPr lang="en-US" sz="2000" b="1" dirty="0">
                    <a:solidFill>
                      <a:srgbClr val="7030A0"/>
                    </a:solidFill>
                    <a:sym typeface="Wingdings" pitchFamily="2" charset="2"/>
                  </a:rPr>
                  <a:t>Partition</a:t>
                </a:r>
                <a:r>
                  <a:rPr lang="en-US" sz="2000" b="1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):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                             </a:t>
                </a:r>
                <a:r>
                  <a:rPr lang="en-US" sz="2000" dirty="0">
                    <a:sym typeface="Wingdings" pitchFamily="2" charset="2"/>
                  </a:rPr>
                  <a:t>algorithm to partition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dirty="0"/>
                  <a:t> into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𝑺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&lt;</m:t>
                        </m:r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and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𝑺</m:t>
                        </m:r>
                      </m:e>
                      <m:sub>
                        <m:r>
                          <a:rPr lang="en-US" sz="2000" b="1" i="1" smtClean="0">
                            <a:latin typeface="Cambria Math"/>
                          </a:rPr>
                          <m:t>&gt;</m:t>
                        </m:r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sz="2000" b="1" dirty="0"/>
                  <a:t>;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                      </a:t>
                </a:r>
                <a:r>
                  <a:rPr lang="en-US" sz="2000" dirty="0"/>
                  <a:t>t</a:t>
                </a:r>
                <a:r>
                  <a:rPr lang="en-US" sz="2000" dirty="0">
                    <a:sym typeface="Wingdings" pitchFamily="2" charset="2"/>
                  </a:rPr>
                  <a:t>his algorithm returns</a:t>
                </a:r>
                <a:r>
                  <a:rPr lang="en-US" sz="2000" b="1" dirty="0">
                    <a:sym typeface="Wingdings" pitchFamily="2" charset="2"/>
                  </a:rPr>
                  <a:t> </a:t>
                </a:r>
                <a:r>
                  <a:rPr lang="en-US" sz="2000" b="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𝑺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&lt;</m:t>
                        </m:r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sz="2000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𝑺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&gt;</m:t>
                        </m:r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sz="2000" b="1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𝒓</m:t>
                    </m:r>
                  </m:oMath>
                </a14:m>
                <a:r>
                  <a:rPr lang="en-US" sz="2000" b="1" dirty="0"/>
                  <a:t>) </a:t>
                </a:r>
                <a:r>
                  <a:rPr lang="en-US" sz="2000" dirty="0"/>
                  <a:t>where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𝒓</m:t>
                    </m:r>
                  </m:oMath>
                </a14:m>
                <a:r>
                  <a:rPr lang="en-US" sz="2000" b="1" dirty="0"/>
                  <a:t>=rank(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b="1" dirty="0"/>
                  <a:t>,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b="1" dirty="0"/>
                  <a:t>). 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8382000" cy="4906963"/>
              </a:xfrm>
              <a:blipFill rotWithShape="1">
                <a:blip r:embed="rId2"/>
                <a:stretch>
                  <a:fillRect l="-727" t="-621" b="-14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225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/>
              <a:t>Why should such an algorithm exist ?</a:t>
            </a:r>
            <a:endParaRPr 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tx1"/>
                </a:solidFill>
              </a:rPr>
              <a:t>(inspiration from </a:t>
            </a:r>
            <a:r>
              <a:rPr lang="en-US" sz="2800" b="1" dirty="0" err="1">
                <a:solidFill>
                  <a:srgbClr val="7030A0"/>
                </a:solidFill>
              </a:rPr>
              <a:t>QuickSort</a:t>
            </a:r>
            <a:r>
              <a:rPr lang="en-US" sz="2800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59027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2438400" y="1676400"/>
            <a:ext cx="4114800" cy="838200"/>
            <a:chOff x="2438400" y="1676400"/>
            <a:chExt cx="4114800" cy="838200"/>
          </a:xfrm>
        </p:grpSpPr>
        <p:grpSp>
          <p:nvGrpSpPr>
            <p:cNvPr id="16" name="Group 15"/>
            <p:cNvGrpSpPr/>
            <p:nvPr/>
          </p:nvGrpSpPr>
          <p:grpSpPr>
            <a:xfrm>
              <a:off x="2438400" y="2057400"/>
              <a:ext cx="4114800" cy="457200"/>
              <a:chOff x="2590800" y="1981200"/>
              <a:chExt cx="4114800" cy="457200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2590800" y="1981200"/>
                <a:ext cx="4114800" cy="4572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" name="Straight Connector 6"/>
              <p:cNvCxnSpPr/>
              <p:nvPr/>
            </p:nvCxnSpPr>
            <p:spPr>
              <a:xfrm>
                <a:off x="30480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35052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39624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44196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48768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3340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57912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62484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TextBox 17"/>
            <p:cNvSpPr txBox="1"/>
            <p:nvPr/>
          </p:nvSpPr>
          <p:spPr>
            <a:xfrm>
              <a:off x="2438400" y="1676400"/>
              <a:ext cx="40575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sz="1600" dirty="0"/>
                <a:t>0        1         2       3        4        5       6       7        8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QuickSelect</a:t>
                </a:r>
                <a:r>
                  <a:rPr lang="en-US" sz="3200" dirty="0"/>
                  <a:t>(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3200" b="1" dirty="0"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3200" dirty="0"/>
                  <a:t>)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590800" y="2209800"/>
            <a:ext cx="196334" cy="1524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3048000" y="2209800"/>
            <a:ext cx="3352800" cy="152400"/>
            <a:chOff x="3048000" y="2209800"/>
            <a:chExt cx="3352800" cy="152400"/>
          </a:xfrm>
        </p:grpSpPr>
        <p:sp>
          <p:nvSpPr>
            <p:cNvPr id="42" name="Oval 41"/>
            <p:cNvSpPr/>
            <p:nvPr/>
          </p:nvSpPr>
          <p:spPr>
            <a:xfrm>
              <a:off x="3048000" y="2209800"/>
              <a:ext cx="196334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/>
            <p:cNvSpPr/>
            <p:nvPr/>
          </p:nvSpPr>
          <p:spPr>
            <a:xfrm>
              <a:off x="3505200" y="2209800"/>
              <a:ext cx="196334" cy="1524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/>
            <p:cNvSpPr/>
            <p:nvPr/>
          </p:nvSpPr>
          <p:spPr>
            <a:xfrm>
              <a:off x="4375666" y="2209800"/>
              <a:ext cx="196334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Oval 45"/>
            <p:cNvSpPr/>
            <p:nvPr/>
          </p:nvSpPr>
          <p:spPr>
            <a:xfrm>
              <a:off x="5290066" y="2209800"/>
              <a:ext cx="196334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/>
            <p:cNvSpPr/>
            <p:nvPr/>
          </p:nvSpPr>
          <p:spPr>
            <a:xfrm>
              <a:off x="5823466" y="2209800"/>
              <a:ext cx="196334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/>
            <p:cNvSpPr/>
            <p:nvPr/>
          </p:nvSpPr>
          <p:spPr>
            <a:xfrm>
              <a:off x="3962400" y="2209800"/>
              <a:ext cx="196334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/>
            <p:cNvSpPr/>
            <p:nvPr/>
          </p:nvSpPr>
          <p:spPr>
            <a:xfrm>
              <a:off x="4832866" y="2209800"/>
              <a:ext cx="196334" cy="1524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/>
            <p:cNvSpPr/>
            <p:nvPr/>
          </p:nvSpPr>
          <p:spPr>
            <a:xfrm>
              <a:off x="6204466" y="2209800"/>
              <a:ext cx="196334" cy="1524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2535348" y="2362200"/>
            <a:ext cx="449289" cy="826532"/>
            <a:chOff x="2535348" y="2514600"/>
            <a:chExt cx="449289" cy="826532"/>
          </a:xfrm>
        </p:grpSpPr>
        <p:cxnSp>
          <p:nvCxnSpPr>
            <p:cNvPr id="63" name="Straight Arrow Connector 62"/>
            <p:cNvCxnSpPr/>
            <p:nvPr/>
          </p:nvCxnSpPr>
          <p:spPr>
            <a:xfrm flipV="1">
              <a:off x="2688967" y="2514600"/>
              <a:ext cx="0" cy="5334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/>
                <p:cNvSpPr txBox="1"/>
                <p:nvPr/>
              </p:nvSpPr>
              <p:spPr>
                <a:xfrm>
                  <a:off x="2535348" y="2971800"/>
                  <a:ext cx="44928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6" name="TextBox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5348" y="2971800"/>
                  <a:ext cx="449289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333" r="-16216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0" name="Group 69"/>
          <p:cNvGrpSpPr/>
          <p:nvPr/>
        </p:nvGrpSpPr>
        <p:grpSpPr>
          <a:xfrm>
            <a:off x="3124200" y="2362200"/>
            <a:ext cx="4661038" cy="641866"/>
            <a:chOff x="3124200" y="2362200"/>
            <a:chExt cx="4661038" cy="641866"/>
          </a:xfrm>
        </p:grpSpPr>
        <p:grpSp>
          <p:nvGrpSpPr>
            <p:cNvPr id="68" name="Group 67"/>
            <p:cNvGrpSpPr/>
            <p:nvPr/>
          </p:nvGrpSpPr>
          <p:grpSpPr>
            <a:xfrm>
              <a:off x="3124200" y="2362200"/>
              <a:ext cx="4006334" cy="457200"/>
              <a:chOff x="3146167" y="2667000"/>
              <a:chExt cx="4006334" cy="457200"/>
            </a:xfrm>
          </p:grpSpPr>
          <p:cxnSp>
            <p:nvCxnSpPr>
              <p:cNvPr id="52" name="Straight Arrow Connector 51"/>
              <p:cNvCxnSpPr/>
              <p:nvPr/>
            </p:nvCxnSpPr>
            <p:spPr>
              <a:xfrm flipV="1">
                <a:off x="3146167" y="2667000"/>
                <a:ext cx="1" cy="4572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/>
              <p:cNvCxnSpPr/>
              <p:nvPr/>
            </p:nvCxnSpPr>
            <p:spPr>
              <a:xfrm flipV="1">
                <a:off x="4038599" y="2667000"/>
                <a:ext cx="1" cy="4572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/>
              <p:cNvCxnSpPr/>
              <p:nvPr/>
            </p:nvCxnSpPr>
            <p:spPr>
              <a:xfrm flipV="1">
                <a:off x="4495799" y="2667000"/>
                <a:ext cx="1" cy="4572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/>
              <p:cNvCxnSpPr/>
              <p:nvPr/>
            </p:nvCxnSpPr>
            <p:spPr>
              <a:xfrm flipV="1">
                <a:off x="5410199" y="2667000"/>
                <a:ext cx="1" cy="4572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/>
              <p:cNvCxnSpPr/>
              <p:nvPr/>
            </p:nvCxnSpPr>
            <p:spPr>
              <a:xfrm flipV="1">
                <a:off x="5867399" y="2667000"/>
                <a:ext cx="1" cy="4572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146167" y="3124200"/>
                <a:ext cx="400633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/>
                <p:cNvSpPr txBox="1"/>
                <p:nvPr/>
              </p:nvSpPr>
              <p:spPr>
                <a:xfrm>
                  <a:off x="7220532" y="2634734"/>
                  <a:ext cx="5647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&lt;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𝑟</m:t>
                          </m:r>
                        </m:sub>
                      </m:sSub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0532" y="2634734"/>
                  <a:ext cx="564706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8602" t="-8197" r="-1720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2" name="Group 81"/>
          <p:cNvGrpSpPr/>
          <p:nvPr/>
        </p:nvGrpSpPr>
        <p:grpSpPr>
          <a:xfrm>
            <a:off x="3581400" y="1600200"/>
            <a:ext cx="4222306" cy="609600"/>
            <a:chOff x="3581400" y="1600200"/>
            <a:chExt cx="4222306" cy="609600"/>
          </a:xfrm>
        </p:grpSpPr>
        <p:grpSp>
          <p:nvGrpSpPr>
            <p:cNvPr id="79" name="Group 78"/>
            <p:cNvGrpSpPr/>
            <p:nvPr/>
          </p:nvGrpSpPr>
          <p:grpSpPr>
            <a:xfrm>
              <a:off x="3581400" y="1752600"/>
              <a:ext cx="3549134" cy="457200"/>
              <a:chOff x="4343400" y="3962400"/>
              <a:chExt cx="3549134" cy="457200"/>
            </a:xfrm>
          </p:grpSpPr>
          <p:cxnSp>
            <p:nvCxnSpPr>
              <p:cNvPr id="72" name="Straight Connector 71"/>
              <p:cNvCxnSpPr/>
              <p:nvPr/>
            </p:nvCxnSpPr>
            <p:spPr>
              <a:xfrm>
                <a:off x="4343400" y="3962400"/>
                <a:ext cx="354913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/>
              <p:cNvCxnSpPr/>
              <p:nvPr/>
            </p:nvCxnSpPr>
            <p:spPr>
              <a:xfrm>
                <a:off x="4343400" y="3962400"/>
                <a:ext cx="0" cy="4572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/>
              <p:cNvCxnSpPr/>
              <p:nvPr/>
            </p:nvCxnSpPr>
            <p:spPr>
              <a:xfrm>
                <a:off x="5715000" y="3962400"/>
                <a:ext cx="0" cy="4572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/>
              <p:cNvCxnSpPr/>
              <p:nvPr/>
            </p:nvCxnSpPr>
            <p:spPr>
              <a:xfrm>
                <a:off x="7086600" y="3962400"/>
                <a:ext cx="0" cy="4572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/>
                <p:cNvSpPr txBox="1"/>
                <p:nvPr/>
              </p:nvSpPr>
              <p:spPr>
                <a:xfrm>
                  <a:off x="7239000" y="1600200"/>
                  <a:ext cx="5647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&gt;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𝑟</m:t>
                          </m:r>
                        </m:sub>
                      </m:sSub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0" name="TextBox 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9000" y="1600200"/>
                  <a:ext cx="564706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9783" t="-8333" r="-1739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Down Ribbon 82"/>
              <p:cNvSpPr/>
              <p:nvPr/>
            </p:nvSpPr>
            <p:spPr>
              <a:xfrm>
                <a:off x="2895600" y="3581400"/>
                <a:ext cx="3308865" cy="917448"/>
              </a:xfrm>
              <a:prstGeom prst="ribbon">
                <a:avLst>
                  <a:gd name="adj1" fmla="val 16667"/>
                  <a:gd name="adj2" fmla="val 72006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What happens during </a:t>
                </a:r>
                <a:r>
                  <a:rPr lang="en-US" b="1" dirty="0">
                    <a:solidFill>
                      <a:srgbClr val="7030A0"/>
                    </a:solidFill>
                    <a:sym typeface="Wingdings" pitchFamily="2" charset="2"/>
                  </a:rPr>
                  <a:t>Partition</a:t>
                </a:r>
                <a:r>
                  <a:rPr lang="en-US" b="1" dirty="0">
                    <a:solidFill>
                      <a:schemeClr val="tx1"/>
                    </a:solidFill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6C31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𝟎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𝟖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  <a:sym typeface="Wingdings" pitchFamily="2" charset="2"/>
                  </a:rPr>
                  <a:t>)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Down Ribbon 8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3581400"/>
                <a:ext cx="3308865" cy="917448"/>
              </a:xfrm>
              <a:prstGeom prst="ribbon">
                <a:avLst>
                  <a:gd name="adj1" fmla="val 16667"/>
                  <a:gd name="adj2" fmla="val 72006"/>
                </a:avLst>
              </a:prstGeom>
              <a:blipFill rotWithShape="1">
                <a:blip r:embed="rId6"/>
                <a:stretch>
                  <a:fillRect b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048550" y="2057400"/>
                <a:ext cx="3690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6C31"/>
                          </a:solidFill>
                          <a:latin typeface="Cambria Math"/>
                        </a:rPr>
                        <m:t>𝑺</m:t>
                      </m:r>
                    </m:oMath>
                  </m:oMathPara>
                </a14:m>
                <a:endParaRPr lang="en-IN" dirty="0">
                  <a:solidFill>
                    <a:srgbClr val="006C31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8550" y="2057400"/>
                <a:ext cx="369011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333" r="-2131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2551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83" grpId="0" animBg="1"/>
      <p:bldP spid="83" grpId="1" animBg="1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2438400" y="1676400"/>
            <a:ext cx="4114800" cy="838200"/>
            <a:chOff x="2438400" y="1676400"/>
            <a:chExt cx="4114800" cy="838200"/>
          </a:xfrm>
        </p:grpSpPr>
        <p:grpSp>
          <p:nvGrpSpPr>
            <p:cNvPr id="16" name="Group 15"/>
            <p:cNvGrpSpPr/>
            <p:nvPr/>
          </p:nvGrpSpPr>
          <p:grpSpPr>
            <a:xfrm>
              <a:off x="2438400" y="2057400"/>
              <a:ext cx="4114800" cy="457200"/>
              <a:chOff x="2590800" y="1981200"/>
              <a:chExt cx="4114800" cy="457200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2590800" y="1981200"/>
                <a:ext cx="4114800" cy="4572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" name="Straight Connector 6"/>
              <p:cNvCxnSpPr/>
              <p:nvPr/>
            </p:nvCxnSpPr>
            <p:spPr>
              <a:xfrm>
                <a:off x="30480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35052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39624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44196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48768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3340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57912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62484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TextBox 17"/>
            <p:cNvSpPr txBox="1"/>
            <p:nvPr/>
          </p:nvSpPr>
          <p:spPr>
            <a:xfrm>
              <a:off x="2438400" y="1676400"/>
              <a:ext cx="40575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sz="1600" dirty="0"/>
                <a:t>0        1         2       3        4        5       6       7        8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QuickSelect</a:t>
                </a:r>
                <a:r>
                  <a:rPr lang="en-US" sz="3200" dirty="0"/>
                  <a:t>(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3200" b="1" dirty="0"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3200" dirty="0"/>
                  <a:t>)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5400"/>
            <a:ext cx="8991600" cy="5105400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grpSp>
        <p:nvGrpSpPr>
          <p:cNvPr id="35" name="Group 34"/>
          <p:cNvGrpSpPr/>
          <p:nvPr/>
        </p:nvGrpSpPr>
        <p:grpSpPr>
          <a:xfrm>
            <a:off x="2514600" y="4267200"/>
            <a:ext cx="4114800" cy="762000"/>
            <a:chOff x="2514600" y="4267200"/>
            <a:chExt cx="4114800" cy="762000"/>
          </a:xfrm>
        </p:grpSpPr>
        <p:grpSp>
          <p:nvGrpSpPr>
            <p:cNvPr id="19" name="Group 18"/>
            <p:cNvGrpSpPr/>
            <p:nvPr/>
          </p:nvGrpSpPr>
          <p:grpSpPr>
            <a:xfrm>
              <a:off x="2514600" y="4572000"/>
              <a:ext cx="4114800" cy="457200"/>
              <a:chOff x="2590800" y="1981200"/>
              <a:chExt cx="4114800" cy="457200"/>
            </a:xfrm>
          </p:grpSpPr>
          <p:sp>
            <p:nvSpPr>
              <p:cNvPr id="20" name="Rectangle 19"/>
              <p:cNvSpPr/>
              <p:nvPr/>
            </p:nvSpPr>
            <p:spPr>
              <a:xfrm>
                <a:off x="2590800" y="1981200"/>
                <a:ext cx="4114800" cy="4572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" name="Straight Connector 20"/>
              <p:cNvCxnSpPr/>
              <p:nvPr/>
            </p:nvCxnSpPr>
            <p:spPr>
              <a:xfrm>
                <a:off x="30480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35052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39624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44196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48768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53340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57912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62484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TextBox 31"/>
            <p:cNvSpPr txBox="1"/>
            <p:nvPr/>
          </p:nvSpPr>
          <p:spPr>
            <a:xfrm>
              <a:off x="2514600" y="4267200"/>
              <a:ext cx="40575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sz="1600" dirty="0"/>
                <a:t>0        1         2       3        4        5       6       7        8</a:t>
              </a:r>
            </a:p>
          </p:txBody>
        </p:sp>
      </p:grpSp>
      <p:sp>
        <p:nvSpPr>
          <p:cNvPr id="33" name="Down Arrow 32"/>
          <p:cNvSpPr/>
          <p:nvPr/>
        </p:nvSpPr>
        <p:spPr>
          <a:xfrm>
            <a:off x="4305300" y="2907792"/>
            <a:ext cx="533400" cy="1130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/>
          <p:cNvGrpSpPr/>
          <p:nvPr/>
        </p:nvGrpSpPr>
        <p:grpSpPr>
          <a:xfrm>
            <a:off x="2558534" y="5105400"/>
            <a:ext cx="2242066" cy="750332"/>
            <a:chOff x="2558534" y="5105400"/>
            <a:chExt cx="2242066" cy="750332"/>
          </a:xfrm>
        </p:grpSpPr>
        <p:sp>
          <p:nvSpPr>
            <p:cNvPr id="30" name="Right Brace 29"/>
            <p:cNvSpPr/>
            <p:nvPr/>
          </p:nvSpPr>
          <p:spPr>
            <a:xfrm rot="5400000">
              <a:off x="3489067" y="4174867"/>
              <a:ext cx="381000" cy="2242066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3232518" y="5486400"/>
                  <a:ext cx="114089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dirty="0"/>
                    <a:t>…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𝑟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 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2518" y="5486400"/>
                  <a:ext cx="1140890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4278" t="-8197" r="-855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Group 38"/>
          <p:cNvGrpSpPr/>
          <p:nvPr/>
        </p:nvGrpSpPr>
        <p:grpSpPr>
          <a:xfrm>
            <a:off x="5257800" y="5105400"/>
            <a:ext cx="1371600" cy="674132"/>
            <a:chOff x="5257800" y="5105400"/>
            <a:chExt cx="1371600" cy="674132"/>
          </a:xfrm>
        </p:grpSpPr>
        <p:sp>
          <p:nvSpPr>
            <p:cNvPr id="31" name="Right Brace 30"/>
            <p:cNvSpPr/>
            <p:nvPr/>
          </p:nvSpPr>
          <p:spPr>
            <a:xfrm rot="5400000">
              <a:off x="5753100" y="4610100"/>
              <a:ext cx="381000" cy="1371600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5527085" y="5410200"/>
                  <a:ext cx="10561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𝑟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+1</m:t>
                          </m:r>
                        </m:sub>
                      </m:sSub>
                    </m:oMath>
                  </a14:m>
                  <a:r>
                    <a:rPr lang="en-US" dirty="0"/>
                    <a:t>…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</m:sSub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7085" y="5410200"/>
                  <a:ext cx="1056123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333" r="-867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Oval 5"/>
          <p:cNvSpPr/>
          <p:nvPr/>
        </p:nvSpPr>
        <p:spPr>
          <a:xfrm>
            <a:off x="2590800" y="2209800"/>
            <a:ext cx="196334" cy="1524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3048000" y="2209800"/>
            <a:ext cx="196334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3505200" y="2209800"/>
            <a:ext cx="196334" cy="15240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4375666" y="2209800"/>
            <a:ext cx="196334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Oval 45"/>
          <p:cNvSpPr/>
          <p:nvPr/>
        </p:nvSpPr>
        <p:spPr>
          <a:xfrm>
            <a:off x="5290066" y="2209800"/>
            <a:ext cx="196334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5823466" y="2209800"/>
            <a:ext cx="196334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3962400" y="2209800"/>
            <a:ext cx="196334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4832866" y="2209800"/>
            <a:ext cx="196334" cy="15240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6204466" y="2209800"/>
            <a:ext cx="196334" cy="15240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2590800" y="2209800"/>
            <a:ext cx="196334" cy="1524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" name="Group 50"/>
          <p:cNvGrpSpPr/>
          <p:nvPr/>
        </p:nvGrpSpPr>
        <p:grpSpPr>
          <a:xfrm>
            <a:off x="3048000" y="2209800"/>
            <a:ext cx="3352800" cy="152400"/>
            <a:chOff x="3048000" y="2209800"/>
            <a:chExt cx="3352800" cy="152400"/>
          </a:xfrm>
        </p:grpSpPr>
        <p:sp>
          <p:nvSpPr>
            <p:cNvPr id="52" name="Oval 51"/>
            <p:cNvSpPr/>
            <p:nvPr/>
          </p:nvSpPr>
          <p:spPr>
            <a:xfrm>
              <a:off x="3048000" y="2209800"/>
              <a:ext cx="196334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>
              <a:off x="3505200" y="2209800"/>
              <a:ext cx="196334" cy="1524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/>
            <p:cNvSpPr/>
            <p:nvPr/>
          </p:nvSpPr>
          <p:spPr>
            <a:xfrm>
              <a:off x="4375666" y="2209800"/>
              <a:ext cx="196334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/>
            <p:cNvSpPr/>
            <p:nvPr/>
          </p:nvSpPr>
          <p:spPr>
            <a:xfrm>
              <a:off x="5290066" y="2209800"/>
              <a:ext cx="196334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/>
            <p:cNvSpPr/>
            <p:nvPr/>
          </p:nvSpPr>
          <p:spPr>
            <a:xfrm>
              <a:off x="5823466" y="2209800"/>
              <a:ext cx="196334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/>
            <p:cNvSpPr/>
            <p:nvPr/>
          </p:nvSpPr>
          <p:spPr>
            <a:xfrm>
              <a:off x="3962400" y="2209800"/>
              <a:ext cx="196334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/>
            <p:cNvSpPr/>
            <p:nvPr/>
          </p:nvSpPr>
          <p:spPr>
            <a:xfrm>
              <a:off x="4832866" y="2209800"/>
              <a:ext cx="196334" cy="1524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/>
            <p:cNvSpPr/>
            <p:nvPr/>
          </p:nvSpPr>
          <p:spPr>
            <a:xfrm>
              <a:off x="6204466" y="2209800"/>
              <a:ext cx="196334" cy="1524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4800600" y="5029200"/>
                <a:ext cx="4492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5029200"/>
                <a:ext cx="449289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1780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2048550" y="2057400"/>
                <a:ext cx="3690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6C31"/>
                          </a:solidFill>
                          <a:latin typeface="Cambria Math"/>
                        </a:rPr>
                        <m:t>𝑺</m:t>
                      </m:r>
                    </m:oMath>
                  </m:oMathPara>
                </a14:m>
                <a:endParaRPr lang="en-IN" dirty="0">
                  <a:solidFill>
                    <a:srgbClr val="006C31"/>
                  </a:solidFill>
                </a:endParaRP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8550" y="2057400"/>
                <a:ext cx="369011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333" r="-2131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/>
              <p:cNvSpPr txBox="1"/>
              <p:nvPr/>
            </p:nvSpPr>
            <p:spPr>
              <a:xfrm>
                <a:off x="2535348" y="2819400"/>
                <a:ext cx="4492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5348" y="2819400"/>
                <a:ext cx="449289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333" r="-1621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Straight Arrow Connector 95"/>
          <p:cNvCxnSpPr/>
          <p:nvPr/>
        </p:nvCxnSpPr>
        <p:spPr>
          <a:xfrm flipV="1">
            <a:off x="2688967" y="2362200"/>
            <a:ext cx="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Line Callout 1 7"/>
              <p:cNvSpPr/>
              <p:nvPr/>
            </p:nvSpPr>
            <p:spPr>
              <a:xfrm>
                <a:off x="304801" y="6052066"/>
                <a:ext cx="2841366" cy="653534"/>
              </a:xfrm>
              <a:prstGeom prst="borderCallout1">
                <a:avLst>
                  <a:gd name="adj1" fmla="val 2370"/>
                  <a:gd name="adj2" fmla="val 49607"/>
                  <a:gd name="adj3" fmla="val -89649"/>
                  <a:gd name="adj4" fmla="val 118736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&gt;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𝑟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we can discard these element.</a:t>
                </a:r>
              </a:p>
            </p:txBody>
          </p:sp>
        </mc:Choice>
        <mc:Fallback xmlns="">
          <p:sp>
            <p:nvSpPr>
              <p:cNvPr id="8" name="Line Callout 1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1" y="6052066"/>
                <a:ext cx="2841366" cy="653534"/>
              </a:xfrm>
              <a:prstGeom prst="borderCallout1">
                <a:avLst>
                  <a:gd name="adj1" fmla="val 2370"/>
                  <a:gd name="adj2" fmla="val 49607"/>
                  <a:gd name="adj3" fmla="val -89649"/>
                  <a:gd name="adj4" fmla="val 118736"/>
                </a:avLst>
              </a:prstGeom>
              <a:blipFill rotWithShape="1">
                <a:blip r:embed="rId8"/>
                <a:stretch>
                  <a:fillRect b="-628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Line Callout 1 59"/>
              <p:cNvSpPr/>
              <p:nvPr/>
            </p:nvSpPr>
            <p:spPr>
              <a:xfrm>
                <a:off x="6049537" y="6052066"/>
                <a:ext cx="2841366" cy="653534"/>
              </a:xfrm>
              <a:prstGeom prst="borderCallout1">
                <a:avLst>
                  <a:gd name="adj1" fmla="val 2370"/>
                  <a:gd name="adj2" fmla="val 49607"/>
                  <a:gd name="adj3" fmla="val -82823"/>
                  <a:gd name="adj4" fmla="val -4889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&lt;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𝑟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we can discard these elements.</a:t>
                </a:r>
              </a:p>
            </p:txBody>
          </p:sp>
        </mc:Choice>
        <mc:Fallback xmlns="">
          <p:sp>
            <p:nvSpPr>
              <p:cNvPr id="60" name="Line Callout 1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9537" y="6052066"/>
                <a:ext cx="2841366" cy="653534"/>
              </a:xfrm>
              <a:prstGeom prst="borderCallout1">
                <a:avLst>
                  <a:gd name="adj1" fmla="val 2370"/>
                  <a:gd name="adj2" fmla="val 49607"/>
                  <a:gd name="adj3" fmla="val -82823"/>
                  <a:gd name="adj4" fmla="val -4889"/>
                </a:avLst>
              </a:prstGeom>
              <a:blipFill rotWithShape="1">
                <a:blip r:embed="rId9"/>
                <a:stretch>
                  <a:fillRect b="-65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845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3.33333E-6 L -0.0441 0.35556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05" y="17778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3.33333E-6 L -0.0441 0.35556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05" y="17778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3.33333E-6 L -0.13924 0.35556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62" y="17778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3.33333E-6 L -0.14757 0.35556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378" y="17778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3.33333E-6 L -0.1559 0.35556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795" y="17778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3.33333E-6 L 0.19757 0.35556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878" y="17778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3.33333E-6 L 0.16076 0.35556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38" y="17778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3.33333E-6 L -0.03924 0.35556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62" y="17778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3.33333E-6 L 0.2559 0.35556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795" y="1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1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  <p:bldP spid="6" grpId="0" animBg="1"/>
      <p:bldP spid="42" grpId="0" animBg="1"/>
      <p:bldP spid="43" grpId="0" animBg="1"/>
      <p:bldP spid="44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77" grpId="0"/>
      <p:bldP spid="8" grpId="0" animBg="1"/>
      <p:bldP spid="8" grpId="1" animBg="1"/>
      <p:bldP spid="60" grpId="0" animBg="1"/>
      <p:bldP spid="60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600" b="1" dirty="0" err="1"/>
                  <a:t>Pseudocode</a:t>
                </a:r>
                <a:r>
                  <a:rPr lang="en-US" sz="3600" b="1" dirty="0"/>
                  <a:t> for </a:t>
                </a:r>
                <a:r>
                  <a:rPr lang="en-US" sz="3600" b="1" dirty="0" err="1">
                    <a:solidFill>
                      <a:srgbClr val="7030A0"/>
                    </a:solidFill>
                  </a:rPr>
                  <a:t>QuickSelect</a:t>
                </a:r>
                <a:r>
                  <a:rPr lang="en-US" sz="3600" b="1" dirty="0"/>
                  <a:t>(</a:t>
                </a:r>
                <a14:m>
                  <m:oMath xmlns:m="http://schemas.openxmlformats.org/officeDocument/2006/math">
                    <m:r>
                      <a:rPr lang="en-US" sz="36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3600" b="1" dirty="0"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sz="36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3600" b="1" dirty="0"/>
                  <a:t>)</a:t>
                </a:r>
                <a:br>
                  <a:rPr lang="en-US" sz="3600" b="1" dirty="0">
                    <a:solidFill>
                      <a:srgbClr val="7030A0"/>
                    </a:solidFill>
                  </a:rPr>
                </a:br>
                <a:endParaRPr lang="en-US" sz="3600" dirty="0"/>
              </a:p>
            </p:txBody>
          </p:sp>
        </mc:Choice>
        <mc:Fallback xmlns="">
          <p:sp>
            <p:nvSpPr>
              <p:cNvPr id="5" name="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10106" b="-21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71600"/>
                <a:ext cx="8153400" cy="51054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 err="1">
                    <a:solidFill>
                      <a:srgbClr val="7030A0"/>
                    </a:solidFill>
                  </a:rPr>
                  <a:t>QuickSelect</a:t>
                </a:r>
                <a:r>
                  <a:rPr lang="en-US" sz="2000" b="1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{        Pick an element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b="1" dirty="0"/>
                  <a:t>from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b="1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          </a:t>
                </a:r>
                <a:r>
                  <a:rPr lang="en-US" sz="2000" b="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𝑺</m:t>
                        </m:r>
                      </m:e>
                      <m:sub>
                        <m:r>
                          <a:rPr lang="en-US" sz="2000" b="1" i="1" smtClean="0">
                            <a:latin typeface="Cambria Math"/>
                          </a:rPr>
                          <m:t>&lt;</m:t>
                        </m:r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sz="2000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𝑺</m:t>
                        </m:r>
                      </m:e>
                      <m:sub>
                        <m:r>
                          <a:rPr lang="en-US" sz="2000" b="1" i="1" smtClean="0">
                            <a:latin typeface="Cambria Math"/>
                          </a:rPr>
                          <m:t>&gt;</m:t>
                        </m:r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sz="2000" b="1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𝒓</m:t>
                    </m:r>
                  </m:oMath>
                </a14:m>
                <a:r>
                  <a:rPr lang="en-US" sz="2000" b="1" dirty="0"/>
                  <a:t>)</a:t>
                </a:r>
                <a:r>
                  <a:rPr lang="en-US" sz="2000" b="1" dirty="0">
                    <a:sym typeface="Wingdings" pitchFamily="2" charset="2"/>
                  </a:rPr>
                  <a:t> </a:t>
                </a:r>
                <a:r>
                  <a:rPr lang="en-US" sz="2000" b="1" dirty="0">
                    <a:solidFill>
                      <a:srgbClr val="7030A0"/>
                    </a:solidFill>
                    <a:sym typeface="Wingdings" pitchFamily="2" charset="2"/>
                  </a:rPr>
                  <a:t>Partition</a:t>
                </a:r>
                <a:r>
                  <a:rPr lang="en-US" sz="2000" b="1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);</a:t>
                </a:r>
                <a:r>
                  <a:rPr lang="en-US" sz="2000" b="1" dirty="0"/>
                  <a:t>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If(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b="1" dirty="0"/>
                  <a:t> 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𝒓</m:t>
                    </m:r>
                  </m:oMath>
                </a14:m>
                <a:r>
                  <a:rPr lang="en-US" sz="2000" b="1" dirty="0"/>
                  <a:t>) return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b="1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Else If 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b="1" dirty="0"/>
                  <a:t>&lt;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𝒓</m:t>
                    </m:r>
                  </m:oMath>
                </a14:m>
                <a:r>
                  <a:rPr lang="en-US" sz="2000" b="1" dirty="0"/>
                  <a:t>)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                                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QuickSelect</a:t>
                </a:r>
                <a:r>
                  <a:rPr lang="en-US" sz="2000" b="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𝑺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&lt;</m:t>
                        </m:r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sz="2000" b="1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                    </a:t>
                </a:r>
                <a:r>
                  <a:rPr lang="en-US" sz="2000" b="1" dirty="0"/>
                  <a:t>Else      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                                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QuickSelect</a:t>
                </a:r>
                <a:r>
                  <a:rPr lang="en-US" sz="2000" b="1" dirty="0"/>
                  <a:t>(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𝑺</m:t>
                        </m:r>
                      </m:e>
                      <m:sub>
                        <m:r>
                          <a:rPr lang="en-US" sz="2000" b="1" i="1" smtClean="0">
                            <a:latin typeface="Cambria Math"/>
                          </a:rPr>
                          <m:t>&gt;</m:t>
                        </m:r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sz="2000" b="1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𝒓</m:t>
                    </m:r>
                  </m:oMath>
                </a14:m>
                <a:r>
                  <a:rPr lang="en-US" sz="2000" b="1" dirty="0"/>
                  <a:t> );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}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/>
                  <a:t>Average case time complexity: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b="1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Worst case time complexity : 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b="1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000" b="1" dirty="0"/>
                  <a:t>)</a:t>
                </a:r>
              </a:p>
              <a:p>
                <a:pPr marL="0" indent="0">
                  <a:buNone/>
                </a:pPr>
                <a:endParaRPr lang="en-US" sz="2000" b="1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71600"/>
                <a:ext cx="8153400" cy="5105400"/>
              </a:xfrm>
              <a:blipFill rotWithShape="1">
                <a:blip r:embed="rId3"/>
                <a:stretch>
                  <a:fillRect l="-747" t="-597" b="-31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419600" y="5410200"/>
            <a:ext cx="4343400" cy="457200"/>
            <a:chOff x="4419600" y="5715000"/>
            <a:chExt cx="4343400" cy="457200"/>
          </a:xfrm>
        </p:grpSpPr>
        <p:sp>
          <p:nvSpPr>
            <p:cNvPr id="2" name="Rounded Rectangle 1"/>
            <p:cNvSpPr/>
            <p:nvPr/>
          </p:nvSpPr>
          <p:spPr>
            <a:xfrm>
              <a:off x="5257800" y="5715000"/>
              <a:ext cx="3505200" cy="457200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Analysis is simpler than </a:t>
              </a:r>
              <a:r>
                <a:rPr lang="en-US" b="1" dirty="0">
                  <a:solidFill>
                    <a:srgbClr val="7030A0"/>
                  </a:solidFill>
                </a:rPr>
                <a:t>Quick Sort</a:t>
              </a:r>
              <a:r>
                <a:rPr lang="en-US" dirty="0">
                  <a:solidFill>
                    <a:schemeClr val="tx1"/>
                  </a:solidFill>
                </a:rPr>
                <a:t>.</a:t>
              </a:r>
            </a:p>
          </p:txBody>
        </p:sp>
        <p:cxnSp>
          <p:nvCxnSpPr>
            <p:cNvPr id="7" name="Straight Connector 6"/>
            <p:cNvCxnSpPr>
              <a:endCxn id="2" idx="1"/>
            </p:cNvCxnSpPr>
            <p:nvPr/>
          </p:nvCxnSpPr>
          <p:spPr>
            <a:xfrm>
              <a:off x="4419600" y="5943600"/>
              <a:ext cx="8382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01694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/>
              <p:cNvSpPr>
                <a:spLocks noGrp="1"/>
              </p:cNvSpPr>
              <p:nvPr>
                <p:ph type="ctrTitle"/>
              </p:nvPr>
            </p:nvSpPr>
            <p:spPr/>
            <p:txBody>
              <a:bodyPr/>
              <a:lstStyle/>
              <a:p>
                <a:r>
                  <a:rPr lang="en-US" sz="3200" b="1" dirty="0"/>
                  <a:t>Towards worst case </a:t>
                </a:r>
                <a:r>
                  <a:rPr lang="en-US" sz="32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3200" b="1" dirty="0"/>
                  <a:t>(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3200" b="1" dirty="0"/>
                  <a:t>) time algorithm …</a:t>
                </a:r>
                <a:endParaRPr lang="en-US" sz="2800" b="1" dirty="0"/>
              </a:p>
            </p:txBody>
          </p:sp>
        </mc:Choice>
        <mc:Fallback xmlns="">
          <p:sp>
            <p:nvSpPr>
              <p:cNvPr id="5" name="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blipFill rotWithShape="1">
                <a:blip r:embed="rId2"/>
                <a:stretch>
                  <a:fillRect r="-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266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</a:rPr>
              <a:t>Key ideas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sz="2000" dirty="0"/>
              </a:p>
              <a:p>
                <a:r>
                  <a:rPr lang="en-US" sz="2000" b="1" dirty="0">
                    <a:solidFill>
                      <a:srgbClr val="7030A0"/>
                    </a:solidFill>
                  </a:rPr>
                  <a:t>Inspiration</a:t>
                </a:r>
                <a:r>
                  <a:rPr lang="en-US" sz="2000" dirty="0"/>
                  <a:t> from some recurrences.</a:t>
                </a:r>
              </a:p>
              <a:p>
                <a:endParaRPr lang="en-US" sz="1800" dirty="0"/>
              </a:p>
              <a:p>
                <a:endParaRPr lang="en-US" sz="2000" dirty="0"/>
              </a:p>
              <a:p>
                <a:r>
                  <a:rPr lang="en-US" sz="2000" dirty="0"/>
                  <a:t>Concept of </a:t>
                </a:r>
                <a:r>
                  <a:rPr lang="en-US" sz="2000" b="1" dirty="0"/>
                  <a:t>approximate median</a:t>
                </a:r>
              </a:p>
              <a:p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Learning from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QuickSelect</a:t>
                </a:r>
                <a:r>
                  <a:rPr lang="en-US" sz="2000" b="1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b="1" dirty="0"/>
                  <a:t>)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876800" y="1862254"/>
            <a:ext cx="4157564" cy="8309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 isn’t it surprising that knowledge of recurrence </a:t>
            </a:r>
          </a:p>
          <a:p>
            <a:r>
              <a:rPr lang="en-US" sz="1600" dirty="0"/>
              <a:t>can help  in the </a:t>
            </a:r>
            <a:r>
              <a:rPr lang="en-US" sz="1600"/>
              <a:t>design of an </a:t>
            </a:r>
            <a:r>
              <a:rPr lang="en-US" sz="1600" dirty="0"/>
              <a:t>efficient algorithm) </a:t>
            </a:r>
            <a:r>
              <a:rPr lang="en-US" sz="1600" dirty="0">
                <a:sym typeface="Wingdings" pitchFamily="2" charset="2"/>
              </a:rPr>
              <a:t></a:t>
            </a:r>
            <a:endParaRPr lang="en-US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4495800" y="2996625"/>
            <a:ext cx="4648200" cy="8309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This is the usual trick: </a:t>
            </a:r>
          </a:p>
          <a:p>
            <a:r>
              <a:rPr lang="en-US" sz="1600" dirty="0"/>
              <a:t>When a problem appears difficult, weaken the problem and try to solve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66063" y="4114800"/>
            <a:ext cx="4648200" cy="5847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This is also a natural choice. </a:t>
            </a:r>
          </a:p>
          <a:p>
            <a:r>
              <a:rPr lang="en-US" sz="1600" dirty="0"/>
              <a:t>Can we fine tune this algorithm to achieve our goal ?</a:t>
            </a:r>
          </a:p>
        </p:txBody>
      </p:sp>
    </p:spTree>
    <p:extLst>
      <p:ext uri="{BB962C8B-B14F-4D97-AF65-F5344CB8AC3E}">
        <p14:creationId xmlns:p14="http://schemas.microsoft.com/office/powerpoint/2010/main" val="88119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Learning </a:t>
            </a:r>
            <a:r>
              <a:rPr lang="en-US" sz="3200" b="1" dirty="0"/>
              <a:t>from </a:t>
            </a:r>
            <a:r>
              <a:rPr lang="en-US" sz="3200" b="1" dirty="0">
                <a:solidFill>
                  <a:srgbClr val="7030A0"/>
                </a:solidFill>
              </a:rPr>
              <a:t>recurrences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Question:</a:t>
                </a:r>
                <a:r>
                  <a:rPr lang="en-US" sz="2000" b="1" dirty="0"/>
                  <a:t>  </a:t>
                </a:r>
                <a:r>
                  <a:rPr lang="en-US" sz="2000" dirty="0"/>
                  <a:t>what is the solution of recurrence </a:t>
                </a:r>
                <a:r>
                  <a:rPr lang="en-US" sz="2000" b="1" dirty="0"/>
                  <a:t>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 =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c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b="1" dirty="0"/>
                  <a:t>+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b="1" dirty="0"/>
                  <a:t>T</a:t>
                </a:r>
                <a:r>
                  <a:rPr lang="en-US" sz="2000" dirty="0"/>
                  <a:t>(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9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b="1" dirty="0">
                    <a:solidFill>
                      <a:srgbClr val="0070C0"/>
                    </a:solidFill>
                  </a:rPr>
                  <a:t>/10</a:t>
                </a:r>
                <a:r>
                  <a:rPr lang="en-US" sz="2000" dirty="0"/>
                  <a:t>) ?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/>
                  <a:t>Answer: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b="1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b="1" dirty="0"/>
                  <a:t>).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Sketch (by gradual unfolding):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 =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c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+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c 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solidFill>
                          <a:srgbClr val="0070C0"/>
                        </a:solidFill>
                        <a:latin typeface="Cambria Math"/>
                      </a:rPr>
                      <m:t>𝟗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/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𝟏𝟎</m:t>
                    </m:r>
                  </m:oMath>
                </a14:m>
                <a:r>
                  <a:rPr lang="en-US" sz="2000" dirty="0"/>
                  <a:t> +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c 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solidFill>
                          <a:srgbClr val="0070C0"/>
                        </a:solidFill>
                        <a:latin typeface="Cambria Math"/>
                      </a:rPr>
                      <m:t>𝟖𝟏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/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𝟏𝟎𝟎</m:t>
                    </m:r>
                  </m:oMath>
                </a14:m>
                <a:r>
                  <a:rPr lang="en-US" sz="2000" dirty="0"/>
                  <a:t>  + …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=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c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[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 + </a:t>
                </a:r>
                <a14:m>
                  <m:oMath xmlns:m="http://schemas.openxmlformats.org/officeDocument/2006/math">
                    <m:r>
                      <a:rPr lang="en-US" sz="2000" b="1">
                        <a:solidFill>
                          <a:srgbClr val="0070C0"/>
                        </a:solidFill>
                        <a:latin typeface="Cambria Math"/>
                      </a:rPr>
                      <m:t>𝟗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/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𝟏𝟎</m:t>
                    </m:r>
                  </m:oMath>
                </a14:m>
                <a:r>
                  <a:rPr lang="en-US" sz="2000" dirty="0"/>
                  <a:t> +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>
                        <a:solidFill>
                          <a:srgbClr val="0070C0"/>
                        </a:solidFill>
                        <a:latin typeface="Cambria Math"/>
                      </a:rPr>
                      <m:t>𝟖𝟏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/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𝟏𝟎𝟎</m:t>
                    </m:r>
                  </m:oMath>
                </a14:m>
                <a:r>
                  <a:rPr lang="en-US" sz="2000" dirty="0"/>
                  <a:t> + …</a:t>
                </a:r>
                <a:r>
                  <a:rPr lang="en-US" sz="2000" dirty="0">
                    <a:solidFill>
                      <a:srgbClr val="0070C0"/>
                    </a:solidFill>
                  </a:rPr>
                  <a:t>]</a:t>
                </a:r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=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b="1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b="1" dirty="0"/>
                  <a:t>)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</a:rPr>
                  <a:t>Lesson 1 </a:t>
                </a:r>
                <a:r>
                  <a:rPr lang="en-US" sz="2000" b="1" dirty="0"/>
                  <a:t>: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</a:rPr>
                  <a:t>                   </a:t>
                </a:r>
                <a:r>
                  <a:rPr lang="en-US" sz="2000" dirty="0"/>
                  <a:t>Solution for </a:t>
                </a:r>
                <a:r>
                  <a:rPr lang="en-US" sz="2000" b="1" dirty="0"/>
                  <a:t>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 =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c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b="1" dirty="0"/>
                  <a:t>+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b="1" dirty="0"/>
                  <a:t>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𝒂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 is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b="1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b="1" dirty="0"/>
                  <a:t>) if    …..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 b="-161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867400" y="5638800"/>
                <a:ext cx="1266693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  <m:r>
                      <a:rPr lang="en-US" b="1">
                        <a:solidFill>
                          <a:srgbClr val="0070C0"/>
                        </a:solidFill>
                        <a:latin typeface="Cambria Math"/>
                      </a:rPr>
                      <m:t>&lt;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𝒂</m:t>
                    </m:r>
                    <m:r>
                      <a:rPr lang="en-US" b="1" i="1">
                        <a:latin typeface="Cambria Math"/>
                      </a:rPr>
                      <m:t>&lt;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b="1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5638800"/>
                <a:ext cx="1266693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772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8515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3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Learning </a:t>
            </a:r>
            <a:r>
              <a:rPr lang="en-US" sz="3200" b="1" dirty="0"/>
              <a:t>from </a:t>
            </a:r>
            <a:r>
              <a:rPr lang="en-US" sz="3200" b="1" dirty="0">
                <a:solidFill>
                  <a:srgbClr val="7030A0"/>
                </a:solidFill>
              </a:rPr>
              <a:t>recurrences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Question:</a:t>
                </a:r>
                <a:r>
                  <a:rPr lang="en-US" sz="2000" b="1" dirty="0"/>
                  <a:t>  </a:t>
                </a:r>
                <a:r>
                  <a:rPr lang="en-US" sz="2000" dirty="0"/>
                  <a:t>what is the solution of recurrence</a:t>
                </a:r>
              </a:p>
              <a:p>
                <a:pPr marL="0" indent="0" algn="ctr">
                  <a:buNone/>
                </a:pPr>
                <a:r>
                  <a:rPr lang="en-US" sz="2000" dirty="0"/>
                  <a:t> </a:t>
                </a:r>
                <a:r>
                  <a:rPr lang="en-US" sz="2000" b="1" dirty="0"/>
                  <a:t>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 =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c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b="1" dirty="0"/>
                  <a:t>+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b="1" dirty="0"/>
                  <a:t>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b="1" dirty="0">
                    <a:solidFill>
                      <a:srgbClr val="0070C0"/>
                    </a:solidFill>
                  </a:rPr>
                  <a:t>/6</a:t>
                </a:r>
                <a:r>
                  <a:rPr lang="en-US" sz="2000" dirty="0"/>
                  <a:t>) + </a:t>
                </a:r>
                <a:r>
                  <a:rPr lang="en-US" sz="2000" b="1" dirty="0"/>
                  <a:t>T</a:t>
                </a:r>
                <a:r>
                  <a:rPr lang="en-US" sz="2000" dirty="0"/>
                  <a:t>(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5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b="1" dirty="0">
                    <a:solidFill>
                      <a:srgbClr val="0070C0"/>
                    </a:solidFill>
                  </a:rPr>
                  <a:t>/7</a:t>
                </a:r>
                <a:r>
                  <a:rPr lang="en-US" sz="2000" dirty="0"/>
                  <a:t>) 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Answer: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b="1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b="1" dirty="0"/>
                  <a:t>).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Sketch: </a:t>
                </a:r>
                <a:r>
                  <a:rPr lang="en-US" sz="2000" dirty="0"/>
                  <a:t>(by induction) </a:t>
                </a:r>
              </a:p>
              <a:p>
                <a:pPr marL="0" indent="0">
                  <a:buNone/>
                </a:pPr>
                <a:r>
                  <a:rPr lang="en-US" sz="2000" dirty="0"/>
                  <a:t>Assertion: </a:t>
                </a:r>
                <a:r>
                  <a:rPr lang="en-US" sz="2000" b="1" dirty="0"/>
                  <a:t>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 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Induction step: 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 =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c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b="1" dirty="0"/>
                  <a:t>+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b="1" dirty="0"/>
                  <a:t>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b="1" dirty="0">
                    <a:solidFill>
                      <a:srgbClr val="0070C0"/>
                    </a:solidFill>
                  </a:rPr>
                  <a:t>/6</a:t>
                </a:r>
                <a:r>
                  <a:rPr lang="en-US" sz="2000" dirty="0"/>
                  <a:t>) + </a:t>
                </a:r>
                <a:r>
                  <a:rPr lang="en-US" sz="2000" b="1" dirty="0"/>
                  <a:t>T</a:t>
                </a:r>
                <a:r>
                  <a:rPr lang="en-US" sz="2000" dirty="0"/>
                  <a:t>(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5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b="1" dirty="0">
                    <a:solidFill>
                      <a:srgbClr val="0070C0"/>
                    </a:solidFill>
                  </a:rPr>
                  <a:t>/7</a:t>
                </a:r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                          </a:t>
                </a:r>
                <a:r>
                  <a:rPr lang="en-US" sz="2000" dirty="0"/>
                  <a:t>≤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c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b="1" dirty="0"/>
                  <a:t> +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sz="20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37</m:t>
                            </m:r>
                          </m:num>
                          <m:den>
                            <m:r>
                              <a:rPr lang="en-US" sz="20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42</m:t>
                            </m:r>
                          </m:den>
                        </m:f>
                      </m:e>
                    </m:box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/>
                  <a:t>                                     </a:t>
                </a:r>
                <a:r>
                  <a:rPr lang="en-US" sz="2000" dirty="0"/>
                  <a:t>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b="1" dirty="0"/>
                  <a:t>  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b="1" dirty="0"/>
                  <a:t>≥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42</m:t>
                            </m:r>
                          </m:num>
                          <m:den>
                            <m:r>
                              <a:rPr lang="en-US" sz="20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5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sz="2000" b="1" dirty="0">
                    <a:solidFill>
                      <a:srgbClr val="0070C0"/>
                    </a:solidFill>
                  </a:rPr>
                  <a:t> c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</a:rPr>
                  <a:t>Lesson 2 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Solution for </a:t>
                </a:r>
                <a:r>
                  <a:rPr lang="en-US" sz="2000" b="1" dirty="0"/>
                  <a:t>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 =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c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b="1" dirty="0"/>
                  <a:t>+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b="1" dirty="0"/>
                  <a:t>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𝒂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 + </a:t>
                </a:r>
                <a:r>
                  <a:rPr lang="en-US" sz="2000" b="1" dirty="0"/>
                  <a:t>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𝒅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 is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b="1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b="1" dirty="0"/>
                  <a:t>) if ……..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 b="-9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562600" y="5334000"/>
                <a:ext cx="1252266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𝒂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𝒅</m:t>
                    </m:r>
                    <m:r>
                      <a:rPr lang="en-US" b="1" i="1">
                        <a:latin typeface="Cambria Math"/>
                      </a:rPr>
                      <m:t>&lt;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b="1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5334000"/>
                <a:ext cx="1252266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780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9760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Concept of </a:t>
            </a:r>
            <a:r>
              <a:rPr lang="en-US" sz="3200" b="1" dirty="0">
                <a:solidFill>
                  <a:srgbClr val="7030A0"/>
                </a:solidFill>
              </a:rPr>
              <a:t>approximate median</a:t>
            </a:r>
            <a:endParaRPr lang="en-US" sz="32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/>
                  <a:t>Definition:</a:t>
                </a:r>
                <a:r>
                  <a:rPr lang="en-US" sz="2000" dirty="0"/>
                  <a:t> Given a constant 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rgbClr val="0070C0"/>
                        </a:solidFill>
                        <a:latin typeface="Cambria Math"/>
                      </a:rPr>
                      <m:t>0&lt;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𝒃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≤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/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</m:oMath>
                </a14:m>
                <a:r>
                  <a:rPr lang="en-US" sz="2000" dirty="0"/>
                  <a:t>, </a:t>
                </a:r>
              </a:p>
              <a:p>
                <a:pPr marL="0" indent="0">
                  <a:buNone/>
                </a:pPr>
                <a:r>
                  <a:rPr lang="en-US" sz="2000" dirty="0"/>
                  <a:t>an element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 ϵ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dirty="0"/>
                  <a:t> is said to be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𝒃</m:t>
                    </m:r>
                  </m:oMath>
                </a14:m>
                <a:r>
                  <a:rPr lang="en-US" sz="2000" b="1" dirty="0"/>
                  <a:t>-</a:t>
                </a:r>
                <a:r>
                  <a:rPr lang="en-US" sz="2000" dirty="0"/>
                  <a:t>approximate median of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b="1" dirty="0"/>
                  <a:t> </a:t>
                </a:r>
              </a:p>
              <a:p>
                <a:pPr marL="0" indent="0">
                  <a:buNone/>
                </a:pPr>
                <a:r>
                  <a:rPr lang="en-US" sz="2000" dirty="0"/>
                  <a:t>if </a:t>
                </a:r>
                <a:r>
                  <a:rPr lang="en-US" sz="2000" b="1" dirty="0"/>
                  <a:t>rank(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0" i="0" smtClean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b="1" dirty="0"/>
                  <a:t>)</a:t>
                </a:r>
                <a:r>
                  <a:rPr lang="en-US" sz="2000" dirty="0"/>
                  <a:t> is in the range [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𝒃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, (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rgbClr val="0070C0"/>
                        </a:solidFill>
                        <a:latin typeface="Cambria Math"/>
                      </a:rPr>
                      <m:t>1−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𝒃</m:t>
                    </m:r>
                  </m:oMath>
                </a14:m>
                <a:r>
                  <a:rPr lang="en-US" sz="2000" dirty="0"/>
                  <a:t>)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].</a:t>
                </a:r>
                <a:endParaRPr lang="en-US" sz="20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1219200" y="4876800"/>
            <a:ext cx="6725029" cy="548406"/>
            <a:chOff x="1219200" y="4876800"/>
            <a:chExt cx="6725029" cy="548406"/>
          </a:xfrm>
        </p:grpSpPr>
        <p:grpSp>
          <p:nvGrpSpPr>
            <p:cNvPr id="24" name="Group 23"/>
            <p:cNvGrpSpPr/>
            <p:nvPr/>
          </p:nvGrpSpPr>
          <p:grpSpPr>
            <a:xfrm>
              <a:off x="1219200" y="4876800"/>
              <a:ext cx="446661" cy="521732"/>
              <a:chOff x="1219200" y="4876800"/>
              <a:chExt cx="446661" cy="521732"/>
            </a:xfrm>
          </p:grpSpPr>
          <p:sp>
            <p:nvSpPr>
              <p:cNvPr id="22" name="Oval 21"/>
              <p:cNvSpPr/>
              <p:nvPr/>
            </p:nvSpPr>
            <p:spPr>
              <a:xfrm>
                <a:off x="1371600" y="48768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/>
                  <p:cNvSpPr txBox="1"/>
                  <p:nvPr/>
                </p:nvSpPr>
                <p:spPr>
                  <a:xfrm>
                    <a:off x="1219200" y="5029200"/>
                    <a:ext cx="44666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3" name="TextBox 2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19200" y="5029200"/>
                    <a:ext cx="446661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197" r="-1780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5" name="Group 24"/>
            <p:cNvGrpSpPr/>
            <p:nvPr/>
          </p:nvGrpSpPr>
          <p:grpSpPr>
            <a:xfrm>
              <a:off x="1534539" y="4876800"/>
              <a:ext cx="451982" cy="521732"/>
              <a:chOff x="1219200" y="4876800"/>
              <a:chExt cx="451982" cy="521732"/>
            </a:xfrm>
          </p:grpSpPr>
          <p:sp>
            <p:nvSpPr>
              <p:cNvPr id="26" name="Oval 25"/>
              <p:cNvSpPr/>
              <p:nvPr/>
            </p:nvSpPr>
            <p:spPr>
              <a:xfrm>
                <a:off x="1371600" y="48768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/>
                  <p:cNvSpPr txBox="1"/>
                  <p:nvPr/>
                </p:nvSpPr>
                <p:spPr>
                  <a:xfrm>
                    <a:off x="1219200" y="5029200"/>
                    <a:ext cx="45198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7" name="TextBox 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19200" y="5029200"/>
                    <a:ext cx="451982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1756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8" name="Group 27"/>
            <p:cNvGrpSpPr/>
            <p:nvPr/>
          </p:nvGrpSpPr>
          <p:grpSpPr>
            <a:xfrm>
              <a:off x="3276600" y="4876800"/>
              <a:ext cx="567078" cy="521732"/>
              <a:chOff x="1219200" y="4876800"/>
              <a:chExt cx="567078" cy="521732"/>
            </a:xfrm>
          </p:grpSpPr>
          <p:sp>
            <p:nvSpPr>
              <p:cNvPr id="29" name="Oval 28"/>
              <p:cNvSpPr/>
              <p:nvPr/>
            </p:nvSpPr>
            <p:spPr>
              <a:xfrm>
                <a:off x="1371600" y="48768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/>
                  <p:cNvSpPr txBox="1"/>
                  <p:nvPr/>
                </p:nvSpPr>
                <p:spPr>
                  <a:xfrm>
                    <a:off x="1219200" y="5029200"/>
                    <a:ext cx="56707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𝑏𝑛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0" name="TextBox 2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19200" y="5029200"/>
                    <a:ext cx="567078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1397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1" name="Group 30"/>
            <p:cNvGrpSpPr/>
            <p:nvPr/>
          </p:nvGrpSpPr>
          <p:grpSpPr>
            <a:xfrm>
              <a:off x="7478139" y="4876800"/>
              <a:ext cx="466090" cy="521732"/>
              <a:chOff x="1219200" y="4876800"/>
              <a:chExt cx="466090" cy="521732"/>
            </a:xfrm>
          </p:grpSpPr>
          <p:sp>
            <p:nvSpPr>
              <p:cNvPr id="32" name="Oval 31"/>
              <p:cNvSpPr/>
              <p:nvPr/>
            </p:nvSpPr>
            <p:spPr>
              <a:xfrm>
                <a:off x="1371600" y="48768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/>
                  <p:cNvSpPr txBox="1"/>
                  <p:nvPr/>
                </p:nvSpPr>
                <p:spPr>
                  <a:xfrm>
                    <a:off x="1219200" y="5029200"/>
                    <a:ext cx="46609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3" name="TextBox 3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19200" y="5029200"/>
                    <a:ext cx="466090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197" r="-1710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4" name="Group 33"/>
            <p:cNvGrpSpPr/>
            <p:nvPr/>
          </p:nvGrpSpPr>
          <p:grpSpPr>
            <a:xfrm>
              <a:off x="5528922" y="4876800"/>
              <a:ext cx="932243" cy="548406"/>
              <a:chOff x="1219200" y="4876800"/>
              <a:chExt cx="932243" cy="548406"/>
            </a:xfrm>
          </p:grpSpPr>
          <p:sp>
            <p:nvSpPr>
              <p:cNvPr id="35" name="Oval 34"/>
              <p:cNvSpPr/>
              <p:nvPr/>
            </p:nvSpPr>
            <p:spPr>
              <a:xfrm>
                <a:off x="1371600" y="48768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TextBox 35"/>
                  <p:cNvSpPr txBox="1"/>
                  <p:nvPr/>
                </p:nvSpPr>
                <p:spPr>
                  <a:xfrm>
                    <a:off x="1219200" y="5029200"/>
                    <a:ext cx="932243" cy="39600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(1−</m:t>
                              </m:r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)</m:t>
                              </m:r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6" name="TextBox 3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19200" y="5029200"/>
                    <a:ext cx="932243" cy="396006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6154" r="-7843" b="-1846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7" name="Oval 36"/>
            <p:cNvSpPr/>
            <p:nvPr/>
          </p:nvSpPr>
          <p:spPr>
            <a:xfrm>
              <a:off x="2209800" y="48768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2438400" y="48768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/>
            <p:cNvSpPr/>
            <p:nvPr/>
          </p:nvSpPr>
          <p:spPr>
            <a:xfrm>
              <a:off x="2667000" y="48768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/>
            <p:cNvSpPr/>
            <p:nvPr/>
          </p:nvSpPr>
          <p:spPr>
            <a:xfrm>
              <a:off x="4267200" y="48768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/>
            <p:cNvSpPr/>
            <p:nvPr/>
          </p:nvSpPr>
          <p:spPr>
            <a:xfrm>
              <a:off x="4572000" y="48768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/>
            <p:cNvSpPr/>
            <p:nvPr/>
          </p:nvSpPr>
          <p:spPr>
            <a:xfrm>
              <a:off x="4876800" y="48768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/>
            <p:cNvSpPr/>
            <p:nvPr/>
          </p:nvSpPr>
          <p:spPr>
            <a:xfrm>
              <a:off x="6477000" y="48768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/>
            <p:cNvSpPr/>
            <p:nvPr/>
          </p:nvSpPr>
          <p:spPr>
            <a:xfrm>
              <a:off x="6781800" y="48768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/>
            <p:cNvSpPr/>
            <p:nvPr/>
          </p:nvSpPr>
          <p:spPr>
            <a:xfrm>
              <a:off x="7086600" y="48768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" name="Right Brace 49"/>
          <p:cNvSpPr/>
          <p:nvPr/>
        </p:nvSpPr>
        <p:spPr>
          <a:xfrm rot="16200000">
            <a:off x="4404301" y="3368098"/>
            <a:ext cx="381001" cy="2484003"/>
          </a:xfrm>
          <a:prstGeom prst="rightBrac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3886200" y="4888468"/>
            <a:ext cx="367986" cy="521732"/>
            <a:chOff x="4280214" y="5029200"/>
            <a:chExt cx="367986" cy="521732"/>
          </a:xfrm>
        </p:grpSpPr>
        <p:sp>
          <p:nvSpPr>
            <p:cNvPr id="38" name="Oval 37"/>
            <p:cNvSpPr/>
            <p:nvPr/>
          </p:nvSpPr>
          <p:spPr>
            <a:xfrm>
              <a:off x="4419600" y="5029200"/>
              <a:ext cx="152400" cy="1524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4280214" y="5181600"/>
                  <a:ext cx="3679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0214" y="5181600"/>
                  <a:ext cx="367986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2166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Rectangle 5"/>
          <p:cNvSpPr/>
          <p:nvPr/>
        </p:nvSpPr>
        <p:spPr>
          <a:xfrm>
            <a:off x="2345472" y="2743200"/>
            <a:ext cx="4169627" cy="304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1828800" y="3124200"/>
            <a:ext cx="3124200" cy="304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58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3" dur="1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0" grpId="0" animBg="1"/>
      <p:bldP spid="6" grpId="0" animBg="1"/>
      <p:bldP spid="4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dirty="0"/>
                  <a:t>Learning from 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QuickSelect</a:t>
                </a:r>
                <a:r>
                  <a:rPr lang="en-US" sz="3200" b="1" dirty="0"/>
                  <a:t>(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3200" b="1" dirty="0"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3200" b="1" dirty="0"/>
                  <a:t>)</a:t>
                </a:r>
                <a:endParaRPr lang="en-US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5344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QuickSelect</a:t>
                </a:r>
                <a:r>
                  <a:rPr lang="en-US" sz="2000" b="1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{        Pick an element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b="1" dirty="0"/>
                  <a:t>from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b="1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          </a:t>
                </a:r>
                <a:r>
                  <a:rPr lang="en-US" sz="2000" b="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𝑺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&lt;</m:t>
                        </m:r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sz="2000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𝑺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&gt;</m:t>
                        </m:r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sz="2000" b="1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𝒓</m:t>
                    </m:r>
                  </m:oMath>
                </a14:m>
                <a:r>
                  <a:rPr lang="en-US" sz="2000" b="1" dirty="0"/>
                  <a:t>)</a:t>
                </a:r>
                <a:r>
                  <a:rPr lang="en-US" sz="2000" b="1" dirty="0">
                    <a:sym typeface="Wingdings" pitchFamily="2" charset="2"/>
                  </a:rPr>
                  <a:t> </a:t>
                </a:r>
                <a:r>
                  <a:rPr lang="en-US" sz="2000" b="1" dirty="0">
                    <a:solidFill>
                      <a:srgbClr val="7030A0"/>
                    </a:solidFill>
                    <a:sym typeface="Wingdings" pitchFamily="2" charset="2"/>
                  </a:rPr>
                  <a:t>Partition</a:t>
                </a:r>
                <a:r>
                  <a:rPr lang="en-US" sz="2000" b="1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);</a:t>
                </a:r>
                <a:r>
                  <a:rPr lang="en-US" sz="2000" b="1" dirty="0"/>
                  <a:t>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If(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b="1" dirty="0"/>
                  <a:t> 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𝒓</m:t>
                    </m:r>
                  </m:oMath>
                </a14:m>
                <a:r>
                  <a:rPr lang="en-US" sz="2000" b="1" dirty="0"/>
                  <a:t>) return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b="1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Else If 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b="1" dirty="0"/>
                  <a:t>&lt;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𝒓</m:t>
                    </m:r>
                  </m:oMath>
                </a14:m>
                <a:r>
                  <a:rPr lang="en-US" sz="2000" b="1" dirty="0"/>
                  <a:t>)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                                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QuickSelect</a:t>
                </a:r>
                <a:r>
                  <a:rPr lang="en-US" sz="2000" b="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𝑺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&lt;</m:t>
                        </m:r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sz="2000" b="1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                    </a:t>
                </a:r>
                <a:r>
                  <a:rPr lang="en-US" sz="2000" b="1" dirty="0"/>
                  <a:t>Else      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                                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QuickSelect</a:t>
                </a:r>
                <a:r>
                  <a:rPr lang="en-US" sz="2000" b="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𝑺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&gt;</m:t>
                        </m:r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sz="2000" b="1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𝒓</m:t>
                    </m:r>
                  </m:oMath>
                </a14:m>
                <a:r>
                  <a:rPr lang="en-US" sz="2000" b="1" dirty="0"/>
                  <a:t>);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}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1800" b="1" dirty="0"/>
                  <a:t>Answer:    T(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b="1" dirty="0"/>
                  <a:t>) = </a:t>
                </a:r>
                <a14:m>
                  <m:oMath xmlns:m="http://schemas.openxmlformats.org/officeDocument/2006/math">
                    <m:r>
                      <a:rPr lang="en-US" sz="1800" b="1" i="0" smtClean="0">
                        <a:solidFill>
                          <a:srgbClr val="0070C0"/>
                        </a:solidFill>
                        <a:latin typeface="Cambria Math"/>
                      </a:rPr>
                      <m:t>𝐜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dirty="0"/>
                  <a:t>  + </a:t>
                </a:r>
                <a:r>
                  <a:rPr lang="en-US" sz="1800" b="1" dirty="0"/>
                  <a:t>T(</a:t>
                </a:r>
                <a14:m>
                  <m:oMath xmlns:m="http://schemas.openxmlformats.org/officeDocument/2006/math">
                    <m:r>
                      <a:rPr lang="en-US" sz="1800" b="1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r>
                      <a:rPr lang="en-US" sz="1800" b="1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1800" b="1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𝒃</m:t>
                    </m:r>
                    <m:r>
                      <a:rPr lang="en-US" sz="1800" b="1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b="1" dirty="0"/>
                  <a:t>) 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                            =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800" b="1" dirty="0"/>
                  <a:t>(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b="1" dirty="0"/>
                  <a:t>)</a:t>
                </a:r>
                <a:endParaRPr lang="en-US" sz="2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534400" cy="4525963"/>
              </a:xfrm>
              <a:blipFill rotWithShape="1">
                <a:blip r:embed="rId3"/>
                <a:stretch>
                  <a:fillRect l="-714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6" name="Right Brace 5"/>
          <p:cNvSpPr/>
          <p:nvPr/>
        </p:nvSpPr>
        <p:spPr>
          <a:xfrm>
            <a:off x="4800602" y="1905000"/>
            <a:ext cx="251088" cy="838200"/>
          </a:xfrm>
          <a:prstGeom prst="rightBrac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Brace 8"/>
          <p:cNvSpPr/>
          <p:nvPr/>
        </p:nvSpPr>
        <p:spPr>
          <a:xfrm>
            <a:off x="4800600" y="2971800"/>
            <a:ext cx="153924" cy="1752600"/>
          </a:xfrm>
          <a:prstGeom prst="rightBrac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879411" y="4876800"/>
            <a:ext cx="997389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C31"/>
                </a:solidFill>
              </a:rPr>
              <a:t>Lesson 1</a:t>
            </a:r>
            <a:endParaRPr lang="en-US" sz="2000" dirty="0">
              <a:solidFill>
                <a:srgbClr val="006C3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loud Callout 11"/>
              <p:cNvSpPr/>
              <p:nvPr/>
            </p:nvSpPr>
            <p:spPr>
              <a:xfrm>
                <a:off x="5257800" y="4724400"/>
                <a:ext cx="3962400" cy="1603248"/>
              </a:xfrm>
              <a:prstGeom prst="cloudCallou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What is time complexity of the algorithm 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 if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is a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𝒃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-</a:t>
                </a:r>
                <a:r>
                  <a:rPr lang="en-US" dirty="0" err="1">
                    <a:solidFill>
                      <a:schemeClr val="tx1"/>
                    </a:solidFill>
                  </a:rPr>
                  <a:t>approximate</a:t>
                </a:r>
                <a:r>
                  <a:rPr lang="en-US" dirty="0">
                    <a:solidFill>
                      <a:schemeClr val="tx1"/>
                    </a:solidFill>
                  </a:rPr>
                  <a:t> median of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? </a:t>
                </a:r>
                <a:endParaRPr lang="en-US" dirty="0"/>
              </a:p>
            </p:txBody>
          </p:sp>
        </mc:Choice>
        <mc:Fallback xmlns="">
          <p:sp>
            <p:nvSpPr>
              <p:cNvPr id="12" name="Cloud Callou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4724400"/>
                <a:ext cx="3962400" cy="1603248"/>
              </a:xfrm>
              <a:prstGeom prst="cloudCallou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5943600" y="5490713"/>
            <a:ext cx="2362200" cy="5290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050025" y="2155371"/>
                <a:ext cx="6335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b="1" dirty="0"/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b="1" dirty="0"/>
                  <a:t>)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0025" y="2155371"/>
                <a:ext cx="633507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7692" t="-8333" r="-1730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953000" y="3657600"/>
                <a:ext cx="14414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T(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r>
                      <a:rPr lang="en-US" b="1" i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b="1" i="0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𝒃</m:t>
                    </m:r>
                    <m:r>
                      <a:rPr lang="en-US" b="1" i="0" smtClean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b="1" dirty="0"/>
                  <a:t>)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3657600"/>
                <a:ext cx="1441420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3814" t="-8197" r="-296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1316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6" grpId="0" animBg="1"/>
      <p:bldP spid="9" grpId="0" animBg="1"/>
      <p:bldP spid="11" grpId="0" animBg="1"/>
      <p:bldP spid="12" grpId="0" animBg="1"/>
      <p:bldP spid="13" grpId="0" animBg="1"/>
      <p:bldP spid="13" grpId="1" animBg="1"/>
      <p:bldP spid="14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/>
              <a:t>Algorithm 2</a:t>
            </a:r>
            <a:endParaRPr 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/>
            <p:txBody>
              <a:bodyPr/>
              <a:lstStyle/>
              <a:p>
                <a:r>
                  <a:rPr lang="en-US" sz="2800" b="1" dirty="0">
                    <a:solidFill>
                      <a:srgbClr val="7030A0"/>
                    </a:solidFill>
                  </a:rPr>
                  <a:t>Select</a:t>
                </a:r>
                <a:r>
                  <a:rPr lang="en-US" sz="280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800" b="1" dirty="0">
                    <a:solidFill>
                      <a:schemeClr val="tx1"/>
                    </a:solidFill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)</a:t>
                </a:r>
              </a:p>
              <a:p>
                <a:r>
                  <a:rPr lang="en-US" sz="2800" dirty="0">
                    <a:solidFill>
                      <a:schemeClr val="tx1"/>
                    </a:solidFill>
                  </a:rPr>
                  <a:t>(A </a:t>
                </a:r>
                <a:r>
                  <a:rPr lang="en-US" sz="2800" b="1" dirty="0">
                    <a:solidFill>
                      <a:schemeClr val="tx1"/>
                    </a:solidFill>
                  </a:rPr>
                  <a:t>linear time </a:t>
                </a:r>
                <a:r>
                  <a:rPr lang="en-US" sz="2800" dirty="0">
                    <a:solidFill>
                      <a:schemeClr val="tx1"/>
                    </a:solidFill>
                  </a:rPr>
                  <a:t>algorithm)</a:t>
                </a:r>
              </a:p>
            </p:txBody>
          </p:sp>
        </mc:Choice>
        <mc:Fallback xmlns=""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blipFill rotWithShape="1">
                <a:blip r:embed="rId2"/>
                <a:stretch>
                  <a:fillRect t="-3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7107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Overview </a:t>
            </a:r>
            <a:r>
              <a:rPr lang="en-US" sz="3200" b="1" dirty="0"/>
              <a:t>of the algorithm</a:t>
            </a:r>
            <a:endParaRPr lang="en-US" sz="32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8458200" cy="53340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Select</a:t>
                </a:r>
                <a:r>
                  <a:rPr lang="en-US" sz="2000" b="1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{        </a:t>
                </a:r>
                <a:r>
                  <a:rPr lang="en-US" sz="2000" dirty="0"/>
                  <a:t>Compute a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𝒃</m:t>
                    </m:r>
                  </m:oMath>
                </a14:m>
                <a:r>
                  <a:rPr lang="en-US" sz="2000" dirty="0"/>
                  <a:t>-approximate median, say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, of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b="1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          </a:t>
                </a:r>
                <a:r>
                  <a:rPr lang="en-US" sz="2000" b="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𝑺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&lt;</m:t>
                        </m:r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sz="2000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𝑺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&gt;</m:t>
                        </m:r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sz="2000" b="1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𝒓</m:t>
                    </m:r>
                  </m:oMath>
                </a14:m>
                <a:r>
                  <a:rPr lang="en-US" sz="2000" b="1" dirty="0"/>
                  <a:t>)</a:t>
                </a:r>
                <a:r>
                  <a:rPr lang="en-US" sz="2000" b="1" dirty="0">
                    <a:sym typeface="Wingdings" pitchFamily="2" charset="2"/>
                  </a:rPr>
                  <a:t> </a:t>
                </a:r>
                <a:r>
                  <a:rPr lang="en-US" sz="2000" b="1" dirty="0">
                    <a:solidFill>
                      <a:srgbClr val="7030A0"/>
                    </a:solidFill>
                    <a:sym typeface="Wingdings" pitchFamily="2" charset="2"/>
                  </a:rPr>
                  <a:t>Partition</a:t>
                </a:r>
                <a:r>
                  <a:rPr lang="en-US" sz="2000" b="1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);</a:t>
                </a:r>
                <a:r>
                  <a:rPr lang="en-US" sz="2000" b="1" dirty="0"/>
                  <a:t>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If(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b="1" dirty="0"/>
                  <a:t> 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𝒓</m:t>
                    </m:r>
                  </m:oMath>
                </a14:m>
                <a:r>
                  <a:rPr lang="en-US" sz="2000" b="1" dirty="0"/>
                  <a:t>) return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b="1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Else If 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b="1" dirty="0"/>
                  <a:t>&lt;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𝒓</m:t>
                    </m:r>
                  </m:oMath>
                </a14:m>
                <a:r>
                  <a:rPr lang="en-US" sz="2000" b="1" dirty="0"/>
                  <a:t>)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                                Select</a:t>
                </a:r>
                <a:r>
                  <a:rPr lang="en-US" sz="2000" b="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𝑺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&lt;</m:t>
                        </m:r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sz="2000" b="1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                    </a:t>
                </a:r>
                <a:r>
                  <a:rPr lang="en-US" sz="2000" b="1" dirty="0"/>
                  <a:t>Else      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                                Select</a:t>
                </a:r>
                <a:r>
                  <a:rPr lang="en-US" sz="2000" b="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𝑺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&gt;</m:t>
                        </m:r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sz="2000" b="1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𝒓</m:t>
                    </m:r>
                  </m:oMath>
                </a14:m>
                <a:r>
                  <a:rPr lang="en-US" sz="2000" b="1" dirty="0"/>
                  <a:t>);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}</a:t>
                </a: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2060"/>
                    </a:solidFill>
                  </a:rPr>
                  <a:t>Observation: </a:t>
                </a:r>
                <a:r>
                  <a:rPr lang="en-US" sz="1600" dirty="0"/>
                  <a:t>If we can compute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𝒃</m:t>
                    </m:r>
                  </m:oMath>
                </a14:m>
                <a:r>
                  <a:rPr lang="en-US" sz="1600" dirty="0"/>
                  <a:t>-approximate median in </a:t>
                </a:r>
                <a:r>
                  <a:rPr lang="en-US" sz="16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600" b="1" dirty="0"/>
                  <a:t>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m:rPr>
                        <m:nor/>
                      </m:rPr>
                      <a:rPr lang="en-US" sz="1600" b="1" dirty="0"/>
                      <m:t>)</m:t>
                    </m:r>
                  </m:oMath>
                </a14:m>
                <a:r>
                  <a:rPr lang="en-US" sz="1600" dirty="0"/>
                  <a:t> time, we get </a:t>
                </a:r>
                <a:r>
                  <a:rPr lang="en-US" sz="16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600" b="1" dirty="0"/>
                  <a:t>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600" b="1" dirty="0"/>
                  <a:t>) </a:t>
                </a:r>
                <a:r>
                  <a:rPr lang="en-US" sz="1600" dirty="0"/>
                  <a:t>time </a:t>
                </a:r>
                <a:r>
                  <a:rPr lang="en-US" sz="1600" dirty="0" err="1"/>
                  <a:t>algo</a:t>
                </a:r>
                <a:r>
                  <a:rPr lang="en-US" sz="1600" b="1" dirty="0"/>
                  <a:t>.</a:t>
                </a:r>
              </a:p>
              <a:p>
                <a:pPr marL="0" indent="0">
                  <a:buNone/>
                </a:pPr>
                <a:r>
                  <a:rPr lang="en-US" sz="1600" dirty="0"/>
                  <a:t>But that appears too much to expect from us. Isn’t it ? </a:t>
                </a:r>
              </a:p>
              <a:p>
                <a:pPr marL="0" indent="0">
                  <a:buNone/>
                </a:pPr>
                <a:r>
                  <a:rPr lang="en-US" sz="1600" dirty="0"/>
                  <a:t>So what to do </a:t>
                </a:r>
                <a:r>
                  <a:rPr lang="en-US" sz="1600" dirty="0">
                    <a:sym typeface="Wingdings" pitchFamily="2" charset="2"/>
                  </a:rPr>
                  <a:t> </a:t>
                </a:r>
                <a:r>
                  <a:rPr lang="en-US" sz="1600" dirty="0"/>
                  <a:t>? </a:t>
                </a:r>
              </a:p>
              <a:p>
                <a:pPr marL="0" indent="0">
                  <a:buNone/>
                </a:pPr>
                <a:endParaRPr lang="en-US" sz="1600" b="1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2060"/>
                    </a:solidFill>
                  </a:rPr>
                  <a:t>Observation: </a:t>
                </a:r>
                <a:r>
                  <a:rPr lang="en-US" sz="1600" dirty="0"/>
                  <a:t>If we can compute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𝒃</m:t>
                    </m:r>
                  </m:oMath>
                </a14:m>
                <a:r>
                  <a:rPr lang="en-US" sz="1600" dirty="0"/>
                  <a:t>-approximate median in </a:t>
                </a:r>
                <a:r>
                  <a:rPr lang="en-US" sz="16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600" b="1" dirty="0"/>
                  <a:t>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m:rPr>
                        <m:nor/>
                      </m:rPr>
                      <a:rPr lang="en-US" sz="1600" b="1" dirty="0"/>
                      <m:t>)+</m:t>
                    </m:r>
                    <m:r>
                      <m:rPr>
                        <m:nor/>
                      </m:rPr>
                      <a:rPr lang="en-US" sz="1600" b="1" dirty="0">
                        <a:solidFill>
                          <a:srgbClr val="0070C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1600" b="1" dirty="0"/>
                      <m:t>T</m:t>
                    </m:r>
                    <m:r>
                      <m:rPr>
                        <m:nor/>
                      </m:rPr>
                      <a:rPr lang="en-US" sz="1600" dirty="0"/>
                      <m:t>(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𝒅𝒏</m:t>
                    </m:r>
                    <m:r>
                      <m:rPr>
                        <m:nor/>
                      </m:rPr>
                      <a:rPr lang="en-US" sz="1600" dirty="0"/>
                      <m:t>)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</m:oMath>
                </a14:m>
                <a:r>
                  <a:rPr lang="en-US" sz="1600" dirty="0"/>
                  <a:t>time for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𝒅</m:t>
                    </m:r>
                  </m:oMath>
                </a14:m>
                <a:r>
                  <a:rPr lang="en-US" sz="1600" dirty="0"/>
                  <a:t>+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𝒃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600" dirty="0"/>
                  <a:t> &lt; </a:t>
                </a:r>
                <a:r>
                  <a:rPr lang="en-US" sz="1600" dirty="0">
                    <a:solidFill>
                      <a:srgbClr val="0070C0"/>
                    </a:solidFill>
                  </a:rPr>
                  <a:t>1</a:t>
                </a:r>
                <a:r>
                  <a:rPr lang="en-US" sz="1600" dirty="0"/>
                  <a:t>, the </a:t>
                </a:r>
              </a:p>
              <a:p>
                <a:pPr marL="0" indent="0">
                  <a:buNone/>
                </a:pPr>
                <a:r>
                  <a:rPr lang="en-US" sz="1600" dirty="0"/>
                  <a:t>time complexity of the algorithm will still be </a:t>
                </a:r>
                <a:r>
                  <a:rPr lang="en-US" sz="16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600" b="1" dirty="0"/>
                  <a:t>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600" b="1" dirty="0"/>
                  <a:t>).</a:t>
                </a: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8458200" cy="5334000"/>
              </a:xfrm>
              <a:blipFill rotWithShape="1">
                <a:blip r:embed="rId2"/>
                <a:stretch>
                  <a:fillRect l="-720" t="-571" r="-1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483377" y="1981202"/>
            <a:ext cx="799590" cy="419097"/>
            <a:chOff x="5715183" y="2330451"/>
            <a:chExt cx="732831" cy="488945"/>
          </a:xfrm>
        </p:grpSpPr>
        <p:sp>
          <p:nvSpPr>
            <p:cNvPr id="6" name="Right Brace 5"/>
            <p:cNvSpPr/>
            <p:nvPr/>
          </p:nvSpPr>
          <p:spPr>
            <a:xfrm>
              <a:off x="5715183" y="2330451"/>
              <a:ext cx="153741" cy="355599"/>
            </a:xfrm>
            <a:prstGeom prst="rightBrac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5867400" y="2388509"/>
                  <a:ext cx="580614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</a:rPr>
                    <a:t>O</a:t>
                  </a:r>
                  <a:r>
                    <a:rPr lang="en-US" b="1" dirty="0"/>
                    <a:t>(</a:t>
                  </a:r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</m:oMath>
                  </a14:m>
                  <a:r>
                    <a:rPr lang="en-US" b="1" dirty="0"/>
                    <a:t>)</a:t>
                  </a:r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7400" y="2388509"/>
                  <a:ext cx="580614" cy="430887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8654" t="-8197" r="-1634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/>
          <p:cNvGrpSpPr/>
          <p:nvPr/>
        </p:nvGrpSpPr>
        <p:grpSpPr>
          <a:xfrm>
            <a:off x="6483377" y="2400299"/>
            <a:ext cx="1593823" cy="1866901"/>
            <a:chOff x="5714997" y="876299"/>
            <a:chExt cx="1593823" cy="1866901"/>
          </a:xfrm>
        </p:grpSpPr>
        <p:sp>
          <p:nvSpPr>
            <p:cNvPr id="9" name="Right Brace 8"/>
            <p:cNvSpPr/>
            <p:nvPr/>
          </p:nvSpPr>
          <p:spPr>
            <a:xfrm>
              <a:off x="5714997" y="876299"/>
              <a:ext cx="153927" cy="1866901"/>
            </a:xfrm>
            <a:prstGeom prst="rightBrac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5867400" y="1600200"/>
                  <a:ext cx="14414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T(</a:t>
                  </a:r>
                  <a:r>
                    <a:rPr lang="en-US" b="1" dirty="0">
                      <a:solidFill>
                        <a:srgbClr val="0070C0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0070C0"/>
                          </a:solidFill>
                          <a:latin typeface="Cambria Math"/>
                        </a:rPr>
                        <m:t>(</m:t>
                      </m:r>
                      <m:r>
                        <a:rPr lang="en-US" b="1" i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  <m:r>
                        <a:rPr lang="en-US" b="1" i="0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b="1" i="0" smtClean="0">
                          <a:solidFill>
                            <a:srgbClr val="0070C0"/>
                          </a:solidFill>
                          <a:latin typeface="Cambria Math"/>
                        </a:rPr>
                        <m:t>)</m:t>
                      </m:r>
                      <m:r>
                        <a:rPr lang="en-US" b="1" i="1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</m:oMath>
                  </a14:m>
                  <a:r>
                    <a:rPr lang="en-US" b="1" dirty="0"/>
                    <a:t>)</a:t>
                  </a:r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7400" y="1600200"/>
                  <a:ext cx="1441420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3814" t="-8333" r="-2966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/>
          <p:cNvGrpSpPr/>
          <p:nvPr/>
        </p:nvGrpSpPr>
        <p:grpSpPr>
          <a:xfrm>
            <a:off x="6483382" y="1535668"/>
            <a:ext cx="1573840" cy="369332"/>
            <a:chOff x="5715185" y="2402120"/>
            <a:chExt cx="1442437" cy="430886"/>
          </a:xfrm>
        </p:grpSpPr>
        <p:sp>
          <p:nvSpPr>
            <p:cNvPr id="12" name="Right Brace 11"/>
            <p:cNvSpPr/>
            <p:nvPr/>
          </p:nvSpPr>
          <p:spPr>
            <a:xfrm>
              <a:off x="5715185" y="2477409"/>
              <a:ext cx="153739" cy="341991"/>
            </a:xfrm>
            <a:prstGeom prst="rightBrac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5867400" y="2402120"/>
                  <a:ext cx="1290222" cy="430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</a:rPr>
                    <a:t>O</a:t>
                  </a:r>
                  <a:r>
                    <a:rPr lang="en-US" b="1" dirty="0"/>
                    <a:t>(</a:t>
                  </a:r>
                  <a14:m>
                    <m:oMath xmlns:m="http://schemas.openxmlformats.org/officeDocument/2006/math">
                      <m:r>
                        <a:rPr lang="en-US" b="1" i="1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  <m:r>
                        <m:rPr>
                          <m:nor/>
                        </m:rPr>
                        <a:rPr lang="en-US" b="1" i="0" dirty="0" smtClean="0"/>
                        <m:t>) +</m:t>
                      </m:r>
                      <m:r>
                        <m:rPr>
                          <m:nor/>
                        </m:rPr>
                        <a:rPr lang="en-US" b="1" dirty="0">
                          <a:solidFill>
                            <a:srgbClr val="0070C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b="1" dirty="0"/>
                        <m:t>T</m:t>
                      </m:r>
                      <m:r>
                        <m:rPr>
                          <m:nor/>
                        </m:rPr>
                        <a:rPr lang="en-US" dirty="0"/>
                        <m:t>(</m:t>
                      </m:r>
                      <m:r>
                        <a:rPr lang="en-US" b="1" i="1">
                          <a:solidFill>
                            <a:srgbClr val="0070C0"/>
                          </a:solidFill>
                          <a:latin typeface="Cambria Math"/>
                        </a:rPr>
                        <m:t>𝒅𝒏</m:t>
                      </m:r>
                      <m:r>
                        <m:rPr>
                          <m:nor/>
                        </m:rPr>
                        <a:rPr lang="en-US" dirty="0"/>
                        <m:t>)</m:t>
                      </m:r>
                    </m:oMath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7400" y="2402120"/>
                  <a:ext cx="1290222" cy="430886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3896" t="-8197" r="-692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TextBox 13"/>
          <p:cNvSpPr txBox="1"/>
          <p:nvPr/>
        </p:nvSpPr>
        <p:spPr>
          <a:xfrm>
            <a:off x="1310197" y="6324600"/>
            <a:ext cx="5928803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Spend some time on this observation to infer what it hints at.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39000" y="1512332"/>
            <a:ext cx="914400" cy="3926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3775903" y="5288346"/>
            <a:ext cx="1900970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Hint: use </a:t>
            </a:r>
            <a:r>
              <a:rPr lang="en-US" b="1" dirty="0">
                <a:solidFill>
                  <a:srgbClr val="006C31"/>
                </a:solidFill>
              </a:rPr>
              <a:t>Lesson 2</a:t>
            </a:r>
            <a:endParaRPr lang="en-US" sz="2000" dirty="0">
              <a:solidFill>
                <a:srgbClr val="006C3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181600" y="5715000"/>
            <a:ext cx="36576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765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14" grpId="0" animBg="1"/>
      <p:bldP spid="15" grpId="0" animBg="1"/>
      <p:bldP spid="16" grpId="0" animBg="1"/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71600"/>
                <a:ext cx="8610600" cy="47545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AIM: </a:t>
                </a:r>
                <a:r>
                  <a:rPr lang="en-US" sz="1800" dirty="0"/>
                  <a:t>How to compute a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𝒃</m:t>
                    </m:r>
                  </m:oMath>
                </a14:m>
                <a:r>
                  <a:rPr lang="en-US" sz="1800" dirty="0"/>
                  <a:t>-approximate median of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          in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800" b="1" dirty="0"/>
                  <a:t>(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1800" b="1">
                        <a:latin typeface="Cambria Math"/>
                      </a:rPr>
                      <m:t>)</m:t>
                    </m:r>
                    <m:r>
                      <m:rPr>
                        <m:nor/>
                      </m:rPr>
                      <a:rPr lang="en-US" sz="1800" b="1" dirty="0"/>
                      <m:t>+</m:t>
                    </m:r>
                    <m:r>
                      <m:rPr>
                        <m:nor/>
                      </m:rPr>
                      <a:rPr lang="en-US" sz="1800" b="1" dirty="0">
                        <a:solidFill>
                          <a:srgbClr val="0070C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1800" b="1" dirty="0"/>
                      <m:t>T</m:t>
                    </m:r>
                    <m:r>
                      <m:rPr>
                        <m:nor/>
                      </m:rPr>
                      <a:rPr lang="en-US" sz="1800" dirty="0"/>
                      <m:t>(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𝒅𝒏</m:t>
                    </m:r>
                    <m:r>
                      <m:rPr>
                        <m:nor/>
                      </m:rPr>
                      <a:rPr lang="en-US" sz="1800" dirty="0"/>
                      <m:t>)</m:t>
                    </m:r>
                  </m:oMath>
                </a14:m>
                <a:r>
                  <a:rPr lang="en-US" sz="1800" b="1" dirty="0"/>
                  <a:t> </a:t>
                </a:r>
                <a:r>
                  <a:rPr lang="en-US" sz="1800" dirty="0"/>
                  <a:t>time with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𝒅</m:t>
                    </m:r>
                  </m:oMath>
                </a14:m>
                <a:r>
                  <a:rPr lang="en-US" sz="1800" dirty="0"/>
                  <a:t>+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𝒃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&lt; </a:t>
                </a:r>
                <a:r>
                  <a:rPr lang="en-US" sz="1800" dirty="0">
                    <a:solidFill>
                      <a:srgbClr val="0070C0"/>
                    </a:solidFill>
                  </a:rPr>
                  <a:t>1</a:t>
                </a:r>
                <a:r>
                  <a:rPr lang="en-US" sz="1800" dirty="0"/>
                  <a:t>?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7030A0"/>
                    </a:solidFill>
                  </a:rPr>
                  <a:t>Question</a:t>
                </a:r>
                <a:r>
                  <a:rPr lang="en-US" sz="1800" dirty="0"/>
                  <a:t>:  Can we form a set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𝑴</m:t>
                    </m:r>
                  </m:oMath>
                </a14:m>
                <a:r>
                  <a:rPr lang="en-IN" sz="1800" dirty="0"/>
                  <a:t> of size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𝒅𝒏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IN" sz="1800" dirty="0"/>
                  <a:t>such that </a:t>
                </a:r>
              </a:p>
              <a:p>
                <a:pPr marL="0" indent="0">
                  <a:buNone/>
                </a:pPr>
                <a:r>
                  <a:rPr lang="en-IN" sz="1800" dirty="0"/>
                  <a:t>                   </a:t>
                </a:r>
                <a:r>
                  <a:rPr lang="en-IN" sz="1800" b="1" dirty="0"/>
                  <a:t>exact</a:t>
                </a:r>
                <a:r>
                  <a:rPr lang="en-IN" sz="1800" dirty="0"/>
                  <a:t> median of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𝑴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IN" sz="1800" dirty="0"/>
                  <a:t>is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𝒃</m:t>
                    </m:r>
                  </m:oMath>
                </a14:m>
                <a:r>
                  <a:rPr lang="en-IN" sz="1800" dirty="0"/>
                  <a:t>-</a:t>
                </a:r>
                <a:r>
                  <a:rPr lang="en-IN" sz="1800" b="1" dirty="0"/>
                  <a:t>approximate</a:t>
                </a:r>
                <a:r>
                  <a:rPr lang="en-IN" sz="1800" dirty="0"/>
                  <a:t> median of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IN" sz="1800" dirty="0"/>
                  <a:t>?</a:t>
                </a: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dirty="0"/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71600"/>
                <a:ext cx="8610600" cy="4754563"/>
              </a:xfrm>
              <a:blipFill rotWithShape="1">
                <a:blip r:embed="rId2"/>
                <a:stretch>
                  <a:fillRect l="-708" t="-641" b="-905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grpSp>
        <p:nvGrpSpPr>
          <p:cNvPr id="25" name="Group 24"/>
          <p:cNvGrpSpPr/>
          <p:nvPr/>
        </p:nvGrpSpPr>
        <p:grpSpPr>
          <a:xfrm>
            <a:off x="3059989" y="2209800"/>
            <a:ext cx="3493211" cy="1034534"/>
            <a:chOff x="-64211" y="1480066"/>
            <a:chExt cx="3493211" cy="1034534"/>
          </a:xfrm>
        </p:grpSpPr>
        <p:sp>
          <p:nvSpPr>
            <p:cNvPr id="26" name="Oval 25"/>
            <p:cNvSpPr/>
            <p:nvPr/>
          </p:nvSpPr>
          <p:spPr>
            <a:xfrm>
              <a:off x="381000" y="1480066"/>
              <a:ext cx="3048000" cy="1034534"/>
            </a:xfrm>
            <a:prstGeom prst="ellipse">
              <a:avLst/>
            </a:prstGeom>
            <a:blipFill>
              <a:blip r:embed="rId3"/>
              <a:tile tx="0" ty="0" sx="100000" sy="100000" flip="none" algn="tl"/>
            </a:blip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82"/>
                <p:cNvSpPr txBox="1"/>
                <p:nvPr/>
              </p:nvSpPr>
              <p:spPr>
                <a:xfrm>
                  <a:off x="-64211" y="1796534"/>
                  <a:ext cx="36901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+mn-ea"/>
                      <a:cs typeface="Arial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+mn-ea"/>
                      <a:cs typeface="Arial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+mn-ea"/>
                      <a:cs typeface="Arial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+mn-ea"/>
                      <a:cs typeface="Arial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+mn-ea"/>
                      <a:cs typeface="Arial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+mn-ea"/>
                      <a:cs typeface="Arial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+mn-ea"/>
                      <a:cs typeface="Arial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+mn-ea"/>
                      <a:cs typeface="Arial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+mn-ea"/>
                      <a:cs typeface="Arial" charset="0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𝑺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27" name="TextBox 8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4211" y="1796534"/>
                  <a:ext cx="369011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1967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/>
          <p:cNvGrpSpPr/>
          <p:nvPr/>
        </p:nvGrpSpPr>
        <p:grpSpPr>
          <a:xfrm>
            <a:off x="3810000" y="4419600"/>
            <a:ext cx="1676400" cy="577334"/>
            <a:chOff x="152400" y="4528066"/>
            <a:chExt cx="1676400" cy="577334"/>
          </a:xfrm>
        </p:grpSpPr>
        <p:sp>
          <p:nvSpPr>
            <p:cNvPr id="29" name="Oval 28"/>
            <p:cNvSpPr/>
            <p:nvPr/>
          </p:nvSpPr>
          <p:spPr>
            <a:xfrm>
              <a:off x="609600" y="4528066"/>
              <a:ext cx="1219200" cy="577334"/>
            </a:xfrm>
            <a:prstGeom prst="ellipse">
              <a:avLst/>
            </a:prstGeom>
            <a:blipFill>
              <a:blip r:embed="rId5"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83"/>
                <p:cNvSpPr txBox="1"/>
                <p:nvPr/>
              </p:nvSpPr>
              <p:spPr>
                <a:xfrm>
                  <a:off x="152400" y="4572000"/>
                  <a:ext cx="44755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+mn-ea"/>
                      <a:cs typeface="Arial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+mn-ea"/>
                      <a:cs typeface="Arial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+mn-ea"/>
                      <a:cs typeface="Arial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+mn-ea"/>
                      <a:cs typeface="Arial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+mn-ea"/>
                      <a:cs typeface="Arial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+mn-ea"/>
                      <a:cs typeface="Arial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+mn-ea"/>
                      <a:cs typeface="Arial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+mn-ea"/>
                      <a:cs typeface="Arial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+mn-ea"/>
                      <a:cs typeface="Arial" charset="0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𝑴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0" name="TextBox 8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" y="4572000"/>
                  <a:ext cx="447558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1780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" name="Down Arrow 30"/>
          <p:cNvSpPr/>
          <p:nvPr/>
        </p:nvSpPr>
        <p:spPr>
          <a:xfrm>
            <a:off x="4766925" y="3352800"/>
            <a:ext cx="338475" cy="990600"/>
          </a:xfrm>
          <a:prstGeom prst="downArrow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971800" y="1752600"/>
            <a:ext cx="25146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168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1" grpId="0" animBg="1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2800" b="1" dirty="0"/>
                  <a:t>Forming the subset </a:t>
                </a: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rgbClr val="0070C0"/>
                        </a:solidFill>
                        <a:latin typeface="Cambria Math"/>
                      </a:rPr>
                      <m:t>𝑴</m:t>
                    </m:r>
                  </m:oMath>
                </a14:m>
                <a:r>
                  <a:rPr lang="en-US" sz="2800" dirty="0"/>
                  <a:t> with </a:t>
                </a:r>
                <a:br>
                  <a:rPr lang="en-US" sz="2800" dirty="0"/>
                </a:br>
                <a:r>
                  <a:rPr lang="en-US" sz="2800" b="1" dirty="0">
                    <a:solidFill>
                      <a:srgbClr val="7030A0"/>
                    </a:solidFill>
                  </a:rPr>
                  <a:t>desired parameters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295400"/>
                <a:ext cx="8686800" cy="5181600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sz="1800" dirty="0"/>
                  <a:t>    </a:t>
                </a:r>
                <a:r>
                  <a:rPr lang="en-US" sz="1800" i="1" dirty="0">
                    <a:solidFill>
                      <a:srgbClr val="002060"/>
                    </a:solidFill>
                  </a:rPr>
                  <a:t>This step forms the core of the algorithm and is indeed a brilliant stroke of inspiration. </a:t>
                </a:r>
              </a:p>
              <a:p>
                <a:pPr marL="0" indent="0" algn="ctr">
                  <a:buNone/>
                </a:pPr>
                <a:r>
                  <a:rPr lang="en-US" sz="1800" i="1" dirty="0">
                    <a:solidFill>
                      <a:srgbClr val="002060"/>
                    </a:solidFill>
                  </a:rPr>
                  <a:t>The student is strongly recommended to ponder over this idea from various angles.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r>
                  <a:rPr lang="en-US" sz="1800" dirty="0"/>
                  <a:t>Divide</a:t>
                </a:r>
                <a:r>
                  <a:rPr lang="en-US" sz="1800" b="1" dirty="0"/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1800" b="1" dirty="0"/>
                  <a:t> </a:t>
                </a:r>
                <a:r>
                  <a:rPr lang="en-US" sz="1800" dirty="0"/>
                  <a:t>into </a:t>
                </a:r>
                <a:r>
                  <a:rPr lang="en-US" sz="1800" b="1" dirty="0"/>
                  <a:t>groups</a:t>
                </a:r>
                <a:r>
                  <a:rPr lang="en-US" sz="1800" dirty="0"/>
                  <a:t> of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5</a:t>
                </a:r>
                <a:r>
                  <a:rPr lang="en-US" sz="1800" b="1" dirty="0"/>
                  <a:t> </a:t>
                </a:r>
                <a:r>
                  <a:rPr lang="en-US" sz="1800" dirty="0"/>
                  <a:t>elements;</a:t>
                </a:r>
                <a:r>
                  <a:rPr lang="en-US" sz="1800" b="1" dirty="0"/>
                  <a:t> </a:t>
                </a:r>
              </a:p>
              <a:p>
                <a:r>
                  <a:rPr lang="en-US" sz="1800" dirty="0"/>
                  <a:t>Compute median of each group by sorting;</a:t>
                </a:r>
              </a:p>
              <a:p>
                <a:r>
                  <a:rPr lang="en-US" sz="1800" dirty="0"/>
                  <a:t>Let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𝑴</m:t>
                    </m:r>
                  </m:oMath>
                </a14:m>
                <a:r>
                  <a:rPr lang="en-US" sz="1800" dirty="0"/>
                  <a:t> be the set of medians;</a:t>
                </a:r>
              </a:p>
              <a:p>
                <a:r>
                  <a:rPr lang="en-US" sz="1800" dirty="0"/>
                  <a:t>Compute median of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𝑴</m:t>
                    </m:r>
                  </m:oMath>
                </a14:m>
                <a:r>
                  <a:rPr lang="en-US" sz="1800" dirty="0"/>
                  <a:t>, let it be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;</a:t>
                </a:r>
              </a:p>
              <a:p>
                <a:endParaRPr lang="en-US" sz="1800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Question:</a:t>
                </a:r>
                <a:r>
                  <a:rPr lang="en-US" sz="1800" dirty="0"/>
                  <a:t> Is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 an approximate median of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1800" dirty="0"/>
                  <a:t> ?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Answer: indeed.</a:t>
                </a:r>
              </a:p>
              <a:p>
                <a:pPr marL="0" indent="0">
                  <a:buNone/>
                </a:pPr>
                <a:r>
                  <a:rPr lang="en-US" sz="1800" dirty="0"/>
                  <a:t>The rank of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 in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𝑴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is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/</m:t>
                    </m:r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𝟏𝟎</m:t>
                    </m:r>
                  </m:oMath>
                </a14:m>
                <a:r>
                  <a:rPr lang="en-US" sz="1800" dirty="0"/>
                  <a:t>. Each element in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𝑴</m:t>
                    </m:r>
                  </m:oMath>
                </a14:m>
                <a:r>
                  <a:rPr lang="en-US" sz="1800" dirty="0"/>
                  <a:t> has two elements smaller than itself in its respective group. Hence there are at least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 i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𝟑</m:t>
                        </m:r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num>
                      <m:den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𝟏𝟎</m:t>
                        </m:r>
                      </m:den>
                    </m:f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 −</m:t>
                    </m:r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1800" dirty="0"/>
                  <a:t> elements in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which are </a:t>
                </a:r>
                <a:r>
                  <a:rPr lang="en-US" sz="1800" b="1" dirty="0"/>
                  <a:t>smaller</a:t>
                </a:r>
                <a:r>
                  <a:rPr lang="en-US" sz="1800" dirty="0"/>
                  <a:t> than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. In a similar way, there are at least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>
                            <a:solidFill>
                              <a:srgbClr val="0070C0"/>
                            </a:solidFill>
                            <a:latin typeface="Cambria Math"/>
                          </a:rPr>
                          <m:t>𝟑</m:t>
                        </m:r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num>
                      <m:den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𝟏𝟎</m:t>
                        </m:r>
                      </m:den>
                    </m:f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 elements in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which are </a:t>
                </a:r>
                <a:r>
                  <a:rPr lang="en-US" sz="1800" b="1" dirty="0"/>
                  <a:t>greater</a:t>
                </a:r>
                <a:r>
                  <a:rPr lang="en-US" sz="1800" dirty="0"/>
                  <a:t> than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. Hence,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>
                            <a:solidFill>
                              <a:srgbClr val="0070C0"/>
                            </a:solidFill>
                            <a:latin typeface="Cambria Math"/>
                          </a:rPr>
                          <m:t>𝟑</m:t>
                        </m:r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num>
                      <m:den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𝟏𝟎</m:t>
                        </m:r>
                      </m:den>
                    </m:f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-approximate median of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pPr marL="0" indent="0">
                  <a:buNone/>
                </a:pPr>
                <a:r>
                  <a:rPr lang="en-US" sz="1800" dirty="0"/>
                  <a:t>(See the animation on the following slide to get a better understanding of this explanation.)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295400"/>
                <a:ext cx="8686800" cy="5181600"/>
              </a:xfrm>
              <a:blipFill rotWithShape="1">
                <a:blip r:embed="rId3"/>
                <a:stretch>
                  <a:fillRect l="-772" t="-588" r="-1193" b="-2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4876800" y="2362200"/>
            <a:ext cx="799590" cy="876304"/>
            <a:chOff x="5715183" y="1663700"/>
            <a:chExt cx="732831" cy="1022350"/>
          </a:xfrm>
        </p:grpSpPr>
        <p:sp>
          <p:nvSpPr>
            <p:cNvPr id="6" name="Right Brace 5"/>
            <p:cNvSpPr/>
            <p:nvPr/>
          </p:nvSpPr>
          <p:spPr>
            <a:xfrm>
              <a:off x="5715183" y="1663700"/>
              <a:ext cx="153741" cy="1022350"/>
            </a:xfrm>
            <a:prstGeom prst="rightBrac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5867400" y="1930396"/>
                  <a:ext cx="580614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</a:rPr>
                    <a:t>O</a:t>
                  </a:r>
                  <a:r>
                    <a:rPr lang="en-US" b="1" dirty="0"/>
                    <a:t>(</a:t>
                  </a:r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</m:oMath>
                  </a14:m>
                  <a:r>
                    <a:rPr lang="en-US" b="1" dirty="0"/>
                    <a:t>)</a:t>
                  </a:r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7400" y="1930396"/>
                  <a:ext cx="580614" cy="430887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7692" t="-8197" r="-1730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/>
          <p:cNvGrpSpPr/>
          <p:nvPr/>
        </p:nvGrpSpPr>
        <p:grpSpPr>
          <a:xfrm>
            <a:off x="4876795" y="3352800"/>
            <a:ext cx="1049656" cy="369332"/>
            <a:chOff x="5715185" y="2402120"/>
            <a:chExt cx="962019" cy="430886"/>
          </a:xfrm>
        </p:grpSpPr>
        <p:sp>
          <p:nvSpPr>
            <p:cNvPr id="9" name="Right Brace 8"/>
            <p:cNvSpPr/>
            <p:nvPr/>
          </p:nvSpPr>
          <p:spPr>
            <a:xfrm>
              <a:off x="5715185" y="2477409"/>
              <a:ext cx="153739" cy="341991"/>
            </a:xfrm>
            <a:prstGeom prst="rightBrac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5867400" y="2402120"/>
                  <a:ext cx="809804" cy="430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b="1" dirty="0"/>
                          <m:t>T</m:t>
                        </m:r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/5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7400" y="2402120"/>
                  <a:ext cx="809804" cy="430886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197" r="-896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97819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1981200" y="3733800"/>
                <a:ext cx="5331909" cy="4617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     2          …        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𝟏𝟎</m:t>
                        </m:r>
                      </m:den>
                    </m:f>
                  </m:oMath>
                </a14:m>
                <a:r>
                  <a:rPr lang="en-US" dirty="0"/>
                  <a:t>          …                    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𝟓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3733800"/>
                <a:ext cx="5331909" cy="461729"/>
              </a:xfrm>
              <a:prstGeom prst="rect">
                <a:avLst/>
              </a:prstGeom>
              <a:blipFill rotWithShape="1">
                <a:blip r:embed="rId2"/>
                <a:stretch>
                  <a:fillRect l="-914" r="-1029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b="1" dirty="0"/>
                  <a:t>Forming the subset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rgbClr val="0070C0"/>
                        </a:solidFill>
                        <a:latin typeface="Cambria Math"/>
                      </a:rPr>
                      <m:t>𝑴</m:t>
                    </m:r>
                  </m:oMath>
                </a14:m>
                <a:br>
                  <a:rPr lang="en-US" sz="3200" dirty="0"/>
                </a:br>
                <a:endParaRPr lang="en-US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3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600200"/>
                <a:ext cx="8610600" cy="4876800"/>
              </a:xfrm>
            </p:spPr>
            <p:txBody>
              <a:bodyPr/>
              <a:lstStyle/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Divide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into </a:t>
                </a:r>
                <a:r>
                  <a:rPr lang="en-US" sz="2000" b="1" dirty="0"/>
                  <a:t>groups</a:t>
                </a:r>
                <a:r>
                  <a:rPr lang="en-US" sz="2000" dirty="0"/>
                  <a:t> of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5</a:t>
                </a:r>
                <a:r>
                  <a:rPr lang="en-US" sz="2000" b="1" dirty="0"/>
                  <a:t> </a:t>
                </a:r>
                <a:r>
                  <a:rPr lang="en-US" sz="2000" dirty="0"/>
                  <a:t>elements;</a:t>
                </a:r>
                <a:r>
                  <a:rPr lang="en-US" sz="2000" b="1" dirty="0"/>
                  <a:t> </a:t>
                </a:r>
              </a:p>
              <a:p>
                <a:r>
                  <a:rPr lang="en-US" sz="2000" dirty="0"/>
                  <a:t>Compute median of each group by sorting;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600200"/>
                <a:ext cx="8610600" cy="4876800"/>
              </a:xfrm>
              <a:blipFill rotWithShape="1">
                <a:blip r:embed="rId4"/>
                <a:stretch>
                  <a:fillRect l="-708" t="-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952498" y="1944629"/>
            <a:ext cx="1257302" cy="133197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/>
          <p:cNvGrpSpPr/>
          <p:nvPr/>
        </p:nvGrpSpPr>
        <p:grpSpPr>
          <a:xfrm>
            <a:off x="1457442" y="3276600"/>
            <a:ext cx="5857758" cy="381000"/>
            <a:chOff x="1457442" y="3276600"/>
            <a:chExt cx="5857758" cy="381000"/>
          </a:xfrm>
        </p:grpSpPr>
        <p:grpSp>
          <p:nvGrpSpPr>
            <p:cNvPr id="36" name="Group 35"/>
            <p:cNvGrpSpPr/>
            <p:nvPr/>
          </p:nvGrpSpPr>
          <p:grpSpPr>
            <a:xfrm>
              <a:off x="1981200" y="3276600"/>
              <a:ext cx="5334000" cy="381000"/>
              <a:chOff x="1981200" y="3276600"/>
              <a:chExt cx="5334000" cy="381000"/>
            </a:xfrm>
          </p:grpSpPr>
          <p:sp>
            <p:nvSpPr>
              <p:cNvPr id="26" name="Rectangle 25"/>
              <p:cNvSpPr/>
              <p:nvPr/>
            </p:nvSpPr>
            <p:spPr>
              <a:xfrm>
                <a:off x="1981200" y="3276600"/>
                <a:ext cx="5334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571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8" name="Straight Connector 27"/>
              <p:cNvCxnSpPr/>
              <p:nvPr/>
            </p:nvCxnSpPr>
            <p:spPr>
              <a:xfrm>
                <a:off x="2362200" y="3276600"/>
                <a:ext cx="0" cy="381000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>
                <a:off x="2743200" y="3276600"/>
                <a:ext cx="0" cy="381000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>
                <a:off x="4343400" y="3276600"/>
                <a:ext cx="0" cy="381000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>
                <a:off x="4724400" y="3276600"/>
                <a:ext cx="0" cy="381000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>
                <a:off x="6553200" y="3276600"/>
                <a:ext cx="0" cy="381000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>
              <a:xfrm>
                <a:off x="6934200" y="3276600"/>
                <a:ext cx="0" cy="381000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/>
                <p:cNvSpPr txBox="1"/>
                <p:nvPr/>
              </p:nvSpPr>
              <p:spPr>
                <a:xfrm>
                  <a:off x="1457442" y="3276600"/>
                  <a:ext cx="447558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𝑴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7442" y="3276600"/>
                  <a:ext cx="447558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333" r="-17568" b="-25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Right Brace 24"/>
          <p:cNvSpPr/>
          <p:nvPr/>
        </p:nvSpPr>
        <p:spPr>
          <a:xfrm rot="5400000">
            <a:off x="856485" y="896115"/>
            <a:ext cx="192027" cy="1905001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ight Brace 72"/>
          <p:cNvSpPr/>
          <p:nvPr/>
        </p:nvSpPr>
        <p:spPr>
          <a:xfrm rot="5400000">
            <a:off x="2761486" y="896115"/>
            <a:ext cx="192027" cy="1904999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ight Brace 73"/>
          <p:cNvSpPr/>
          <p:nvPr/>
        </p:nvSpPr>
        <p:spPr>
          <a:xfrm rot="5400000">
            <a:off x="4818887" y="743717"/>
            <a:ext cx="192025" cy="2209800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Arrow Connector 74"/>
          <p:cNvCxnSpPr/>
          <p:nvPr/>
        </p:nvCxnSpPr>
        <p:spPr>
          <a:xfrm flipH="1">
            <a:off x="2459623" y="1944629"/>
            <a:ext cx="1" cy="133197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981200" y="3319046"/>
                <a:ext cx="47801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𝟏𝟓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3319046"/>
                <a:ext cx="478016" cy="338554"/>
              </a:xfrm>
              <a:prstGeom prst="rect">
                <a:avLst/>
              </a:prstGeom>
              <a:blipFill rotWithShape="1">
                <a:blip r:embed="rId6"/>
                <a:stretch>
                  <a:fillRect t="-5357" r="-10256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2341384" y="3319046"/>
                <a:ext cx="47801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𝟒𝟔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1384" y="3319046"/>
                <a:ext cx="478016" cy="338554"/>
              </a:xfrm>
              <a:prstGeom prst="rect">
                <a:avLst/>
              </a:prstGeom>
              <a:blipFill rotWithShape="1">
                <a:blip r:embed="rId7"/>
                <a:stretch>
                  <a:fillRect t="-5357" r="-1012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3" name="Group 82"/>
          <p:cNvGrpSpPr/>
          <p:nvPr/>
        </p:nvGrpSpPr>
        <p:grpSpPr>
          <a:xfrm>
            <a:off x="-76200" y="1371599"/>
            <a:ext cx="9144000" cy="381001"/>
            <a:chOff x="-76200" y="1371599"/>
            <a:chExt cx="9144000" cy="381001"/>
          </a:xfrm>
        </p:grpSpPr>
        <p:grpSp>
          <p:nvGrpSpPr>
            <p:cNvPr id="82" name="Group 81"/>
            <p:cNvGrpSpPr/>
            <p:nvPr/>
          </p:nvGrpSpPr>
          <p:grpSpPr>
            <a:xfrm>
              <a:off x="-76200" y="1371599"/>
              <a:ext cx="9144000" cy="381001"/>
              <a:chOff x="-76200" y="1371600"/>
              <a:chExt cx="9144000" cy="381001"/>
            </a:xfrm>
          </p:grpSpPr>
          <p:grpSp>
            <p:nvGrpSpPr>
              <p:cNvPr id="48" name="Group 47"/>
              <p:cNvGrpSpPr/>
              <p:nvPr/>
            </p:nvGrpSpPr>
            <p:grpSpPr>
              <a:xfrm>
                <a:off x="-76200" y="1371600"/>
                <a:ext cx="9144000" cy="381001"/>
                <a:chOff x="-76200" y="1371600"/>
                <a:chExt cx="9144000" cy="381001"/>
              </a:xfrm>
            </p:grpSpPr>
            <p:grpSp>
              <p:nvGrpSpPr>
                <p:cNvPr id="23" name="Group 22"/>
                <p:cNvGrpSpPr/>
                <p:nvPr/>
              </p:nvGrpSpPr>
              <p:grpSpPr>
                <a:xfrm>
                  <a:off x="-76200" y="1371600"/>
                  <a:ext cx="9144000" cy="381001"/>
                  <a:chOff x="-76200" y="1371600"/>
                  <a:chExt cx="9144000" cy="381001"/>
                </a:xfrm>
              </p:grpSpPr>
              <p:sp>
                <p:nvSpPr>
                  <p:cNvPr id="6" name="Rectangle 5"/>
                  <p:cNvSpPr/>
                  <p:nvPr/>
                </p:nvSpPr>
                <p:spPr>
                  <a:xfrm>
                    <a:off x="0" y="1371600"/>
                    <a:ext cx="9067800" cy="381001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0" name="Straight Connector 9"/>
                  <p:cNvCxnSpPr/>
                  <p:nvPr/>
                </p:nvCxnSpPr>
                <p:spPr>
                  <a:xfrm>
                    <a:off x="1143000" y="1371601"/>
                    <a:ext cx="0" cy="380999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/>
                  <p:cNvCxnSpPr/>
                  <p:nvPr/>
                </p:nvCxnSpPr>
                <p:spPr>
                  <a:xfrm>
                    <a:off x="1524000" y="1371600"/>
                    <a:ext cx="0" cy="380999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" name="Straight Connector 65"/>
                  <p:cNvCxnSpPr/>
                  <p:nvPr/>
                </p:nvCxnSpPr>
                <p:spPr>
                  <a:xfrm>
                    <a:off x="1905000" y="1371600"/>
                    <a:ext cx="0" cy="380999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" name="Straight Connector 66"/>
                  <p:cNvCxnSpPr/>
                  <p:nvPr/>
                </p:nvCxnSpPr>
                <p:spPr>
                  <a:xfrm>
                    <a:off x="2286000" y="1371600"/>
                    <a:ext cx="0" cy="380999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Straight Connector 67"/>
                  <p:cNvCxnSpPr/>
                  <p:nvPr/>
                </p:nvCxnSpPr>
                <p:spPr>
                  <a:xfrm>
                    <a:off x="2667000" y="1371600"/>
                    <a:ext cx="0" cy="380999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Straight Connector 68"/>
                  <p:cNvCxnSpPr/>
                  <p:nvPr/>
                </p:nvCxnSpPr>
                <p:spPr>
                  <a:xfrm>
                    <a:off x="3048000" y="1371600"/>
                    <a:ext cx="0" cy="380999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Straight Connector 69"/>
                  <p:cNvCxnSpPr/>
                  <p:nvPr/>
                </p:nvCxnSpPr>
                <p:spPr>
                  <a:xfrm>
                    <a:off x="3429000" y="1371600"/>
                    <a:ext cx="0" cy="380999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Straight Connector 70"/>
                  <p:cNvCxnSpPr/>
                  <p:nvPr/>
                </p:nvCxnSpPr>
                <p:spPr>
                  <a:xfrm>
                    <a:off x="8305800" y="1371600"/>
                    <a:ext cx="0" cy="380999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72" name="TextBox 71"/>
                      <p:cNvSpPr txBox="1"/>
                      <p:nvPr/>
                    </p:nvSpPr>
                    <p:spPr>
                      <a:xfrm>
                        <a:off x="-76200" y="1371600"/>
                        <a:ext cx="4728089" cy="3385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𝟏𝟓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    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𝟗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    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𝟕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    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𝟖𝟐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𝟏𝟕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𝟓𝟗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𝟑𝟐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   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   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𝟏𝟎𝟏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 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𝟒𝟔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 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𝟕𝟖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  …  </m:t>
                              </m:r>
                            </m:oMath>
                          </m:oMathPara>
                        </a14:m>
                        <a:endParaRPr lang="en-US" sz="1600" dirty="0"/>
                      </a:p>
                    </p:txBody>
                  </p:sp>
                </mc:Choice>
                <mc:Fallback xmlns="">
                  <p:sp>
                    <p:nvSpPr>
                      <p:cNvPr id="72" name="TextBox 71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-76200" y="1371600"/>
                        <a:ext cx="4728089" cy="338554"/>
                      </a:xfrm>
                      <a:prstGeom prst="rect">
                        <a:avLst/>
                      </a:prstGeom>
                      <a:blipFill rotWithShape="1">
                        <a:blip r:embed="rId8"/>
                        <a:stretch>
                          <a:fillRect t="-5357" r="-773" b="-2142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77" name="Straight Connector 76"/>
                <p:cNvCxnSpPr/>
                <p:nvPr/>
              </p:nvCxnSpPr>
              <p:spPr>
                <a:xfrm>
                  <a:off x="762000" y="1371600"/>
                  <a:ext cx="0" cy="380999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Connector 77"/>
                <p:cNvCxnSpPr/>
                <p:nvPr/>
              </p:nvCxnSpPr>
              <p:spPr>
                <a:xfrm>
                  <a:off x="381000" y="1371600"/>
                  <a:ext cx="0" cy="380999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/>
                <p:cNvCxnSpPr/>
                <p:nvPr/>
              </p:nvCxnSpPr>
              <p:spPr>
                <a:xfrm>
                  <a:off x="8686800" y="1371600"/>
                  <a:ext cx="0" cy="380999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1" name="Straight Connector 80"/>
              <p:cNvCxnSpPr/>
              <p:nvPr/>
            </p:nvCxnSpPr>
            <p:spPr>
              <a:xfrm>
                <a:off x="4191000" y="1371600"/>
                <a:ext cx="0" cy="38099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0" name="Straight Connector 79"/>
            <p:cNvCxnSpPr/>
            <p:nvPr/>
          </p:nvCxnSpPr>
          <p:spPr>
            <a:xfrm>
              <a:off x="3810000" y="1371600"/>
              <a:ext cx="0" cy="38099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oup 89"/>
          <p:cNvGrpSpPr/>
          <p:nvPr/>
        </p:nvGrpSpPr>
        <p:grpSpPr>
          <a:xfrm>
            <a:off x="3048000" y="3429000"/>
            <a:ext cx="2667000" cy="76200"/>
            <a:chOff x="3048000" y="3429000"/>
            <a:chExt cx="2667000" cy="76200"/>
          </a:xfrm>
        </p:grpSpPr>
        <p:sp>
          <p:nvSpPr>
            <p:cNvPr id="84" name="Oval 83"/>
            <p:cNvSpPr/>
            <p:nvPr/>
          </p:nvSpPr>
          <p:spPr>
            <a:xfrm>
              <a:off x="3048000" y="3429000"/>
              <a:ext cx="76200" cy="76200"/>
            </a:xfrm>
            <a:prstGeom prst="ellipse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/>
            <p:cNvSpPr/>
            <p:nvPr/>
          </p:nvSpPr>
          <p:spPr>
            <a:xfrm>
              <a:off x="3276600" y="3429000"/>
              <a:ext cx="76200" cy="76200"/>
            </a:xfrm>
            <a:prstGeom prst="ellipse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/>
            <p:cNvSpPr/>
            <p:nvPr/>
          </p:nvSpPr>
          <p:spPr>
            <a:xfrm>
              <a:off x="3505200" y="3429000"/>
              <a:ext cx="76200" cy="76200"/>
            </a:xfrm>
            <a:prstGeom prst="ellipse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/>
            <p:cNvSpPr/>
            <p:nvPr/>
          </p:nvSpPr>
          <p:spPr>
            <a:xfrm>
              <a:off x="5029200" y="3429000"/>
              <a:ext cx="76200" cy="76200"/>
            </a:xfrm>
            <a:prstGeom prst="ellipse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/>
            <p:cNvSpPr/>
            <p:nvPr/>
          </p:nvSpPr>
          <p:spPr>
            <a:xfrm>
              <a:off x="5334000" y="3429000"/>
              <a:ext cx="76200" cy="76200"/>
            </a:xfrm>
            <a:prstGeom prst="ellipse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/>
            <p:cNvSpPr/>
            <p:nvPr/>
          </p:nvSpPr>
          <p:spPr>
            <a:xfrm>
              <a:off x="5638800" y="3429000"/>
              <a:ext cx="76200" cy="76200"/>
            </a:xfrm>
            <a:prstGeom prst="ellipse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11989" y="1002268"/>
                <a:ext cx="3690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𝑺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9" y="1002268"/>
                <a:ext cx="369011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8197" r="-1967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Group 49"/>
          <p:cNvGrpSpPr/>
          <p:nvPr/>
        </p:nvGrpSpPr>
        <p:grpSpPr>
          <a:xfrm>
            <a:off x="5715002" y="4571998"/>
            <a:ext cx="816739" cy="597930"/>
            <a:chOff x="5699466" y="1663700"/>
            <a:chExt cx="748548" cy="697583"/>
          </a:xfrm>
        </p:grpSpPr>
        <p:sp>
          <p:nvSpPr>
            <p:cNvPr id="51" name="Right Brace 50"/>
            <p:cNvSpPr/>
            <p:nvPr/>
          </p:nvSpPr>
          <p:spPr>
            <a:xfrm>
              <a:off x="5699466" y="1663700"/>
              <a:ext cx="169458" cy="697583"/>
            </a:xfrm>
            <a:prstGeom prst="rightBrac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5867400" y="1752602"/>
                  <a:ext cx="580614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</a:rPr>
                    <a:t>O</a:t>
                  </a:r>
                  <a:r>
                    <a:rPr lang="en-US" b="1" dirty="0"/>
                    <a:t>(</a:t>
                  </a:r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</m:oMath>
                  </a14:m>
                  <a:r>
                    <a:rPr lang="en-US" b="1" dirty="0"/>
                    <a:t>)</a:t>
                  </a:r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7400" y="1752602"/>
                  <a:ext cx="580614" cy="430887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8738" t="-8333" r="-17476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20015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3" grpId="0" uiExpand="1" build="p"/>
      <p:bldP spid="25" grpId="0" animBg="1"/>
      <p:bldP spid="73" grpId="0" animBg="1"/>
      <p:bldP spid="74" grpId="0" animBg="1"/>
      <p:bldP spid="45" grpId="0"/>
      <p:bldP spid="76" grpId="0"/>
      <p:bldP spid="9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b="1" dirty="0"/>
                  <a:t>Forming the subset 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𝑴</m:t>
                    </m:r>
                  </m:oMath>
                </a14:m>
                <a:br>
                  <a:rPr lang="en-US" sz="3200" dirty="0"/>
                </a:br>
                <a:endParaRPr lang="en-US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600200"/>
                <a:ext cx="8610600" cy="4876800"/>
              </a:xfrm>
            </p:spPr>
            <p:txBody>
              <a:bodyPr/>
              <a:lstStyle/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Divide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into </a:t>
                </a:r>
                <a:r>
                  <a:rPr lang="en-US" sz="2000" b="1" dirty="0"/>
                  <a:t>groups</a:t>
                </a:r>
                <a:r>
                  <a:rPr lang="en-US" sz="2000" dirty="0"/>
                  <a:t> of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5</a:t>
                </a:r>
                <a:r>
                  <a:rPr lang="en-US" sz="2000" b="1" dirty="0"/>
                  <a:t> </a:t>
                </a:r>
                <a:r>
                  <a:rPr lang="en-US" sz="2000" dirty="0"/>
                  <a:t>elements;</a:t>
                </a:r>
                <a:r>
                  <a:rPr lang="en-US" sz="2000" b="1" dirty="0"/>
                  <a:t> </a:t>
                </a:r>
              </a:p>
              <a:p>
                <a:r>
                  <a:rPr lang="en-US" sz="2000" dirty="0"/>
                  <a:t>Compute median of each group by sorting;</a:t>
                </a:r>
              </a:p>
              <a:p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𝑴</m:t>
                    </m:r>
                  </m:oMath>
                </a14:m>
                <a:r>
                  <a:rPr lang="en-US" sz="2000" dirty="0"/>
                  <a:t> be the set of medians;</a:t>
                </a:r>
              </a:p>
              <a:p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be median of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𝑴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 algn="ctr">
                  <a:buNone/>
                </a:pPr>
                <a:r>
                  <a:rPr lang="en-US" sz="2000" i="1" dirty="0"/>
                  <a:t>Spend some time to answer this question before moving ahead.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600200"/>
                <a:ext cx="8610600" cy="4876800"/>
              </a:xfrm>
              <a:blipFill rotWithShape="1">
                <a:blip r:embed="rId3"/>
                <a:stretch>
                  <a:fillRect l="-566" t="-625" b="-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1457442" y="3276600"/>
            <a:ext cx="5857758" cy="381000"/>
            <a:chOff x="1457442" y="3276600"/>
            <a:chExt cx="5857758" cy="381000"/>
          </a:xfrm>
        </p:grpSpPr>
        <p:grpSp>
          <p:nvGrpSpPr>
            <p:cNvPr id="36" name="Group 35"/>
            <p:cNvGrpSpPr/>
            <p:nvPr/>
          </p:nvGrpSpPr>
          <p:grpSpPr>
            <a:xfrm>
              <a:off x="1981200" y="3276600"/>
              <a:ext cx="5334000" cy="381000"/>
              <a:chOff x="1981200" y="3276600"/>
              <a:chExt cx="5334000" cy="381000"/>
            </a:xfrm>
          </p:grpSpPr>
          <p:sp>
            <p:nvSpPr>
              <p:cNvPr id="26" name="Rectangle 25"/>
              <p:cNvSpPr/>
              <p:nvPr/>
            </p:nvSpPr>
            <p:spPr>
              <a:xfrm>
                <a:off x="1981200" y="3276600"/>
                <a:ext cx="5334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571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8" name="Straight Connector 27"/>
              <p:cNvCxnSpPr/>
              <p:nvPr/>
            </p:nvCxnSpPr>
            <p:spPr>
              <a:xfrm>
                <a:off x="2362200" y="3276600"/>
                <a:ext cx="0" cy="381000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>
                <a:off x="2743200" y="3276600"/>
                <a:ext cx="0" cy="381000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>
                <a:off x="4343400" y="3276600"/>
                <a:ext cx="0" cy="381000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>
                <a:off x="4724400" y="3276600"/>
                <a:ext cx="0" cy="381000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>
                <a:off x="6553200" y="3276600"/>
                <a:ext cx="0" cy="381000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>
              <a:xfrm>
                <a:off x="6934200" y="3276600"/>
                <a:ext cx="0" cy="381000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/>
                <p:cNvSpPr txBox="1"/>
                <p:nvPr/>
              </p:nvSpPr>
              <p:spPr>
                <a:xfrm>
                  <a:off x="1457442" y="3276600"/>
                  <a:ext cx="447558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𝑴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7442" y="3276600"/>
                  <a:ext cx="447558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333" r="-17568" b="-25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4"/>
          <p:cNvGrpSpPr/>
          <p:nvPr/>
        </p:nvGrpSpPr>
        <p:grpSpPr>
          <a:xfrm>
            <a:off x="1981200" y="3319046"/>
            <a:ext cx="3733800" cy="338554"/>
            <a:chOff x="1981200" y="3319046"/>
            <a:chExt cx="3733800" cy="3385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/>
                <p:cNvSpPr txBox="1"/>
                <p:nvPr/>
              </p:nvSpPr>
              <p:spPr>
                <a:xfrm>
                  <a:off x="1981200" y="3319046"/>
                  <a:ext cx="47801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𝟏𝟓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5" name="TextBox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1200" y="3319046"/>
                  <a:ext cx="478016" cy="338554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5357" r="-10256"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/>
                <p:cNvSpPr txBox="1"/>
                <p:nvPr/>
              </p:nvSpPr>
              <p:spPr>
                <a:xfrm>
                  <a:off x="2341384" y="3319046"/>
                  <a:ext cx="47801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𝟒𝟔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76" name="TextBox 7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1384" y="3319046"/>
                  <a:ext cx="478016" cy="338554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5357" r="-10127"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0" name="Group 89"/>
            <p:cNvGrpSpPr/>
            <p:nvPr/>
          </p:nvGrpSpPr>
          <p:grpSpPr>
            <a:xfrm>
              <a:off x="3048000" y="3429000"/>
              <a:ext cx="2667000" cy="76200"/>
              <a:chOff x="3048000" y="3429000"/>
              <a:chExt cx="2667000" cy="76200"/>
            </a:xfrm>
          </p:grpSpPr>
          <p:sp>
            <p:nvSpPr>
              <p:cNvPr id="84" name="Oval 83"/>
              <p:cNvSpPr/>
              <p:nvPr/>
            </p:nvSpPr>
            <p:spPr>
              <a:xfrm>
                <a:off x="3048000" y="3429000"/>
                <a:ext cx="76200" cy="76200"/>
              </a:xfrm>
              <a:prstGeom prst="ellips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Oval 84"/>
              <p:cNvSpPr/>
              <p:nvPr/>
            </p:nvSpPr>
            <p:spPr>
              <a:xfrm>
                <a:off x="3276600" y="3429000"/>
                <a:ext cx="76200" cy="76200"/>
              </a:xfrm>
              <a:prstGeom prst="ellips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Oval 85"/>
              <p:cNvSpPr/>
              <p:nvPr/>
            </p:nvSpPr>
            <p:spPr>
              <a:xfrm>
                <a:off x="3505200" y="3429000"/>
                <a:ext cx="76200" cy="76200"/>
              </a:xfrm>
              <a:prstGeom prst="ellips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Oval 86"/>
              <p:cNvSpPr/>
              <p:nvPr/>
            </p:nvSpPr>
            <p:spPr>
              <a:xfrm>
                <a:off x="5029200" y="3429000"/>
                <a:ext cx="76200" cy="76200"/>
              </a:xfrm>
              <a:prstGeom prst="ellips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Oval 87"/>
              <p:cNvSpPr/>
              <p:nvPr/>
            </p:nvSpPr>
            <p:spPr>
              <a:xfrm>
                <a:off x="5334000" y="3429000"/>
                <a:ext cx="76200" cy="76200"/>
              </a:xfrm>
              <a:prstGeom prst="ellips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Oval 88"/>
              <p:cNvSpPr/>
              <p:nvPr/>
            </p:nvSpPr>
            <p:spPr>
              <a:xfrm>
                <a:off x="5638800" y="3429000"/>
                <a:ext cx="76200" cy="76200"/>
              </a:xfrm>
              <a:prstGeom prst="ellips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0" name="Group 49"/>
          <p:cNvGrpSpPr/>
          <p:nvPr/>
        </p:nvGrpSpPr>
        <p:grpSpPr>
          <a:xfrm>
            <a:off x="-76200" y="1371599"/>
            <a:ext cx="9144000" cy="381001"/>
            <a:chOff x="-76200" y="1371599"/>
            <a:chExt cx="9144000" cy="381001"/>
          </a:xfrm>
        </p:grpSpPr>
        <p:grpSp>
          <p:nvGrpSpPr>
            <p:cNvPr id="51" name="Group 50"/>
            <p:cNvGrpSpPr/>
            <p:nvPr/>
          </p:nvGrpSpPr>
          <p:grpSpPr>
            <a:xfrm>
              <a:off x="-76200" y="1371599"/>
              <a:ext cx="9144000" cy="381001"/>
              <a:chOff x="-76200" y="1371600"/>
              <a:chExt cx="9144000" cy="381001"/>
            </a:xfrm>
          </p:grpSpPr>
          <p:grpSp>
            <p:nvGrpSpPr>
              <p:cNvPr id="53" name="Group 52"/>
              <p:cNvGrpSpPr/>
              <p:nvPr/>
            </p:nvGrpSpPr>
            <p:grpSpPr>
              <a:xfrm>
                <a:off x="-76200" y="1371600"/>
                <a:ext cx="9144000" cy="381001"/>
                <a:chOff x="-76200" y="1371600"/>
                <a:chExt cx="9144000" cy="381001"/>
              </a:xfrm>
            </p:grpSpPr>
            <p:grpSp>
              <p:nvGrpSpPr>
                <p:cNvPr id="55" name="Group 54"/>
                <p:cNvGrpSpPr/>
                <p:nvPr/>
              </p:nvGrpSpPr>
              <p:grpSpPr>
                <a:xfrm>
                  <a:off x="-76200" y="1371600"/>
                  <a:ext cx="9144000" cy="381001"/>
                  <a:chOff x="-76200" y="1371600"/>
                  <a:chExt cx="9144000" cy="381001"/>
                </a:xfrm>
              </p:grpSpPr>
              <p:sp>
                <p:nvSpPr>
                  <p:cNvPr id="60" name="Rectangle 59"/>
                  <p:cNvSpPr/>
                  <p:nvPr/>
                </p:nvSpPr>
                <p:spPr>
                  <a:xfrm>
                    <a:off x="0" y="1371600"/>
                    <a:ext cx="9067800" cy="381001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62" name="Straight Connector 61"/>
                  <p:cNvCxnSpPr/>
                  <p:nvPr/>
                </p:nvCxnSpPr>
                <p:spPr>
                  <a:xfrm>
                    <a:off x="1143000" y="1371601"/>
                    <a:ext cx="0" cy="380999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Straight Connector 62"/>
                  <p:cNvCxnSpPr/>
                  <p:nvPr/>
                </p:nvCxnSpPr>
                <p:spPr>
                  <a:xfrm>
                    <a:off x="1524000" y="1371600"/>
                    <a:ext cx="0" cy="380999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Straight Connector 63"/>
                  <p:cNvCxnSpPr/>
                  <p:nvPr/>
                </p:nvCxnSpPr>
                <p:spPr>
                  <a:xfrm>
                    <a:off x="1905000" y="1371600"/>
                    <a:ext cx="0" cy="380999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Straight Connector 64"/>
                  <p:cNvCxnSpPr/>
                  <p:nvPr/>
                </p:nvCxnSpPr>
                <p:spPr>
                  <a:xfrm>
                    <a:off x="2286000" y="1371600"/>
                    <a:ext cx="0" cy="380999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1" name="Straight Connector 90"/>
                  <p:cNvCxnSpPr/>
                  <p:nvPr/>
                </p:nvCxnSpPr>
                <p:spPr>
                  <a:xfrm>
                    <a:off x="2667000" y="1371600"/>
                    <a:ext cx="0" cy="380999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" name="Straight Connector 91"/>
                  <p:cNvCxnSpPr/>
                  <p:nvPr/>
                </p:nvCxnSpPr>
                <p:spPr>
                  <a:xfrm>
                    <a:off x="3048000" y="1371600"/>
                    <a:ext cx="0" cy="380999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3" name="Straight Connector 92"/>
                  <p:cNvCxnSpPr/>
                  <p:nvPr/>
                </p:nvCxnSpPr>
                <p:spPr>
                  <a:xfrm>
                    <a:off x="3429000" y="1371600"/>
                    <a:ext cx="0" cy="380999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" name="Straight Connector 93"/>
                  <p:cNvCxnSpPr/>
                  <p:nvPr/>
                </p:nvCxnSpPr>
                <p:spPr>
                  <a:xfrm>
                    <a:off x="8305800" y="1371600"/>
                    <a:ext cx="0" cy="380999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5" name="TextBox 94"/>
                      <p:cNvSpPr txBox="1"/>
                      <p:nvPr/>
                    </p:nvSpPr>
                    <p:spPr>
                      <a:xfrm>
                        <a:off x="-76200" y="1371600"/>
                        <a:ext cx="4728089" cy="3385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𝟏𝟓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    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𝟗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    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𝟕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    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𝟖𝟐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𝟏𝟕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𝟓𝟗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𝟑𝟐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   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   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𝟏𝟎𝟏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 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𝟒𝟔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 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𝟕𝟖</m:t>
                              </m:r>
                              <m:r>
                                <a:rPr lang="en-US" sz="1600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  …  </m:t>
                              </m:r>
                            </m:oMath>
                          </m:oMathPara>
                        </a14:m>
                        <a:endParaRPr lang="en-US" sz="1600" dirty="0"/>
                      </a:p>
                    </p:txBody>
                  </p:sp>
                </mc:Choice>
                <mc:Fallback xmlns="">
                  <p:sp>
                    <p:nvSpPr>
                      <p:cNvPr id="95" name="TextBox 94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-76200" y="1371600"/>
                        <a:ext cx="4728089" cy="338554"/>
                      </a:xfrm>
                      <a:prstGeom prst="rect">
                        <a:avLst/>
                      </a:prstGeom>
                      <a:blipFill rotWithShape="1">
                        <a:blip r:embed="rId7"/>
                        <a:stretch>
                          <a:fillRect t="-5357" r="-773" b="-2142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56" name="Straight Connector 55"/>
                <p:cNvCxnSpPr/>
                <p:nvPr/>
              </p:nvCxnSpPr>
              <p:spPr>
                <a:xfrm>
                  <a:off x="762000" y="1371600"/>
                  <a:ext cx="0" cy="380999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>
                <a:xfrm>
                  <a:off x="381000" y="1371600"/>
                  <a:ext cx="0" cy="380999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>
                <a:xfrm>
                  <a:off x="8686800" y="1371600"/>
                  <a:ext cx="0" cy="380999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4" name="Straight Connector 53"/>
              <p:cNvCxnSpPr/>
              <p:nvPr/>
            </p:nvCxnSpPr>
            <p:spPr>
              <a:xfrm>
                <a:off x="4191000" y="1371600"/>
                <a:ext cx="0" cy="38099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2" name="Straight Connector 51"/>
            <p:cNvCxnSpPr/>
            <p:nvPr/>
          </p:nvCxnSpPr>
          <p:spPr>
            <a:xfrm>
              <a:off x="3810000" y="1371600"/>
              <a:ext cx="0" cy="38099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4343400" y="3276600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70C0"/>
                          </a:solidFill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0" y="3276600"/>
                <a:ext cx="370614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333" r="-23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/>
              <p:cNvSpPr txBox="1"/>
              <p:nvPr/>
            </p:nvSpPr>
            <p:spPr>
              <a:xfrm>
                <a:off x="11989" y="1002268"/>
                <a:ext cx="3690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𝑺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0" name="TextBox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9" y="1002268"/>
                <a:ext cx="369011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8197" r="-1967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loud Callout 6"/>
              <p:cNvSpPr/>
              <p:nvPr/>
            </p:nvSpPr>
            <p:spPr>
              <a:xfrm>
                <a:off x="5029200" y="4645152"/>
                <a:ext cx="4191000" cy="1374648"/>
              </a:xfrm>
              <a:prstGeom prst="cloudCallout">
                <a:avLst>
                  <a:gd name="adj1" fmla="val -26610"/>
                  <a:gd name="adj2" fmla="val 80219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What can we say about rank of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?</a:t>
                </a:r>
              </a:p>
            </p:txBody>
          </p:sp>
        </mc:Choice>
        <mc:Fallback xmlns="">
          <p:sp>
            <p:nvSpPr>
              <p:cNvPr id="7" name="Cloud Callou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4645152"/>
                <a:ext cx="4191000" cy="1374648"/>
              </a:xfrm>
              <a:prstGeom prst="cloudCallout">
                <a:avLst>
                  <a:gd name="adj1" fmla="val -26610"/>
                  <a:gd name="adj2" fmla="val 80219"/>
                </a:avLst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879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9" grpId="0"/>
      <p:bldP spid="7" grpId="0" animBg="1"/>
      <p:bldP spid="7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/>
          <p:cNvGrpSpPr/>
          <p:nvPr/>
        </p:nvGrpSpPr>
        <p:grpSpPr>
          <a:xfrm>
            <a:off x="1981200" y="2514600"/>
            <a:ext cx="5334000" cy="2442929"/>
            <a:chOff x="1981200" y="2514600"/>
            <a:chExt cx="5334000" cy="2442929"/>
          </a:xfrm>
        </p:grpSpPr>
        <p:grpSp>
          <p:nvGrpSpPr>
            <p:cNvPr id="52" name="Group 51"/>
            <p:cNvGrpSpPr/>
            <p:nvPr/>
          </p:nvGrpSpPr>
          <p:grpSpPr>
            <a:xfrm>
              <a:off x="1981200" y="2514600"/>
              <a:ext cx="5334000" cy="1905000"/>
              <a:chOff x="1981200" y="2514600"/>
              <a:chExt cx="5334000" cy="1905000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1981200" y="2514600"/>
                <a:ext cx="5334000" cy="1905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" name="Straight Connector 6"/>
              <p:cNvCxnSpPr/>
              <p:nvPr/>
            </p:nvCxnSpPr>
            <p:spPr>
              <a:xfrm>
                <a:off x="2362200" y="2514600"/>
                <a:ext cx="0" cy="1905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1981200" y="2895600"/>
                <a:ext cx="53340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1981200" y="4038600"/>
                <a:ext cx="53340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2743200" y="2514600"/>
                <a:ext cx="0" cy="1905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>
                <a:off x="4343400" y="2514600"/>
                <a:ext cx="0" cy="1905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4724400" y="2514600"/>
                <a:ext cx="0" cy="1905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6934200" y="2514600"/>
                <a:ext cx="0" cy="1905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6553200" y="2514600"/>
                <a:ext cx="0" cy="1905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/>
                <p:cNvSpPr txBox="1"/>
                <p:nvPr/>
              </p:nvSpPr>
              <p:spPr>
                <a:xfrm>
                  <a:off x="1981200" y="4495800"/>
                  <a:ext cx="5331909" cy="4617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1     2          …                     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𝟏𝟎</m:t>
                          </m:r>
                        </m:den>
                      </m:f>
                    </m:oMath>
                  </a14:m>
                  <a:r>
                    <a:rPr lang="en-US" dirty="0"/>
                    <a:t>          …                                 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𝟓</m:t>
                          </m:r>
                        </m:den>
                      </m:f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1200" y="4495800"/>
                  <a:ext cx="5331909" cy="461729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l="-914" r="-1029"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b="1" dirty="0"/>
                  <a:t>Forming the subset 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𝑴</m:t>
                    </m:r>
                  </m:oMath>
                </a14:m>
                <a:br>
                  <a:rPr lang="en-US" sz="3200" dirty="0"/>
                </a:br>
                <a:endParaRPr lang="en-US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3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600200"/>
                <a:ext cx="8610600" cy="48768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1800" b="1" dirty="0">
                    <a:sym typeface="Wingdings" pitchFamily="2" charset="2"/>
                  </a:rPr>
                  <a:t></a:t>
                </a:r>
                <a:r>
                  <a:rPr lang="en-US" sz="1800" b="1" dirty="0">
                    <a:solidFill>
                      <a:srgbClr val="0070C0"/>
                    </a:solidFill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sz="18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𝒏</m:t>
                            </m:r>
                          </m:num>
                          <m:den>
                            <m:r>
                              <a:rPr lang="en-US" sz="1800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𝟏𝟎</m:t>
                            </m:r>
                          </m:den>
                        </m:f>
                      </m:e>
                    </m:d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</m:oMath>
                </a14:m>
                <a:r>
                  <a:rPr lang="en-US" sz="1800" dirty="0"/>
                  <a:t>approximate median of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1800" dirty="0"/>
                  <a:t>. </a:t>
                </a:r>
              </a:p>
              <a:p>
                <a:pPr marL="0" indent="0">
                  <a:buNone/>
                </a:pPr>
                <a:r>
                  <a:rPr lang="en-US" sz="1800" dirty="0"/>
                  <a:t>Time required to form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𝑴</m:t>
                    </m:r>
                  </m:oMath>
                </a14:m>
                <a:r>
                  <a:rPr lang="en-US" sz="1800" dirty="0"/>
                  <a:t> : 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dirty="0"/>
                  <a:t>)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600200"/>
                <a:ext cx="8610600" cy="4876800"/>
              </a:xfrm>
              <a:blipFill rotWithShape="1">
                <a:blip r:embed="rId4"/>
                <a:stretch>
                  <a:fillRect l="-708" t="-625" b="-2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1981200" y="3276600"/>
            <a:ext cx="533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981200" y="3657600"/>
            <a:ext cx="533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1600200" y="2514600"/>
            <a:ext cx="0" cy="6096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/>
          <p:cNvGrpSpPr/>
          <p:nvPr/>
        </p:nvGrpSpPr>
        <p:grpSpPr>
          <a:xfrm>
            <a:off x="1457442" y="3276600"/>
            <a:ext cx="5857758" cy="381000"/>
            <a:chOff x="1457442" y="3276600"/>
            <a:chExt cx="5857758" cy="381000"/>
          </a:xfrm>
        </p:grpSpPr>
        <p:grpSp>
          <p:nvGrpSpPr>
            <p:cNvPr id="36" name="Group 35"/>
            <p:cNvGrpSpPr/>
            <p:nvPr/>
          </p:nvGrpSpPr>
          <p:grpSpPr>
            <a:xfrm>
              <a:off x="1981200" y="3276600"/>
              <a:ext cx="5334000" cy="381000"/>
              <a:chOff x="1981200" y="3276600"/>
              <a:chExt cx="5334000" cy="381000"/>
            </a:xfrm>
          </p:grpSpPr>
          <p:sp>
            <p:nvSpPr>
              <p:cNvPr id="26" name="Rectangle 25"/>
              <p:cNvSpPr/>
              <p:nvPr/>
            </p:nvSpPr>
            <p:spPr>
              <a:xfrm>
                <a:off x="1981200" y="3276600"/>
                <a:ext cx="5334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571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8" name="Straight Connector 27"/>
              <p:cNvCxnSpPr/>
              <p:nvPr/>
            </p:nvCxnSpPr>
            <p:spPr>
              <a:xfrm>
                <a:off x="2362200" y="3276600"/>
                <a:ext cx="0" cy="381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>
                <a:off x="2743200" y="3276600"/>
                <a:ext cx="0" cy="381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>
                <a:off x="4343400" y="3276600"/>
                <a:ext cx="0" cy="381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>
                <a:off x="4724400" y="3276600"/>
                <a:ext cx="0" cy="381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>
                <a:off x="6553200" y="3276600"/>
                <a:ext cx="0" cy="381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>
              <a:xfrm>
                <a:off x="6934200" y="3276600"/>
                <a:ext cx="0" cy="381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/>
                <p:cNvSpPr txBox="1"/>
                <p:nvPr/>
              </p:nvSpPr>
              <p:spPr>
                <a:xfrm>
                  <a:off x="1457442" y="3276600"/>
                  <a:ext cx="44755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𝑴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7442" y="3276600"/>
                  <a:ext cx="447558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333" r="-17568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" name="Group 50"/>
          <p:cNvGrpSpPr/>
          <p:nvPr/>
        </p:nvGrpSpPr>
        <p:grpSpPr>
          <a:xfrm>
            <a:off x="2971800" y="1752600"/>
            <a:ext cx="3352800" cy="381000"/>
            <a:chOff x="2743200" y="1905000"/>
            <a:chExt cx="3352800" cy="381000"/>
          </a:xfrm>
        </p:grpSpPr>
        <p:cxnSp>
          <p:nvCxnSpPr>
            <p:cNvPr id="22" name="Straight Arrow Connector 21"/>
            <p:cNvCxnSpPr/>
            <p:nvPr/>
          </p:nvCxnSpPr>
          <p:spPr>
            <a:xfrm>
              <a:off x="2743200" y="2286000"/>
              <a:ext cx="33528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/>
                <p:cNvSpPr txBox="1"/>
                <p:nvPr/>
              </p:nvSpPr>
              <p:spPr>
                <a:xfrm>
                  <a:off x="3200400" y="1905000"/>
                  <a:ext cx="280666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Increasing order of values in </a:t>
                  </a:r>
                  <a14:m>
                    <m:oMath xmlns:m="http://schemas.openxmlformats.org/officeDocument/2006/math">
                      <m:r>
                        <a:rPr lang="en-US" sz="1600" b="1" i="1">
                          <a:solidFill>
                            <a:srgbClr val="0070C0"/>
                          </a:solidFill>
                          <a:latin typeface="Cambria Math"/>
                        </a:rPr>
                        <m:t>𝑴</m:t>
                      </m:r>
                    </m:oMath>
                  </a14:m>
                  <a:r>
                    <a:rPr lang="en-US" sz="1600" dirty="0"/>
                    <a:t> </a:t>
                  </a:r>
                </a:p>
              </p:txBody>
            </p:sp>
          </mc:Choice>
          <mc:Fallback xmlns="">
            <p:sp>
              <p:nvSpPr>
                <p:cNvPr id="50" name="TextBox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0400" y="1905000"/>
                  <a:ext cx="2806666" cy="338554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1304" t="-5455" r="-1522" b="-218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6" name="Group 55"/>
          <p:cNvGrpSpPr/>
          <p:nvPr/>
        </p:nvGrpSpPr>
        <p:grpSpPr>
          <a:xfrm>
            <a:off x="7543800" y="2362200"/>
            <a:ext cx="597611" cy="2133600"/>
            <a:chOff x="7543800" y="2362200"/>
            <a:chExt cx="597611" cy="2133600"/>
          </a:xfrm>
        </p:grpSpPr>
        <p:sp>
          <p:nvSpPr>
            <p:cNvPr id="54" name="Right Brace 53"/>
            <p:cNvSpPr/>
            <p:nvPr/>
          </p:nvSpPr>
          <p:spPr>
            <a:xfrm>
              <a:off x="7543800" y="2362200"/>
              <a:ext cx="228600" cy="2133600"/>
            </a:xfrm>
            <a:prstGeom prst="rightBrac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/>
                <p:cNvSpPr txBox="1"/>
                <p:nvPr/>
              </p:nvSpPr>
              <p:spPr>
                <a:xfrm>
                  <a:off x="7772400" y="3212068"/>
                  <a:ext cx="36901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𝑺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2400" y="3212068"/>
                  <a:ext cx="369011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1967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4343400" y="3276600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70C0"/>
                          </a:solidFill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0" y="3276600"/>
                <a:ext cx="370614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333" r="-23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/>
          <p:cNvSpPr/>
          <p:nvPr/>
        </p:nvSpPr>
        <p:spPr>
          <a:xfrm>
            <a:off x="1981200" y="2514600"/>
            <a:ext cx="2743200" cy="11430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4343399" y="3276600"/>
            <a:ext cx="2969709" cy="11430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1981200" y="2209800"/>
                <a:ext cx="194688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Surely </a:t>
                </a:r>
                <a:r>
                  <a:rPr lang="en-US" sz="1600" b="1" dirty="0"/>
                  <a:t>smaller</a:t>
                </a:r>
                <a:r>
                  <a:rPr lang="en-US" sz="1600" dirty="0"/>
                  <a:t> than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2209800"/>
                <a:ext cx="1946880" cy="338554"/>
              </a:xfrm>
              <a:prstGeom prst="rect">
                <a:avLst/>
              </a:prstGeom>
              <a:blipFill rotWithShape="1">
                <a:blip r:embed="rId9"/>
                <a:stretch>
                  <a:fillRect l="-1567" t="-5455" r="-3762" b="-2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5029200" y="4385846"/>
                <a:ext cx="201542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Surely </a:t>
                </a:r>
                <a:r>
                  <a:rPr lang="en-US" sz="1600" b="1" dirty="0"/>
                  <a:t>greater</a:t>
                </a:r>
                <a:r>
                  <a:rPr lang="en-US" sz="1600" dirty="0"/>
                  <a:t> than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4385846"/>
                <a:ext cx="2015424" cy="338554"/>
              </a:xfrm>
              <a:prstGeom prst="rect">
                <a:avLst/>
              </a:prstGeom>
              <a:blipFill rotWithShape="1">
                <a:blip r:embed="rId10"/>
                <a:stretch>
                  <a:fillRect l="-1511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 flipV="1">
            <a:off x="2410522" y="2933700"/>
            <a:ext cx="3048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2590800" y="3048000"/>
            <a:ext cx="0" cy="4191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endCxn id="53" idx="1"/>
          </p:cNvCxnSpPr>
          <p:nvPr/>
        </p:nvCxnSpPr>
        <p:spPr>
          <a:xfrm flipV="1">
            <a:off x="2562922" y="3461266"/>
            <a:ext cx="1780478" cy="583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 flipV="1">
            <a:off x="6610815" y="3695700"/>
            <a:ext cx="3048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/>
          <p:cNvCxnSpPr/>
          <p:nvPr/>
        </p:nvCxnSpPr>
        <p:spPr>
          <a:xfrm flipH="1">
            <a:off x="6781800" y="3505200"/>
            <a:ext cx="5029" cy="24026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V="1">
            <a:off x="4648200" y="3499366"/>
            <a:ext cx="2133600" cy="583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ounded Rectangle 28"/>
              <p:cNvSpPr/>
              <p:nvPr/>
            </p:nvSpPr>
            <p:spPr>
              <a:xfrm>
                <a:off x="761999" y="838200"/>
                <a:ext cx="7467601" cy="68580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Bring back the remaining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𝟒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elements associated with each element of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𝑴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and place them in the increasing order from top to bottom</a:t>
                </a:r>
              </a:p>
            </p:txBody>
          </p:sp>
        </mc:Choice>
        <mc:Fallback xmlns="">
          <p:sp>
            <p:nvSpPr>
              <p:cNvPr id="29" name="Rounded 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999" y="838200"/>
                <a:ext cx="7467601" cy="685800"/>
              </a:xfrm>
              <a:prstGeom prst="roundRect">
                <a:avLst/>
              </a:prstGeom>
              <a:blipFill rotWithShape="1">
                <a:blip r:embed="rId11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/>
          <p:cNvSpPr/>
          <p:nvPr/>
        </p:nvSpPr>
        <p:spPr>
          <a:xfrm>
            <a:off x="1376421" y="1219200"/>
            <a:ext cx="6091179" cy="228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855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9" grpId="0" animBg="1"/>
      <p:bldP spid="64" grpId="0" animBg="1"/>
      <p:bldP spid="43" grpId="0"/>
      <p:bldP spid="44" grpId="0"/>
      <p:bldP spid="6" grpId="0" animBg="1"/>
      <p:bldP spid="49" grpId="0" animBg="1"/>
      <p:bldP spid="29" grpId="0" animBg="1"/>
      <p:bldP spid="29" grpId="1" animBg="1"/>
      <p:bldP spid="30" grpId="0" animBg="1"/>
      <p:bldP spid="30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600" b="1" dirty="0" err="1"/>
                  <a:t>Pseudocode</a:t>
                </a:r>
                <a:r>
                  <a:rPr lang="en-US" sz="3600" b="1" dirty="0"/>
                  <a:t> for </a:t>
                </a:r>
                <a:r>
                  <a:rPr lang="en-US" sz="3600" b="1" dirty="0">
                    <a:solidFill>
                      <a:srgbClr val="7030A0"/>
                    </a:solidFill>
                  </a:rPr>
                  <a:t>Select</a:t>
                </a:r>
                <a:r>
                  <a:rPr lang="en-US" sz="3600" b="1" dirty="0"/>
                  <a:t>(</a:t>
                </a:r>
                <a14:m>
                  <m:oMath xmlns:m="http://schemas.openxmlformats.org/officeDocument/2006/math">
                    <m:r>
                      <a:rPr lang="en-US" sz="36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3600" b="1" dirty="0"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sz="36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3600" b="1" dirty="0"/>
                  <a:t>)</a:t>
                </a:r>
                <a:br>
                  <a:rPr lang="en-US" sz="3600" b="1" dirty="0">
                    <a:solidFill>
                      <a:srgbClr val="7030A0"/>
                    </a:solidFill>
                  </a:rPr>
                </a:br>
                <a:endParaRPr lang="en-US" sz="3600" dirty="0"/>
              </a:p>
            </p:txBody>
          </p:sp>
        </mc:Choice>
        <mc:Fallback xmlns="">
          <p:sp>
            <p:nvSpPr>
              <p:cNvPr id="5" name="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10106" b="-21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71600"/>
                <a:ext cx="8153400" cy="5105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Select</a:t>
                </a:r>
                <a:r>
                  <a:rPr lang="en-US" sz="2000" b="1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𝑴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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∅</m:t>
                    </m:r>
                  </m:oMath>
                </a14:m>
                <a:r>
                  <a:rPr lang="en-US" sz="2000" b="1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</a:t>
                </a:r>
                <a:r>
                  <a:rPr lang="en-US" sz="2000" dirty="0"/>
                  <a:t>Divide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into </a:t>
                </a:r>
                <a:r>
                  <a:rPr lang="en-US" sz="2000" b="1" dirty="0"/>
                  <a:t>groups</a:t>
                </a:r>
                <a:r>
                  <a:rPr lang="en-US" sz="2000" dirty="0"/>
                  <a:t> of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5</a:t>
                </a:r>
                <a:r>
                  <a:rPr lang="en-US" sz="2000" b="1" dirty="0"/>
                  <a:t> </a:t>
                </a:r>
                <a:r>
                  <a:rPr lang="en-US" sz="2000" dirty="0"/>
                  <a:t>elements;</a:t>
                </a:r>
                <a:r>
                  <a:rPr lang="en-US" sz="2000" b="1" dirty="0"/>
                  <a:t>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Sort </a:t>
                </a:r>
                <a:r>
                  <a:rPr lang="en-US" sz="2000" dirty="0"/>
                  <a:t>each group and </a:t>
                </a:r>
                <a:r>
                  <a:rPr lang="en-US" sz="2000" b="1" dirty="0"/>
                  <a:t>add its median </a:t>
                </a:r>
                <a:r>
                  <a:rPr lang="en-US" sz="2000" dirty="0"/>
                  <a:t>to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𝑴</m:t>
                    </m:r>
                  </m:oMath>
                </a14:m>
                <a:r>
                  <a:rPr lang="en-US" sz="2000" b="1" dirty="0"/>
                  <a:t>; 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</a:t>
                </a:r>
                <a:r>
                  <a:rPr lang="en-US" sz="2000" b="1" dirty="0">
                    <a:solidFill>
                      <a:srgbClr val="7030A0"/>
                    </a:solidFill>
                    <a:sym typeface="Wingdings" pitchFamily="2" charset="2"/>
                  </a:rPr>
                  <a:t>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Select</a:t>
                </a:r>
                <a:r>
                  <a:rPr lang="en-US" sz="2000" b="1" dirty="0"/>
                  <a:t>(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𝑴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,</a:t>
                </a:r>
                <a:r>
                  <a:rPr lang="en-US" sz="2000" b="1" dirty="0"/>
                  <a:t>|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𝑴</m:t>
                    </m:r>
                  </m:oMath>
                </a14:m>
                <a:r>
                  <a:rPr lang="en-US" sz="2000" b="1" dirty="0"/>
                  <a:t>|/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2</a:t>
                </a:r>
                <a:r>
                  <a:rPr lang="en-US" sz="2000" b="1" dirty="0"/>
                  <a:t>);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𝑺</m:t>
                        </m:r>
                      </m:e>
                      <m:sub>
                        <m:r>
                          <a:rPr lang="en-US" sz="2000" b="1" i="1" smtClean="0">
                            <a:latin typeface="Cambria Math"/>
                          </a:rPr>
                          <m:t>&lt;</m:t>
                        </m:r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sz="2000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𝑺</m:t>
                        </m:r>
                      </m:e>
                      <m:sub>
                        <m:r>
                          <a:rPr lang="en-US" sz="2000" b="1" i="1" smtClean="0">
                            <a:latin typeface="Cambria Math"/>
                          </a:rPr>
                          <m:t>&gt;</m:t>
                        </m:r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sz="2000" b="1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𝒓</m:t>
                    </m:r>
                  </m:oMath>
                </a14:m>
                <a:r>
                  <a:rPr lang="en-US" sz="2000" b="1" dirty="0"/>
                  <a:t>)</a:t>
                </a:r>
                <a:r>
                  <a:rPr lang="en-US" sz="2000" b="1" dirty="0">
                    <a:sym typeface="Wingdings" pitchFamily="2" charset="2"/>
                  </a:rPr>
                  <a:t> </a:t>
                </a:r>
                <a:r>
                  <a:rPr lang="en-US" sz="2000" b="1" dirty="0">
                    <a:solidFill>
                      <a:srgbClr val="7030A0"/>
                    </a:solidFill>
                    <a:sym typeface="Wingdings" pitchFamily="2" charset="2"/>
                  </a:rPr>
                  <a:t>Partition</a:t>
                </a:r>
                <a:r>
                  <a:rPr lang="en-US" sz="2000" b="1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);</a:t>
                </a:r>
                <a:r>
                  <a:rPr lang="en-US" sz="2000" b="1" dirty="0"/>
                  <a:t>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If(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b="1" dirty="0"/>
                  <a:t> 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𝒓</m:t>
                    </m:r>
                  </m:oMath>
                </a14:m>
                <a:r>
                  <a:rPr lang="en-US" sz="2000" b="1" dirty="0"/>
                  <a:t>) return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b="1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Else If 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b="1" dirty="0"/>
                  <a:t>&lt;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𝒓</m:t>
                    </m:r>
                  </m:oMath>
                </a14:m>
                <a:r>
                  <a:rPr lang="en-US" sz="2000" b="1" dirty="0"/>
                  <a:t>)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                                Select</a:t>
                </a:r>
                <a:r>
                  <a:rPr lang="en-US" sz="2000" b="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𝑺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&lt;</m:t>
                        </m:r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sz="2000" b="1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                    </a:t>
                </a:r>
                <a:r>
                  <a:rPr lang="en-US" sz="2000" b="1" dirty="0"/>
                  <a:t>Else      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                                Select</a:t>
                </a:r>
                <a:r>
                  <a:rPr lang="en-US" sz="2000" b="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𝑺</m:t>
                        </m:r>
                      </m:e>
                      <m:sub>
                        <m:r>
                          <a:rPr lang="en-US" sz="2000" b="1" i="1" smtClean="0">
                            <a:latin typeface="Cambria Math"/>
                          </a:rPr>
                          <m:t>&gt;</m:t>
                        </m:r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sz="2000" b="1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𝒓</m:t>
                    </m:r>
                  </m:oMath>
                </a14:m>
                <a:r>
                  <a:rPr lang="en-US" sz="2000" b="1" dirty="0"/>
                  <a:t>);</a:t>
                </a:r>
              </a:p>
              <a:p>
                <a:pPr marL="0" indent="0">
                  <a:buNone/>
                </a:pPr>
                <a:endParaRPr lang="en-US" sz="2000" b="1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71600"/>
                <a:ext cx="8153400" cy="5105400"/>
              </a:xfrm>
              <a:blipFill rotWithShape="1">
                <a:blip r:embed="rId3"/>
                <a:stretch>
                  <a:fillRect l="-747" t="-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5638800" y="1752600"/>
            <a:ext cx="836459" cy="1066800"/>
            <a:chOff x="5638800" y="1752600"/>
            <a:chExt cx="836459" cy="1066800"/>
          </a:xfrm>
        </p:grpSpPr>
        <p:sp>
          <p:nvSpPr>
            <p:cNvPr id="2" name="Right Brace 1"/>
            <p:cNvSpPr/>
            <p:nvPr/>
          </p:nvSpPr>
          <p:spPr>
            <a:xfrm>
              <a:off x="5638800" y="1752600"/>
              <a:ext cx="230124" cy="1066800"/>
            </a:xfrm>
            <a:prstGeom prst="rightBrac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5867400" y="2133600"/>
              <a:ext cx="6078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</a:rPr>
                <a:t>O</a:t>
              </a:r>
              <a:r>
                <a:rPr lang="en-US" b="1" dirty="0"/>
                <a:t>(</a:t>
              </a:r>
              <a:r>
                <a:rPr lang="en-US" b="1" dirty="0">
                  <a:solidFill>
                    <a:srgbClr val="0070C0"/>
                  </a:solidFill>
                </a:rPr>
                <a:t>n</a:t>
              </a:r>
              <a:r>
                <a:rPr lang="en-US" b="1" dirty="0"/>
                <a:t>)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638800" y="3733800"/>
            <a:ext cx="1169025" cy="1752600"/>
            <a:chOff x="5715000" y="1447800"/>
            <a:chExt cx="1169025" cy="1752600"/>
          </a:xfrm>
        </p:grpSpPr>
        <p:sp>
          <p:nvSpPr>
            <p:cNvPr id="10" name="Right Brace 9"/>
            <p:cNvSpPr/>
            <p:nvPr/>
          </p:nvSpPr>
          <p:spPr>
            <a:xfrm>
              <a:off x="5715000" y="1447800"/>
              <a:ext cx="153924" cy="1752600"/>
            </a:xfrm>
            <a:prstGeom prst="rightBrac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867400" y="2133600"/>
              <a:ext cx="10166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T(</a:t>
              </a:r>
              <a:r>
                <a:rPr lang="en-US" b="1" dirty="0">
                  <a:solidFill>
                    <a:srgbClr val="0070C0"/>
                  </a:solidFill>
                </a:rPr>
                <a:t>7n/10</a:t>
              </a:r>
              <a:r>
                <a:rPr lang="en-US" b="1" dirty="0"/>
                <a:t>)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562600" y="3276600"/>
            <a:ext cx="1598459" cy="369332"/>
            <a:chOff x="5562600" y="3276600"/>
            <a:chExt cx="1598459" cy="369332"/>
          </a:xfrm>
        </p:grpSpPr>
        <p:sp>
          <p:nvSpPr>
            <p:cNvPr id="13" name="Left Arrow 12"/>
            <p:cNvSpPr/>
            <p:nvPr/>
          </p:nvSpPr>
          <p:spPr>
            <a:xfrm>
              <a:off x="5562600" y="3276600"/>
              <a:ext cx="978408" cy="304800"/>
            </a:xfrm>
            <a:prstGeom prst="leftArrow">
              <a:avLst/>
            </a:prstGeom>
            <a:solidFill>
              <a:schemeClr val="bg2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553200" y="3276600"/>
              <a:ext cx="6078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</a:rPr>
                <a:t>O</a:t>
              </a:r>
              <a:r>
                <a:rPr lang="en-US" b="1" dirty="0"/>
                <a:t>(</a:t>
              </a:r>
              <a:r>
                <a:rPr lang="en-US" b="1" dirty="0">
                  <a:solidFill>
                    <a:srgbClr val="0070C0"/>
                  </a:solidFill>
                </a:rPr>
                <a:t>n</a:t>
              </a:r>
              <a:r>
                <a:rPr lang="en-US" b="1" dirty="0"/>
                <a:t>)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5574792" y="2831068"/>
            <a:ext cx="1734970" cy="369332"/>
            <a:chOff x="5574792" y="2831068"/>
            <a:chExt cx="1734970" cy="369332"/>
          </a:xfrm>
        </p:grpSpPr>
        <p:sp>
          <p:nvSpPr>
            <p:cNvPr id="12" name="Left Arrow 11"/>
            <p:cNvSpPr/>
            <p:nvPr/>
          </p:nvSpPr>
          <p:spPr>
            <a:xfrm>
              <a:off x="5574792" y="2895600"/>
              <a:ext cx="978408" cy="304800"/>
            </a:xfrm>
            <a:prstGeom prst="leftArrow">
              <a:avLst/>
            </a:prstGeom>
            <a:solidFill>
              <a:schemeClr val="bg2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527175" y="2831068"/>
              <a:ext cx="7825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T(</a:t>
              </a:r>
              <a:r>
                <a:rPr lang="en-US" b="1" dirty="0">
                  <a:solidFill>
                    <a:srgbClr val="0070C0"/>
                  </a:solidFill>
                </a:rPr>
                <a:t>n/5</a:t>
              </a:r>
              <a:r>
                <a:rPr lang="en-US" b="1" dirty="0"/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5310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/>
                  <a:t>T</a:t>
                </a:r>
                <a:r>
                  <a:rPr lang="en-US" sz="2000" dirty="0"/>
                  <a:t>(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n</a:t>
                </a:r>
                <a:r>
                  <a:rPr lang="en-US" sz="2000" dirty="0"/>
                  <a:t>) = </a:t>
                </a:r>
                <a:r>
                  <a:rPr lang="en-US" sz="2000" b="1" dirty="0" err="1">
                    <a:solidFill>
                      <a:srgbClr val="0070C0"/>
                    </a:solidFill>
                  </a:rPr>
                  <a:t>cn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b="1" dirty="0"/>
                  <a:t>+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b="1" dirty="0"/>
                  <a:t>T</a:t>
                </a:r>
                <a:r>
                  <a:rPr lang="en-US" sz="2000" dirty="0"/>
                  <a:t>(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n/5</a:t>
                </a:r>
                <a:r>
                  <a:rPr lang="en-US" sz="2000" dirty="0"/>
                  <a:t>) + </a:t>
                </a:r>
                <a:r>
                  <a:rPr lang="en-US" sz="2000" b="1" dirty="0"/>
                  <a:t>T</a:t>
                </a:r>
                <a:r>
                  <a:rPr lang="en-US" sz="2000" dirty="0"/>
                  <a:t>(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7n/10</a:t>
                </a:r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        </a:t>
                </a:r>
                <a:r>
                  <a:rPr lang="en-US" sz="2000" b="1" dirty="0"/>
                  <a:t>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n</a:t>
                </a:r>
                <a:r>
                  <a:rPr lang="en-US" sz="2000" dirty="0"/>
                  <a:t>)     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[Learning from Recurrence of type II]</a:t>
                </a:r>
                <a:endParaRPr lang="en-US" sz="2400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Theorem: </a:t>
                </a:r>
                <a:r>
                  <a:rPr lang="en-US" sz="2000" dirty="0"/>
                  <a:t>Given any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of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n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dirty="0"/>
                  <a:t>elements, we can compute </a:t>
                </a:r>
                <a:r>
                  <a:rPr lang="en-US" sz="2000" dirty="0" err="1">
                    <a:solidFill>
                      <a:srgbClr val="0070C0"/>
                    </a:solidFill>
                  </a:rPr>
                  <a:t>i</a:t>
                </a:r>
                <a:r>
                  <a:rPr lang="en-US" sz="2000" dirty="0" err="1"/>
                  <a:t>th</a:t>
                </a:r>
                <a:r>
                  <a:rPr lang="en-US" sz="2000" dirty="0"/>
                  <a:t> smallest element from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dirty="0"/>
                  <a:t> in </a:t>
                </a:r>
                <a:r>
                  <a:rPr lang="en-US" sz="2000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n</a:t>
                </a:r>
                <a:r>
                  <a:rPr lang="en-US" sz="2000" dirty="0"/>
                  <a:t>) worst case time.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  <a:blipFill rotWithShape="1">
                <a:blip r:embed="rId2"/>
                <a:stretch>
                  <a:fillRect l="-741" t="-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240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Exercises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1800" dirty="0">
                  <a:solidFill>
                    <a:srgbClr val="006C31"/>
                  </a:solidFill>
                </a:endParaRP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rgbClr val="006C31"/>
                    </a:solidFill>
                  </a:rPr>
                  <a:t>(Attempting these exercises will give you a better insight into the algorithm.)</a:t>
                </a:r>
                <a:endParaRPr lang="en-US" sz="2400" dirty="0">
                  <a:solidFill>
                    <a:srgbClr val="006C31"/>
                  </a:solidFill>
                </a:endParaRPr>
              </a:p>
              <a:p>
                <a:endParaRPr lang="en-US" sz="2000" dirty="0"/>
              </a:p>
              <a:p>
                <a:r>
                  <a:rPr lang="en-US" sz="2000" dirty="0"/>
                  <a:t>What is magical about number </a:t>
                </a:r>
                <a:r>
                  <a:rPr lang="en-US" sz="2000" dirty="0">
                    <a:solidFill>
                      <a:srgbClr val="0070C0"/>
                    </a:solidFill>
                  </a:rPr>
                  <a:t>5</a:t>
                </a:r>
                <a:r>
                  <a:rPr lang="en-US" sz="2000" dirty="0"/>
                  <a:t> in the algorithm ?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What if we divide the set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dirty="0"/>
                  <a:t> into groups of size </a:t>
                </a:r>
                <a:r>
                  <a:rPr lang="en-US" sz="2000" dirty="0">
                    <a:solidFill>
                      <a:srgbClr val="0070C0"/>
                    </a:solidFill>
                  </a:rPr>
                  <a:t>3</a:t>
                </a:r>
                <a:r>
                  <a:rPr lang="en-US" sz="2000" dirty="0"/>
                  <a:t> ?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What if we divide the set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dirty="0"/>
                  <a:t> into groups of size </a:t>
                </a:r>
                <a:r>
                  <a:rPr lang="en-US" sz="2000" dirty="0">
                    <a:solidFill>
                      <a:srgbClr val="0070C0"/>
                    </a:solidFill>
                  </a:rPr>
                  <a:t>7</a:t>
                </a:r>
                <a:r>
                  <a:rPr lang="en-US" sz="2000" dirty="0"/>
                  <a:t> ?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What if we divide the set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dirty="0"/>
                  <a:t> into groups of even size (e.g. </a:t>
                </a:r>
                <a:r>
                  <a:rPr lang="en-US" sz="2000" dirty="0">
                    <a:solidFill>
                      <a:srgbClr val="0070C0"/>
                    </a:solidFill>
                  </a:rPr>
                  <a:t>4</a:t>
                </a:r>
                <a:r>
                  <a:rPr lang="en-US" sz="2000" dirty="0"/>
                  <a:t> or </a:t>
                </a:r>
                <a:r>
                  <a:rPr lang="en-US" sz="2000" dirty="0">
                    <a:solidFill>
                      <a:srgbClr val="0070C0"/>
                    </a:solidFill>
                  </a:rPr>
                  <a:t>6</a:t>
                </a:r>
                <a:r>
                  <a:rPr lang="en-US" sz="2000" dirty="0"/>
                  <a:t>) ?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334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12604</TotalTime>
  <Words>2058</Words>
  <Application>Microsoft Macintosh PowerPoint</Application>
  <PresentationFormat>On-screen Show (4:3)</PresentationFormat>
  <Paragraphs>355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 Math</vt:lpstr>
      <vt:lpstr>Wingdings</vt:lpstr>
      <vt:lpstr>Office Theme</vt:lpstr>
      <vt:lpstr>Data Structures and Algorithms (ESO207) </vt:lpstr>
      <vt:lpstr>Problem definition</vt:lpstr>
      <vt:lpstr>A motivational background</vt:lpstr>
      <vt:lpstr>Notations</vt:lpstr>
      <vt:lpstr>Notations </vt:lpstr>
      <vt:lpstr>Why should such an algorithm exist ?</vt:lpstr>
      <vt:lpstr>QuickSelect(S,i)</vt:lpstr>
      <vt:lpstr>QuickSelect(S,i)</vt:lpstr>
      <vt:lpstr>Pseudocode for QuickSelect(S,i) </vt:lpstr>
      <vt:lpstr>Towards worst case O(n) time algorithm …</vt:lpstr>
      <vt:lpstr>Key ideas</vt:lpstr>
      <vt:lpstr>Learning from recurrences</vt:lpstr>
      <vt:lpstr>Learning from recurrences</vt:lpstr>
      <vt:lpstr>Concept of approximate median</vt:lpstr>
      <vt:lpstr>Learning from QuickSelect(S,i)</vt:lpstr>
      <vt:lpstr>Algorithm 2</vt:lpstr>
      <vt:lpstr>Overview of the algorithm</vt:lpstr>
      <vt:lpstr>PowerPoint Presentation</vt:lpstr>
      <vt:lpstr>Forming the subset M with  desired parameters</vt:lpstr>
      <vt:lpstr>Forming the subset M </vt:lpstr>
      <vt:lpstr>Forming the subset M </vt:lpstr>
      <vt:lpstr>Forming the subset M </vt:lpstr>
      <vt:lpstr>Pseudocode for Select(S,i) </vt:lpstr>
      <vt:lpstr>Analysis</vt:lpstr>
      <vt:lpstr>Exercises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Raghunath Tewari</cp:lastModifiedBy>
  <cp:revision>1140</cp:revision>
  <dcterms:created xsi:type="dcterms:W3CDTF">2011-12-03T04:13:03Z</dcterms:created>
  <dcterms:modified xsi:type="dcterms:W3CDTF">2025-11-02T13:33:42Z</dcterms:modified>
</cp:coreProperties>
</file>