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315" r:id="rId3"/>
    <p:sldId id="316" r:id="rId4"/>
    <p:sldId id="321" r:id="rId5"/>
    <p:sldId id="318" r:id="rId6"/>
    <p:sldId id="319" r:id="rId7"/>
    <p:sldId id="320" r:id="rId8"/>
    <p:sldId id="297" r:id="rId9"/>
    <p:sldId id="303" r:id="rId10"/>
    <p:sldId id="298" r:id="rId11"/>
    <p:sldId id="299" r:id="rId12"/>
    <p:sldId id="300" r:id="rId13"/>
    <p:sldId id="324" r:id="rId14"/>
    <p:sldId id="325" r:id="rId15"/>
    <p:sldId id="329" r:id="rId16"/>
    <p:sldId id="327" r:id="rId17"/>
    <p:sldId id="305" r:id="rId18"/>
    <p:sldId id="331" r:id="rId19"/>
    <p:sldId id="332" r:id="rId20"/>
    <p:sldId id="322" r:id="rId21"/>
    <p:sldId id="32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4DD"/>
    <a:srgbClr val="F4EFD8"/>
    <a:srgbClr val="ECE8D2"/>
    <a:srgbClr val="EEE9D3"/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255DDD-D32A-DA41-9C80-3D94BF31A022}" v="15" dt="2025-11-12T03:50:32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1" autoAdjust="0"/>
    <p:restoredTop sz="94628"/>
  </p:normalViewPr>
  <p:slideViewPr>
    <p:cSldViewPr>
      <p:cViewPr varScale="1">
        <p:scale>
          <a:sx n="114" d="100"/>
          <a:sy n="114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undo custSel delSld modSld">
      <pc:chgData name="Raghunath Tewari" userId="2638bdda-d406-4938-a2a6-e4e967acb772" providerId="ADAL" clId="{5BB0A526-9D3F-5694-B192-877B52D1FAF9}" dt="2025-11-12T03:51:16.588" v="49" actId="2696"/>
      <pc:docMkLst>
        <pc:docMk/>
      </pc:docMkLst>
      <pc:sldChg chg="modSp setBg">
        <pc:chgData name="Raghunath Tewari" userId="2638bdda-d406-4938-a2a6-e4e967acb772" providerId="ADAL" clId="{5BB0A526-9D3F-5694-B192-877B52D1FAF9}" dt="2025-11-12T03:50:32.543" v="44"/>
        <pc:sldMkLst>
          <pc:docMk/>
          <pc:sldMk cId="3352642195" sldId="293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352642195" sldId="293"/>
            <ac:spMk id="4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1916089279" sldId="297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916089279" sldId="297"/>
            <ac:spMk id="1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916089279" sldId="297"/>
            <ac:spMk id="1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1916089279" sldId="297"/>
            <ac:spMk id="1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166240873" sldId="298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166240873" sldId="298"/>
            <ac:spMk id="1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166240873" sldId="298"/>
            <ac:spMk id="1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3166240873" sldId="298"/>
            <ac:spMk id="1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602248106" sldId="299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602248106" sldId="299"/>
            <ac:spMk id="5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602248106" sldId="299"/>
            <ac:spMk id="6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4120220355" sldId="300"/>
        </pc:sldMkLst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4120220355" sldId="300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120220355" sldId="300"/>
            <ac:spMk id="1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1443443510" sldId="303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443443510" sldId="303"/>
            <ac:spMk id="1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443443510" sldId="303"/>
            <ac:spMk id="1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1443443510" sldId="303"/>
            <ac:spMk id="1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1505163809" sldId="305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505163809" sldId="305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1505163809" sldId="305"/>
            <ac:spMk id="3" creationId="{00000000-0000-0000-0000-000000000000}"/>
          </ac:spMkLst>
        </pc:spChg>
      </pc:sldChg>
      <pc:sldChg chg="modSp del mod setBg">
        <pc:chgData name="Raghunath Tewari" userId="2638bdda-d406-4938-a2a6-e4e967acb772" providerId="ADAL" clId="{5BB0A526-9D3F-5694-B192-877B52D1FAF9}" dt="2025-11-12T03:51:16.582" v="48" actId="2696"/>
        <pc:sldMkLst>
          <pc:docMk/>
          <pc:sldMk cId="3360062602" sldId="306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360062602" sldId="306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360062602" sldId="306"/>
            <ac:spMk id="6" creationId="{00000000-0000-0000-0000-000000000000}"/>
          </ac:spMkLst>
        </pc:spChg>
      </pc:sldChg>
      <pc:sldChg chg="modSp del mod setBg">
        <pc:chgData name="Raghunath Tewari" userId="2638bdda-d406-4938-a2a6-e4e967acb772" providerId="ADAL" clId="{5BB0A526-9D3F-5694-B192-877B52D1FAF9}" dt="2025-11-12T03:51:16.507" v="45" actId="2696"/>
        <pc:sldMkLst>
          <pc:docMk/>
          <pc:sldMk cId="802823237" sldId="307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802823237" sldId="307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802823237" sldId="307"/>
            <ac:spMk id="5" creationId="{00000000-0000-0000-0000-000000000000}"/>
          </ac:spMkLst>
        </pc:spChg>
      </pc:sldChg>
      <pc:sldChg chg="modSp del mod setBg">
        <pc:chgData name="Raghunath Tewari" userId="2638bdda-d406-4938-a2a6-e4e967acb772" providerId="ADAL" clId="{5BB0A526-9D3F-5694-B192-877B52D1FAF9}" dt="2025-11-12T03:51:16.540" v="46" actId="2696"/>
        <pc:sldMkLst>
          <pc:docMk/>
          <pc:sldMk cId="4234377745" sldId="308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234377745" sldId="308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4234377745" sldId="308"/>
            <ac:spMk id="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234377745" sldId="308"/>
            <ac:spMk id="4" creationId="{00000000-0000-0000-0000-000000000000}"/>
          </ac:spMkLst>
        </pc:spChg>
      </pc:sldChg>
      <pc:sldChg chg="modSp del mod setBg">
        <pc:chgData name="Raghunath Tewari" userId="2638bdda-d406-4938-a2a6-e4e967acb772" providerId="ADAL" clId="{5BB0A526-9D3F-5694-B192-877B52D1FAF9}" dt="2025-11-12T03:51:16.588" v="49" actId="2696"/>
        <pc:sldMkLst>
          <pc:docMk/>
          <pc:sldMk cId="889470879" sldId="309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889470879" sldId="309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889470879" sldId="309"/>
            <ac:spMk id="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2919273890" sldId="315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2919273890" sldId="315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2919273890" sldId="315"/>
            <ac:spMk id="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51924039" sldId="316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51924039" sldId="316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51924039" sldId="316"/>
            <ac:spMk id="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400232995" sldId="318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400232995" sldId="318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3400232995" sldId="318"/>
            <ac:spMk id="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712220409" sldId="319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712220409" sldId="319"/>
            <ac:spMk id="1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712220409" sldId="319"/>
            <ac:spMk id="1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3712220409" sldId="319"/>
            <ac:spMk id="1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4115044194" sldId="320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115044194" sldId="320"/>
            <ac:spMk id="1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115044194" sldId="320"/>
            <ac:spMk id="1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4115044194" sldId="320"/>
            <ac:spMk id="15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1825267803" sldId="321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825267803" sldId="321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825267803" sldId="321"/>
            <ac:spMk id="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522056459" sldId="322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522056459" sldId="322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522056459" sldId="322"/>
            <ac:spMk id="3" creationId="{00000000-0000-0000-0000-000000000000}"/>
          </ac:spMkLst>
        </pc:spChg>
      </pc:sldChg>
      <pc:sldChg chg="modSp setBg">
        <pc:chgData name="Raghunath Tewari" userId="2638bdda-d406-4938-a2a6-e4e967acb772" providerId="ADAL" clId="{5BB0A526-9D3F-5694-B192-877B52D1FAF9}" dt="2025-11-12T03:50:32.543" v="44"/>
        <pc:sldMkLst>
          <pc:docMk/>
          <pc:sldMk cId="3783426028" sldId="323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783426028" sldId="323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783426028" sldId="323"/>
            <ac:spMk id="3" creationId="{00000000-0000-0000-0000-000000000000}"/>
          </ac:spMkLst>
        </pc:spChg>
      </pc:sldChg>
      <pc:sldChg chg="modSp setBg">
        <pc:chgData name="Raghunath Tewari" userId="2638bdda-d406-4938-a2a6-e4e967acb772" providerId="ADAL" clId="{5BB0A526-9D3F-5694-B192-877B52D1FAF9}" dt="2025-11-12T03:50:32.543" v="44"/>
        <pc:sldMkLst>
          <pc:docMk/>
          <pc:sldMk cId="3098581903" sldId="324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098581903" sldId="324"/>
            <ac:spMk id="2" creationId="{00000000-0000-0000-0000-000000000000}"/>
          </ac:spMkLst>
        </pc:spChg>
      </pc:sldChg>
      <pc:sldChg chg="modSp setBg">
        <pc:chgData name="Raghunath Tewari" userId="2638bdda-d406-4938-a2a6-e4e967acb772" providerId="ADAL" clId="{5BB0A526-9D3F-5694-B192-877B52D1FAF9}" dt="2025-11-12T03:50:32.543" v="44"/>
        <pc:sldMkLst>
          <pc:docMk/>
          <pc:sldMk cId="2040146351" sldId="325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2040146351" sldId="325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2040146351" sldId="325"/>
            <ac:spMk id="6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896938481" sldId="327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896938481" sldId="327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3896938481" sldId="327"/>
            <ac:spMk id="3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325099892" sldId="329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25099892" sldId="329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325099892" sldId="329"/>
            <ac:spMk id="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325099892" sldId="329"/>
            <ac:spMk id="6" creationId="{00000000-0000-0000-0000-000000000000}"/>
          </ac:spMkLst>
        </pc:spChg>
      </pc:sldChg>
      <pc:sldChg chg="modSp del mod setBg">
        <pc:chgData name="Raghunath Tewari" userId="2638bdda-d406-4938-a2a6-e4e967acb772" providerId="ADAL" clId="{5BB0A526-9D3F-5694-B192-877B52D1FAF9}" dt="2025-11-12T03:51:16.563" v="47" actId="2696"/>
        <pc:sldMkLst>
          <pc:docMk/>
          <pc:sldMk cId="4018187230" sldId="330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4018187230" sldId="330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4018187230" sldId="330"/>
            <ac:spMk id="6" creationId="{00000000-0000-0000-0000-000000000000}"/>
          </ac:spMkLst>
        </pc:spChg>
      </pc:sldChg>
      <pc:sldChg chg="modSp setBg">
        <pc:chgData name="Raghunath Tewari" userId="2638bdda-d406-4938-a2a6-e4e967acb772" providerId="ADAL" clId="{5BB0A526-9D3F-5694-B192-877B52D1FAF9}" dt="2025-11-12T03:50:32.543" v="44"/>
        <pc:sldMkLst>
          <pc:docMk/>
          <pc:sldMk cId="1598441646" sldId="331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598441646" sldId="331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1598441646" sldId="331"/>
            <ac:spMk id="4" creationId="{00000000-0000-0000-0000-000000000000}"/>
          </ac:spMkLst>
        </pc:spChg>
      </pc:sldChg>
      <pc:sldChg chg="modSp mod setBg">
        <pc:chgData name="Raghunath Tewari" userId="2638bdda-d406-4938-a2a6-e4e967acb772" providerId="ADAL" clId="{5BB0A526-9D3F-5694-B192-877B52D1FAF9}" dt="2025-11-12T03:50:32.543" v="44"/>
        <pc:sldMkLst>
          <pc:docMk/>
          <pc:sldMk cId="520711818" sldId="332"/>
        </pc:sldMkLst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520711818" sldId="332"/>
            <ac:spMk id="2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7:30.711" v="31"/>
          <ac:spMkLst>
            <pc:docMk/>
            <pc:sldMk cId="520711818" sldId="332"/>
            <ac:spMk id="3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2T03:49:30.980" v="40"/>
          <ac:spMkLst>
            <pc:docMk/>
            <pc:sldMk cId="520711818" sldId="332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3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6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5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7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2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8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0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6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7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28882-7727-4378-B313-01A6B35CE2F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89962-9D4B-4440-8294-D524DE6F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0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6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50.png"/><Relationship Id="rId7" Type="http://schemas.openxmlformats.org/officeDocument/2006/relationships/image" Target="../media/image8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5.png"/><Relationship Id="rId3" Type="http://schemas.openxmlformats.org/officeDocument/2006/relationships/image" Target="../media/image140.png"/><Relationship Id="rId7" Type="http://schemas.openxmlformats.org/officeDocument/2006/relationships/image" Target="../media/image181.png"/><Relationship Id="rId12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0.png"/><Relationship Id="rId11" Type="http://schemas.openxmlformats.org/officeDocument/2006/relationships/image" Target="../media/image13.png"/><Relationship Id="rId5" Type="http://schemas.openxmlformats.org/officeDocument/2006/relationships/image" Target="../media/image160.png"/><Relationship Id="rId10" Type="http://schemas.openxmlformats.org/officeDocument/2006/relationships/image" Target="../media/image12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40.png"/><Relationship Id="rId7" Type="http://schemas.openxmlformats.org/officeDocument/2006/relationships/image" Target="../media/image18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0.png"/><Relationship Id="rId11" Type="http://schemas.openxmlformats.org/officeDocument/2006/relationships/image" Target="../media/image17.png"/><Relationship Id="rId5" Type="http://schemas.openxmlformats.org/officeDocument/2006/relationships/image" Target="../media/image160.png"/><Relationship Id="rId10" Type="http://schemas.openxmlformats.org/officeDocument/2006/relationships/image" Target="../media/image15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2.png"/><Relationship Id="rId4" Type="http://schemas.openxmlformats.org/officeDocument/2006/relationships/image" Target="../media/image1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6764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40</a:t>
            </a:r>
            <a:endParaRPr lang="en-US" sz="2000" b="1" dirty="0">
              <a:solidFill>
                <a:srgbClr val="7030A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Search data structure for </a:t>
            </a:r>
            <a:r>
              <a:rPr lang="en-US" sz="2000" b="1">
                <a:solidFill>
                  <a:schemeClr val="tx1"/>
                </a:solidFill>
              </a:rPr>
              <a:t>integers :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24400" y="4964668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Hashing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64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structures for searching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in </a:t>
            </a:r>
            <a:r>
              <a:rPr lang="en-US" sz="2800" b="1" dirty="0">
                <a:solidFill>
                  <a:srgbClr val="C00000"/>
                </a:solidFill>
              </a:rPr>
              <a:t>O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b="1" dirty="0">
                <a:solidFill>
                  <a:srgbClr val="0070C0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) </a:t>
            </a:r>
            <a:r>
              <a:rPr lang="en-US" sz="2800" b="1" dirty="0">
                <a:solidFill>
                  <a:schemeClr val="tx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91927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Motivating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Input: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800" b="1" dirty="0"/>
                  <a:t> a given 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of    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1009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     </a:t>
                </a:r>
                <a:r>
                  <a:rPr lang="en-US" sz="1800" b="1" dirty="0"/>
                  <a:t>positive integers</a:t>
                </a:r>
                <a:endParaRPr lang="en-US" sz="1800" b="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1800" dirty="0"/>
                  <a:t>:    Data structure for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searching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B050"/>
                    </a:solidFill>
                  </a:rPr>
                  <a:t>Example</a:t>
                </a:r>
                <a:r>
                  <a:rPr lang="en-US" sz="18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0" dirty="0"/>
                  <a:t>{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123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579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23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6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07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664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770832456778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6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7845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23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000045032100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23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9</m:t>
                    </m:r>
                  </m:oMath>
                </a14:m>
                <a:r>
                  <a:rPr lang="en-US" sz="1800" dirty="0"/>
                  <a:t> 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762354723763099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579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72664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9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77083245677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00123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84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100004503210023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0070C0"/>
                    </a:solidFill>
                  </a:rPr>
                  <a:t> …</a:t>
                </a:r>
                <a:endParaRPr lang="en-US" sz="1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/>
                  <a:t>}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2060"/>
                    </a:solidFill>
                  </a:rPr>
                  <a:t>Data structure </a:t>
                </a:r>
                <a:r>
                  <a:rPr lang="en-US" sz="1800" dirty="0"/>
                  <a:t>: 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2060"/>
                    </a:solidFill>
                  </a:rPr>
                  <a:t>Searching</a:t>
                </a:r>
                <a:r>
                  <a:rPr lang="en-US" sz="1800" dirty="0"/>
                  <a:t>         : 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 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3810000" y="3581400"/>
            <a:ext cx="2286000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696200" y="3276600"/>
            <a:ext cx="304800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83675" y="4876800"/>
                <a:ext cx="302172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storing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dirty="0"/>
                  <a:t> in sorted order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675" y="4876800"/>
                <a:ext cx="302172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15" t="-8197" r="-241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135811" y="5193268"/>
            <a:ext cx="14455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Binary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79764" y="5562600"/>
                <a:ext cx="1579278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/>
                  <a:t>(log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|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𝑺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en-US" dirty="0"/>
                  <a:t>) time</a:t>
                </a:r>
                <a:endParaRPr lang="en-US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764" y="5562600"/>
                <a:ext cx="1579278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089" t="-8333" r="-61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loud Callout 5"/>
              <p:cNvSpPr/>
              <p:nvPr/>
            </p:nvSpPr>
            <p:spPr>
              <a:xfrm>
                <a:off x="5562600" y="5254752"/>
                <a:ext cx="3352800" cy="993648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Can we perform search in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time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Cloud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254752"/>
                <a:ext cx="3352800" cy="993648"/>
              </a:xfrm>
              <a:prstGeom prst="cloudCallou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2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  <p:bldP spid="7" grpId="0" animBg="1"/>
      <p:bldP spid="8" grpId="0" animBg="1"/>
      <p:bldP spid="9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 Description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{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}  called </a:t>
                </a:r>
                <a:r>
                  <a:rPr lang="en-US" sz="2000" b="1" dirty="0"/>
                  <a:t>universe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sz="1800" i="1" dirty="0">
                    <a:latin typeface="Cambria Math"/>
                  </a:rPr>
                  <a:t>, 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 search query: </a:t>
                </a:r>
                <a:r>
                  <a:rPr lang="en-US" sz="2000" dirty="0"/>
                  <a:t>Given any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, is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𝒋</m:t>
                    </m:r>
                  </m:oMath>
                </a14:m>
                <a:r>
                  <a:rPr lang="en-US" sz="2000" b="1" dirty="0">
                    <a:ea typeface="Cambria Math"/>
                  </a:rPr>
                  <a:t> present 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000" b="1" dirty="0"/>
                  <a:t>A data structure </a:t>
                </a:r>
                <a:r>
                  <a:rPr lang="en-US" sz="2000" dirty="0"/>
                  <a:t>for a </a:t>
                </a:r>
                <a:r>
                  <a:rPr lang="en-US" sz="2000" u="sng" dirty="0"/>
                  <a:t>given</a:t>
                </a:r>
                <a:r>
                  <a:rPr lang="en-US" sz="2000" dirty="0"/>
                  <a:t>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that can facilitate search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) time  in </a:t>
                </a:r>
                <a:r>
                  <a:rPr lang="en-US" sz="2000" b="1" dirty="0"/>
                  <a:t>word RAM </a:t>
                </a:r>
                <a:r>
                  <a:rPr lang="en-US" sz="2000" dirty="0"/>
                  <a:t>model.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897353" y="2743200"/>
                <a:ext cx="922047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≪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353" y="2743200"/>
                <a:ext cx="922047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052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5334000" y="5105400"/>
            <a:ext cx="12192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5171440" y="4953000"/>
            <a:ext cx="275336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800" y="3733800"/>
            <a:ext cx="17526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62400" y="3810000"/>
            <a:ext cx="244856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14400" y="1752600"/>
            <a:ext cx="36576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6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trivial data structure </a:t>
            </a:r>
            <a:r>
              <a:rPr lang="en-US" sz="3200" b="1" dirty="0"/>
              <a:t>for </a:t>
            </a:r>
            <a:r>
              <a:rPr lang="en-US" sz="3200" b="1" dirty="0">
                <a:solidFill>
                  <a:srgbClr val="C00000"/>
                </a:solidFill>
              </a:rPr>
              <a:t>O</a:t>
            </a:r>
            <a:r>
              <a:rPr lang="en-US" sz="3200" b="1" dirty="0"/>
              <a:t>(</a:t>
            </a:r>
            <a:r>
              <a:rPr lang="en-US" sz="3200" b="1" dirty="0">
                <a:solidFill>
                  <a:srgbClr val="0070C0"/>
                </a:solidFill>
              </a:rPr>
              <a:t>1</a:t>
            </a:r>
            <a:r>
              <a:rPr lang="en-US" sz="3200" b="1" dirty="0"/>
              <a:t>) search 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Build a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dirty="0"/>
                  <a:t>-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array </a:t>
                </a:r>
                <a:r>
                  <a:rPr lang="en-US" sz="1800" b="1" dirty="0"/>
                  <a:t>A </a:t>
                </a:r>
                <a:r>
                  <a:rPr lang="en-US" sz="1800" dirty="0"/>
                  <a:t>of size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1800" dirty="0"/>
                  <a:t> such that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]</a:t>
                </a:r>
                <a:r>
                  <a:rPr lang="en-US" sz="1800" b="1" dirty="0"/>
                  <a:t> </a:t>
                </a:r>
                <a:r>
                  <a:rPr lang="en-US" sz="1800" dirty="0"/>
                  <a:t>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 </a:t>
                </a:r>
                <a:r>
                  <a:rPr lang="en-US" sz="1800" b="1" dirty="0"/>
                  <a:t>if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</a:t>
                </a:r>
                <a:r>
                  <a:rPr lang="en-US" sz="1800" dirty="0"/>
                  <a:t>[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]</a:t>
                </a:r>
                <a:r>
                  <a:rPr lang="en-US" sz="1800" b="1" dirty="0"/>
                  <a:t> </a:t>
                </a:r>
                <a:r>
                  <a:rPr lang="en-US" sz="1800" dirty="0"/>
                  <a:t>= </a:t>
                </a:r>
                <a:r>
                  <a:rPr lang="en-US" sz="1800" dirty="0">
                    <a:solidFill>
                      <a:srgbClr val="0070C0"/>
                    </a:solidFill>
                  </a:rPr>
                  <a:t>0</a:t>
                </a:r>
                <a:r>
                  <a:rPr lang="en-US" sz="1800" b="1" dirty="0"/>
                  <a:t> if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  <a:ea typeface="Cambria Math"/>
                      </a:rPr>
                      <m:t>∉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Time complexity </a:t>
                </a:r>
                <a:r>
                  <a:rPr lang="en-US" sz="1800" dirty="0"/>
                  <a:t>for searching an element in set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: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b="1" dirty="0"/>
                  <a:t>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b="1" dirty="0"/>
                  <a:t>).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                           This is a totally Impractical data structure because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≪</m:t>
                    </m:r>
                  </m:oMath>
                </a14:m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/>
                  <a:t>!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                                    Example: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𝒏</m:t>
                    </m:r>
                  </m:oMath>
                </a14:m>
                <a:r>
                  <a:rPr lang="en-US" sz="1800" b="1" dirty="0"/>
                  <a:t> = few thousands,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1800" b="1" dirty="0"/>
                  <a:t> = few trillions.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 </a:t>
                </a:r>
              </a:p>
              <a:p>
                <a:pPr marL="0" indent="0">
                  <a:buNone/>
                </a:pPr>
                <a:r>
                  <a:rPr lang="en-US" sz="1800" dirty="0"/>
                  <a:t>Can we have a data structure of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 size that can answer a search query in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800" dirty="0"/>
                  <a:t>) time 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 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Hashing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>
                <a:blip r:embed="rId2"/>
                <a:stretch>
                  <a:fillRect l="-595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990600" y="3352800"/>
            <a:ext cx="7079329" cy="685800"/>
            <a:chOff x="990600" y="3352800"/>
            <a:chExt cx="7079329" cy="685800"/>
          </a:xfrm>
        </p:grpSpPr>
        <p:grpSp>
          <p:nvGrpSpPr>
            <p:cNvPr id="22" name="Group 21"/>
            <p:cNvGrpSpPr/>
            <p:nvPr/>
          </p:nvGrpSpPr>
          <p:grpSpPr>
            <a:xfrm>
              <a:off x="1413940" y="3352800"/>
              <a:ext cx="6655989" cy="609600"/>
              <a:chOff x="1413940" y="3352800"/>
              <a:chExt cx="6655989" cy="609600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1447800" y="3657600"/>
                <a:ext cx="6477000" cy="228600"/>
                <a:chOff x="1447800" y="3657600"/>
                <a:chExt cx="6477000" cy="2286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1447800" y="3657600"/>
                  <a:ext cx="6477000" cy="22860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6" name="Straight Connector 5"/>
                <p:cNvCxnSpPr/>
                <p:nvPr/>
              </p:nvCxnSpPr>
              <p:spPr>
                <a:xfrm>
                  <a:off x="16764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>
                  <a:off x="19050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/>
                <p:cNvCxnSpPr/>
                <p:nvPr/>
              </p:nvCxnSpPr>
              <p:spPr>
                <a:xfrm>
                  <a:off x="21336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23622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5908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44196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46482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48768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51054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76962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74676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7239000" y="3657600"/>
                  <a:ext cx="0" cy="228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/>
              <p:cNvSpPr txBox="1"/>
              <p:nvPr/>
            </p:nvSpPr>
            <p:spPr>
              <a:xfrm>
                <a:off x="1435458" y="3623846"/>
                <a:ext cx="65870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0  0  1   0   0               …                         0   1  0                …                              0   0   1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1413940" y="3352800"/>
                    <a:ext cx="665598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/>
                      <a:t>0  1  2   3   4               …                                                        …                                                        </a:t>
                    </a:r>
                    <a14:m>
                      <m:oMath xmlns:m="http://schemas.openxmlformats.org/officeDocument/2006/math">
                        <m:r>
                          <a:rPr lang="en-US" sz="12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𝒎</m:t>
                        </m:r>
                      </m:oMath>
                    </a14:m>
                    <a:r>
                      <a:rPr lang="en-US" sz="1200" b="1" dirty="0"/>
                      <a:t>-1</a:t>
                    </a:r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3940" y="3352800"/>
                    <a:ext cx="6655989" cy="30777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275" t="-2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TextBox 22"/>
            <p:cNvSpPr txBox="1"/>
            <p:nvPr/>
          </p:nvSpPr>
          <p:spPr>
            <a:xfrm>
              <a:off x="990600" y="3576935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023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</a:t>
            </a:r>
            <a:r>
              <a:rPr lang="en-US" sz="3200" b="1" dirty="0">
                <a:solidFill>
                  <a:schemeClr val="bg1"/>
                </a:solidFill>
              </a:rPr>
              <a:t>, hash table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Hash function: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is a mapping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 to {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} </a:t>
                </a:r>
              </a:p>
              <a:p>
                <a:pPr marL="0" indent="0">
                  <a:buNone/>
                </a:pPr>
                <a:r>
                  <a:rPr lang="en-US" sz="1600" dirty="0"/>
                  <a:t>with the following characteristics.</a:t>
                </a:r>
              </a:p>
              <a:p>
                <a:r>
                  <a:rPr lang="en-US" sz="1600" b="1" dirty="0"/>
                  <a:t>Space </a:t>
                </a:r>
                <a:r>
                  <a:rPr lang="en-US" sz="1600" dirty="0"/>
                  <a:t>required for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: a few </a:t>
                </a:r>
                <a:r>
                  <a:rPr lang="en-US" sz="1600" b="1" dirty="0"/>
                  <a:t>words</a:t>
                </a:r>
                <a:r>
                  <a:rPr lang="en-US" sz="1600" dirty="0"/>
                  <a:t>.</a:t>
                </a:r>
                <a:endParaRPr lang="en-US" sz="1600" b="1" dirty="0"/>
              </a:p>
              <a:p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computable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b="1" dirty="0"/>
                  <a:t>) time</a:t>
                </a:r>
                <a:r>
                  <a:rPr lang="en-US" sz="1600" dirty="0"/>
                  <a:t> in </a:t>
                </a:r>
                <a:r>
                  <a:rPr lang="en-US" sz="1600" b="1" dirty="0"/>
                  <a:t>word RAM.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Example: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=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mod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Hash value</a:t>
                </a:r>
                <a:r>
                  <a:rPr lang="en-US" sz="1600" b="1" dirty="0"/>
                  <a:t>:</a:t>
                </a:r>
              </a:p>
              <a:p>
                <a:pPr marL="0" indent="0">
                  <a:buNone/>
                </a:pPr>
                <a:r>
                  <a:rPr lang="en-US" sz="1600" dirty="0"/>
                  <a:t>For a given hash function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is called hash value of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>
                <a:blip r:embed="rId2"/>
                <a:stretch>
                  <a:fillRect l="-877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743200" y="3048000"/>
                <a:ext cx="838200" cy="1447800"/>
              </a:xfrm>
              <a:prstGeom prst="ellipse">
                <a:avLst/>
              </a:prstGeom>
              <a:solidFill>
                <a:srgbClr val="B2DE8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3048000"/>
                <a:ext cx="838200" cy="14478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752600" y="32766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5"/>
          <p:cNvSpPr/>
          <p:nvPr/>
        </p:nvSpPr>
        <p:spPr>
          <a:xfrm>
            <a:off x="6781800" y="2514600"/>
            <a:ext cx="19050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705600" y="2819400"/>
            <a:ext cx="2209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733800" y="609600"/>
            <a:ext cx="22098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62600" y="3276600"/>
            <a:ext cx="22098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222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6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4" grpId="0" animBg="1"/>
      <p:bldP spid="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value, hash table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Hash function: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is a mapping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 to {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} </a:t>
                </a:r>
              </a:p>
              <a:p>
                <a:pPr marL="0" indent="0">
                  <a:buNone/>
                </a:pPr>
                <a:r>
                  <a:rPr lang="en-US" sz="1600" dirty="0"/>
                  <a:t>with the following characteristics.</a:t>
                </a:r>
              </a:p>
              <a:p>
                <a:r>
                  <a:rPr lang="en-US" sz="1600" b="1" dirty="0"/>
                  <a:t>Space </a:t>
                </a:r>
                <a:r>
                  <a:rPr lang="en-US" sz="1600" dirty="0"/>
                  <a:t>required for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: a few </a:t>
                </a:r>
                <a:r>
                  <a:rPr lang="en-US" sz="1600" b="1" dirty="0"/>
                  <a:t>words</a:t>
                </a:r>
                <a:r>
                  <a:rPr lang="en-US" sz="1600" dirty="0"/>
                  <a:t>.</a:t>
                </a:r>
                <a:endParaRPr lang="en-US" sz="1600" b="1" dirty="0"/>
              </a:p>
              <a:p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computable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b="1" dirty="0"/>
                  <a:t>) time</a:t>
                </a:r>
                <a:r>
                  <a:rPr lang="en-US" sz="1600" dirty="0"/>
                  <a:t> in </a:t>
                </a:r>
                <a:r>
                  <a:rPr lang="en-US" sz="1600" b="1" dirty="0"/>
                  <a:t>word RAM.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Example: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=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mod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Hash value</a:t>
                </a:r>
                <a:r>
                  <a:rPr lang="en-US" sz="1600" b="1" dirty="0"/>
                  <a:t>:  </a:t>
                </a:r>
              </a:p>
              <a:p>
                <a:pPr marL="0" indent="0">
                  <a:buNone/>
                </a:pPr>
                <a:r>
                  <a:rPr lang="en-US" sz="1600" dirty="0"/>
                  <a:t>For a given hash function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is called hash value of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Hash Table</a:t>
                </a:r>
                <a:r>
                  <a:rPr lang="en-US" sz="16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1600" dirty="0"/>
                  <a:t>An array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0…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>
                <a:blip r:embed="rId2"/>
                <a:stretch>
                  <a:fillRect l="-877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endParaRPr lang="en-US" sz="1400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blipFill rotWithShape="1">
                <a:blip r:embed="rId4"/>
                <a:stretch>
                  <a:fillRect t="-10000" b="-1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752600" y="32766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2819400" y="2819400"/>
            <a:ext cx="457200" cy="1828800"/>
          </a:xfrm>
          <a:prstGeom prst="rect">
            <a:avLst/>
          </a:prstGeom>
          <a:solidFill>
            <a:srgbClr val="B0DD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819400" y="3048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3276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819400" y="35052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4419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19400" y="4191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819400" y="37338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19400" y="39624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791200" y="685800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4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value, hash table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Hash function: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is a mapping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 to {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} </a:t>
                </a:r>
              </a:p>
              <a:p>
                <a:pPr marL="0" indent="0">
                  <a:buNone/>
                </a:pPr>
                <a:r>
                  <a:rPr lang="en-US" sz="1600" dirty="0"/>
                  <a:t>with the following characteristics.</a:t>
                </a:r>
              </a:p>
              <a:p>
                <a:r>
                  <a:rPr lang="en-US" sz="1600" b="1" dirty="0"/>
                  <a:t>Space </a:t>
                </a:r>
                <a:r>
                  <a:rPr lang="en-US" sz="1600" dirty="0"/>
                  <a:t>required for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: a few </a:t>
                </a:r>
                <a:r>
                  <a:rPr lang="en-US" sz="1600" b="1" dirty="0"/>
                  <a:t>words</a:t>
                </a:r>
                <a:r>
                  <a:rPr lang="en-US" sz="1600" dirty="0"/>
                  <a:t>.</a:t>
                </a:r>
                <a:endParaRPr lang="en-US" sz="1600" b="1" dirty="0"/>
              </a:p>
              <a:p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computable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b="1" dirty="0"/>
                  <a:t>) time</a:t>
                </a:r>
                <a:r>
                  <a:rPr lang="en-US" sz="1600" dirty="0"/>
                  <a:t> in </a:t>
                </a:r>
                <a:r>
                  <a:rPr lang="en-US" sz="1600" b="1" dirty="0"/>
                  <a:t>word RAM.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Example: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=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mod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Hash value</a:t>
                </a:r>
                <a:r>
                  <a:rPr lang="en-US" sz="1600" b="1" dirty="0"/>
                  <a:t>:  </a:t>
                </a:r>
              </a:p>
              <a:p>
                <a:pPr marL="0" indent="0">
                  <a:buNone/>
                </a:pPr>
                <a:r>
                  <a:rPr lang="en-US" sz="1600" dirty="0"/>
                  <a:t>For a given hash function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is called hash value of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Hash Table</a:t>
                </a:r>
                <a:r>
                  <a:rPr lang="en-US" sz="16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1600" dirty="0"/>
                  <a:t>An array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0…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>
                <a:blip r:embed="rId2"/>
                <a:stretch>
                  <a:fillRect l="-877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endParaRPr lang="en-US" sz="1400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blipFill rotWithShape="1">
                <a:blip r:embed="rId4"/>
                <a:stretch>
                  <a:fillRect t="-10000" b="-1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752600" y="32766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2819400" y="2819400"/>
            <a:ext cx="457200" cy="1828800"/>
          </a:xfrm>
          <a:prstGeom prst="rect">
            <a:avLst/>
          </a:prstGeom>
          <a:solidFill>
            <a:srgbClr val="B0DD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819400" y="3048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3276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819400" y="35052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4419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19400" y="4191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819400" y="37338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19400" y="39624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08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value, hash table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Hash function: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is a mapping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 to {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1600" dirty="0"/>
                  <a:t>} </a:t>
                </a:r>
              </a:p>
              <a:p>
                <a:pPr marL="0" indent="0">
                  <a:buNone/>
                </a:pPr>
                <a:r>
                  <a:rPr lang="en-US" sz="1600" dirty="0"/>
                  <a:t>with the following characteristics.</a:t>
                </a:r>
              </a:p>
              <a:p>
                <a:r>
                  <a:rPr lang="en-US" sz="1600" b="1" dirty="0"/>
                  <a:t>Space </a:t>
                </a:r>
                <a:r>
                  <a:rPr lang="en-US" sz="1600" dirty="0"/>
                  <a:t>required for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: a few </a:t>
                </a:r>
                <a:r>
                  <a:rPr lang="en-US" sz="1600" b="1" dirty="0"/>
                  <a:t>words</a:t>
                </a:r>
                <a:r>
                  <a:rPr lang="en-US" sz="1600" dirty="0"/>
                  <a:t>.</a:t>
                </a:r>
                <a:endParaRPr lang="en-US" sz="1600" b="1" dirty="0"/>
              </a:p>
              <a:p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computable in </a:t>
                </a: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b="1" dirty="0"/>
                  <a:t>(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1</a:t>
                </a:r>
                <a:r>
                  <a:rPr lang="en-US" sz="1600" b="1" dirty="0"/>
                  <a:t>) time</a:t>
                </a:r>
                <a:r>
                  <a:rPr lang="en-US" sz="1600" dirty="0"/>
                  <a:t> in </a:t>
                </a:r>
                <a:r>
                  <a:rPr lang="en-US" sz="1600" b="1" dirty="0"/>
                  <a:t>word RAM. </a:t>
                </a: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/>
                  <a:t>Example: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=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b="1" dirty="0"/>
                  <a:t>mod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sz="16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002060"/>
                    </a:solidFill>
                  </a:rPr>
                  <a:t>Hash value</a:t>
                </a:r>
                <a:r>
                  <a:rPr lang="en-US" sz="1600" b="1" dirty="0"/>
                  <a:t>:  </a:t>
                </a:r>
              </a:p>
              <a:p>
                <a:pPr marL="0" indent="0">
                  <a:buNone/>
                </a:pPr>
                <a:r>
                  <a:rPr lang="en-US" sz="1600" dirty="0"/>
                  <a:t>For a given hash function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) is called hash value of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7030A0"/>
                    </a:solidFill>
                  </a:rPr>
                  <a:t>Hash Table</a:t>
                </a:r>
                <a:r>
                  <a:rPr lang="en-US" sz="1600" b="1" dirty="0"/>
                  <a:t>: </a:t>
                </a:r>
              </a:p>
              <a:p>
                <a:pPr marL="0" indent="0">
                  <a:buNone/>
                </a:pPr>
                <a:r>
                  <a:rPr lang="en-US" sz="1600" dirty="0"/>
                  <a:t>An array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[</m:t>
                    </m:r>
                    <m:r>
                      <a:rPr lang="en-US" sz="1600">
                        <a:solidFill>
                          <a:srgbClr val="0070C0"/>
                        </a:solidFill>
                        <a:latin typeface="Cambria Math"/>
                      </a:rPr>
                      <m:t>0…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>
                <a:blip r:embed="rId2"/>
                <a:stretch>
                  <a:fillRect l="-877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endParaRPr lang="en-US" sz="1400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blipFill rotWithShape="1">
                <a:blip r:embed="rId4"/>
                <a:stretch>
                  <a:fillRect t="-10000" b="-1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752600" y="32766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2819400" y="2819400"/>
            <a:ext cx="457200" cy="1828800"/>
          </a:xfrm>
          <a:prstGeom prst="rect">
            <a:avLst/>
          </a:prstGeom>
          <a:solidFill>
            <a:srgbClr val="B0DD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819400" y="3048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3276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819400" y="35052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4419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19400" y="4191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3429000" y="2895600"/>
            <a:ext cx="228600" cy="152400"/>
            <a:chOff x="3429000" y="2819400"/>
            <a:chExt cx="228600" cy="152400"/>
          </a:xfrm>
        </p:grpSpPr>
        <p:sp>
          <p:nvSpPr>
            <p:cNvPr id="8" name="Rectangle 7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429000" y="4495800"/>
            <a:ext cx="381000" cy="152400"/>
            <a:chOff x="3429000" y="2819400"/>
            <a:chExt cx="381000" cy="152400"/>
          </a:xfrm>
        </p:grpSpPr>
        <p:sp>
          <p:nvSpPr>
            <p:cNvPr id="35" name="Rectangle 3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429000" y="4267200"/>
            <a:ext cx="381000" cy="152400"/>
            <a:chOff x="3429000" y="2819400"/>
            <a:chExt cx="381000" cy="152400"/>
          </a:xfrm>
        </p:grpSpPr>
        <p:sp>
          <p:nvSpPr>
            <p:cNvPr id="39" name="Rectangle 38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3810000" y="4267200"/>
            <a:ext cx="228600" cy="152400"/>
            <a:chOff x="3429000" y="2819400"/>
            <a:chExt cx="228600" cy="152400"/>
          </a:xfrm>
        </p:grpSpPr>
        <p:sp>
          <p:nvSpPr>
            <p:cNvPr id="43" name="Rectangle 42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/>
          <p:cNvCxnSpPr/>
          <p:nvPr/>
        </p:nvCxnSpPr>
        <p:spPr>
          <a:xfrm>
            <a:off x="3181350" y="29718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200400" y="43434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200400" y="45720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200400" y="32004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3429000" y="3124200"/>
            <a:ext cx="381000" cy="152400"/>
            <a:chOff x="3429000" y="2819400"/>
            <a:chExt cx="381000" cy="152400"/>
          </a:xfrm>
        </p:grpSpPr>
        <p:sp>
          <p:nvSpPr>
            <p:cNvPr id="51" name="Rectangle 50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810000" y="3124200"/>
            <a:ext cx="381000" cy="152400"/>
            <a:chOff x="3429000" y="2819400"/>
            <a:chExt cx="381000" cy="152400"/>
          </a:xfrm>
        </p:grpSpPr>
        <p:sp>
          <p:nvSpPr>
            <p:cNvPr id="55" name="Rectangle 5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4191000" y="3124200"/>
            <a:ext cx="228600" cy="152400"/>
            <a:chOff x="3429000" y="2819400"/>
            <a:chExt cx="228600" cy="152400"/>
          </a:xfrm>
        </p:grpSpPr>
        <p:sp>
          <p:nvSpPr>
            <p:cNvPr id="59" name="Rectangle 58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/>
          <p:cNvCxnSpPr/>
          <p:nvPr/>
        </p:nvCxnSpPr>
        <p:spPr>
          <a:xfrm>
            <a:off x="2819400" y="37338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19400" y="39624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3429000" y="3581400"/>
            <a:ext cx="228600" cy="152400"/>
            <a:chOff x="3429000" y="2819400"/>
            <a:chExt cx="228600" cy="152400"/>
          </a:xfrm>
        </p:grpSpPr>
        <p:sp>
          <p:nvSpPr>
            <p:cNvPr id="65" name="Rectangle 6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Arrow Connector 67"/>
          <p:cNvCxnSpPr/>
          <p:nvPr/>
        </p:nvCxnSpPr>
        <p:spPr>
          <a:xfrm>
            <a:off x="3181350" y="36576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200400" y="38862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200400" y="41148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3200400" y="34290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429000" y="33528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429000" y="38100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429000" y="40386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3429000" y="4724400"/>
            <a:ext cx="1085850" cy="609600"/>
            <a:chOff x="3429000" y="4724400"/>
            <a:chExt cx="1085850" cy="609600"/>
          </a:xfrm>
        </p:grpSpPr>
        <p:sp>
          <p:nvSpPr>
            <p:cNvPr id="80" name="Right Brace 79"/>
            <p:cNvSpPr/>
            <p:nvPr/>
          </p:nvSpPr>
          <p:spPr>
            <a:xfrm rot="5400000">
              <a:off x="3867150" y="4286250"/>
              <a:ext cx="209550" cy="108585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3810000" y="4964668"/>
                  <a:ext cx="3690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4964668"/>
                  <a:ext cx="3690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607975" y="5376446"/>
                <a:ext cx="192642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of pointers storing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975" y="5376446"/>
                <a:ext cx="1926425" cy="338554"/>
              </a:xfrm>
              <a:prstGeom prst="rect">
                <a:avLst/>
              </a:prstGeom>
              <a:blipFill rotWithShape="1">
                <a:blip r:embed="rId8"/>
                <a:stretch>
                  <a:fillRect l="-1899" t="-5357" r="-2848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44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value, hash table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16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6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Question:  </a:t>
                </a:r>
              </a:p>
              <a:p>
                <a:pPr marL="0" indent="0">
                  <a:buNone/>
                </a:pPr>
                <a:r>
                  <a:rPr lang="en-US" sz="1600" dirty="0"/>
                  <a:t>How to use 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/>
                  <a:t>) for searching an element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?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Answer: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; </a:t>
                </a:r>
              </a:p>
              <a:p>
                <a:pPr marL="0" indent="0">
                  <a:buNone/>
                </a:pPr>
                <a:r>
                  <a:rPr lang="en-US" sz="1600" dirty="0"/>
                  <a:t>Search element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/>
                  <a:t>in the list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b="1" dirty="0"/>
                  <a:t>[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600" b="1" dirty="0"/>
                  <a:t>]</a:t>
                </a:r>
                <a:r>
                  <a:rPr lang="en-US" sz="16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Time complexity for searching: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(length of the </a:t>
                </a:r>
                <a:r>
                  <a:rPr lang="en-US" sz="1800" b="1" dirty="0"/>
                  <a:t>longest</a:t>
                </a:r>
                <a:r>
                  <a:rPr lang="en-US" sz="1800" dirty="0"/>
                  <a:t> list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800" dirty="0"/>
                  <a:t>).</a:t>
                </a:r>
              </a:p>
            </p:txBody>
          </p:sp>
        </mc:Choice>
        <mc:Fallback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343400" cy="4525963"/>
              </a:xfrm>
              <a:blipFill>
                <a:blip r:embed="rId2"/>
                <a:stretch>
                  <a:fillRect l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0574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endParaRPr lang="en-US" sz="1400" b="1" dirty="0">
                  <a:solidFill>
                    <a:srgbClr val="0070C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2895600"/>
                <a:ext cx="838200" cy="1828800"/>
              </a:xfrm>
              <a:prstGeom prst="ellipse">
                <a:avLst/>
              </a:prstGeom>
              <a:blipFill rotWithShape="1">
                <a:blip r:embed="rId4"/>
                <a:stretch>
                  <a:fillRect t="-10000" b="-1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752600" y="32766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22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2819400" y="2819400"/>
            <a:ext cx="457200" cy="1828800"/>
          </a:xfrm>
          <a:prstGeom prst="rect">
            <a:avLst/>
          </a:prstGeom>
          <a:solidFill>
            <a:srgbClr val="B0DD7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819400" y="3048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819400" y="3276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819400" y="35052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819400" y="44196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19400" y="4191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3429000" y="2895600"/>
            <a:ext cx="228600" cy="152400"/>
            <a:chOff x="3429000" y="2819400"/>
            <a:chExt cx="228600" cy="152400"/>
          </a:xfrm>
        </p:grpSpPr>
        <p:sp>
          <p:nvSpPr>
            <p:cNvPr id="8" name="Rectangle 7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429000" y="4495800"/>
            <a:ext cx="381000" cy="152400"/>
            <a:chOff x="3429000" y="2819400"/>
            <a:chExt cx="381000" cy="152400"/>
          </a:xfrm>
        </p:grpSpPr>
        <p:sp>
          <p:nvSpPr>
            <p:cNvPr id="35" name="Rectangle 3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429000" y="4267200"/>
            <a:ext cx="381000" cy="152400"/>
            <a:chOff x="3429000" y="2819400"/>
            <a:chExt cx="381000" cy="152400"/>
          </a:xfrm>
        </p:grpSpPr>
        <p:sp>
          <p:nvSpPr>
            <p:cNvPr id="39" name="Rectangle 38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3810000" y="4267200"/>
            <a:ext cx="228600" cy="152400"/>
            <a:chOff x="3429000" y="2819400"/>
            <a:chExt cx="228600" cy="152400"/>
          </a:xfrm>
        </p:grpSpPr>
        <p:sp>
          <p:nvSpPr>
            <p:cNvPr id="43" name="Rectangle 42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/>
          <p:cNvCxnSpPr/>
          <p:nvPr/>
        </p:nvCxnSpPr>
        <p:spPr>
          <a:xfrm>
            <a:off x="3181350" y="29718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3200400" y="43434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3200400" y="45720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200400" y="32004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3429000" y="3124200"/>
            <a:ext cx="381000" cy="152400"/>
            <a:chOff x="3429000" y="2819400"/>
            <a:chExt cx="381000" cy="152400"/>
          </a:xfrm>
        </p:grpSpPr>
        <p:sp>
          <p:nvSpPr>
            <p:cNvPr id="51" name="Rectangle 50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3810000" y="3124200"/>
            <a:ext cx="381000" cy="152400"/>
            <a:chOff x="3429000" y="2819400"/>
            <a:chExt cx="381000" cy="152400"/>
          </a:xfrm>
        </p:grpSpPr>
        <p:sp>
          <p:nvSpPr>
            <p:cNvPr id="55" name="Rectangle 5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3562350" y="2895600"/>
              <a:ext cx="2476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4191000" y="3124200"/>
            <a:ext cx="228600" cy="152400"/>
            <a:chOff x="3429000" y="2819400"/>
            <a:chExt cx="228600" cy="152400"/>
          </a:xfrm>
        </p:grpSpPr>
        <p:sp>
          <p:nvSpPr>
            <p:cNvPr id="59" name="Rectangle 58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/>
          <p:cNvCxnSpPr/>
          <p:nvPr/>
        </p:nvCxnSpPr>
        <p:spPr>
          <a:xfrm>
            <a:off x="2819400" y="37338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2819400" y="39624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3429000" y="3581400"/>
            <a:ext cx="228600" cy="152400"/>
            <a:chOff x="3429000" y="2819400"/>
            <a:chExt cx="228600" cy="152400"/>
          </a:xfrm>
        </p:grpSpPr>
        <p:sp>
          <p:nvSpPr>
            <p:cNvPr id="65" name="Rectangle 64"/>
            <p:cNvSpPr/>
            <p:nvPr/>
          </p:nvSpPr>
          <p:spPr>
            <a:xfrm>
              <a:off x="3429000" y="2819400"/>
              <a:ext cx="2286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/>
            <p:cNvCxnSpPr/>
            <p:nvPr/>
          </p:nvCxnSpPr>
          <p:spPr>
            <a:xfrm>
              <a:off x="3581400" y="2819400"/>
              <a:ext cx="0" cy="1524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Arrow Connector 67"/>
          <p:cNvCxnSpPr/>
          <p:nvPr/>
        </p:nvCxnSpPr>
        <p:spPr>
          <a:xfrm>
            <a:off x="3181350" y="36576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200400" y="38862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200400" y="41148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3200400" y="3429000"/>
            <a:ext cx="24765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429000" y="33528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429000" y="38100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429000" y="4038600"/>
            <a:ext cx="0" cy="1524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438400"/>
                <a:ext cx="38183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3429000" y="4724400"/>
            <a:ext cx="1085850" cy="609600"/>
            <a:chOff x="3429000" y="4724400"/>
            <a:chExt cx="1085850" cy="609600"/>
          </a:xfrm>
        </p:grpSpPr>
        <p:sp>
          <p:nvSpPr>
            <p:cNvPr id="80" name="Right Brace 79"/>
            <p:cNvSpPr/>
            <p:nvPr/>
          </p:nvSpPr>
          <p:spPr>
            <a:xfrm rot="5400000">
              <a:off x="3867150" y="4286250"/>
              <a:ext cx="209550" cy="108585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3810000" y="4964668"/>
                  <a:ext cx="3690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4964668"/>
                  <a:ext cx="3690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624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Efficiency of Hashing depends upon hash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 hash function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800" dirty="0"/>
                  <a:t> is </a:t>
                </a:r>
                <a:r>
                  <a:rPr lang="en-US" sz="1800" u="sng" dirty="0"/>
                  <a:t>good</a:t>
                </a:r>
                <a:r>
                  <a:rPr lang="en-US" sz="1800" dirty="0"/>
                  <a:t> if it can </a:t>
                </a:r>
                <a:r>
                  <a:rPr lang="en-US" sz="1800" b="1" dirty="0"/>
                  <a:t>evenly</a:t>
                </a:r>
                <a:r>
                  <a:rPr lang="en-US" sz="1800" dirty="0"/>
                  <a:t> distributes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Aim: </a:t>
                </a:r>
                <a:r>
                  <a:rPr lang="en-US" sz="1800" dirty="0"/>
                  <a:t>To search for a good hash function for a given 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             There </a:t>
                </a:r>
                <a:r>
                  <a:rPr lang="en-US" sz="1800" b="1" dirty="0"/>
                  <a:t>can not be</a:t>
                </a:r>
                <a:r>
                  <a:rPr lang="en-US" sz="1800" dirty="0"/>
                  <a:t> any hash function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which is good for </a:t>
                </a:r>
                <a:r>
                  <a:rPr lang="en-US" sz="1800" b="1" u="sng" dirty="0"/>
                  <a:t>every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b="1" dirty="0"/>
                  <a:t>.</a:t>
                </a:r>
                <a:endParaRPr lang="en-US" sz="1800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352800" y="2968752"/>
            <a:ext cx="2667000" cy="1527048"/>
            <a:chOff x="2895600" y="2514600"/>
            <a:chExt cx="2667000" cy="1527048"/>
          </a:xfrm>
        </p:grpSpPr>
        <p:sp>
          <p:nvSpPr>
            <p:cNvPr id="2" name="Down Ribbon 1"/>
            <p:cNvSpPr/>
            <p:nvPr/>
          </p:nvSpPr>
          <p:spPr>
            <a:xfrm>
              <a:off x="2895600" y="3276600"/>
              <a:ext cx="2667000" cy="765048"/>
            </a:xfrm>
            <a:prstGeom prst="ribbon">
              <a:avLst>
                <a:gd name="adj1" fmla="val 16667"/>
                <a:gd name="adj2" fmla="val 75000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Bad news </a:t>
              </a:r>
              <a:endParaRPr lang="en-US" dirty="0"/>
            </a:p>
          </p:txBody>
        </p:sp>
        <p:sp>
          <p:nvSpPr>
            <p:cNvPr id="3" name="Smiley Face 2"/>
            <p:cNvSpPr/>
            <p:nvPr/>
          </p:nvSpPr>
          <p:spPr>
            <a:xfrm>
              <a:off x="3733800" y="2514600"/>
              <a:ext cx="914400" cy="914400"/>
            </a:xfrm>
            <a:prstGeom prst="smileyFace">
              <a:avLst>
                <a:gd name="adj" fmla="val -4653"/>
              </a:avLst>
            </a:prstGeom>
            <a:solidFill>
              <a:srgbClr val="FFC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24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Hash function, hash value, hash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600" dirty="0"/>
                  <a:t>For every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, there exists a subset of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den>
                            </m:f>
                          </m:e>
                        </m:box>
                      </m:e>
                    </m:d>
                  </m:oMath>
                </a14:m>
                <a:r>
                  <a:rPr lang="en-US" sz="1600" dirty="0"/>
                  <a:t> elements from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1600" dirty="0"/>
                  <a:t> which are hashed to same value under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0" indent="0">
                  <a:buNone/>
                </a:pPr>
                <a:r>
                  <a:rPr lang="en-US" sz="1600" dirty="0"/>
                  <a:t>So we can always construct a subset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600" dirty="0"/>
                  <a:t> for which all elements have same hash value </a:t>
                </a:r>
              </a:p>
              <a:p>
                <a:pPr>
                  <a:buFont typeface="Wingdings"/>
                  <a:buChar char="è"/>
                </a:pPr>
                <a:r>
                  <a:rPr lang="en-US" sz="1600" dirty="0">
                    <a:sym typeface="Wingdings" pitchFamily="2" charset="2"/>
                  </a:rPr>
                  <a:t>All elements of this set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600" dirty="0"/>
                  <a:t> are present in a single list of the hah table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/>
                  <a:t> associated with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>
                  <a:buFont typeface="Wingdings"/>
                  <a:buChar char="è"/>
                </a:pPr>
                <a:r>
                  <a:rPr lang="en-US" sz="16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) worst case search time.</a:t>
                </a:r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5105400"/>
              </a:xfr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3352800" y="1371600"/>
                <a:ext cx="914400" cy="381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2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371600"/>
                <a:ext cx="914400" cy="38100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5257800" y="2362200"/>
                <a:ext cx="838200" cy="1447800"/>
              </a:xfrm>
              <a:prstGeom prst="ellipse">
                <a:avLst/>
              </a:prstGeom>
              <a:solidFill>
                <a:srgbClr val="B2DE8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0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1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100" b="1" i="1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100" dirty="0"/>
              </a:p>
              <a:p>
                <a:pPr algn="ctr"/>
                <a:endParaRPr lang="en-US" sz="1400" b="1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2362200"/>
                <a:ext cx="838200" cy="14478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4419600" y="2590800"/>
            <a:ext cx="762000" cy="713232"/>
            <a:chOff x="3962400" y="3276600"/>
            <a:chExt cx="762000" cy="713232"/>
          </a:xfrm>
        </p:grpSpPr>
        <p:sp>
          <p:nvSpPr>
            <p:cNvPr id="10" name="Right Arrow 9"/>
            <p:cNvSpPr/>
            <p:nvPr/>
          </p:nvSpPr>
          <p:spPr>
            <a:xfrm>
              <a:off x="3962400" y="3505200"/>
              <a:ext cx="762000" cy="484632"/>
            </a:xfrm>
            <a:prstGeom prst="rightArrow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𝒉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362" y="3276600"/>
                  <a:ext cx="38343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3810000" y="1828800"/>
            <a:ext cx="1828800" cy="2895600"/>
            <a:chOff x="3810000" y="1828800"/>
            <a:chExt cx="1828800" cy="289560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3886200" y="2209800"/>
              <a:ext cx="1676400" cy="56566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886200" y="2476500"/>
              <a:ext cx="1676400" cy="1143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038600" y="3429000"/>
              <a:ext cx="1447800" cy="1295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3886200" y="3061716"/>
              <a:ext cx="1752600" cy="6720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3886200" y="1828800"/>
              <a:ext cx="1752600" cy="12329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3810000" y="2590800"/>
              <a:ext cx="1752600" cy="16002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3886200" y="3086100"/>
              <a:ext cx="1752600" cy="1905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3810000" y="2705100"/>
              <a:ext cx="1828800" cy="35661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886200" y="2883408"/>
              <a:ext cx="1600200" cy="54559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3886200" y="2590800"/>
              <a:ext cx="1676400" cy="71780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3886200" y="2590800"/>
              <a:ext cx="1676400" cy="914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3886200" y="2819400"/>
              <a:ext cx="1676400" cy="11430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3886200" y="3429000"/>
              <a:ext cx="1600200" cy="914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V="1">
              <a:off x="3886200" y="3048000"/>
              <a:ext cx="1752600" cy="15240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022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Why does hashing work </a:t>
            </a:r>
            <a:r>
              <a:rPr lang="en-US" sz="3200" b="1" dirty="0">
                <a:solidFill>
                  <a:srgbClr val="7030A0"/>
                </a:solidFill>
              </a:rPr>
              <a:t>so well </a:t>
            </a:r>
            <a:r>
              <a:rPr lang="en-US" sz="3200" b="1" dirty="0"/>
              <a:t>in Practice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𝒉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0" smtClean="0">
                          <a:latin typeface="Cambria Math"/>
                        </a:rPr>
                        <m:t>𝐦𝐨𝐝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Because the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 is usually a </a:t>
                </a:r>
                <a:r>
                  <a:rPr lang="en-US" sz="2000" b="1" dirty="0"/>
                  <a:t>uniformly random </a:t>
                </a:r>
                <a:r>
                  <a:rPr lang="en-US" sz="2000" dirty="0"/>
                  <a:t>subset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 rotWithShape="1">
                <a:blip r:embed="rId2"/>
                <a:stretch>
                  <a:fillRect l="-109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762000" y="2743200"/>
            <a:ext cx="7772400" cy="838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2438400" y="3886200"/>
            <a:ext cx="4800600" cy="14478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do a </a:t>
            </a:r>
            <a:r>
              <a:rPr lang="en-US" b="1" dirty="0">
                <a:solidFill>
                  <a:schemeClr val="tx1"/>
                </a:solidFill>
              </a:rPr>
              <a:t>theoretical analysis to prove  </a:t>
            </a:r>
            <a:r>
              <a:rPr lang="en-US" dirty="0">
                <a:solidFill>
                  <a:schemeClr val="tx1"/>
                </a:solidFill>
              </a:rPr>
              <a:t>this fact.</a:t>
            </a:r>
          </a:p>
        </p:txBody>
      </p:sp>
    </p:spTree>
    <p:extLst>
      <p:ext uri="{BB962C8B-B14F-4D97-AF65-F5344CB8AC3E}">
        <p14:creationId xmlns:p14="http://schemas.microsoft.com/office/powerpoint/2010/main" val="309858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Why does hashing work </a:t>
            </a:r>
            <a:r>
              <a:rPr lang="en-US" sz="3200" b="1" dirty="0">
                <a:solidFill>
                  <a:srgbClr val="7030A0"/>
                </a:solidFill>
              </a:rPr>
              <a:t>so well </a:t>
            </a:r>
            <a:r>
              <a:rPr lang="en-US" sz="3200" b="1" dirty="0"/>
              <a:t>in Practice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343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denote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elements </a:t>
                </a:r>
              </a:p>
              <a:p>
                <a:pPr marL="0" indent="0">
                  <a:buNone/>
                </a:pPr>
                <a:r>
                  <a:rPr lang="en-US" sz="1800" dirty="0"/>
                  <a:t>selected </a:t>
                </a:r>
                <a:r>
                  <a:rPr lang="en-US" sz="1800" u="sng" dirty="0"/>
                  <a:t>randomly uniformly</a:t>
                </a:r>
                <a:r>
                  <a:rPr lang="en-US" sz="1800" dirty="0"/>
                  <a:t> from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𝑼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to form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 </a:t>
                </a:r>
              </a:p>
              <a:p>
                <a:pPr marL="0" indent="0">
                  <a:buNone/>
                </a:pPr>
                <a:r>
                  <a:rPr lang="en-US" sz="1800" dirty="0"/>
                  <a:t>What is expected number of elements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colliding with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 </a:t>
                </a: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takes value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b="1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collides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) = ??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343400" cy="4525963"/>
              </a:xfrm>
              <a:blipFill rotWithShape="1">
                <a:blip r:embed="rId2"/>
                <a:stretch>
                  <a:fillRect l="-140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grpSp>
        <p:nvGrpSpPr>
          <p:cNvPr id="60" name="Group 59"/>
          <p:cNvGrpSpPr/>
          <p:nvPr/>
        </p:nvGrpSpPr>
        <p:grpSpPr>
          <a:xfrm>
            <a:off x="4953000" y="1447800"/>
            <a:ext cx="381000" cy="4876800"/>
            <a:chOff x="4953000" y="1447800"/>
            <a:chExt cx="381000" cy="4876800"/>
          </a:xfrm>
        </p:grpSpPr>
        <p:sp>
          <p:nvSpPr>
            <p:cNvPr id="7" name="Oval 6"/>
            <p:cNvSpPr/>
            <p:nvPr/>
          </p:nvSpPr>
          <p:spPr>
            <a:xfrm>
              <a:off x="5257800" y="2057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257800" y="2209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257800" y="2362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257800" y="2514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257800" y="2667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257800" y="2819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257800" y="2971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257800" y="3124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257800" y="3276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257800" y="3429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2578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257800" y="3733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257800" y="3886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257800" y="4038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5257800" y="4191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257800" y="4343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257800" y="4495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257800" y="4648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5257800" y="4800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5257800" y="4953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257800" y="5105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257800" y="5257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7800" y="5410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257800" y="5562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257800" y="5715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257800" y="5867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257800" y="6019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57800" y="6172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257800" y="1905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257800" y="1752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257800" y="1600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0998" y="1447800"/>
              <a:ext cx="25680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</a:t>
              </a:r>
            </a:p>
            <a:p>
              <a:r>
                <a:rPr lang="en-US" sz="1100" dirty="0"/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53000" y="6047601"/>
              <a:ext cx="3080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334000" y="3593068"/>
            <a:ext cx="547213" cy="369332"/>
            <a:chOff x="5486400" y="3581400"/>
            <a:chExt cx="547213" cy="369332"/>
          </a:xfrm>
        </p:grpSpPr>
        <p:cxnSp>
          <p:nvCxnSpPr>
            <p:cNvPr id="42" name="Straight Arrow Connector 41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715000" y="3581400"/>
                  <a:ext cx="318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31861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07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5334000" y="2983468"/>
            <a:ext cx="959954" cy="369332"/>
            <a:chOff x="5486400" y="3581400"/>
            <a:chExt cx="959954" cy="369332"/>
          </a:xfrm>
        </p:grpSpPr>
        <p:cxnSp>
          <p:nvCxnSpPr>
            <p:cNvPr id="62" name="Straight Arrow Connector 61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/>
          <p:cNvGrpSpPr/>
          <p:nvPr/>
        </p:nvGrpSpPr>
        <p:grpSpPr>
          <a:xfrm>
            <a:off x="5334000" y="4202668"/>
            <a:ext cx="959954" cy="369332"/>
            <a:chOff x="5486400" y="3581400"/>
            <a:chExt cx="959954" cy="369332"/>
          </a:xfrm>
        </p:grpSpPr>
        <p:cxnSp>
          <p:nvCxnSpPr>
            <p:cNvPr id="65" name="Straight Arrow Connector 64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/>
          <p:cNvGrpSpPr/>
          <p:nvPr/>
        </p:nvGrpSpPr>
        <p:grpSpPr>
          <a:xfrm>
            <a:off x="5334000" y="4812268"/>
            <a:ext cx="1088194" cy="369332"/>
            <a:chOff x="5486400" y="3581400"/>
            <a:chExt cx="1088194" cy="369332"/>
          </a:xfrm>
        </p:grpSpPr>
        <p:cxnSp>
          <p:nvCxnSpPr>
            <p:cNvPr id="68" name="Straight Arrow Connector 67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5334000" y="5421868"/>
            <a:ext cx="1088194" cy="369332"/>
            <a:chOff x="5486400" y="3581400"/>
            <a:chExt cx="1088194" cy="369332"/>
          </a:xfrm>
        </p:grpSpPr>
        <p:cxnSp>
          <p:nvCxnSpPr>
            <p:cNvPr id="71" name="Straight Arrow Connector 70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5791200" y="565046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650468"/>
                <a:ext cx="30970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352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715000" y="2590800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590800"/>
                <a:ext cx="30970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6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loud Callout 74"/>
              <p:cNvSpPr/>
              <p:nvPr/>
            </p:nvSpPr>
            <p:spPr>
              <a:xfrm>
                <a:off x="685800" y="4333125"/>
                <a:ext cx="3581400" cy="924675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many possible values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take ?</a:t>
                </a:r>
              </a:p>
            </p:txBody>
          </p:sp>
        </mc:Choice>
        <mc:Fallback xmlns="">
          <p:sp>
            <p:nvSpPr>
              <p:cNvPr id="75" name="Cloud Callout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333125"/>
                <a:ext cx="3581400" cy="924675"/>
              </a:xfrm>
              <a:prstGeom prst="cloudCallou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275339" y="4724400"/>
                <a:ext cx="83946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339" y="4724400"/>
                <a:ext cx="839461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942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loud Callout 76"/>
              <p:cNvSpPr/>
              <p:nvPr/>
            </p:nvSpPr>
            <p:spPr>
              <a:xfrm>
                <a:off x="457200" y="5552325"/>
                <a:ext cx="4066926" cy="924675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How many possible values can collide with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77" name="Cloud Callout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552325"/>
                <a:ext cx="4066926" cy="924675"/>
              </a:xfrm>
              <a:prstGeom prst="cloudCallou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592333" y="1078468"/>
                <a:ext cx="1863587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>
                          <a:latin typeface="Cambria Math"/>
                        </a:rPr>
                        <m:t>𝐦𝐨𝐝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33" y="1078468"/>
                <a:ext cx="1863587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6349" r="-357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14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3" grpId="0"/>
      <p:bldP spid="74" grpId="0"/>
      <p:bldP spid="75" grpId="0" animBg="1"/>
      <p:bldP spid="75" grpId="1" animBg="1"/>
      <p:bldP spid="76" grpId="0" animBg="1"/>
      <p:bldP spid="76" grpId="1" animBg="1"/>
      <p:bldP spid="77" grpId="0" animBg="1"/>
      <p:bldP spid="5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Why does hashing work </a:t>
            </a:r>
            <a:r>
              <a:rPr lang="en-US" sz="3200" b="1" dirty="0">
                <a:solidFill>
                  <a:srgbClr val="7030A0"/>
                </a:solidFill>
              </a:rPr>
              <a:t>so well </a:t>
            </a:r>
            <a:r>
              <a:rPr lang="en-US" sz="3200" b="1" dirty="0"/>
              <a:t>in Practice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3434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denote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elements </a:t>
                </a:r>
              </a:p>
              <a:p>
                <a:pPr marL="0" indent="0">
                  <a:buNone/>
                </a:pPr>
                <a:r>
                  <a:rPr lang="en-US" sz="1800" dirty="0"/>
                  <a:t>selected </a:t>
                </a:r>
                <a:r>
                  <a:rPr lang="en-US" sz="1800" u="sng" dirty="0"/>
                  <a:t>randomly uniformly</a:t>
                </a:r>
                <a:r>
                  <a:rPr lang="en-US" sz="1800" dirty="0"/>
                  <a:t> from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𝑼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to form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Question: </a:t>
                </a:r>
              </a:p>
              <a:p>
                <a:pPr marL="0" indent="0">
                  <a:buNone/>
                </a:pPr>
                <a:r>
                  <a:rPr lang="en-US" sz="1800" dirty="0"/>
                  <a:t>What is expected number of elements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colliding with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Answer: </a:t>
                </a: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b="1" dirty="0"/>
                  <a:t> </a:t>
                </a:r>
                <a:r>
                  <a:rPr lang="en-US" sz="1800" dirty="0"/>
                  <a:t>takes value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1800" b="1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P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collides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) = 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⌈"/>
                            <m:endChr m:val="⌉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Expected number of elements 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colliding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=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⌈"/>
                            <m:endChr m:val="⌉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8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1800" i="1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−1)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343400" cy="5257800"/>
              </a:xfrm>
              <a:blipFill>
                <a:blip r:embed="rId2"/>
                <a:stretch>
                  <a:fillRect l="-116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grpSp>
        <p:nvGrpSpPr>
          <p:cNvPr id="60" name="Group 59"/>
          <p:cNvGrpSpPr/>
          <p:nvPr/>
        </p:nvGrpSpPr>
        <p:grpSpPr>
          <a:xfrm>
            <a:off x="4953000" y="1447800"/>
            <a:ext cx="381000" cy="4876800"/>
            <a:chOff x="4953000" y="1447800"/>
            <a:chExt cx="381000" cy="4876800"/>
          </a:xfrm>
        </p:grpSpPr>
        <p:sp>
          <p:nvSpPr>
            <p:cNvPr id="7" name="Oval 6"/>
            <p:cNvSpPr/>
            <p:nvPr/>
          </p:nvSpPr>
          <p:spPr>
            <a:xfrm>
              <a:off x="5257800" y="2057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257800" y="2209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5257800" y="2362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257800" y="2514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257800" y="2667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257800" y="2819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257800" y="2971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257800" y="3124200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257800" y="3276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257800" y="3429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52578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5257800" y="3733800"/>
              <a:ext cx="76200" cy="7620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5257800" y="3886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257800" y="4038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5257800" y="4191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5257800" y="4343400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257800" y="4495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5257800" y="4648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5257800" y="4800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5257800" y="4953000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257800" y="5105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257800" y="5257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7800" y="5410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257800" y="5562600"/>
              <a:ext cx="76200" cy="762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257800" y="5715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257800" y="5867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257800" y="60198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257800" y="6172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5257800" y="19050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5257800" y="17526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257800" y="16002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0998" y="1447800"/>
              <a:ext cx="25680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</a:t>
              </a:r>
            </a:p>
            <a:p>
              <a:r>
                <a:rPr lang="en-US" sz="1100" dirty="0"/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53000" y="6047601"/>
              <a:ext cx="3080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334000" y="3593068"/>
            <a:ext cx="547213" cy="369332"/>
            <a:chOff x="5486400" y="3581400"/>
            <a:chExt cx="547213" cy="369332"/>
          </a:xfrm>
        </p:grpSpPr>
        <p:cxnSp>
          <p:nvCxnSpPr>
            <p:cNvPr id="42" name="Straight Arrow Connector 41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715000" y="3581400"/>
                  <a:ext cx="318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31861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07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60"/>
          <p:cNvGrpSpPr/>
          <p:nvPr/>
        </p:nvGrpSpPr>
        <p:grpSpPr>
          <a:xfrm>
            <a:off x="5334000" y="2983468"/>
            <a:ext cx="959954" cy="369332"/>
            <a:chOff x="5486400" y="3581400"/>
            <a:chExt cx="959954" cy="369332"/>
          </a:xfrm>
        </p:grpSpPr>
        <p:cxnSp>
          <p:nvCxnSpPr>
            <p:cNvPr id="62" name="Straight Arrow Connector 61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/>
          <p:cNvGrpSpPr/>
          <p:nvPr/>
        </p:nvGrpSpPr>
        <p:grpSpPr>
          <a:xfrm>
            <a:off x="5334000" y="4202668"/>
            <a:ext cx="959954" cy="369332"/>
            <a:chOff x="5486400" y="3581400"/>
            <a:chExt cx="959954" cy="369332"/>
          </a:xfrm>
        </p:grpSpPr>
        <p:cxnSp>
          <p:nvCxnSpPr>
            <p:cNvPr id="65" name="Straight Arrow Connector 64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73135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/>
          <p:cNvGrpSpPr/>
          <p:nvPr/>
        </p:nvGrpSpPr>
        <p:grpSpPr>
          <a:xfrm>
            <a:off x="5334000" y="4812268"/>
            <a:ext cx="1088194" cy="369332"/>
            <a:chOff x="5486400" y="3581400"/>
            <a:chExt cx="1088194" cy="369332"/>
          </a:xfrm>
        </p:grpSpPr>
        <p:cxnSp>
          <p:nvCxnSpPr>
            <p:cNvPr id="68" name="Straight Arrow Connector 67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+2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5334000" y="5421868"/>
            <a:ext cx="1088194" cy="369332"/>
            <a:chOff x="5486400" y="3581400"/>
            <a:chExt cx="1088194" cy="369332"/>
          </a:xfrm>
        </p:grpSpPr>
        <p:cxnSp>
          <p:nvCxnSpPr>
            <p:cNvPr id="71" name="Straight Arrow Connector 70"/>
            <p:cNvCxnSpPr/>
            <p:nvPr/>
          </p:nvCxnSpPr>
          <p:spPr>
            <a:xfrm flipH="1">
              <a:off x="5486400" y="3744686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+3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3581400"/>
                  <a:ext cx="85959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5791200" y="5650468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5650468"/>
                <a:ext cx="30970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352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715000" y="2590800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590800"/>
                <a:ext cx="30970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6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5334000" y="3200400"/>
            <a:ext cx="3581400" cy="2286000"/>
            <a:chOff x="5334000" y="3200400"/>
            <a:chExt cx="3581400" cy="2286000"/>
          </a:xfrm>
        </p:grpSpPr>
        <p:sp>
          <p:nvSpPr>
            <p:cNvPr id="5" name="Rounded Rectangle 4"/>
            <p:cNvSpPr/>
            <p:nvPr/>
          </p:nvSpPr>
          <p:spPr>
            <a:xfrm>
              <a:off x="7086600" y="3352800"/>
              <a:ext cx="1828800" cy="1905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0070C0"/>
                </a:solidFill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5334000" y="3200400"/>
              <a:ext cx="1752600" cy="419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flipV="1">
              <a:off x="5486400" y="4076700"/>
              <a:ext cx="1600200" cy="190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5486400" y="4533900"/>
              <a:ext cx="1600200" cy="342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V="1">
              <a:off x="5334000" y="4857750"/>
              <a:ext cx="1752600" cy="6286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92333" y="1078468"/>
                <a:ext cx="1863587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/>
                        </a:rPr>
                        <m:t>𝒉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b="1">
                          <a:latin typeface="Cambria Math"/>
                        </a:rPr>
                        <m:t>𝐦𝐨𝐝</m:t>
                      </m:r>
                      <m:r>
                        <a:rPr lang="en-US" b="1" i="1"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33" y="1078468"/>
                <a:ext cx="1863587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6349" r="-3571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553960" y="4005306"/>
                <a:ext cx="1008096" cy="566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960" y="4005306"/>
                <a:ext cx="1008096" cy="566694"/>
              </a:xfrm>
              <a:prstGeom prst="rect">
                <a:avLst/>
              </a:prstGeom>
              <a:blipFill rotWithShape="1">
                <a:blip r:embed="rId11"/>
                <a:stretch>
                  <a:fillRect r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9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Why does hashing work </a:t>
            </a:r>
            <a:r>
              <a:rPr lang="en-US" sz="3200" b="1" dirty="0">
                <a:solidFill>
                  <a:srgbClr val="7030A0"/>
                </a:solidFill>
              </a:rPr>
              <a:t>so well </a:t>
            </a:r>
            <a:r>
              <a:rPr lang="en-US" sz="3200" b="1" dirty="0"/>
              <a:t>in Practice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Conclusion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𝒉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1" i="0" smtClean="0">
                        <a:latin typeface="Cambria Math"/>
                      </a:rPr>
                      <m:t>𝐦𝐨𝐝</m:t>
                    </m:r>
                    <m:r>
                      <a:rPr lang="en-US" sz="2000" b="1" i="1" smtClean="0">
                        <a:latin typeface="Cambria Math"/>
                      </a:rPr>
                      <m:t> </m:t>
                    </m:r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000" dirty="0"/>
                  <a:t>works so well because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for a uniformly random subset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the </a:t>
                </a:r>
                <a:r>
                  <a:rPr lang="en-US" sz="2000" b="1" dirty="0"/>
                  <a:t>expected</a:t>
                </a:r>
                <a:r>
                  <a:rPr lang="en-US" sz="2000" dirty="0"/>
                  <a:t> number of collision at an index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 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   It is easy to fool this hash function such that it achieves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:r>
                  <a:rPr lang="en-US" sz="2000" i="1" dirty="0">
                    <a:solidFill>
                      <a:srgbClr val="0070C0"/>
                    </a:solidFill>
                  </a:rPr>
                  <a:t>s</a:t>
                </a:r>
                <a:r>
                  <a:rPr lang="en-US" sz="2000" dirty="0"/>
                  <a:t>) search time.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(do it as a simple exercise).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This makes us think: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“How can we achieve worst case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search time for a given 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2000" dirty="0"/>
                  <a:t>.”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>
                <a:blip r:embed="rId2"/>
                <a:stretch>
                  <a:fillRect l="-758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Hashing:</a:t>
            </a:r>
            <a:r>
              <a:rPr lang="en-US" sz="3600" b="1" dirty="0">
                <a:solidFill>
                  <a:srgbClr val="7030A0"/>
                </a:solidFill>
              </a:rPr>
              <a:t>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{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0,1,…,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} </a:t>
                </a:r>
                <a:endParaRPr lang="en-US" sz="20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  <m:r>
                      <a:rPr lang="en-US" sz="2000" b="1" i="1">
                        <a:latin typeface="Cambria Math"/>
                        <a:ea typeface="Cambria Math"/>
                      </a:rPr>
                      <m:t>⊆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𝑼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𝑺</m:t>
                        </m:r>
                      </m:e>
                    </m:d>
                  </m:oMath>
                </a14:m>
                <a:r>
                  <a:rPr lang="en-US" sz="1800" i="1" dirty="0">
                    <a:latin typeface="Cambria Math"/>
                  </a:rPr>
                  <a:t>,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</a:t>
                </a:r>
                <a:r>
                  <a:rPr lang="en-US" sz="2000" b="1" dirty="0"/>
                  <a:t>[FKS, 1984]: </a:t>
                </a:r>
              </a:p>
              <a:p>
                <a:pPr marL="0" indent="0">
                  <a:buNone/>
                </a:pPr>
                <a:r>
                  <a:rPr lang="en-US" sz="1800" dirty="0"/>
                  <a:t>A hash table and hash function can be computed in </a:t>
                </a:r>
                <a:r>
                  <a:rPr lang="en-US" sz="1800" u="sng" dirty="0"/>
                  <a:t>average</a:t>
                </a:r>
                <a:r>
                  <a:rPr lang="en-US" sz="1800" dirty="0"/>
                  <a:t> </a:t>
                </a:r>
                <a:r>
                  <a:rPr lang="en-US" sz="1800" b="1" dirty="0"/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b="1" dirty="0"/>
                  <a:t> time </a:t>
                </a:r>
                <a:r>
                  <a:rPr lang="en-US" sz="1800" dirty="0"/>
                  <a:t>for a </a:t>
                </a:r>
                <a:r>
                  <a:rPr lang="en-US" sz="1800" b="1" u="sng" dirty="0"/>
                  <a:t>given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𝑺</m:t>
                    </m:r>
                  </m:oMath>
                </a14:m>
                <a:r>
                  <a:rPr lang="en-US" sz="1800" dirty="0"/>
                  <a:t> s.t.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Space</a:t>
                </a:r>
                <a:r>
                  <a:rPr lang="en-US" sz="1800" dirty="0"/>
                  <a:t> :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Query time</a:t>
                </a:r>
                <a:r>
                  <a:rPr lang="en-US" sz="1800" dirty="0"/>
                  <a:t>:   </a:t>
                </a:r>
                <a:r>
                  <a:rPr lang="en-US" sz="1800" dirty="0">
                    <a:solidFill>
                      <a:srgbClr val="C00000"/>
                    </a:solidFill>
                  </a:rPr>
                  <a:t>?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 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2060"/>
                    </a:solidFill>
                  </a:rPr>
                  <a:t>Ingredients :</a:t>
                </a:r>
              </a:p>
              <a:p>
                <a:r>
                  <a:rPr lang="en-US" sz="1800" dirty="0"/>
                  <a:t>elementary knowledge of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prime numbers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The algorithms use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simple randomization</a:t>
                </a:r>
                <a:r>
                  <a:rPr lang="en-US" sz="1800" dirty="0"/>
                  <a:t>.</a:t>
                </a:r>
                <a:endParaRPr lang="en-US" sz="18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600200"/>
                <a:ext cx="8991600" cy="4525963"/>
              </a:xfrm>
              <a:blipFill>
                <a:blip r:embed="rId2"/>
                <a:stretch>
                  <a:fillRect l="-846" t="-840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93699" y="3745468"/>
                <a:ext cx="63030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9" y="3745468"/>
                <a:ext cx="630301" cy="369332"/>
              </a:xfrm>
              <a:prstGeom prst="rect">
                <a:avLst/>
              </a:prstGeom>
              <a:blipFill>
                <a:blip r:embed="rId3"/>
                <a:stretch>
                  <a:fillRect l="-7843" t="-6667" r="-58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47800" y="4050268"/>
                <a:ext cx="166167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worst case </a:t>
                </a:r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dirty="0"/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4050268"/>
                <a:ext cx="1661673" cy="369332"/>
              </a:xfrm>
              <a:prstGeom prst="rect">
                <a:avLst/>
              </a:prstGeom>
              <a:blipFill>
                <a:blip r:embed="rId4"/>
                <a:stretch>
                  <a:fillRect l="-3817" t="-6667" r="-229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523958" y="838200"/>
            <a:ext cx="70564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1953 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43800" y="2831068"/>
            <a:ext cx="70564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1984 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7620000" y="1371600"/>
            <a:ext cx="484632" cy="137160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16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Order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4582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400" b="1" dirty="0"/>
                  <a:t>:  </a:t>
                </a:r>
                <a:r>
                  <a:rPr lang="en-US" sz="2000" dirty="0"/>
                  <a:t>Let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be any two increasing functions of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is said to be </a:t>
                </a:r>
                <a:r>
                  <a:rPr lang="en-US" sz="2000" u="sng" dirty="0"/>
                  <a:t>of the order of</a:t>
                </a:r>
                <a:r>
                  <a:rPr lang="en-US" sz="2000" dirty="0"/>
                  <a:t>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if there exist constants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b="1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:r>
                  <a:rPr lang="en-US" sz="2000" dirty="0"/>
                  <a:t>≤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</a:t>
                </a:r>
                <a:r>
                  <a:rPr lang="en-US" sz="2000" dirty="0"/>
                  <a:t>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  for all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458200" cy="4830763"/>
              </a:xfrm>
              <a:blipFill rotWithShape="1">
                <a:blip r:embed="rId2"/>
                <a:stretch>
                  <a:fillRect l="-1081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514600" y="3200400"/>
            <a:ext cx="3417849" cy="2743200"/>
            <a:chOff x="2514600" y="2971800"/>
            <a:chExt cx="3417849" cy="27432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514600" y="2971800"/>
              <a:ext cx="0" cy="2743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2514600" y="57150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3640874" y="3371386"/>
              <a:ext cx="2291575" cy="1505414"/>
            </a:xfrm>
            <a:custGeom>
              <a:avLst/>
              <a:gdLst>
                <a:gd name="connsiteX0" fmla="*/ 0 w 2531327"/>
                <a:gd name="connsiteY0" fmla="*/ 1405053 h 1405053"/>
                <a:gd name="connsiteX1" fmla="*/ 390293 w 2531327"/>
                <a:gd name="connsiteY1" fmla="*/ 1215483 h 1405053"/>
                <a:gd name="connsiteX2" fmla="*/ 1126273 w 2531327"/>
                <a:gd name="connsiteY2" fmla="*/ 936702 h 1405053"/>
                <a:gd name="connsiteX3" fmla="*/ 2118732 w 2531327"/>
                <a:gd name="connsiteY3" fmla="*/ 457200 h 1405053"/>
                <a:gd name="connsiteX4" fmla="*/ 2442117 w 2531327"/>
                <a:gd name="connsiteY4" fmla="*/ 144965 h 1405053"/>
                <a:gd name="connsiteX5" fmla="*/ 2531327 w 2531327"/>
                <a:gd name="connsiteY5" fmla="*/ 0 h 1405053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118732 w 2740731"/>
                <a:gd name="connsiteY3" fmla="*/ 55756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094097 w 2740731"/>
                <a:gd name="connsiteY3" fmla="*/ 46835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0731" h="1505414">
                  <a:moveTo>
                    <a:pt x="0" y="1505414"/>
                  </a:moveTo>
                  <a:cubicBezTo>
                    <a:pt x="101290" y="1449658"/>
                    <a:pt x="202581" y="1393902"/>
                    <a:pt x="390293" y="1315844"/>
                  </a:cubicBezTo>
                  <a:cubicBezTo>
                    <a:pt x="578005" y="1237786"/>
                    <a:pt x="842306" y="1178312"/>
                    <a:pt x="1126273" y="1037063"/>
                  </a:cubicBezTo>
                  <a:cubicBezTo>
                    <a:pt x="1410240" y="895814"/>
                    <a:pt x="1874790" y="600307"/>
                    <a:pt x="2094097" y="468351"/>
                  </a:cubicBezTo>
                  <a:cubicBezTo>
                    <a:pt x="2313404" y="336395"/>
                    <a:pt x="2334345" y="323384"/>
                    <a:pt x="2442117" y="245326"/>
                  </a:cubicBezTo>
                  <a:cubicBezTo>
                    <a:pt x="2549889" y="167268"/>
                    <a:pt x="2730509" y="34382"/>
                    <a:pt x="2740731" y="0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3635298" y="2999678"/>
              <a:ext cx="0" cy="271532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800600" y="4126468"/>
                  <a:ext cx="53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4126468"/>
                  <a:ext cx="53649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0227" t="-8197" r="-19318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3635298" y="3228278"/>
            <a:ext cx="2297151" cy="1661532"/>
            <a:chOff x="3635298" y="2999678"/>
            <a:chExt cx="2297151" cy="1661532"/>
          </a:xfrm>
        </p:grpSpPr>
        <p:sp>
          <p:nvSpPr>
            <p:cNvPr id="15" name="Freeform 14"/>
            <p:cNvSpPr/>
            <p:nvPr/>
          </p:nvSpPr>
          <p:spPr>
            <a:xfrm>
              <a:off x="3635298" y="2999678"/>
              <a:ext cx="2297151" cy="1661532"/>
            </a:xfrm>
            <a:custGeom>
              <a:avLst/>
              <a:gdLst>
                <a:gd name="connsiteX0" fmla="*/ 0 w 2297151"/>
                <a:gd name="connsiteY0" fmla="*/ 1661532 h 1661532"/>
                <a:gd name="connsiteX1" fmla="*/ 278780 w 2297151"/>
                <a:gd name="connsiteY1" fmla="*/ 1260088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1115122 w 2297151"/>
                <a:gd name="connsiteY2" fmla="*/ 869796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7151" h="1661532">
                  <a:moveTo>
                    <a:pt x="0" y="1661532"/>
                  </a:moveTo>
                  <a:cubicBezTo>
                    <a:pt x="90139" y="1520283"/>
                    <a:pt x="148682" y="1447801"/>
                    <a:pt x="334536" y="1315845"/>
                  </a:cubicBezTo>
                  <a:cubicBezTo>
                    <a:pt x="520390" y="1183889"/>
                    <a:pt x="866078" y="1003611"/>
                    <a:pt x="1115122" y="869796"/>
                  </a:cubicBezTo>
                  <a:cubicBezTo>
                    <a:pt x="1364166" y="735981"/>
                    <a:pt x="1631795" y="657922"/>
                    <a:pt x="1828800" y="512956"/>
                  </a:cubicBezTo>
                  <a:cubicBezTo>
                    <a:pt x="2025805" y="367990"/>
                    <a:pt x="2205153" y="177490"/>
                    <a:pt x="2297151" y="0"/>
                  </a:cubicBezTo>
                </a:path>
              </a:pathLst>
            </a:cu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648200" y="3364468"/>
                  <a:ext cx="7753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c </a:t>
                  </a:r>
                  <a:r>
                    <a:rPr lang="en-US" b="1" dirty="0"/>
                    <a:t>g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3364468"/>
                  <a:ext cx="77534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7087" t="-8197" r="-12598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16"/>
              <p:cNvSpPr/>
              <p:nvPr/>
            </p:nvSpPr>
            <p:spPr>
              <a:xfrm>
                <a:off x="7086600" y="3015734"/>
                <a:ext cx="2068286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=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dirty="0">
                    <a:solidFill>
                      <a:schemeClr val="tx1"/>
                    </a:solidFill>
                  </a:rPr>
                  <a:t>g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))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Down Ribbon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015734"/>
                <a:ext cx="2068286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299340" y="1676400"/>
            <a:ext cx="219646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4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7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Order notation </a:t>
            </a:r>
            <a:r>
              <a:rPr lang="en-US" sz="3600" b="1" dirty="0">
                <a:solidFill>
                  <a:srgbClr val="006C31"/>
                </a:solidFill>
              </a:rPr>
              <a:t>extended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458200" cy="5334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400" b="1" dirty="0"/>
                  <a:t>:  </a:t>
                </a:r>
                <a:r>
                  <a:rPr lang="en-US" sz="2000" dirty="0"/>
                  <a:t>Let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be any two increasing functions of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is said to be </a:t>
                </a:r>
                <a:r>
                  <a:rPr lang="en-US" sz="2000" u="sng" dirty="0"/>
                  <a:t>lower bounded</a:t>
                </a:r>
                <a:r>
                  <a:rPr lang="en-US" sz="2000" dirty="0"/>
                  <a:t> by 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if there exist constants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b="1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:r>
                  <a:rPr lang="en-US" sz="2000" dirty="0"/>
                  <a:t>≥ </a:t>
                </a:r>
                <a:r>
                  <a:rPr lang="en-US" sz="2000" dirty="0">
                    <a:solidFill>
                      <a:srgbClr val="0070C0"/>
                    </a:solidFill>
                  </a:rPr>
                  <a:t>c 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  for all 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= </m:t>
                    </m:r>
                    <m:r>
                      <a:rPr lang="en-US" sz="2000" b="1">
                        <a:solidFill>
                          <a:srgbClr val="C00000"/>
                        </a:solidFill>
                        <a:latin typeface="Cambria Math"/>
                      </a:rPr>
                      <m:t>𝛀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10000 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458200" cy="5334000"/>
              </a:xfrm>
              <a:blipFill>
                <a:blip r:embed="rId2"/>
                <a:stretch>
                  <a:fillRect l="-1199" t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2514600" y="3200400"/>
            <a:ext cx="3417849" cy="2743200"/>
            <a:chOff x="2514600" y="2971800"/>
            <a:chExt cx="3417849" cy="27432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514600" y="2971800"/>
              <a:ext cx="0" cy="2743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2514600" y="5715000"/>
              <a:ext cx="3200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3640874" y="3371386"/>
              <a:ext cx="2291575" cy="1505414"/>
            </a:xfrm>
            <a:custGeom>
              <a:avLst/>
              <a:gdLst>
                <a:gd name="connsiteX0" fmla="*/ 0 w 2531327"/>
                <a:gd name="connsiteY0" fmla="*/ 1405053 h 1405053"/>
                <a:gd name="connsiteX1" fmla="*/ 390293 w 2531327"/>
                <a:gd name="connsiteY1" fmla="*/ 1215483 h 1405053"/>
                <a:gd name="connsiteX2" fmla="*/ 1126273 w 2531327"/>
                <a:gd name="connsiteY2" fmla="*/ 936702 h 1405053"/>
                <a:gd name="connsiteX3" fmla="*/ 2118732 w 2531327"/>
                <a:gd name="connsiteY3" fmla="*/ 457200 h 1405053"/>
                <a:gd name="connsiteX4" fmla="*/ 2442117 w 2531327"/>
                <a:gd name="connsiteY4" fmla="*/ 144965 h 1405053"/>
                <a:gd name="connsiteX5" fmla="*/ 2531327 w 2531327"/>
                <a:gd name="connsiteY5" fmla="*/ 0 h 1405053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118732 w 2740731"/>
                <a:gd name="connsiteY3" fmla="*/ 55756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  <a:gd name="connsiteX0" fmla="*/ 0 w 2740731"/>
                <a:gd name="connsiteY0" fmla="*/ 1505414 h 1505414"/>
                <a:gd name="connsiteX1" fmla="*/ 390293 w 2740731"/>
                <a:gd name="connsiteY1" fmla="*/ 1315844 h 1505414"/>
                <a:gd name="connsiteX2" fmla="*/ 1126273 w 2740731"/>
                <a:gd name="connsiteY2" fmla="*/ 1037063 h 1505414"/>
                <a:gd name="connsiteX3" fmla="*/ 2094097 w 2740731"/>
                <a:gd name="connsiteY3" fmla="*/ 468351 h 1505414"/>
                <a:gd name="connsiteX4" fmla="*/ 2442117 w 2740731"/>
                <a:gd name="connsiteY4" fmla="*/ 245326 h 1505414"/>
                <a:gd name="connsiteX5" fmla="*/ 2740731 w 2740731"/>
                <a:gd name="connsiteY5" fmla="*/ 0 h 150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40731" h="1505414">
                  <a:moveTo>
                    <a:pt x="0" y="1505414"/>
                  </a:moveTo>
                  <a:cubicBezTo>
                    <a:pt x="101290" y="1449658"/>
                    <a:pt x="202581" y="1393902"/>
                    <a:pt x="390293" y="1315844"/>
                  </a:cubicBezTo>
                  <a:cubicBezTo>
                    <a:pt x="578005" y="1237786"/>
                    <a:pt x="842306" y="1178312"/>
                    <a:pt x="1126273" y="1037063"/>
                  </a:cubicBezTo>
                  <a:cubicBezTo>
                    <a:pt x="1410240" y="895814"/>
                    <a:pt x="1874790" y="600307"/>
                    <a:pt x="2094097" y="468351"/>
                  </a:cubicBezTo>
                  <a:cubicBezTo>
                    <a:pt x="2313404" y="336395"/>
                    <a:pt x="2334345" y="323384"/>
                    <a:pt x="2442117" y="245326"/>
                  </a:cubicBezTo>
                  <a:cubicBezTo>
                    <a:pt x="2549889" y="167268"/>
                    <a:pt x="2730509" y="34382"/>
                    <a:pt x="2740731" y="0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3635298" y="2999678"/>
              <a:ext cx="0" cy="271532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5334000"/>
                  <a:ext cx="47795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800600" y="4126468"/>
                  <a:ext cx="7224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c </a:t>
                  </a:r>
                  <a:r>
                    <a:rPr lang="en-US" b="1" dirty="0"/>
                    <a:t>g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0" y="4126468"/>
                  <a:ext cx="72244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7627" t="-8197" r="-144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3635298" y="3228278"/>
            <a:ext cx="2297151" cy="1661532"/>
            <a:chOff x="3635298" y="2999678"/>
            <a:chExt cx="2297151" cy="1661532"/>
          </a:xfrm>
        </p:grpSpPr>
        <p:sp>
          <p:nvSpPr>
            <p:cNvPr id="15" name="Freeform 14"/>
            <p:cNvSpPr/>
            <p:nvPr/>
          </p:nvSpPr>
          <p:spPr>
            <a:xfrm>
              <a:off x="3635298" y="2999678"/>
              <a:ext cx="2297151" cy="1661532"/>
            </a:xfrm>
            <a:custGeom>
              <a:avLst/>
              <a:gdLst>
                <a:gd name="connsiteX0" fmla="*/ 0 w 2297151"/>
                <a:gd name="connsiteY0" fmla="*/ 1661532 h 1661532"/>
                <a:gd name="connsiteX1" fmla="*/ 278780 w 2297151"/>
                <a:gd name="connsiteY1" fmla="*/ 1260088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591014 w 2297151"/>
                <a:gd name="connsiteY2" fmla="*/ 947854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  <a:gd name="connsiteX0" fmla="*/ 0 w 2297151"/>
                <a:gd name="connsiteY0" fmla="*/ 1661532 h 1661532"/>
                <a:gd name="connsiteX1" fmla="*/ 334536 w 2297151"/>
                <a:gd name="connsiteY1" fmla="*/ 1315845 h 1661532"/>
                <a:gd name="connsiteX2" fmla="*/ 1115122 w 2297151"/>
                <a:gd name="connsiteY2" fmla="*/ 869796 h 1661532"/>
                <a:gd name="connsiteX3" fmla="*/ 1828800 w 2297151"/>
                <a:gd name="connsiteY3" fmla="*/ 512956 h 1661532"/>
                <a:gd name="connsiteX4" fmla="*/ 2297151 w 2297151"/>
                <a:gd name="connsiteY4" fmla="*/ 0 h 166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7151" h="1661532">
                  <a:moveTo>
                    <a:pt x="0" y="1661532"/>
                  </a:moveTo>
                  <a:cubicBezTo>
                    <a:pt x="90139" y="1520283"/>
                    <a:pt x="148682" y="1447801"/>
                    <a:pt x="334536" y="1315845"/>
                  </a:cubicBezTo>
                  <a:cubicBezTo>
                    <a:pt x="520390" y="1183889"/>
                    <a:pt x="866078" y="1003611"/>
                    <a:pt x="1115122" y="869796"/>
                  </a:cubicBezTo>
                  <a:cubicBezTo>
                    <a:pt x="1364166" y="735981"/>
                    <a:pt x="1631795" y="657922"/>
                    <a:pt x="1828800" y="512956"/>
                  </a:cubicBezTo>
                  <a:cubicBezTo>
                    <a:pt x="2025805" y="367990"/>
                    <a:pt x="2205153" y="177490"/>
                    <a:pt x="2297151" y="0"/>
                  </a:cubicBezTo>
                </a:path>
              </a:pathLst>
            </a:cu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648200" y="3364468"/>
                  <a:ext cx="5893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 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3364468"/>
                  <a:ext cx="58939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9375" t="-8197" r="-1666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16"/>
              <p:cNvSpPr/>
              <p:nvPr/>
            </p:nvSpPr>
            <p:spPr>
              <a:xfrm>
                <a:off x="7146471" y="2837986"/>
                <a:ext cx="20193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f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/>
                      </a:rPr>
                      <m:t>𝛀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dirty="0">
                    <a:solidFill>
                      <a:schemeClr val="tx1"/>
                    </a:solidFill>
                  </a:rPr>
                  <a:t>g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))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Down Ribbon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6471" y="2837986"/>
                <a:ext cx="20193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2286000" y="1676400"/>
            <a:ext cx="265689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1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7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Order notation </a:t>
            </a:r>
            <a:r>
              <a:rPr lang="en-US" sz="3600" b="1" dirty="0">
                <a:solidFill>
                  <a:srgbClr val="006C31"/>
                </a:solidFill>
              </a:rPr>
              <a:t>extended</a:t>
            </a:r>
            <a:endParaRPr lang="en-US" sz="3600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Observations</a:t>
                </a:r>
                <a:r>
                  <a:rPr lang="en-US" sz="2000" dirty="0"/>
                  <a:t>: </a:t>
                </a:r>
              </a:p>
              <a:p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One more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Notation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If   </a:t>
                </a:r>
                <a:r>
                  <a:rPr lang="en-US" sz="2000" b="1" dirty="0"/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b="1" dirty="0"/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Examples: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= </m:t>
                    </m:r>
                    <m:r>
                      <a:rPr lang="en-US" sz="2000" b="1" i="0" smtClean="0">
                        <a:solidFill>
                          <a:srgbClr val="C00000"/>
                        </a:solidFill>
                        <a:latin typeface="Cambria Math"/>
                      </a:rPr>
                      <m:t>𝚯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10000 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0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434302" y="1992868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if and only if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62400" y="1992868"/>
                <a:ext cx="1455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g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C00000"/>
                        </a:solidFill>
                        <a:latin typeface="Cambria Math"/>
                      </a:rPr>
                      <m:t>𝛀</m:t>
                    </m:r>
                  </m:oMath>
                </a14:m>
                <a:r>
                  <a:rPr lang="en-US" dirty="0"/>
                  <a:t>(</a:t>
                </a:r>
                <a:r>
                  <a:rPr lang="en-US" b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992868"/>
                <a:ext cx="145578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3347" t="-8197" r="-71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74058" y="3452336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19400" y="3452336"/>
                <a:ext cx="14493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g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rgbClr val="C00000"/>
                        </a:solidFill>
                        <a:latin typeface="Cambria Math"/>
                      </a:rPr>
                      <m:t>𝐎</m:t>
                    </m:r>
                  </m:oMath>
                </a14:m>
                <a:r>
                  <a:rPr lang="en-US" dirty="0"/>
                  <a:t>(</a:t>
                </a:r>
                <a:r>
                  <a:rPr lang="en-US" b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452336"/>
                <a:ext cx="144937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3797" t="-8197" r="-75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038600" y="3452336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,  then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76623" y="3821668"/>
                <a:ext cx="14525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g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/>
                      </a:rPr>
                      <m:t>𝚯</m:t>
                    </m:r>
                  </m:oMath>
                </a14:m>
                <a:r>
                  <a:rPr lang="en-US" dirty="0"/>
                  <a:t>(</a:t>
                </a:r>
                <a:r>
                  <a:rPr lang="en-US" b="1" dirty="0"/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623" y="3821668"/>
                <a:ext cx="1452577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782" t="-8197" r="-714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05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Time complexity of </a:t>
            </a:r>
            <a:r>
              <a:rPr lang="en-US" sz="2000" dirty="0">
                <a:solidFill>
                  <a:srgbClr val="7030A0"/>
                </a:solidFill>
              </a:rPr>
              <a:t>Quick Sort</a:t>
            </a:r>
            <a:r>
              <a:rPr lang="en-US" sz="2000" dirty="0"/>
              <a:t> is      ?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Time complexity of </a:t>
            </a:r>
            <a:r>
              <a:rPr lang="en-US" sz="2000" dirty="0">
                <a:solidFill>
                  <a:srgbClr val="7030A0"/>
                </a:solidFill>
              </a:rPr>
              <a:t>Merge sort </a:t>
            </a:r>
            <a:r>
              <a:rPr lang="en-US" sz="2000" dirty="0"/>
              <a:t>is </a:t>
            </a:r>
            <a:r>
              <a:rPr lang="en-US" sz="2000" dirty="0">
                <a:solidFill>
                  <a:srgbClr val="C00000"/>
                </a:solidFill>
              </a:rPr>
              <a:t>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27172" y="2667000"/>
                <a:ext cx="115922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>
                        <a:solidFill>
                          <a:srgbClr val="C00000"/>
                        </a:solidFill>
                        <a:latin typeface="Cambria Math"/>
                      </a:rPr>
                      <m:t>𝛀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172" y="2667000"/>
                <a:ext cx="1159228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842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43400" y="3821668"/>
                <a:ext cx="11560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/>
                      </a:rPr>
                      <m:t>𝚯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log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821668"/>
                <a:ext cx="115602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84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42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2463</TotalTime>
  <Words>1797</Words>
  <Application>Microsoft Macintosh PowerPoint</Application>
  <PresentationFormat>On-screen Show (4:3)</PresentationFormat>
  <Paragraphs>447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Data structures for searching</vt:lpstr>
      <vt:lpstr>Motivating Example</vt:lpstr>
      <vt:lpstr>Problem Description</vt:lpstr>
      <vt:lpstr>A trivial data structure for O(1) search time</vt:lpstr>
      <vt:lpstr>Hash function, hash value, hash table</vt:lpstr>
      <vt:lpstr>Hash function, hash value, hash table</vt:lpstr>
      <vt:lpstr>Hash function, hash value, hash table</vt:lpstr>
      <vt:lpstr>Hash function, hash value, hash table</vt:lpstr>
      <vt:lpstr>Hash function, hash value, hash table</vt:lpstr>
      <vt:lpstr>Efficiency of Hashing depends upon hash function</vt:lpstr>
      <vt:lpstr>Hash function, hash value, hash table</vt:lpstr>
      <vt:lpstr>Why does hashing work so well in Practice ?</vt:lpstr>
      <vt:lpstr>Why does hashing work so well in Practice ?</vt:lpstr>
      <vt:lpstr>Why does hashing work so well in Practice ?</vt:lpstr>
      <vt:lpstr>Why does hashing work so well in Practice ?</vt:lpstr>
      <vt:lpstr>Hashing: theory</vt:lpstr>
      <vt:lpstr>Order notation</vt:lpstr>
      <vt:lpstr>Order notation extended</vt:lpstr>
      <vt:lpstr>Order notation extended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173</cp:revision>
  <dcterms:created xsi:type="dcterms:W3CDTF">2012-11-11T08:58:57Z</dcterms:created>
  <dcterms:modified xsi:type="dcterms:W3CDTF">2025-11-12T03:51:22Z</dcterms:modified>
</cp:coreProperties>
</file>